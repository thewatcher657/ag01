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120640"/>
            <a:ext cx="411480" cy="1280160"/>
          </a:xfrm>
          <a:prstGeom prst="chevron">
            <a:avLst/>
          </a:prstGeom>
          <a:solidFill>
            <a:srgbClr val="1E2861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5120640"/>
            <a:ext cx="411480" cy="1280160"/>
          </a:xfrm>
          <a:prstGeom prst="chevron">
            <a:avLst/>
          </a:prstGeom>
          <a:solidFill>
            <a:srgbClr val="1E2861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5120640"/>
            <a:ext cx="411480" cy="1280160"/>
          </a:xfrm>
          <a:prstGeom prst="chevron">
            <a:avLst/>
          </a:prstGeom>
          <a:solidFill>
            <a:srgbClr val="5B5F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Session: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Roadmap Into AI Engineering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fundamentals to building real agentic AI systems — this is what we’ll teach, build, and ship together this year.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04120" y="548640"/>
            <a:ext cx="1051560" cy="105156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9" name="Image 0" descr="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6494" y="801014"/>
            <a:ext cx="546811" cy="54681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— modules, tools &amp; projects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ROADMAP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Phases, One Journey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11226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31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Intro, history, ML, DL, Gen AI, Agentic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20954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081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Engineering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4290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OOP, data structures, libraries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30682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526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FastAPI fundamentals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40410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276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in Practice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623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Hello-world chatbot, memory &amp; parameters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87452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211226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2331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LangChain, LangGraph, automation projects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97180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320954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6480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3081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Knowledge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34290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exam/personal-assistant projects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406908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64808" y="430682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64808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4526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servers, n8n, CrewAI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516636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3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64808" y="5404104"/>
            <a:ext cx="457200" cy="457200"/>
          </a:xfrm>
          <a:prstGeom prst="ellipse">
            <a:avLst/>
          </a:prstGeom>
          <a:solidFill>
            <a:srgbClr val="141B4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64808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86600" y="5276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Project Labs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7086600" y="5623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ML / DL / LLM architecture builds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"Artificial Intelligence" actually means — separating the hype from reality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vs. General AI, and where today’s tools really sit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already shows up in the products you use every day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study group exists: learning to build AI, not just use it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past to read today’s hype cycles correctly.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AI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symbolic AI and expert systems to statistical learning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turning points: AI winters, backpropagation, ImageNet, Transformers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decades of research led to the ChatGPT-era Gen AI boom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history teaches us about separating hype from real breakthroughs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and reinforcement learning explained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ML workflow: data → features → model → evaluation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algorithms: regression, decision trees, clustering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training and evaluating your first ML model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behind every modern breakthrough in AI.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neurons, layers, weights, and activations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vision and RNNs / Transformers for sequences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intuition for backpropagation and gradient descent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building and training a simple neural network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icons/ma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generate text: tokens, embeddings, next-token prediction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diffusion models for image generation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fundamentals — getting reliable output from a model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 AI fits into the broader AI landscape we just covered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we’re building toward all year.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"agent" different from a plain chatbot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planning, and tool-use loops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 at multi-agent systems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AI is the direction the whole industry is moving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Foundations I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parameters, return values, scope, *args / **kwargs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handling: try / except / finally, raising custom exceptions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clean, reusable, and readable code blocks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mini exercises to lock in the fundamentals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ENGINEERING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you’ll reuse in every project from here on.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Foundations II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Programming: classes, objects, inheritance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structures: lists, dictionaries, sets, and tuples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packages: organizing and importing your own code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third-party libraries: pip and virtual environments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&amp; API Introduction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APIs are and why every AI application depends on one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basics: endpoints, requests, responses, status codes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first FastAPI service from scratch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documenting endpoints with Swagger UI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IN PRACTICE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it all clicks — your own working chatbot.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World of Gen AI: Your First Chatbot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an LLM API (OpenAI, Groq, and others)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prompts and handling model responses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simple command-line chatbot end-to-end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your chatbot with the FastAPI service you just built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IN PRACTICE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Internals: Memory &amp; Parameters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chatbots "forget" — context windows explained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conversation memory the right way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temperature, top-p, and max tokens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between creativity and consistency in responses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turns a chatbot into something that can act.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&amp; Tools for LLMs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"function calling" / tool use actually means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tools the model is allowed to invoke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inputs &amp; outputs with JSON schemas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giving your chatbot its first real tool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&amp; LangGraph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prompts, and LLM orchestration with LangChain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graph-based agent flows with LangGraph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nodes, edges, and conditional routing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frameworks matter once your agents get complex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session — build, break, and debug real agents.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Sprint: Automation &amp; Agents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an automatic email-sending agent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 set of basic task-specific agents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tools + memory + logic into real workflows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iterating on agent behavior together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KNOWLEDGE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Architecture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need external knowledge — the hallucination problem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vector databases explained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→ augmentation → generation pipeline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 and what drives retrieval quality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grad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KNOWLEDGE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session — turn your own notes into an assistant.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Sprint: RAG Assistant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 PPT / notes-to-exam-prep RAG assistant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 personal knowledge assistant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chunking your own documents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answer quality and grounding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195560" y="411480"/>
            <a:ext cx="960120" cy="9601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6419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Servers &amp; No-Code Platforms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MCP servers are and why they matter for agent tooling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n8n: visual, no-code workflow automation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CrewAI: multi-agent orchestration made simple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frameworks vs. no-code platforms — when to use which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1B41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LABS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3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run long, and there may be more than one — that’s by design.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640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Project Labs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7452360" cy="0"/>
          </a:xfrm>
          <a:prstGeom prst="line">
            <a:avLst/>
          </a:prstGeom>
          <a:noFill/>
          <a:ln w="12700">
            <a:solidFill>
              <a:srgbClr val="E1E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1828800"/>
            <a:ext cx="7452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Extended, project-only sessions woven throughout the year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ML builds: full end-to-end model pipelines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DL builds: custom architectures from the ground up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➔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architecture deep dives: building core components from scratch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ARROWDEV STUDY GROUP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3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916229"/>
            <a:ext cx="499262" cy="49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6596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ARROWDEV 2026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965960" y="1188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You’ll Have Actually Built All of This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E2861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2350008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8" name="Image 1" descr="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87" y="2477567"/>
            <a:ext cx="311810" cy="31181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chatbot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292608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first API call to a full FastAPI-wrapped app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0" y="21488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E2861"/>
          </a:solidFill>
          <a:ln/>
        </p:spPr>
      </p:sp>
      <p:sp>
        <p:nvSpPr>
          <p:cNvPr id="12" name="Shape 8"/>
          <p:cNvSpPr/>
          <p:nvPr/>
        </p:nvSpPr>
        <p:spPr>
          <a:xfrm>
            <a:off x="4773168" y="2350008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13" name="Image 2" descr="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727" y="2477567"/>
            <a:ext cx="311810" cy="3118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4773168" y="292608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call functions and take real actions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321040" y="21488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E2861"/>
          </a:solidFill>
          <a:ln/>
        </p:spPr>
      </p:sp>
      <p:sp>
        <p:nvSpPr>
          <p:cNvPr id="17" name="Shape 12"/>
          <p:cNvSpPr/>
          <p:nvPr/>
        </p:nvSpPr>
        <p:spPr>
          <a:xfrm>
            <a:off x="8522208" y="2350008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18" name="Image 3" descr="icons/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767" y="2477567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3544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workflows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8522208" y="292608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email sender &amp; task-specific agents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22960" y="3977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E2861"/>
          </a:solidFill>
          <a:ln/>
        </p:spPr>
      </p:sp>
      <p:sp>
        <p:nvSpPr>
          <p:cNvPr id="22" name="Shape 16"/>
          <p:cNvSpPr/>
          <p:nvPr/>
        </p:nvSpPr>
        <p:spPr>
          <a:xfrm>
            <a:off x="1024128" y="4178808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23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687" y="4306367"/>
            <a:ext cx="311810" cy="31181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RAG assistant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1024128" y="475488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notes and slides, turned into an exam-ready assistant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572000" y="3977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E2861"/>
          </a:solidFill>
          <a:ln/>
        </p:spPr>
      </p:sp>
      <p:sp>
        <p:nvSpPr>
          <p:cNvPr id="27" name="Shape 20"/>
          <p:cNvSpPr/>
          <p:nvPr/>
        </p:nvSpPr>
        <p:spPr>
          <a:xfrm>
            <a:off x="4773168" y="4178808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28" name="Image 5" descr="icons/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0727" y="4306367"/>
            <a:ext cx="311810" cy="31181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8640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+ MCP workflows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4773168" y="475488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built in n8n and CrewAI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321040" y="3977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E2861"/>
          </a:solidFill>
          <a:ln/>
        </p:spPr>
      </p:sp>
      <p:sp>
        <p:nvSpPr>
          <p:cNvPr id="32" name="Shape 24"/>
          <p:cNvSpPr/>
          <p:nvPr/>
        </p:nvSpPr>
        <p:spPr>
          <a:xfrm>
            <a:off x="8522208" y="4178808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33" name="Image 6" descr="icons/ro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9767" y="4306367"/>
            <a:ext cx="311810" cy="31181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3544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/ DL / LLM projects</a:t>
            </a:r>
            <a:endParaRPr lang="en-US" sz="1350" dirty="0"/>
          </a:p>
        </p:txBody>
      </p:sp>
      <p:sp>
        <p:nvSpPr>
          <p:cNvPr id="35" name="Text 26"/>
          <p:cNvSpPr txBox="1"/>
          <p:nvPr/>
        </p:nvSpPr>
        <p:spPr>
          <a:xfrm>
            <a:off x="8522208" y="475488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builds from the applied project labs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start building. — ArrowDev Study Group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2026-08-27T07:44:57Z</dcterms:created>
  <dcterms:modified xsi:type="dcterms:W3CDTF">2026-08-27T07:44:57Z</dcterms:modified>
</cp:coreProperties>
</file>