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5"/>
    </p:embeddedFont>
    <p:embeddedFont>
      <p:font typeface="Cambria Bold" charset="1" panose="02040803050406030204"/>
      <p:regular r:id="rId26"/>
    </p:embeddedFont>
    <p:embeddedFont>
      <p:font typeface="Calibri (MS) Italics" charset="1" panose="020F05020202040A0204"/>
      <p:regular r:id="rId27"/>
    </p:embeddedFont>
    <p:embeddedFont>
      <p:font typeface="Calibri (MS)" charset="1" panose="020F0502020204030204"/>
      <p:regular r:id="rId28"/>
    </p:embeddedFont>
    <p:embeddedFont>
      <p:font typeface="Calibri (MS) Bold Italics" charset="1" panose="020F07020304040A0204"/>
      <p:regular r:id="rId31"/>
    </p:embeddedFont>
    <p:embeddedFont>
      <p:font typeface="Courier New" charset="1" panose="02070309020205020404"/>
      <p:regular r:id="rId34"/>
    </p:embeddedFont>
    <p:embeddedFont>
      <p:font typeface="Courier New Bold" charset="1" panose="020706090202050204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fonts/font31.fntdata" Type="http://schemas.openxmlformats.org/officeDocument/2006/relationships/font"/><Relationship Id="rId32" Target="notesSlides/notesSlide4.xml" Type="http://schemas.openxmlformats.org/officeDocument/2006/relationships/notesSlide"/><Relationship Id="rId33" Target="notesSlides/notesSlide5.xml" Type="http://schemas.openxmlformats.org/officeDocument/2006/relationships/notesSlide"/><Relationship Id="rId34" Target="fonts/font34.fntdata" Type="http://schemas.openxmlformats.org/officeDocument/2006/relationships/font"/><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1F3B"/>
        </a:solidFill>
      </p:bgPr>
    </p:bg>
    <p:spTree>
      <p:nvGrpSpPr>
        <p:cNvPr id="1" name=""/>
        <p:cNvGrpSpPr/>
        <p:nvPr/>
      </p:nvGrpSpPr>
      <p:grpSpPr>
        <a:xfrm>
          <a:off x="0" y="0"/>
          <a:ext cx="0" cy="0"/>
          <a:chOff x="0" y="0"/>
          <a:chExt cx="0" cy="0"/>
        </a:xfrm>
      </p:grpSpPr>
      <p:grpSp>
        <p:nvGrpSpPr>
          <p:cNvPr name="Group 2" id="2"/>
          <p:cNvGrpSpPr/>
          <p:nvPr/>
        </p:nvGrpSpPr>
        <p:grpSpPr>
          <a:xfrm rot="0">
            <a:off x="14538960" y="-1645920"/>
            <a:ext cx="5760720" cy="5760720"/>
            <a:chOff x="0" y="0"/>
            <a:chExt cx="7680960" cy="7680960"/>
          </a:xfrm>
        </p:grpSpPr>
        <p:sp>
          <p:nvSpPr>
            <p:cNvPr name="Freeform 3" id="3"/>
            <p:cNvSpPr/>
            <p:nvPr/>
          </p:nvSpPr>
          <p:spPr>
            <a:xfrm flipH="false" flipV="false" rot="0">
              <a:off x="0" y="0"/>
              <a:ext cx="7680960" cy="7680960"/>
            </a:xfrm>
            <a:custGeom>
              <a:avLst/>
              <a:gdLst/>
              <a:ahLst/>
              <a:cxnLst/>
              <a:rect r="r" b="b" t="t" l="l"/>
              <a:pathLst>
                <a:path h="7680960" w="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2A3163"/>
            </a:solidFill>
          </p:spPr>
        </p:sp>
      </p:grpSp>
      <p:grpSp>
        <p:nvGrpSpPr>
          <p:cNvPr name="Group 4" id="4"/>
          <p:cNvGrpSpPr/>
          <p:nvPr/>
        </p:nvGrpSpPr>
        <p:grpSpPr>
          <a:xfrm rot="0">
            <a:off x="16322040" y="7406640"/>
            <a:ext cx="3566160" cy="3566160"/>
            <a:chOff x="0" y="0"/>
            <a:chExt cx="4754880" cy="4754880"/>
          </a:xfrm>
        </p:grpSpPr>
        <p:sp>
          <p:nvSpPr>
            <p:cNvPr name="Freeform 5" id="5"/>
            <p:cNvSpPr/>
            <p:nvPr/>
          </p:nvSpPr>
          <p:spPr>
            <a:xfrm flipH="false" flipV="false" rot="0">
              <a:off x="0" y="0"/>
              <a:ext cx="4754880" cy="4754880"/>
            </a:xfrm>
            <a:custGeom>
              <a:avLst/>
              <a:gdLst/>
              <a:ahLst/>
              <a:cxnLst/>
              <a:rect r="r" b="b" t="t" l="l"/>
              <a:pathLst>
                <a:path h="4754880" w="4754880">
                  <a:moveTo>
                    <a:pt x="0" y="2377440"/>
                  </a:moveTo>
                  <a:cubicBezTo>
                    <a:pt x="0" y="1064387"/>
                    <a:pt x="1064387" y="0"/>
                    <a:pt x="2377440" y="0"/>
                  </a:cubicBezTo>
                  <a:cubicBezTo>
                    <a:pt x="3690493" y="0"/>
                    <a:pt x="4754880" y="1064387"/>
                    <a:pt x="4754880" y="2377440"/>
                  </a:cubicBezTo>
                  <a:cubicBezTo>
                    <a:pt x="4754880" y="3690493"/>
                    <a:pt x="3690493" y="4754880"/>
                    <a:pt x="2377440" y="4754880"/>
                  </a:cubicBezTo>
                  <a:cubicBezTo>
                    <a:pt x="1064387" y="4754880"/>
                    <a:pt x="0" y="3690493"/>
                    <a:pt x="0" y="2377440"/>
                  </a:cubicBezTo>
                  <a:close/>
                </a:path>
              </a:pathLst>
            </a:custGeom>
            <a:solidFill>
              <a:srgbClr val="2A3163"/>
            </a:solidFill>
          </p:spPr>
        </p:sp>
      </p:grpSp>
      <p:grpSp>
        <p:nvGrpSpPr>
          <p:cNvPr name="Group 6" id="6"/>
          <p:cNvGrpSpPr/>
          <p:nvPr/>
        </p:nvGrpSpPr>
        <p:grpSpPr>
          <a:xfrm rot="0">
            <a:off x="-1371600" y="6858000"/>
            <a:ext cx="4114800" cy="4114800"/>
            <a:chOff x="0" y="0"/>
            <a:chExt cx="5486400" cy="5486400"/>
          </a:xfrm>
        </p:grpSpPr>
        <p:sp>
          <p:nvSpPr>
            <p:cNvPr name="Freeform 7" id="7"/>
            <p:cNvSpPr/>
            <p:nvPr/>
          </p:nvSpPr>
          <p:spPr>
            <a:xfrm flipH="false" flipV="false" rot="0">
              <a:off x="0" y="0"/>
              <a:ext cx="5486400" cy="5486400"/>
            </a:xfrm>
            <a:custGeom>
              <a:avLst/>
              <a:gdLst/>
              <a:ahLst/>
              <a:cxnLst/>
              <a:rect r="r" b="b" t="t" l="l"/>
              <a:pathLst>
                <a:path h="5486400" w="5486400">
                  <a:moveTo>
                    <a:pt x="0" y="2743200"/>
                  </a:moveTo>
                  <a:cubicBezTo>
                    <a:pt x="0" y="1228217"/>
                    <a:pt x="1228217" y="0"/>
                    <a:pt x="2743200" y="0"/>
                  </a:cubicBezTo>
                  <a:cubicBezTo>
                    <a:pt x="4258183" y="0"/>
                    <a:pt x="5486400" y="1228217"/>
                    <a:pt x="5486400" y="2743200"/>
                  </a:cubicBezTo>
                  <a:cubicBezTo>
                    <a:pt x="5486400" y="4258183"/>
                    <a:pt x="4258183" y="5486400"/>
                    <a:pt x="2743200" y="5486400"/>
                  </a:cubicBezTo>
                  <a:cubicBezTo>
                    <a:pt x="1228217" y="5486400"/>
                    <a:pt x="0" y="4258183"/>
                    <a:pt x="0" y="2743200"/>
                  </a:cubicBezTo>
                  <a:close/>
                </a:path>
              </a:pathLst>
            </a:custGeom>
            <a:solidFill>
              <a:srgbClr val="2A3163"/>
            </a:solidFill>
          </p:spPr>
        </p:sp>
      </p:grpSp>
      <p:grpSp>
        <p:nvGrpSpPr>
          <p:cNvPr name="Group 8" id="8"/>
          <p:cNvGrpSpPr/>
          <p:nvPr/>
        </p:nvGrpSpPr>
        <p:grpSpPr>
          <a:xfrm rot="0">
            <a:off x="1234440" y="2125980"/>
            <a:ext cx="10972800" cy="548640"/>
            <a:chOff x="0" y="0"/>
            <a:chExt cx="14630400" cy="731520"/>
          </a:xfrm>
        </p:grpSpPr>
        <p:sp>
          <p:nvSpPr>
            <p:cNvPr name="Freeform 9" id="9"/>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10" id="10"/>
            <p:cNvSpPr txBox="true"/>
            <p:nvPr/>
          </p:nvSpPr>
          <p:spPr>
            <a:xfrm>
              <a:off x="0" y="-47625"/>
              <a:ext cx="14630400" cy="779145"/>
            </a:xfrm>
            <a:prstGeom prst="rect">
              <a:avLst/>
            </a:prstGeom>
          </p:spPr>
          <p:txBody>
            <a:bodyPr anchor="ctr" rtlCol="false" tIns="0" lIns="0" bIns="0" rIns="0"/>
            <a:lstStyle/>
            <a:p>
              <a:pPr algn="l">
                <a:lnSpc>
                  <a:spcPts val="2340"/>
                </a:lnSpc>
              </a:pPr>
              <a:r>
                <a:rPr lang="en-US" b="true" sz="1950" spc="449">
                  <a:solidFill>
                    <a:srgbClr val="FFB84C"/>
                  </a:solidFill>
                  <a:latin typeface="Calibri (MS) Bold"/>
                  <a:ea typeface="Calibri (MS) Bold"/>
                  <a:cs typeface="Calibri (MS) Bold"/>
                  <a:sym typeface="Calibri (MS) Bold"/>
                </a:rPr>
                <a:t>ARROWDEV STUDY GROUP</a:t>
              </a:r>
            </a:p>
          </p:txBody>
        </p:sp>
      </p:grpSp>
      <p:grpSp>
        <p:nvGrpSpPr>
          <p:cNvPr name="Group 11" id="11"/>
          <p:cNvGrpSpPr/>
          <p:nvPr/>
        </p:nvGrpSpPr>
        <p:grpSpPr>
          <a:xfrm rot="0">
            <a:off x="1165860" y="2811780"/>
            <a:ext cx="15087600" cy="2057400"/>
            <a:chOff x="0" y="0"/>
            <a:chExt cx="20116800" cy="2743200"/>
          </a:xfrm>
        </p:grpSpPr>
        <p:sp>
          <p:nvSpPr>
            <p:cNvPr name="Freeform 12" id="12"/>
            <p:cNvSpPr/>
            <p:nvPr/>
          </p:nvSpPr>
          <p:spPr>
            <a:xfrm flipH="false" flipV="false" rot="0">
              <a:off x="0" y="0"/>
              <a:ext cx="20116800" cy="2743200"/>
            </a:xfrm>
            <a:custGeom>
              <a:avLst/>
              <a:gdLst/>
              <a:ahLst/>
              <a:cxnLst/>
              <a:rect r="r" b="b" t="t" l="l"/>
              <a:pathLst>
                <a:path h="2743200" w="20116800">
                  <a:moveTo>
                    <a:pt x="0" y="0"/>
                  </a:moveTo>
                  <a:lnTo>
                    <a:pt x="20116800" y="0"/>
                  </a:lnTo>
                  <a:lnTo>
                    <a:pt x="20116800" y="2743200"/>
                  </a:lnTo>
                  <a:lnTo>
                    <a:pt x="0" y="2743200"/>
                  </a:lnTo>
                  <a:close/>
                </a:path>
              </a:pathLst>
            </a:custGeom>
            <a:blipFill>
              <a:blip r:embed="rId3">
                <a:alphaModFix amt="0"/>
              </a:blip>
              <a:stretch>
                <a:fillRect l="0" t="-92890" r="0" b="-92890"/>
              </a:stretch>
            </a:blipFill>
          </p:spPr>
        </p:sp>
        <p:sp>
          <p:nvSpPr>
            <p:cNvPr name="TextBox 13" id="13"/>
            <p:cNvSpPr txBox="true"/>
            <p:nvPr/>
          </p:nvSpPr>
          <p:spPr>
            <a:xfrm>
              <a:off x="0" y="-19050"/>
              <a:ext cx="20116800" cy="2762250"/>
            </a:xfrm>
            <a:prstGeom prst="rect">
              <a:avLst/>
            </a:prstGeom>
          </p:spPr>
          <p:txBody>
            <a:bodyPr anchor="ctr" rtlCol="false" tIns="0" lIns="0" bIns="0" rIns="0"/>
            <a:lstStyle/>
            <a:p>
              <a:pPr algn="l">
                <a:lnSpc>
                  <a:spcPts val="9720"/>
                </a:lnSpc>
              </a:pPr>
              <a:r>
                <a:rPr lang="en-US" sz="8100" b="true">
                  <a:solidFill>
                    <a:srgbClr val="FFFFFF"/>
                  </a:solidFill>
                  <a:latin typeface="Cambria Bold"/>
                  <a:ea typeface="Cambria Bold"/>
                  <a:cs typeface="Cambria Bold"/>
                  <a:sym typeface="Cambria Bold"/>
                </a:rPr>
                <a:t>Python Foundations</a:t>
              </a:r>
            </a:p>
          </p:txBody>
        </p:sp>
      </p:grpSp>
      <p:grpSp>
        <p:nvGrpSpPr>
          <p:cNvPr name="Group 14" id="14"/>
          <p:cNvGrpSpPr/>
          <p:nvPr/>
        </p:nvGrpSpPr>
        <p:grpSpPr>
          <a:xfrm rot="0">
            <a:off x="1234440" y="4594860"/>
            <a:ext cx="13030200" cy="822960"/>
            <a:chOff x="0" y="0"/>
            <a:chExt cx="17373600" cy="1097280"/>
          </a:xfrm>
        </p:grpSpPr>
        <p:sp>
          <p:nvSpPr>
            <p:cNvPr name="Freeform 15" id="15"/>
            <p:cNvSpPr/>
            <p:nvPr/>
          </p:nvSpPr>
          <p:spPr>
            <a:xfrm flipH="false" flipV="false" rot="0">
              <a:off x="0" y="0"/>
              <a:ext cx="17373600" cy="1097280"/>
            </a:xfrm>
            <a:custGeom>
              <a:avLst/>
              <a:gdLst/>
              <a:ahLst/>
              <a:cxnLst/>
              <a:rect r="r" b="b" t="t" l="l"/>
              <a:pathLst>
                <a:path h="1097280" w="17373600">
                  <a:moveTo>
                    <a:pt x="0" y="0"/>
                  </a:moveTo>
                  <a:lnTo>
                    <a:pt x="17373600" y="0"/>
                  </a:lnTo>
                  <a:lnTo>
                    <a:pt x="17373600" y="1097280"/>
                  </a:lnTo>
                  <a:lnTo>
                    <a:pt x="0" y="1097280"/>
                  </a:lnTo>
                  <a:close/>
                </a:path>
              </a:pathLst>
            </a:custGeom>
            <a:blipFill>
              <a:blip r:embed="rId3">
                <a:alphaModFix amt="0"/>
              </a:blip>
              <a:stretch>
                <a:fillRect l="0" t="-258513" r="0" b="-258513"/>
              </a:stretch>
            </a:blipFill>
          </p:spPr>
        </p:sp>
        <p:sp>
          <p:nvSpPr>
            <p:cNvPr name="TextBox 16" id="16"/>
            <p:cNvSpPr txBox="true"/>
            <p:nvPr/>
          </p:nvSpPr>
          <p:spPr>
            <a:xfrm>
              <a:off x="0" y="-47625"/>
              <a:ext cx="17373600" cy="1144905"/>
            </a:xfrm>
            <a:prstGeom prst="rect">
              <a:avLst/>
            </a:prstGeom>
          </p:spPr>
          <p:txBody>
            <a:bodyPr anchor="ctr" rtlCol="false" tIns="0" lIns="0" bIns="0" rIns="0"/>
            <a:lstStyle/>
            <a:p>
              <a:pPr algn="l">
                <a:lnSpc>
                  <a:spcPts val="3060"/>
                </a:lnSpc>
              </a:pPr>
              <a:r>
                <a:rPr lang="en-US" sz="2550" i="true">
                  <a:solidFill>
                    <a:srgbClr val="C7CCEA"/>
                  </a:solidFill>
                  <a:latin typeface="Calibri (MS) Italics"/>
                  <a:ea typeface="Calibri (MS) Italics"/>
                  <a:cs typeface="Calibri (MS) Italics"/>
                  <a:sym typeface="Calibri (MS) Italics"/>
                </a:rPr>
                <a:t>From your first line of code to the building blocks of AI agents</a:t>
              </a:r>
            </a:p>
          </p:txBody>
        </p:sp>
      </p:grpSp>
      <p:grpSp>
        <p:nvGrpSpPr>
          <p:cNvPr name="Group 17" id="17"/>
          <p:cNvGrpSpPr/>
          <p:nvPr/>
        </p:nvGrpSpPr>
        <p:grpSpPr>
          <a:xfrm rot="0">
            <a:off x="1224915" y="6162675"/>
            <a:ext cx="4435602" cy="704850"/>
            <a:chOff x="0" y="0"/>
            <a:chExt cx="5914136" cy="939800"/>
          </a:xfrm>
        </p:grpSpPr>
        <p:sp>
          <p:nvSpPr>
            <p:cNvPr name="Freeform 18" id="18"/>
            <p:cNvSpPr/>
            <p:nvPr/>
          </p:nvSpPr>
          <p:spPr>
            <a:xfrm flipH="false" flipV="false" rot="0">
              <a:off x="0" y="0"/>
              <a:ext cx="5914136" cy="939800"/>
            </a:xfrm>
            <a:custGeom>
              <a:avLst/>
              <a:gdLst/>
              <a:ahLst/>
              <a:cxnLst/>
              <a:rect r="r" b="b" t="t" l="l"/>
              <a:pathLst>
                <a:path h="939800" w="5914136">
                  <a:moveTo>
                    <a:pt x="0" y="469900"/>
                  </a:moveTo>
                  <a:cubicBezTo>
                    <a:pt x="0" y="210439"/>
                    <a:pt x="210439" y="0"/>
                    <a:pt x="469900" y="0"/>
                  </a:cubicBezTo>
                  <a:lnTo>
                    <a:pt x="5444236" y="0"/>
                  </a:lnTo>
                  <a:cubicBezTo>
                    <a:pt x="5703697" y="0"/>
                    <a:pt x="5914136" y="210439"/>
                    <a:pt x="5914136" y="469900"/>
                  </a:cubicBezTo>
                  <a:cubicBezTo>
                    <a:pt x="5914136" y="729361"/>
                    <a:pt x="5703697" y="939800"/>
                    <a:pt x="5444236" y="939800"/>
                  </a:cubicBezTo>
                  <a:lnTo>
                    <a:pt x="469900" y="939800"/>
                  </a:lnTo>
                  <a:cubicBezTo>
                    <a:pt x="210439" y="939800"/>
                    <a:pt x="0" y="729361"/>
                    <a:pt x="0" y="469900"/>
                  </a:cubicBezTo>
                  <a:close/>
                </a:path>
              </a:pathLst>
            </a:custGeom>
            <a:solidFill>
              <a:srgbClr val="2A3163"/>
            </a:solidFill>
            <a:ln w="19050" cap="sq">
              <a:solidFill>
                <a:srgbClr val="3D4680"/>
              </a:solidFill>
              <a:prstDash val="solid"/>
              <a:miter/>
            </a:ln>
          </p:spPr>
        </p:sp>
      </p:grpSp>
      <p:grpSp>
        <p:nvGrpSpPr>
          <p:cNvPr name="Group 19" id="19"/>
          <p:cNvGrpSpPr/>
          <p:nvPr/>
        </p:nvGrpSpPr>
        <p:grpSpPr>
          <a:xfrm rot="0">
            <a:off x="1253490" y="6172200"/>
            <a:ext cx="4416552" cy="685800"/>
            <a:chOff x="0" y="0"/>
            <a:chExt cx="5888736" cy="914400"/>
          </a:xfrm>
        </p:grpSpPr>
        <p:sp>
          <p:nvSpPr>
            <p:cNvPr name="Freeform 20" id="20"/>
            <p:cNvSpPr/>
            <p:nvPr/>
          </p:nvSpPr>
          <p:spPr>
            <a:xfrm flipH="false" flipV="false" rot="0">
              <a:off x="0" y="0"/>
              <a:ext cx="5888736" cy="914400"/>
            </a:xfrm>
            <a:custGeom>
              <a:avLst/>
              <a:gdLst/>
              <a:ahLst/>
              <a:cxnLst/>
              <a:rect r="r" b="b" t="t" l="l"/>
              <a:pathLst>
                <a:path h="914400" w="5888736">
                  <a:moveTo>
                    <a:pt x="0" y="0"/>
                  </a:moveTo>
                  <a:lnTo>
                    <a:pt x="5888736" y="0"/>
                  </a:lnTo>
                  <a:lnTo>
                    <a:pt x="5888736" y="914400"/>
                  </a:lnTo>
                  <a:lnTo>
                    <a:pt x="0" y="914400"/>
                  </a:lnTo>
                  <a:close/>
                </a:path>
              </a:pathLst>
            </a:custGeom>
            <a:blipFill>
              <a:blip r:embed="rId3">
                <a:alphaModFix amt="0"/>
              </a:blip>
              <a:stretch>
                <a:fillRect l="0" t="-75483" r="0" b="-75483"/>
              </a:stretch>
            </a:blipFill>
          </p:spPr>
        </p:sp>
        <p:sp>
          <p:nvSpPr>
            <p:cNvPr name="TextBox 21" id="21"/>
            <p:cNvSpPr txBox="true"/>
            <p:nvPr/>
          </p:nvSpPr>
          <p:spPr>
            <a:xfrm>
              <a:off x="0" y="-38100"/>
              <a:ext cx="5888736" cy="952500"/>
            </a:xfrm>
            <a:prstGeom prst="rect">
              <a:avLst/>
            </a:prstGeom>
          </p:spPr>
          <p:txBody>
            <a:bodyPr anchor="ctr" rtlCol="false" tIns="0" lIns="0" bIns="0" rIns="0"/>
            <a:lstStyle/>
            <a:p>
              <a:pPr algn="ctr">
                <a:lnSpc>
                  <a:spcPts val="2160"/>
                </a:lnSpc>
              </a:pPr>
              <a:r>
                <a:rPr lang="en-US" sz="1800" b="true">
                  <a:solidFill>
                    <a:srgbClr val="4FB6B0"/>
                  </a:solidFill>
                  <a:latin typeface="Calibri (MS) Bold"/>
                  <a:ea typeface="Calibri (MS) Bold"/>
                  <a:cs typeface="Calibri (MS) Bold"/>
                  <a:sym typeface="Calibri (MS) Bold"/>
                </a:rPr>
                <a:t>Programming Basics</a:t>
              </a:r>
            </a:p>
          </p:txBody>
        </p:sp>
      </p:grpSp>
      <p:grpSp>
        <p:nvGrpSpPr>
          <p:cNvPr name="Group 22" id="22"/>
          <p:cNvGrpSpPr/>
          <p:nvPr/>
        </p:nvGrpSpPr>
        <p:grpSpPr>
          <a:xfrm rot="0">
            <a:off x="5984367" y="6162675"/>
            <a:ext cx="4161282" cy="704850"/>
            <a:chOff x="0" y="0"/>
            <a:chExt cx="5548376" cy="939800"/>
          </a:xfrm>
        </p:grpSpPr>
        <p:sp>
          <p:nvSpPr>
            <p:cNvPr name="Freeform 23" id="23"/>
            <p:cNvSpPr/>
            <p:nvPr/>
          </p:nvSpPr>
          <p:spPr>
            <a:xfrm flipH="false" flipV="false" rot="0">
              <a:off x="0" y="0"/>
              <a:ext cx="5548376" cy="939800"/>
            </a:xfrm>
            <a:custGeom>
              <a:avLst/>
              <a:gdLst/>
              <a:ahLst/>
              <a:cxnLst/>
              <a:rect r="r" b="b" t="t" l="l"/>
              <a:pathLst>
                <a:path h="939800" w="5548376">
                  <a:moveTo>
                    <a:pt x="0" y="469900"/>
                  </a:moveTo>
                  <a:cubicBezTo>
                    <a:pt x="0" y="210439"/>
                    <a:pt x="210439" y="0"/>
                    <a:pt x="469900" y="0"/>
                  </a:cubicBezTo>
                  <a:lnTo>
                    <a:pt x="5078476" y="0"/>
                  </a:lnTo>
                  <a:cubicBezTo>
                    <a:pt x="5337937" y="0"/>
                    <a:pt x="5548376" y="210439"/>
                    <a:pt x="5548376" y="469900"/>
                  </a:cubicBezTo>
                  <a:cubicBezTo>
                    <a:pt x="5548376" y="729361"/>
                    <a:pt x="5337937" y="939800"/>
                    <a:pt x="5078476" y="939800"/>
                  </a:cubicBezTo>
                  <a:lnTo>
                    <a:pt x="469900" y="939800"/>
                  </a:lnTo>
                  <a:cubicBezTo>
                    <a:pt x="210439" y="939800"/>
                    <a:pt x="0" y="729361"/>
                    <a:pt x="0" y="469900"/>
                  </a:cubicBezTo>
                  <a:close/>
                </a:path>
              </a:pathLst>
            </a:custGeom>
            <a:solidFill>
              <a:srgbClr val="2A3163"/>
            </a:solidFill>
            <a:ln w="19050" cap="sq">
              <a:solidFill>
                <a:srgbClr val="3D4680"/>
              </a:solidFill>
              <a:prstDash val="solid"/>
              <a:miter/>
            </a:ln>
          </p:spPr>
        </p:sp>
      </p:grpSp>
      <p:grpSp>
        <p:nvGrpSpPr>
          <p:cNvPr name="Group 24" id="24"/>
          <p:cNvGrpSpPr/>
          <p:nvPr/>
        </p:nvGrpSpPr>
        <p:grpSpPr>
          <a:xfrm rot="0">
            <a:off x="5993892" y="6172200"/>
            <a:ext cx="4142232" cy="685800"/>
            <a:chOff x="0" y="0"/>
            <a:chExt cx="5522976" cy="914400"/>
          </a:xfrm>
        </p:grpSpPr>
        <p:sp>
          <p:nvSpPr>
            <p:cNvPr name="Freeform 25" id="25"/>
            <p:cNvSpPr/>
            <p:nvPr/>
          </p:nvSpPr>
          <p:spPr>
            <a:xfrm flipH="false" flipV="false" rot="0">
              <a:off x="0" y="0"/>
              <a:ext cx="5522976" cy="914400"/>
            </a:xfrm>
            <a:custGeom>
              <a:avLst/>
              <a:gdLst/>
              <a:ahLst/>
              <a:cxnLst/>
              <a:rect r="r" b="b" t="t" l="l"/>
              <a:pathLst>
                <a:path h="914400" w="5522976">
                  <a:moveTo>
                    <a:pt x="0" y="0"/>
                  </a:moveTo>
                  <a:lnTo>
                    <a:pt x="5522976" y="0"/>
                  </a:lnTo>
                  <a:lnTo>
                    <a:pt x="5522976" y="914400"/>
                  </a:lnTo>
                  <a:lnTo>
                    <a:pt x="0" y="914400"/>
                  </a:lnTo>
                  <a:close/>
                </a:path>
              </a:pathLst>
            </a:custGeom>
            <a:blipFill>
              <a:blip r:embed="rId3">
                <a:alphaModFix amt="0"/>
              </a:blip>
              <a:stretch>
                <a:fillRect l="0" t="-67689" r="0" b="-67689"/>
              </a:stretch>
            </a:blipFill>
          </p:spPr>
        </p:sp>
        <p:sp>
          <p:nvSpPr>
            <p:cNvPr name="TextBox 26" id="26"/>
            <p:cNvSpPr txBox="true"/>
            <p:nvPr/>
          </p:nvSpPr>
          <p:spPr>
            <a:xfrm>
              <a:off x="0" y="-38100"/>
              <a:ext cx="5522976" cy="952500"/>
            </a:xfrm>
            <a:prstGeom prst="rect">
              <a:avLst/>
            </a:prstGeom>
          </p:spPr>
          <p:txBody>
            <a:bodyPr anchor="ctr" rtlCol="false" tIns="0" lIns="0" bIns="0" rIns="0"/>
            <a:lstStyle/>
            <a:p>
              <a:pPr algn="ctr">
                <a:lnSpc>
                  <a:spcPts val="2160"/>
                </a:lnSpc>
              </a:pPr>
              <a:r>
                <a:rPr lang="en-US" sz="1800" b="true">
                  <a:solidFill>
                    <a:srgbClr val="4FB6B0"/>
                  </a:solidFill>
                  <a:latin typeface="Calibri (MS) Bold"/>
                  <a:ea typeface="Calibri (MS) Bold"/>
                  <a:cs typeface="Calibri (MS) Bold"/>
                  <a:sym typeface="Calibri (MS) Bold"/>
                </a:rPr>
                <a:t>Python Syntax</a:t>
              </a:r>
            </a:p>
          </p:txBody>
        </p:sp>
      </p:grpSp>
      <p:grpSp>
        <p:nvGrpSpPr>
          <p:cNvPr name="Group 27" id="27"/>
          <p:cNvGrpSpPr/>
          <p:nvPr/>
        </p:nvGrpSpPr>
        <p:grpSpPr>
          <a:xfrm rot="0">
            <a:off x="10469499" y="6162675"/>
            <a:ext cx="4490466" cy="704850"/>
            <a:chOff x="0" y="0"/>
            <a:chExt cx="5987288" cy="939800"/>
          </a:xfrm>
        </p:grpSpPr>
        <p:sp>
          <p:nvSpPr>
            <p:cNvPr name="Freeform 28" id="28"/>
            <p:cNvSpPr/>
            <p:nvPr/>
          </p:nvSpPr>
          <p:spPr>
            <a:xfrm flipH="false" flipV="false" rot="0">
              <a:off x="0" y="0"/>
              <a:ext cx="5987288" cy="939800"/>
            </a:xfrm>
            <a:custGeom>
              <a:avLst/>
              <a:gdLst/>
              <a:ahLst/>
              <a:cxnLst/>
              <a:rect r="r" b="b" t="t" l="l"/>
              <a:pathLst>
                <a:path h="939800" w="5987288">
                  <a:moveTo>
                    <a:pt x="0" y="469900"/>
                  </a:moveTo>
                  <a:cubicBezTo>
                    <a:pt x="0" y="210439"/>
                    <a:pt x="210439" y="0"/>
                    <a:pt x="469900" y="0"/>
                  </a:cubicBezTo>
                  <a:lnTo>
                    <a:pt x="5517388" y="0"/>
                  </a:lnTo>
                  <a:cubicBezTo>
                    <a:pt x="5776849" y="0"/>
                    <a:pt x="5987288" y="210439"/>
                    <a:pt x="5987288" y="469900"/>
                  </a:cubicBezTo>
                  <a:cubicBezTo>
                    <a:pt x="5987288" y="729361"/>
                    <a:pt x="5776849" y="939800"/>
                    <a:pt x="5517388" y="939800"/>
                  </a:cubicBezTo>
                  <a:lnTo>
                    <a:pt x="469900" y="939800"/>
                  </a:lnTo>
                  <a:cubicBezTo>
                    <a:pt x="210439" y="939800"/>
                    <a:pt x="0" y="729361"/>
                    <a:pt x="0" y="469900"/>
                  </a:cubicBezTo>
                  <a:close/>
                </a:path>
              </a:pathLst>
            </a:custGeom>
            <a:solidFill>
              <a:srgbClr val="2A3163"/>
            </a:solidFill>
            <a:ln w="19050" cap="sq">
              <a:solidFill>
                <a:srgbClr val="3D4680"/>
              </a:solidFill>
              <a:prstDash val="solid"/>
              <a:miter/>
            </a:ln>
          </p:spPr>
        </p:sp>
      </p:grpSp>
      <p:grpSp>
        <p:nvGrpSpPr>
          <p:cNvPr name="Group 29" id="29"/>
          <p:cNvGrpSpPr/>
          <p:nvPr/>
        </p:nvGrpSpPr>
        <p:grpSpPr>
          <a:xfrm rot="0">
            <a:off x="10479024" y="6172200"/>
            <a:ext cx="4471416" cy="685800"/>
            <a:chOff x="0" y="0"/>
            <a:chExt cx="5961888" cy="914400"/>
          </a:xfrm>
        </p:grpSpPr>
        <p:sp>
          <p:nvSpPr>
            <p:cNvPr name="Freeform 30" id="30"/>
            <p:cNvSpPr/>
            <p:nvPr/>
          </p:nvSpPr>
          <p:spPr>
            <a:xfrm flipH="false" flipV="false" rot="0">
              <a:off x="0" y="0"/>
              <a:ext cx="5961888" cy="914400"/>
            </a:xfrm>
            <a:custGeom>
              <a:avLst/>
              <a:gdLst/>
              <a:ahLst/>
              <a:cxnLst/>
              <a:rect r="r" b="b" t="t" l="l"/>
              <a:pathLst>
                <a:path h="914400" w="5961888">
                  <a:moveTo>
                    <a:pt x="0" y="0"/>
                  </a:moveTo>
                  <a:lnTo>
                    <a:pt x="5961888" y="0"/>
                  </a:lnTo>
                  <a:lnTo>
                    <a:pt x="5961888" y="914400"/>
                  </a:lnTo>
                  <a:lnTo>
                    <a:pt x="0" y="914400"/>
                  </a:lnTo>
                  <a:close/>
                </a:path>
              </a:pathLst>
            </a:custGeom>
            <a:blipFill>
              <a:blip r:embed="rId3">
                <a:alphaModFix amt="0"/>
              </a:blip>
              <a:stretch>
                <a:fillRect l="0" t="-77042" r="0" b="-77042"/>
              </a:stretch>
            </a:blipFill>
          </p:spPr>
        </p:sp>
        <p:sp>
          <p:nvSpPr>
            <p:cNvPr name="TextBox 31" id="31"/>
            <p:cNvSpPr txBox="true"/>
            <p:nvPr/>
          </p:nvSpPr>
          <p:spPr>
            <a:xfrm>
              <a:off x="0" y="-38100"/>
              <a:ext cx="5961888" cy="952500"/>
            </a:xfrm>
            <a:prstGeom prst="rect">
              <a:avLst/>
            </a:prstGeom>
          </p:spPr>
          <p:txBody>
            <a:bodyPr anchor="ctr" rtlCol="false" tIns="0" lIns="0" bIns="0" rIns="0"/>
            <a:lstStyle/>
            <a:p>
              <a:pPr algn="ctr">
                <a:lnSpc>
                  <a:spcPts val="2160"/>
                </a:lnSpc>
              </a:pPr>
              <a:r>
                <a:rPr lang="en-US" sz="1800" b="true">
                  <a:solidFill>
                    <a:srgbClr val="4FB6B0"/>
                  </a:solidFill>
                  <a:latin typeface="Calibri (MS) Bold"/>
                  <a:ea typeface="Calibri (MS) Bold"/>
                  <a:cs typeface="Calibri (MS) Bold"/>
                  <a:sym typeface="Calibri (MS) Bold"/>
                </a:rPr>
                <a:t>Hands-on in VS Code</a:t>
              </a:r>
            </a:p>
          </p:txBody>
        </p:sp>
      </p:grpSp>
      <p:grpSp>
        <p:nvGrpSpPr>
          <p:cNvPr name="Group 32" id="32"/>
          <p:cNvGrpSpPr/>
          <p:nvPr/>
        </p:nvGrpSpPr>
        <p:grpSpPr>
          <a:xfrm rot="0">
            <a:off x="1234440" y="8983980"/>
            <a:ext cx="10972800" cy="548640"/>
            <a:chOff x="0" y="0"/>
            <a:chExt cx="14630400" cy="731520"/>
          </a:xfrm>
        </p:grpSpPr>
        <p:sp>
          <p:nvSpPr>
            <p:cNvPr name="Freeform 33" id="3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34" id="34"/>
            <p:cNvSpPr txBox="true"/>
            <p:nvPr/>
          </p:nvSpPr>
          <p:spPr>
            <a:xfrm>
              <a:off x="0" y="-38100"/>
              <a:ext cx="14630400" cy="769620"/>
            </a:xfrm>
            <a:prstGeom prst="rect">
              <a:avLst/>
            </a:prstGeom>
          </p:spPr>
          <p:txBody>
            <a:bodyPr anchor="ctr" rtlCol="false" tIns="0" lIns="0" bIns="0" rIns="0"/>
            <a:lstStyle/>
            <a:p>
              <a:pPr algn="l">
                <a:lnSpc>
                  <a:spcPts val="2070"/>
                </a:lnSpc>
              </a:pPr>
              <a:r>
                <a:rPr lang="en-US" sz="1725">
                  <a:solidFill>
                    <a:srgbClr val="9AA1CC"/>
                  </a:solidFill>
                  <a:latin typeface="Calibri (MS)"/>
                  <a:ea typeface="Calibri (MS)"/>
                  <a:cs typeface="Calibri (MS)"/>
                  <a:sym typeface="Calibri (MS)"/>
                </a:rPr>
                <a:t>Session 1  •  Beginner Level  •  No prior experience needed</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BEFORE WE START</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What are we learning today, and why?</a:t>
              </a:r>
            </a:p>
          </p:txBody>
        </p:sp>
      </p:grpSp>
      <p:grpSp>
        <p:nvGrpSpPr>
          <p:cNvPr name="Group 8" id="8"/>
          <p:cNvGrpSpPr/>
          <p:nvPr/>
        </p:nvGrpSpPr>
        <p:grpSpPr>
          <a:xfrm rot="0">
            <a:off x="822960" y="2263140"/>
            <a:ext cx="16322040" cy="891540"/>
            <a:chOff x="0" y="0"/>
            <a:chExt cx="21762720" cy="1188720"/>
          </a:xfrm>
        </p:grpSpPr>
        <p:sp>
          <p:nvSpPr>
            <p:cNvPr name="Freeform 9" id="9"/>
            <p:cNvSpPr/>
            <p:nvPr/>
          </p:nvSpPr>
          <p:spPr>
            <a:xfrm flipH="false" flipV="false" rot="0">
              <a:off x="0" y="0"/>
              <a:ext cx="21762720" cy="1188720"/>
            </a:xfrm>
            <a:custGeom>
              <a:avLst/>
              <a:gdLst/>
              <a:ahLst/>
              <a:cxnLst/>
              <a:rect r="r" b="b" t="t" l="l"/>
              <a:pathLst>
                <a:path h="1188720" w="21762720">
                  <a:moveTo>
                    <a:pt x="0" y="0"/>
                  </a:moveTo>
                  <a:lnTo>
                    <a:pt x="21762720" y="0"/>
                  </a:lnTo>
                  <a:lnTo>
                    <a:pt x="21762720" y="1188720"/>
                  </a:lnTo>
                  <a:lnTo>
                    <a:pt x="0" y="1188720"/>
                  </a:lnTo>
                  <a:close/>
                </a:path>
              </a:pathLst>
            </a:custGeom>
            <a:blipFill>
              <a:blip r:embed="rId3">
                <a:alphaModFix amt="0"/>
              </a:blip>
              <a:stretch>
                <a:fillRect l="0" t="-306726" r="0" b="-306726"/>
              </a:stretch>
            </a:blipFill>
          </p:spPr>
        </p:sp>
        <p:sp>
          <p:nvSpPr>
            <p:cNvPr name="TextBox 10" id="10"/>
            <p:cNvSpPr txBox="true"/>
            <p:nvPr/>
          </p:nvSpPr>
          <p:spPr>
            <a:xfrm>
              <a:off x="0" y="-95250"/>
              <a:ext cx="21762720" cy="1283970"/>
            </a:xfrm>
            <a:prstGeom prst="rect">
              <a:avLst/>
            </a:prstGeom>
          </p:spPr>
          <p:txBody>
            <a:bodyPr anchor="ctr" rtlCol="false" tIns="0" lIns="0" bIns="0" rIns="0"/>
            <a:lstStyle/>
            <a:p>
              <a:pPr algn="l">
                <a:lnSpc>
                  <a:spcPts val="2808"/>
                </a:lnSpc>
              </a:pPr>
              <a:r>
                <a:rPr lang="en-US" sz="1950">
                  <a:solidFill>
                    <a:srgbClr val="000000"/>
                  </a:solidFill>
                  <a:latin typeface="Calibri (MS)"/>
                  <a:ea typeface="Calibri (MS)"/>
                  <a:cs typeface="Calibri (MS)"/>
                  <a:sym typeface="Calibri (MS)"/>
                </a:rPr>
                <a:t>This is not a stand-alone Python course. Python is the tool we'll use throughout the Agentic AI Study Group to build, test, and run AI agents. Today we build the foundation everything else stands on.</a:t>
              </a:r>
            </a:p>
          </p:txBody>
        </p:sp>
      </p:grpSp>
      <p:grpSp>
        <p:nvGrpSpPr>
          <p:cNvPr name="Group 11" id="11"/>
          <p:cNvGrpSpPr/>
          <p:nvPr/>
        </p:nvGrpSpPr>
        <p:grpSpPr>
          <a:xfrm rot="0">
            <a:off x="813435" y="3488055"/>
            <a:ext cx="3996690" cy="2145030"/>
            <a:chOff x="0" y="0"/>
            <a:chExt cx="5328920" cy="2860040"/>
          </a:xfrm>
        </p:grpSpPr>
        <p:sp>
          <p:nvSpPr>
            <p:cNvPr name="Freeform 12" id="12"/>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13" id="13"/>
          <p:cNvGrpSpPr/>
          <p:nvPr/>
        </p:nvGrpSpPr>
        <p:grpSpPr>
          <a:xfrm rot="0">
            <a:off x="1097280" y="3771900"/>
            <a:ext cx="685800" cy="685800"/>
            <a:chOff x="0" y="0"/>
            <a:chExt cx="914400" cy="914400"/>
          </a:xfrm>
        </p:grpSpPr>
        <p:sp>
          <p:nvSpPr>
            <p:cNvPr name="Freeform 14" id="1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15" id="15"/>
          <p:cNvGrpSpPr/>
          <p:nvPr/>
        </p:nvGrpSpPr>
        <p:grpSpPr>
          <a:xfrm rot="0">
            <a:off x="1097280" y="3771900"/>
            <a:ext cx="685800" cy="685800"/>
            <a:chOff x="0" y="0"/>
            <a:chExt cx="914400" cy="914400"/>
          </a:xfrm>
        </p:grpSpPr>
        <p:sp>
          <p:nvSpPr>
            <p:cNvPr name="Freeform 16" id="1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7" id="17"/>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1</a:t>
              </a:r>
            </a:p>
          </p:txBody>
        </p:sp>
      </p:grpSp>
      <p:sp>
        <p:nvSpPr>
          <p:cNvPr name="TextBox 18" id="18"/>
          <p:cNvSpPr txBox="true"/>
          <p:nvPr/>
        </p:nvSpPr>
        <p:spPr>
          <a:xfrm rot="0">
            <a:off x="1097280" y="4596765"/>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How code becomes something a computer can run</a:t>
            </a:r>
          </a:p>
        </p:txBody>
      </p:sp>
      <p:grpSp>
        <p:nvGrpSpPr>
          <p:cNvPr name="Group 19" id="19"/>
          <p:cNvGrpSpPr/>
          <p:nvPr/>
        </p:nvGrpSpPr>
        <p:grpSpPr>
          <a:xfrm rot="0">
            <a:off x="5037963" y="3488055"/>
            <a:ext cx="3996690" cy="2145030"/>
            <a:chOff x="0" y="0"/>
            <a:chExt cx="5328920" cy="2860040"/>
          </a:xfrm>
        </p:grpSpPr>
        <p:sp>
          <p:nvSpPr>
            <p:cNvPr name="Freeform 20" id="20"/>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21" id="21"/>
          <p:cNvGrpSpPr/>
          <p:nvPr/>
        </p:nvGrpSpPr>
        <p:grpSpPr>
          <a:xfrm rot="0">
            <a:off x="5321808" y="3771900"/>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23" id="23"/>
          <p:cNvGrpSpPr/>
          <p:nvPr/>
        </p:nvGrpSpPr>
        <p:grpSpPr>
          <a:xfrm rot="0">
            <a:off x="5321808" y="3771900"/>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5" id="25"/>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2</a:t>
              </a:r>
            </a:p>
          </p:txBody>
        </p:sp>
      </p:grpSp>
      <p:sp>
        <p:nvSpPr>
          <p:cNvPr name="TextBox 26" id="26"/>
          <p:cNvSpPr txBox="true"/>
          <p:nvPr/>
        </p:nvSpPr>
        <p:spPr>
          <a:xfrm rot="0">
            <a:off x="5321808" y="4596765"/>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Where Python sits among programming languages</a:t>
            </a:r>
          </a:p>
        </p:txBody>
      </p:sp>
      <p:grpSp>
        <p:nvGrpSpPr>
          <p:cNvPr name="Group 27" id="27"/>
          <p:cNvGrpSpPr/>
          <p:nvPr/>
        </p:nvGrpSpPr>
        <p:grpSpPr>
          <a:xfrm rot="0">
            <a:off x="9262491" y="3488055"/>
            <a:ext cx="3996690" cy="2145030"/>
            <a:chOff x="0" y="0"/>
            <a:chExt cx="5328920" cy="2860040"/>
          </a:xfrm>
        </p:grpSpPr>
        <p:sp>
          <p:nvSpPr>
            <p:cNvPr name="Freeform 28" id="28"/>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29" id="29"/>
          <p:cNvGrpSpPr/>
          <p:nvPr/>
        </p:nvGrpSpPr>
        <p:grpSpPr>
          <a:xfrm rot="0">
            <a:off x="9546336" y="377190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31" id="31"/>
          <p:cNvGrpSpPr/>
          <p:nvPr/>
        </p:nvGrpSpPr>
        <p:grpSpPr>
          <a:xfrm rot="0">
            <a:off x="9546336" y="3771900"/>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3" id="33"/>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3</a:t>
              </a:r>
            </a:p>
          </p:txBody>
        </p:sp>
      </p:grpSp>
      <p:sp>
        <p:nvSpPr>
          <p:cNvPr name="TextBox 34" id="34"/>
          <p:cNvSpPr txBox="true"/>
          <p:nvPr/>
        </p:nvSpPr>
        <p:spPr>
          <a:xfrm rot="0">
            <a:off x="9546336" y="4596765"/>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The tools we'll code in — VS Code</a:t>
            </a:r>
          </a:p>
        </p:txBody>
      </p:sp>
      <p:grpSp>
        <p:nvGrpSpPr>
          <p:cNvPr name="Group 35" id="35"/>
          <p:cNvGrpSpPr/>
          <p:nvPr/>
        </p:nvGrpSpPr>
        <p:grpSpPr>
          <a:xfrm rot="0">
            <a:off x="13487019" y="3488055"/>
            <a:ext cx="3996690" cy="2145030"/>
            <a:chOff x="0" y="0"/>
            <a:chExt cx="5328920" cy="2860040"/>
          </a:xfrm>
        </p:grpSpPr>
        <p:sp>
          <p:nvSpPr>
            <p:cNvPr name="Freeform 36" id="36"/>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37" id="37"/>
          <p:cNvGrpSpPr/>
          <p:nvPr/>
        </p:nvGrpSpPr>
        <p:grpSpPr>
          <a:xfrm rot="0">
            <a:off x="13770864" y="3771900"/>
            <a:ext cx="685800" cy="685800"/>
            <a:chOff x="0" y="0"/>
            <a:chExt cx="914400" cy="914400"/>
          </a:xfrm>
        </p:grpSpPr>
        <p:sp>
          <p:nvSpPr>
            <p:cNvPr name="Freeform 38" id="3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39" id="39"/>
          <p:cNvGrpSpPr/>
          <p:nvPr/>
        </p:nvGrpSpPr>
        <p:grpSpPr>
          <a:xfrm rot="0">
            <a:off x="13770864" y="3771900"/>
            <a:ext cx="685800" cy="685800"/>
            <a:chOff x="0" y="0"/>
            <a:chExt cx="914400" cy="914400"/>
          </a:xfrm>
        </p:grpSpPr>
        <p:sp>
          <p:nvSpPr>
            <p:cNvPr name="Freeform 40" id="4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1" id="41"/>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4</a:t>
              </a:r>
            </a:p>
          </p:txBody>
        </p:sp>
      </p:grpSp>
      <p:sp>
        <p:nvSpPr>
          <p:cNvPr name="TextBox 42" id="42"/>
          <p:cNvSpPr txBox="true"/>
          <p:nvPr/>
        </p:nvSpPr>
        <p:spPr>
          <a:xfrm rot="0">
            <a:off x="13770864" y="4596765"/>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Writing and running your first Python program</a:t>
            </a:r>
          </a:p>
        </p:txBody>
      </p:sp>
      <p:grpSp>
        <p:nvGrpSpPr>
          <p:cNvPr name="Group 43" id="43"/>
          <p:cNvGrpSpPr/>
          <p:nvPr/>
        </p:nvGrpSpPr>
        <p:grpSpPr>
          <a:xfrm rot="0">
            <a:off x="813435" y="5915787"/>
            <a:ext cx="3996690" cy="2145030"/>
            <a:chOff x="0" y="0"/>
            <a:chExt cx="5328920" cy="2860040"/>
          </a:xfrm>
        </p:grpSpPr>
        <p:sp>
          <p:nvSpPr>
            <p:cNvPr name="Freeform 44" id="44"/>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45" id="45"/>
          <p:cNvGrpSpPr/>
          <p:nvPr/>
        </p:nvGrpSpPr>
        <p:grpSpPr>
          <a:xfrm rot="0">
            <a:off x="1097280" y="6199632"/>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47" id="47"/>
          <p:cNvGrpSpPr/>
          <p:nvPr/>
        </p:nvGrpSpPr>
        <p:grpSpPr>
          <a:xfrm rot="0">
            <a:off x="1097280" y="6199632"/>
            <a:ext cx="685800" cy="685800"/>
            <a:chOff x="0" y="0"/>
            <a:chExt cx="914400" cy="914400"/>
          </a:xfrm>
        </p:grpSpPr>
        <p:sp>
          <p:nvSpPr>
            <p:cNvPr name="Freeform 48" id="4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9" id="49"/>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5</a:t>
              </a:r>
            </a:p>
          </p:txBody>
        </p:sp>
      </p:grpSp>
      <p:sp>
        <p:nvSpPr>
          <p:cNvPr name="TextBox 50" id="50"/>
          <p:cNvSpPr txBox="true"/>
          <p:nvPr/>
        </p:nvSpPr>
        <p:spPr>
          <a:xfrm rot="0">
            <a:off x="1097280" y="7024497"/>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Variables &amp; data types</a:t>
            </a:r>
          </a:p>
        </p:txBody>
      </p:sp>
      <p:grpSp>
        <p:nvGrpSpPr>
          <p:cNvPr name="Group 51" id="51"/>
          <p:cNvGrpSpPr/>
          <p:nvPr/>
        </p:nvGrpSpPr>
        <p:grpSpPr>
          <a:xfrm rot="0">
            <a:off x="5037963" y="5915787"/>
            <a:ext cx="3996690" cy="2145030"/>
            <a:chOff x="0" y="0"/>
            <a:chExt cx="5328920" cy="2860040"/>
          </a:xfrm>
        </p:grpSpPr>
        <p:sp>
          <p:nvSpPr>
            <p:cNvPr name="Freeform 52" id="52"/>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53" id="53"/>
          <p:cNvGrpSpPr/>
          <p:nvPr/>
        </p:nvGrpSpPr>
        <p:grpSpPr>
          <a:xfrm rot="0">
            <a:off x="5321808" y="619963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55" id="55"/>
          <p:cNvGrpSpPr/>
          <p:nvPr/>
        </p:nvGrpSpPr>
        <p:grpSpPr>
          <a:xfrm rot="0">
            <a:off x="5321808" y="619963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57" id="57"/>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6</a:t>
              </a:r>
            </a:p>
          </p:txBody>
        </p:sp>
      </p:grpSp>
      <p:sp>
        <p:nvSpPr>
          <p:cNvPr name="TextBox 58" id="58"/>
          <p:cNvSpPr txBox="true"/>
          <p:nvPr/>
        </p:nvSpPr>
        <p:spPr>
          <a:xfrm rot="0">
            <a:off x="5321808" y="7024497"/>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Working with text (strings)</a:t>
            </a:r>
          </a:p>
        </p:txBody>
      </p:sp>
      <p:grpSp>
        <p:nvGrpSpPr>
          <p:cNvPr name="Group 59" id="59"/>
          <p:cNvGrpSpPr/>
          <p:nvPr/>
        </p:nvGrpSpPr>
        <p:grpSpPr>
          <a:xfrm rot="0">
            <a:off x="9262491" y="5915787"/>
            <a:ext cx="3996690" cy="2145030"/>
            <a:chOff x="0" y="0"/>
            <a:chExt cx="5328920" cy="2860040"/>
          </a:xfrm>
        </p:grpSpPr>
        <p:sp>
          <p:nvSpPr>
            <p:cNvPr name="Freeform 60" id="60"/>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61" id="61"/>
          <p:cNvGrpSpPr/>
          <p:nvPr/>
        </p:nvGrpSpPr>
        <p:grpSpPr>
          <a:xfrm rot="0">
            <a:off x="9546336" y="6199632"/>
            <a:ext cx="685800" cy="685800"/>
            <a:chOff x="0" y="0"/>
            <a:chExt cx="914400" cy="914400"/>
          </a:xfrm>
        </p:grpSpPr>
        <p:sp>
          <p:nvSpPr>
            <p:cNvPr name="Freeform 62" id="6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63" id="63"/>
          <p:cNvGrpSpPr/>
          <p:nvPr/>
        </p:nvGrpSpPr>
        <p:grpSpPr>
          <a:xfrm rot="0">
            <a:off x="9546336" y="6199632"/>
            <a:ext cx="685800" cy="685800"/>
            <a:chOff x="0" y="0"/>
            <a:chExt cx="914400" cy="914400"/>
          </a:xfrm>
        </p:grpSpPr>
        <p:sp>
          <p:nvSpPr>
            <p:cNvPr name="Freeform 64" id="6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65" id="65"/>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7</a:t>
              </a:r>
            </a:p>
          </p:txBody>
        </p:sp>
      </p:grpSp>
      <p:sp>
        <p:nvSpPr>
          <p:cNvPr name="TextBox 66" id="66"/>
          <p:cNvSpPr txBox="true"/>
          <p:nvPr/>
        </p:nvSpPr>
        <p:spPr>
          <a:xfrm rot="0">
            <a:off x="9546336" y="7024497"/>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Converting between data types</a:t>
            </a:r>
          </a:p>
        </p:txBody>
      </p:sp>
      <p:grpSp>
        <p:nvGrpSpPr>
          <p:cNvPr name="Group 67" id="67"/>
          <p:cNvGrpSpPr/>
          <p:nvPr/>
        </p:nvGrpSpPr>
        <p:grpSpPr>
          <a:xfrm rot="0">
            <a:off x="13487019" y="5915787"/>
            <a:ext cx="3996690" cy="2145030"/>
            <a:chOff x="0" y="0"/>
            <a:chExt cx="5328920" cy="2860040"/>
          </a:xfrm>
        </p:grpSpPr>
        <p:sp>
          <p:nvSpPr>
            <p:cNvPr name="Freeform 68" id="68"/>
            <p:cNvSpPr/>
            <p:nvPr/>
          </p:nvSpPr>
          <p:spPr>
            <a:xfrm flipH="false" flipV="false" rot="0">
              <a:off x="0" y="0"/>
              <a:ext cx="5328920" cy="2860040"/>
            </a:xfrm>
            <a:custGeom>
              <a:avLst/>
              <a:gdLst/>
              <a:ahLst/>
              <a:cxnLst/>
              <a:rect r="r" b="b" t="t" l="l"/>
              <a:pathLst>
                <a:path h="2860040" w="5328920">
                  <a:moveTo>
                    <a:pt x="0" y="184531"/>
                  </a:moveTo>
                  <a:cubicBezTo>
                    <a:pt x="0" y="82677"/>
                    <a:pt x="82677" y="0"/>
                    <a:pt x="184531" y="0"/>
                  </a:cubicBezTo>
                  <a:lnTo>
                    <a:pt x="5144389" y="0"/>
                  </a:lnTo>
                  <a:cubicBezTo>
                    <a:pt x="5246243" y="0"/>
                    <a:pt x="5328920" y="82677"/>
                    <a:pt x="5328920" y="184531"/>
                  </a:cubicBezTo>
                  <a:lnTo>
                    <a:pt x="5328920" y="2675509"/>
                  </a:lnTo>
                  <a:cubicBezTo>
                    <a:pt x="5328920" y="2777363"/>
                    <a:pt x="5246243" y="2860040"/>
                    <a:pt x="5144389"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69" id="69"/>
          <p:cNvGrpSpPr/>
          <p:nvPr/>
        </p:nvGrpSpPr>
        <p:grpSpPr>
          <a:xfrm rot="0">
            <a:off x="13770864" y="619963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71" id="71"/>
          <p:cNvGrpSpPr/>
          <p:nvPr/>
        </p:nvGrpSpPr>
        <p:grpSpPr>
          <a:xfrm rot="0">
            <a:off x="13770864" y="6199632"/>
            <a:ext cx="685800" cy="685800"/>
            <a:chOff x="0" y="0"/>
            <a:chExt cx="914400" cy="914400"/>
          </a:xfrm>
        </p:grpSpPr>
        <p:sp>
          <p:nvSpPr>
            <p:cNvPr name="Freeform 72" id="7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73" id="73"/>
            <p:cNvSpPr txBox="true"/>
            <p:nvPr/>
          </p:nvSpPr>
          <p:spPr>
            <a:xfrm>
              <a:off x="0" y="-47625"/>
              <a:ext cx="914400" cy="96202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8</a:t>
              </a:r>
            </a:p>
          </p:txBody>
        </p:sp>
      </p:grpSp>
      <p:sp>
        <p:nvSpPr>
          <p:cNvPr name="TextBox 74" id="74"/>
          <p:cNvSpPr txBox="true"/>
          <p:nvPr/>
        </p:nvSpPr>
        <p:spPr>
          <a:xfrm rot="0">
            <a:off x="13770864" y="7024497"/>
            <a:ext cx="3429000" cy="821055"/>
          </a:xfrm>
          <a:prstGeom prst="rect">
            <a:avLst/>
          </a:prstGeom>
        </p:spPr>
        <p:txBody>
          <a:bodyPr anchor="t" rtlCol="false" tIns="0" lIns="0" bIns="0" rIns="0">
            <a:spAutoFit/>
          </a:bodyPr>
          <a:lstStyle/>
          <a:p>
            <a:pPr algn="l">
              <a:lnSpc>
                <a:spcPts val="2318"/>
              </a:lnSpc>
            </a:pPr>
            <a:r>
              <a:rPr lang="en-US" sz="1725">
                <a:solidFill>
                  <a:srgbClr val="1B1F3B"/>
                </a:solidFill>
                <a:latin typeface="Calibri (MS)"/>
                <a:ea typeface="Calibri (MS)"/>
                <a:cs typeface="Calibri (MS)"/>
                <a:sym typeface="Calibri (MS)"/>
              </a:rPr>
              <a:t>Building a small real program, start to finish</a:t>
            </a:r>
          </a:p>
        </p:txBody>
      </p:sp>
      <p:grpSp>
        <p:nvGrpSpPr>
          <p:cNvPr name="Group 75" id="75"/>
          <p:cNvGrpSpPr/>
          <p:nvPr/>
        </p:nvGrpSpPr>
        <p:grpSpPr>
          <a:xfrm rot="0">
            <a:off x="685800" y="9710928"/>
            <a:ext cx="10972800" cy="411480"/>
            <a:chOff x="0" y="0"/>
            <a:chExt cx="14630400" cy="548640"/>
          </a:xfrm>
        </p:grpSpPr>
        <p:sp>
          <p:nvSpPr>
            <p:cNvPr name="Freeform 76" id="7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77" id="7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Agentic AI Study Group  •  Python Foundations</a:t>
              </a:r>
            </a:p>
          </p:txBody>
        </p:sp>
      </p:grpSp>
      <p:grpSp>
        <p:nvGrpSpPr>
          <p:cNvPr name="Group 78" id="78"/>
          <p:cNvGrpSpPr/>
          <p:nvPr/>
        </p:nvGrpSpPr>
        <p:grpSpPr>
          <a:xfrm rot="0">
            <a:off x="16915943" y="9710928"/>
            <a:ext cx="685800" cy="411480"/>
            <a:chOff x="0" y="0"/>
            <a:chExt cx="914400" cy="548640"/>
          </a:xfrm>
        </p:grpSpPr>
        <p:sp>
          <p:nvSpPr>
            <p:cNvPr name="Freeform 79" id="7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80" id="8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PROGRAMMING FOUNDATIONS</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What is coding? What is a programming language?</a:t>
              </a:r>
            </a:p>
          </p:txBody>
        </p:sp>
      </p:grpSp>
      <p:grpSp>
        <p:nvGrpSpPr>
          <p:cNvPr name="Group 8" id="8"/>
          <p:cNvGrpSpPr/>
          <p:nvPr/>
        </p:nvGrpSpPr>
        <p:grpSpPr>
          <a:xfrm rot="0">
            <a:off x="544716" y="2376078"/>
            <a:ext cx="7905750" cy="2967990"/>
            <a:chOff x="0" y="0"/>
            <a:chExt cx="10541000" cy="3957320"/>
          </a:xfrm>
        </p:grpSpPr>
        <p:sp>
          <p:nvSpPr>
            <p:cNvPr name="Freeform 9" id="9"/>
            <p:cNvSpPr/>
            <p:nvPr/>
          </p:nvSpPr>
          <p:spPr>
            <a:xfrm flipH="false" flipV="false" rot="0">
              <a:off x="0" y="0"/>
              <a:ext cx="10541000" cy="3957320"/>
            </a:xfrm>
            <a:custGeom>
              <a:avLst/>
              <a:gdLst/>
              <a:ahLst/>
              <a:cxnLst/>
              <a:rect r="r" b="b" t="t" l="l"/>
              <a:pathLst>
                <a:path h="3957320" w="10541000">
                  <a:moveTo>
                    <a:pt x="0" y="184023"/>
                  </a:moveTo>
                  <a:cubicBezTo>
                    <a:pt x="0" y="82423"/>
                    <a:pt x="82423" y="0"/>
                    <a:pt x="184023" y="0"/>
                  </a:cubicBezTo>
                  <a:lnTo>
                    <a:pt x="10356977" y="0"/>
                  </a:lnTo>
                  <a:cubicBezTo>
                    <a:pt x="10458577" y="0"/>
                    <a:pt x="10541000" y="82423"/>
                    <a:pt x="10541000" y="184023"/>
                  </a:cubicBezTo>
                  <a:lnTo>
                    <a:pt x="10541000" y="3773297"/>
                  </a:lnTo>
                  <a:cubicBezTo>
                    <a:pt x="10541000" y="3874897"/>
                    <a:pt x="10458577" y="3957320"/>
                    <a:pt x="10356977" y="3957320"/>
                  </a:cubicBezTo>
                  <a:lnTo>
                    <a:pt x="184023" y="3957320"/>
                  </a:lnTo>
                  <a:cubicBezTo>
                    <a:pt x="82423" y="3957320"/>
                    <a:pt x="0" y="3874897"/>
                    <a:pt x="0" y="3773297"/>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7462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FB84C"/>
            </a:solidFill>
          </p:spPr>
        </p:sp>
      </p:grpSp>
      <p:grpSp>
        <p:nvGrpSpPr>
          <p:cNvPr name="Group 12" id="12"/>
          <p:cNvGrpSpPr/>
          <p:nvPr/>
        </p:nvGrpSpPr>
        <p:grpSpPr>
          <a:xfrm rot="0">
            <a:off x="1124712" y="2894076"/>
            <a:ext cx="7283196" cy="493776"/>
            <a:chOff x="0" y="0"/>
            <a:chExt cx="9710928" cy="658368"/>
          </a:xfrm>
        </p:grpSpPr>
        <p:sp>
          <p:nvSpPr>
            <p:cNvPr name="Freeform 13" id="13"/>
            <p:cNvSpPr/>
            <p:nvPr/>
          </p:nvSpPr>
          <p:spPr>
            <a:xfrm flipH="false" flipV="false" rot="0">
              <a:off x="0" y="0"/>
              <a:ext cx="9710928" cy="658368"/>
            </a:xfrm>
            <a:custGeom>
              <a:avLst/>
              <a:gdLst/>
              <a:ahLst/>
              <a:cxnLst/>
              <a:rect r="r" b="b" t="t" l="l"/>
              <a:pathLst>
                <a:path h="658368" w="9710928">
                  <a:moveTo>
                    <a:pt x="0" y="0"/>
                  </a:moveTo>
                  <a:lnTo>
                    <a:pt x="9710928" y="0"/>
                  </a:lnTo>
                  <a:lnTo>
                    <a:pt x="9710928" y="658368"/>
                  </a:lnTo>
                  <a:lnTo>
                    <a:pt x="0" y="658368"/>
                  </a:lnTo>
                  <a:close/>
                </a:path>
              </a:pathLst>
            </a:custGeom>
            <a:blipFill>
              <a:blip r:embed="rId3">
                <a:alphaModFix amt="0"/>
              </a:blip>
              <a:stretch>
                <a:fillRect l="0" t="-237404" r="0" b="-237404"/>
              </a:stretch>
            </a:blipFill>
          </p:spPr>
        </p:sp>
        <p:sp>
          <p:nvSpPr>
            <p:cNvPr name="TextBox 14" id="14"/>
            <p:cNvSpPr txBox="true"/>
            <p:nvPr/>
          </p:nvSpPr>
          <p:spPr>
            <a:xfrm>
              <a:off x="0" y="-57150"/>
              <a:ext cx="971092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PROGRAMMING LANGUAGE</a:t>
              </a:r>
            </a:p>
          </p:txBody>
        </p:sp>
      </p:grpSp>
      <p:sp>
        <p:nvSpPr>
          <p:cNvPr name="TextBox 15" id="15"/>
          <p:cNvSpPr txBox="true"/>
          <p:nvPr/>
        </p:nvSpPr>
        <p:spPr>
          <a:xfrm rot="0">
            <a:off x="1124712" y="3366516"/>
            <a:ext cx="7283196" cy="742645"/>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t>
            </a:r>
            <a:r>
              <a:rPr lang="en-US" sz="2100">
                <a:solidFill>
                  <a:srgbClr val="1B1F3B"/>
                </a:solidFill>
                <a:latin typeface="Calibri (MS)"/>
                <a:ea typeface="Calibri (MS)"/>
                <a:cs typeface="Calibri (MS)"/>
                <a:sym typeface="Calibri (MS)"/>
              </a:rPr>
              <a:t>A formal set of rules and vocabulary used to write instructions that a computer can eventually follow.</a:t>
            </a:r>
          </a:p>
        </p:txBody>
      </p:sp>
      <p:sp>
        <p:nvSpPr>
          <p:cNvPr name="TextBox 16" id="16"/>
          <p:cNvSpPr txBox="true"/>
          <p:nvPr/>
        </p:nvSpPr>
        <p:spPr>
          <a:xfrm rot="0">
            <a:off x="938803" y="4214727"/>
            <a:ext cx="7617981"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It's how humans and computers agree on a common way to communicate instructions.</a:t>
            </a:r>
          </a:p>
        </p:txBody>
      </p:sp>
      <p:grpSp>
        <p:nvGrpSpPr>
          <p:cNvPr name="Group 17" id="17"/>
          <p:cNvGrpSpPr/>
          <p:nvPr/>
        </p:nvGrpSpPr>
        <p:grpSpPr>
          <a:xfrm rot="0">
            <a:off x="8974455" y="2390775"/>
            <a:ext cx="8111490" cy="2967990"/>
            <a:chOff x="0" y="0"/>
            <a:chExt cx="10815320" cy="3957320"/>
          </a:xfrm>
        </p:grpSpPr>
        <p:sp>
          <p:nvSpPr>
            <p:cNvPr name="Freeform 18" id="18"/>
            <p:cNvSpPr/>
            <p:nvPr/>
          </p:nvSpPr>
          <p:spPr>
            <a:xfrm flipH="false" flipV="false" rot="0">
              <a:off x="0" y="0"/>
              <a:ext cx="10815320" cy="3957320"/>
            </a:xfrm>
            <a:custGeom>
              <a:avLst/>
              <a:gdLst/>
              <a:ahLst/>
              <a:cxnLst/>
              <a:rect r="r" b="b" t="t" l="l"/>
              <a:pathLst>
                <a:path h="3957320" w="10815320">
                  <a:moveTo>
                    <a:pt x="0" y="184023"/>
                  </a:moveTo>
                  <a:cubicBezTo>
                    <a:pt x="0" y="82423"/>
                    <a:pt x="82423" y="0"/>
                    <a:pt x="184023" y="0"/>
                  </a:cubicBezTo>
                  <a:lnTo>
                    <a:pt x="10631297" y="0"/>
                  </a:lnTo>
                  <a:cubicBezTo>
                    <a:pt x="10732897" y="0"/>
                    <a:pt x="10815320" y="82423"/>
                    <a:pt x="10815320" y="184023"/>
                  </a:cubicBezTo>
                  <a:lnTo>
                    <a:pt x="10815320" y="3773297"/>
                  </a:lnTo>
                  <a:cubicBezTo>
                    <a:pt x="10815320" y="3874897"/>
                    <a:pt x="10732897" y="3957320"/>
                    <a:pt x="10631297" y="3957320"/>
                  </a:cubicBezTo>
                  <a:lnTo>
                    <a:pt x="184023" y="3957320"/>
                  </a:lnTo>
                  <a:cubicBezTo>
                    <a:pt x="82423" y="3957320"/>
                    <a:pt x="0" y="3874897"/>
                    <a:pt x="0" y="3773297"/>
                  </a:cubicBezTo>
                  <a:close/>
                </a:path>
              </a:pathLst>
            </a:custGeom>
            <a:solidFill>
              <a:srgbClr val="FFFFFF"/>
            </a:solidFill>
            <a:ln w="19050" cap="sq">
              <a:solidFill>
                <a:srgbClr val="ECEEF7"/>
              </a:solidFill>
              <a:prstDash val="solid"/>
              <a:miter/>
            </a:ln>
          </p:spPr>
        </p:sp>
      </p:grpSp>
      <p:grpSp>
        <p:nvGrpSpPr>
          <p:cNvPr name="Group 19" id="19"/>
          <p:cNvGrpSpPr/>
          <p:nvPr/>
        </p:nvGrpSpPr>
        <p:grpSpPr>
          <a:xfrm rot="0">
            <a:off x="9285732" y="2674620"/>
            <a:ext cx="685800" cy="192024"/>
            <a:chOff x="0" y="0"/>
            <a:chExt cx="914400" cy="256032"/>
          </a:xfrm>
        </p:grpSpPr>
        <p:sp>
          <p:nvSpPr>
            <p:cNvPr name="Freeform 20" id="20"/>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21" id="21"/>
          <p:cNvGrpSpPr/>
          <p:nvPr/>
        </p:nvGrpSpPr>
        <p:grpSpPr>
          <a:xfrm rot="0">
            <a:off x="9285732" y="2894076"/>
            <a:ext cx="7488936" cy="493776"/>
            <a:chOff x="0" y="0"/>
            <a:chExt cx="9985248" cy="658368"/>
          </a:xfrm>
        </p:grpSpPr>
        <p:sp>
          <p:nvSpPr>
            <p:cNvPr name="Freeform 22" id="22"/>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23" id="23"/>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CODING</a:t>
              </a:r>
            </a:p>
          </p:txBody>
        </p:sp>
      </p:grpSp>
      <p:sp>
        <p:nvSpPr>
          <p:cNvPr name="TextBox 24" id="24"/>
          <p:cNvSpPr txBox="true"/>
          <p:nvPr/>
        </p:nvSpPr>
        <p:spPr>
          <a:xfrm rot="0">
            <a:off x="9285732" y="3366516"/>
            <a:ext cx="7488936" cy="1653540"/>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t>
            </a:r>
            <a:r>
              <a:rPr lang="en-US" sz="2100">
                <a:solidFill>
                  <a:srgbClr val="1B1F3B"/>
                </a:solidFill>
                <a:latin typeface="Calibri (MS)"/>
                <a:ea typeface="Calibri (MS)"/>
                <a:cs typeface="Calibri (MS)"/>
                <a:sym typeface="Calibri (MS)"/>
              </a:rPr>
              <a:t>The act of writing instructions in a programming language to tell a computer what to do.</a:t>
            </a:r>
          </a:p>
        </p:txBody>
      </p:sp>
      <p:sp>
        <p:nvSpPr>
          <p:cNvPr name="TextBox 25" id="25"/>
          <p:cNvSpPr txBox="true"/>
          <p:nvPr/>
        </p:nvSpPr>
        <p:spPr>
          <a:xfrm rot="0">
            <a:off x="9285732" y="4198706"/>
            <a:ext cx="748893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Coding is just writing a very precise, step-by-step recipe for the computer to follow.</a:t>
            </a:r>
          </a:p>
        </p:txBody>
      </p:sp>
      <p:grpSp>
        <p:nvGrpSpPr>
          <p:cNvPr name="Group 26" id="26"/>
          <p:cNvGrpSpPr/>
          <p:nvPr/>
        </p:nvGrpSpPr>
        <p:grpSpPr>
          <a:xfrm rot="0">
            <a:off x="822960" y="5692140"/>
            <a:ext cx="10972800" cy="480060"/>
            <a:chOff x="0" y="0"/>
            <a:chExt cx="14630400" cy="640080"/>
          </a:xfrm>
        </p:grpSpPr>
        <p:sp>
          <p:nvSpPr>
            <p:cNvPr name="Freeform 27" id="27"/>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28" id="28"/>
            <p:cNvSpPr txBox="true"/>
            <p:nvPr/>
          </p:nvSpPr>
          <p:spPr>
            <a:xfrm>
              <a:off x="0" y="-38100"/>
              <a:ext cx="14630400" cy="678180"/>
            </a:xfrm>
            <a:prstGeom prst="rect">
              <a:avLst/>
            </a:prstGeom>
          </p:spPr>
          <p:txBody>
            <a:bodyPr anchor="ctr" rtlCol="false" tIns="0" lIns="0" bIns="0" rIns="0"/>
            <a:lstStyle/>
            <a:p>
              <a:pPr algn="l">
                <a:lnSpc>
                  <a:spcPts val="2250"/>
                </a:lnSpc>
              </a:pPr>
              <a:r>
                <a:rPr lang="en-US" sz="1875" b="true">
                  <a:solidFill>
                    <a:srgbClr val="1B1F3B"/>
                  </a:solidFill>
                  <a:latin typeface="Calibri (MS) Bold"/>
                  <a:ea typeface="Calibri (MS) Bold"/>
                  <a:cs typeface="Calibri (MS) Bold"/>
                  <a:sym typeface="Calibri (MS) Bold"/>
                </a:rPr>
                <a:t>From an idea in your head to something the computer can run:</a:t>
              </a:r>
            </a:p>
          </p:txBody>
        </p:sp>
      </p:grpSp>
      <p:grpSp>
        <p:nvGrpSpPr>
          <p:cNvPr name="Group 29" id="29"/>
          <p:cNvGrpSpPr/>
          <p:nvPr/>
        </p:nvGrpSpPr>
        <p:grpSpPr>
          <a:xfrm rot="0">
            <a:off x="1674838" y="6363653"/>
            <a:ext cx="2703195" cy="1605915"/>
            <a:chOff x="0" y="0"/>
            <a:chExt cx="3604260" cy="2141220"/>
          </a:xfrm>
        </p:grpSpPr>
        <p:sp>
          <p:nvSpPr>
            <p:cNvPr name="Freeform 30" id="30"/>
            <p:cNvSpPr/>
            <p:nvPr/>
          </p:nvSpPr>
          <p:spPr>
            <a:xfrm flipH="false" flipV="false" rot="0">
              <a:off x="0" y="0"/>
              <a:ext cx="3604260" cy="2141220"/>
            </a:xfrm>
            <a:custGeom>
              <a:avLst/>
              <a:gdLst/>
              <a:ahLst/>
              <a:cxnLst/>
              <a:rect r="r" b="b" t="t" l="l"/>
              <a:pathLst>
                <a:path h="2141220" w="3604260">
                  <a:moveTo>
                    <a:pt x="0" y="186182"/>
                  </a:moveTo>
                  <a:cubicBezTo>
                    <a:pt x="0" y="83312"/>
                    <a:pt x="83312" y="0"/>
                    <a:pt x="186182" y="0"/>
                  </a:cubicBezTo>
                  <a:lnTo>
                    <a:pt x="3418078" y="0"/>
                  </a:lnTo>
                  <a:cubicBezTo>
                    <a:pt x="3520948" y="0"/>
                    <a:pt x="3604260" y="83312"/>
                    <a:pt x="3604260" y="186182"/>
                  </a:cubicBezTo>
                  <a:lnTo>
                    <a:pt x="3604260" y="1955038"/>
                  </a:lnTo>
                  <a:cubicBezTo>
                    <a:pt x="3604260" y="2057908"/>
                    <a:pt x="3520948" y="2141220"/>
                    <a:pt x="3418078" y="2141220"/>
                  </a:cubicBezTo>
                  <a:lnTo>
                    <a:pt x="186182" y="2141220"/>
                  </a:lnTo>
                  <a:cubicBezTo>
                    <a:pt x="83312" y="2141220"/>
                    <a:pt x="0" y="2057908"/>
                    <a:pt x="0" y="1955038"/>
                  </a:cubicBezTo>
                  <a:close/>
                </a:path>
              </a:pathLst>
            </a:custGeom>
            <a:solidFill>
              <a:srgbClr val="FFFFFF"/>
            </a:solidFill>
            <a:ln w="28575" cap="sq">
              <a:solidFill>
                <a:srgbClr val="ECEEF7"/>
              </a:solidFill>
              <a:prstDash val="solid"/>
              <a:miter/>
            </a:ln>
          </p:spPr>
        </p:sp>
      </p:grpSp>
      <p:grpSp>
        <p:nvGrpSpPr>
          <p:cNvPr name="Group 31" id="31"/>
          <p:cNvGrpSpPr/>
          <p:nvPr/>
        </p:nvGrpSpPr>
        <p:grpSpPr>
          <a:xfrm rot="0">
            <a:off x="1689125" y="6377940"/>
            <a:ext cx="2674620" cy="1577340"/>
            <a:chOff x="0" y="0"/>
            <a:chExt cx="3566160" cy="2103120"/>
          </a:xfrm>
        </p:grpSpPr>
        <p:sp>
          <p:nvSpPr>
            <p:cNvPr name="Freeform 32" id="32"/>
            <p:cNvSpPr/>
            <p:nvPr/>
          </p:nvSpPr>
          <p:spPr>
            <a:xfrm flipH="false" flipV="false" rot="0">
              <a:off x="0" y="0"/>
              <a:ext cx="3566160" cy="2103120"/>
            </a:xfrm>
            <a:custGeom>
              <a:avLst/>
              <a:gdLst/>
              <a:ahLst/>
              <a:cxnLst/>
              <a:rect r="r" b="b" t="t" l="l"/>
              <a:pathLst>
                <a:path h="2103120" w="3566160">
                  <a:moveTo>
                    <a:pt x="0" y="0"/>
                  </a:moveTo>
                  <a:lnTo>
                    <a:pt x="3566160" y="0"/>
                  </a:lnTo>
                  <a:lnTo>
                    <a:pt x="3566160" y="2103120"/>
                  </a:lnTo>
                  <a:lnTo>
                    <a:pt x="0" y="2103120"/>
                  </a:lnTo>
                  <a:close/>
                </a:path>
              </a:pathLst>
            </a:custGeom>
            <a:blipFill>
              <a:blip r:embed="rId3">
                <a:alphaModFix amt="0"/>
              </a:blip>
              <a:stretch>
                <a:fillRect l="-25666" t="0" r="-25666" b="0"/>
              </a:stretch>
            </a:blipFill>
          </p:spPr>
        </p:sp>
        <p:sp>
          <p:nvSpPr>
            <p:cNvPr name="TextBox 33" id="33"/>
            <p:cNvSpPr txBox="true"/>
            <p:nvPr/>
          </p:nvSpPr>
          <p:spPr>
            <a:xfrm>
              <a:off x="0" y="-57150"/>
              <a:ext cx="3566160" cy="2160270"/>
            </a:xfrm>
            <a:prstGeom prst="rect">
              <a:avLst/>
            </a:prstGeom>
          </p:spPr>
          <p:txBody>
            <a:bodyPr anchor="ctr" rtlCol="false" tIns="0" lIns="0" bIns="0" rIns="0"/>
            <a:lstStyle/>
            <a:p>
              <a:pPr algn="ctr">
                <a:lnSpc>
                  <a:spcPts val="2475"/>
                </a:lnSpc>
              </a:pPr>
              <a:r>
                <a:rPr lang="en-US" sz="1875" b="true">
                  <a:solidFill>
                    <a:srgbClr val="1B1F3B"/>
                  </a:solidFill>
                  <a:latin typeface="Calibri (MS) Bold"/>
                  <a:ea typeface="Calibri (MS) Bold"/>
                  <a:cs typeface="Calibri (MS) Bold"/>
                  <a:sym typeface="Calibri (MS) Bold"/>
                </a:rPr>
                <a:t>Human</a:t>
              </a:r>
            </a:p>
            <a:p>
              <a:pPr algn="ctr">
                <a:lnSpc>
                  <a:spcPts val="2475"/>
                </a:lnSpc>
              </a:pPr>
              <a:r>
                <a:rPr lang="en-US" sz="1875" b="true">
                  <a:solidFill>
                    <a:srgbClr val="1B1F3B"/>
                  </a:solidFill>
                  <a:latin typeface="Calibri (MS) Bold"/>
                  <a:ea typeface="Calibri (MS) Bold"/>
                  <a:cs typeface="Calibri (MS) Bold"/>
                  <a:sym typeface="Calibri (MS) Bold"/>
                </a:rPr>
                <a:t>Instructions</a:t>
              </a:r>
            </a:p>
          </p:txBody>
        </p:sp>
      </p:grpSp>
      <p:grpSp>
        <p:nvGrpSpPr>
          <p:cNvPr name="Group 34" id="34"/>
          <p:cNvGrpSpPr/>
          <p:nvPr/>
        </p:nvGrpSpPr>
        <p:grpSpPr>
          <a:xfrm rot="0">
            <a:off x="4363745" y="6377940"/>
            <a:ext cx="384048" cy="1577340"/>
            <a:chOff x="0" y="0"/>
            <a:chExt cx="512064" cy="2103120"/>
          </a:xfrm>
        </p:grpSpPr>
        <p:sp>
          <p:nvSpPr>
            <p:cNvPr name="Freeform 35" id="35"/>
            <p:cNvSpPr/>
            <p:nvPr/>
          </p:nvSpPr>
          <p:spPr>
            <a:xfrm flipH="false" flipV="false" rot="0">
              <a:off x="0" y="0"/>
              <a:ext cx="512064" cy="2103120"/>
            </a:xfrm>
            <a:custGeom>
              <a:avLst/>
              <a:gdLst/>
              <a:ahLst/>
              <a:cxnLst/>
              <a:rect r="r" b="b" t="t" l="l"/>
              <a:pathLst>
                <a:path h="2103120" w="512064">
                  <a:moveTo>
                    <a:pt x="0" y="0"/>
                  </a:moveTo>
                  <a:lnTo>
                    <a:pt x="512064" y="0"/>
                  </a:lnTo>
                  <a:lnTo>
                    <a:pt x="512064" y="2103120"/>
                  </a:lnTo>
                  <a:lnTo>
                    <a:pt x="0" y="2103120"/>
                  </a:lnTo>
                  <a:close/>
                </a:path>
              </a:pathLst>
            </a:custGeom>
            <a:blipFill>
              <a:blip r:embed="rId3">
                <a:alphaModFix amt="0"/>
              </a:blip>
              <a:stretch>
                <a:fillRect l="-476961" t="0" r="-476961" b="0"/>
              </a:stretch>
            </a:blipFill>
          </p:spPr>
        </p:sp>
        <p:sp>
          <p:nvSpPr>
            <p:cNvPr name="TextBox 36" id="36"/>
            <p:cNvSpPr txBox="true"/>
            <p:nvPr/>
          </p:nvSpPr>
          <p:spPr>
            <a:xfrm>
              <a:off x="0" y="-66675"/>
              <a:ext cx="512064" cy="2169795"/>
            </a:xfrm>
            <a:prstGeom prst="rect">
              <a:avLst/>
            </a:prstGeom>
          </p:spPr>
          <p:txBody>
            <a:bodyPr anchor="ctr" rtlCol="false" tIns="0" lIns="0" bIns="0" rIns="0"/>
            <a:lstStyle/>
            <a:p>
              <a:pPr algn="ctr">
                <a:lnSpc>
                  <a:spcPts val="3600"/>
                </a:lnSpc>
              </a:pPr>
              <a:r>
                <a:rPr lang="en-US" sz="3000" b="true">
                  <a:solidFill>
                    <a:srgbClr val="FFB84C"/>
                  </a:solidFill>
                  <a:latin typeface="Calibri (MS) Bold"/>
                  <a:ea typeface="Calibri (MS) Bold"/>
                  <a:cs typeface="Calibri (MS) Bold"/>
                  <a:sym typeface="Calibri (MS) Bold"/>
                </a:rPr>
                <a:t>→</a:t>
              </a:r>
            </a:p>
          </p:txBody>
        </p:sp>
      </p:grpSp>
      <p:grpSp>
        <p:nvGrpSpPr>
          <p:cNvPr name="Group 37" id="37"/>
          <p:cNvGrpSpPr/>
          <p:nvPr/>
        </p:nvGrpSpPr>
        <p:grpSpPr>
          <a:xfrm rot="0">
            <a:off x="4733506" y="6363653"/>
            <a:ext cx="2703195" cy="1605915"/>
            <a:chOff x="0" y="0"/>
            <a:chExt cx="3604260" cy="2141220"/>
          </a:xfrm>
        </p:grpSpPr>
        <p:sp>
          <p:nvSpPr>
            <p:cNvPr name="Freeform 38" id="38"/>
            <p:cNvSpPr/>
            <p:nvPr/>
          </p:nvSpPr>
          <p:spPr>
            <a:xfrm flipH="false" flipV="false" rot="0">
              <a:off x="0" y="0"/>
              <a:ext cx="3604260" cy="2141220"/>
            </a:xfrm>
            <a:custGeom>
              <a:avLst/>
              <a:gdLst/>
              <a:ahLst/>
              <a:cxnLst/>
              <a:rect r="r" b="b" t="t" l="l"/>
              <a:pathLst>
                <a:path h="2141220" w="3604260">
                  <a:moveTo>
                    <a:pt x="0" y="186182"/>
                  </a:moveTo>
                  <a:cubicBezTo>
                    <a:pt x="0" y="83312"/>
                    <a:pt x="83312" y="0"/>
                    <a:pt x="186182" y="0"/>
                  </a:cubicBezTo>
                  <a:lnTo>
                    <a:pt x="3418078" y="0"/>
                  </a:lnTo>
                  <a:cubicBezTo>
                    <a:pt x="3520948" y="0"/>
                    <a:pt x="3604260" y="83312"/>
                    <a:pt x="3604260" y="186182"/>
                  </a:cubicBezTo>
                  <a:lnTo>
                    <a:pt x="3604260" y="1955038"/>
                  </a:lnTo>
                  <a:cubicBezTo>
                    <a:pt x="3604260" y="2057908"/>
                    <a:pt x="3520948" y="2141220"/>
                    <a:pt x="3418078" y="2141220"/>
                  </a:cubicBezTo>
                  <a:lnTo>
                    <a:pt x="186182" y="2141220"/>
                  </a:lnTo>
                  <a:cubicBezTo>
                    <a:pt x="83312" y="2141220"/>
                    <a:pt x="0" y="2057908"/>
                    <a:pt x="0" y="1955038"/>
                  </a:cubicBezTo>
                  <a:close/>
                </a:path>
              </a:pathLst>
            </a:custGeom>
            <a:solidFill>
              <a:srgbClr val="FFFFFF"/>
            </a:solidFill>
            <a:ln w="28575" cap="sq">
              <a:solidFill>
                <a:srgbClr val="ECEEF7"/>
              </a:solidFill>
              <a:prstDash val="solid"/>
              <a:miter/>
            </a:ln>
          </p:spPr>
        </p:sp>
      </p:grpSp>
      <p:grpSp>
        <p:nvGrpSpPr>
          <p:cNvPr name="Group 39" id="39"/>
          <p:cNvGrpSpPr/>
          <p:nvPr/>
        </p:nvGrpSpPr>
        <p:grpSpPr>
          <a:xfrm rot="0">
            <a:off x="4747793" y="6377940"/>
            <a:ext cx="2674620" cy="1577340"/>
            <a:chOff x="0" y="0"/>
            <a:chExt cx="3566160" cy="2103120"/>
          </a:xfrm>
        </p:grpSpPr>
        <p:sp>
          <p:nvSpPr>
            <p:cNvPr name="Freeform 40" id="40"/>
            <p:cNvSpPr/>
            <p:nvPr/>
          </p:nvSpPr>
          <p:spPr>
            <a:xfrm flipH="false" flipV="false" rot="0">
              <a:off x="0" y="0"/>
              <a:ext cx="3566160" cy="2103120"/>
            </a:xfrm>
            <a:custGeom>
              <a:avLst/>
              <a:gdLst/>
              <a:ahLst/>
              <a:cxnLst/>
              <a:rect r="r" b="b" t="t" l="l"/>
              <a:pathLst>
                <a:path h="2103120" w="3566160">
                  <a:moveTo>
                    <a:pt x="0" y="0"/>
                  </a:moveTo>
                  <a:lnTo>
                    <a:pt x="3566160" y="0"/>
                  </a:lnTo>
                  <a:lnTo>
                    <a:pt x="3566160" y="2103120"/>
                  </a:lnTo>
                  <a:lnTo>
                    <a:pt x="0" y="2103120"/>
                  </a:lnTo>
                  <a:close/>
                </a:path>
              </a:pathLst>
            </a:custGeom>
            <a:blipFill>
              <a:blip r:embed="rId3">
                <a:alphaModFix amt="0"/>
              </a:blip>
              <a:stretch>
                <a:fillRect l="-25666" t="0" r="-25666" b="0"/>
              </a:stretch>
            </a:blipFill>
          </p:spPr>
        </p:sp>
        <p:sp>
          <p:nvSpPr>
            <p:cNvPr name="TextBox 41" id="41"/>
            <p:cNvSpPr txBox="true"/>
            <p:nvPr/>
          </p:nvSpPr>
          <p:spPr>
            <a:xfrm>
              <a:off x="0" y="-57150"/>
              <a:ext cx="3566160" cy="2160270"/>
            </a:xfrm>
            <a:prstGeom prst="rect">
              <a:avLst/>
            </a:prstGeom>
          </p:spPr>
          <p:txBody>
            <a:bodyPr anchor="ctr" rtlCol="false" tIns="0" lIns="0" bIns="0" rIns="0"/>
            <a:lstStyle/>
            <a:p>
              <a:pPr algn="ctr">
                <a:lnSpc>
                  <a:spcPts val="2475"/>
                </a:lnSpc>
              </a:pPr>
              <a:r>
                <a:rPr lang="en-US" sz="1875" b="true">
                  <a:solidFill>
                    <a:srgbClr val="1B1F3B"/>
                  </a:solidFill>
                  <a:latin typeface="Calibri (MS) Bold"/>
                  <a:ea typeface="Calibri (MS) Bold"/>
                  <a:cs typeface="Calibri (MS) Bold"/>
                  <a:sym typeface="Calibri (MS) Bold"/>
                </a:rPr>
                <a:t>Programming</a:t>
              </a:r>
            </a:p>
            <a:p>
              <a:pPr algn="ctr">
                <a:lnSpc>
                  <a:spcPts val="2475"/>
                </a:lnSpc>
              </a:pPr>
              <a:r>
                <a:rPr lang="en-US" sz="1875" b="true">
                  <a:solidFill>
                    <a:srgbClr val="1B1F3B"/>
                  </a:solidFill>
                  <a:latin typeface="Calibri (MS) Bold"/>
                  <a:ea typeface="Calibri (MS) Bold"/>
                  <a:cs typeface="Calibri (MS) Bold"/>
                  <a:sym typeface="Calibri (MS) Bold"/>
                </a:rPr>
                <a:t>Language</a:t>
              </a:r>
            </a:p>
          </p:txBody>
        </p:sp>
      </p:grpSp>
      <p:grpSp>
        <p:nvGrpSpPr>
          <p:cNvPr name="Group 42" id="42"/>
          <p:cNvGrpSpPr/>
          <p:nvPr/>
        </p:nvGrpSpPr>
        <p:grpSpPr>
          <a:xfrm rot="0">
            <a:off x="7422413" y="6377940"/>
            <a:ext cx="384048" cy="1577340"/>
            <a:chOff x="0" y="0"/>
            <a:chExt cx="512064" cy="2103120"/>
          </a:xfrm>
        </p:grpSpPr>
        <p:sp>
          <p:nvSpPr>
            <p:cNvPr name="Freeform 43" id="43"/>
            <p:cNvSpPr/>
            <p:nvPr/>
          </p:nvSpPr>
          <p:spPr>
            <a:xfrm flipH="false" flipV="false" rot="0">
              <a:off x="0" y="0"/>
              <a:ext cx="512064" cy="2103120"/>
            </a:xfrm>
            <a:custGeom>
              <a:avLst/>
              <a:gdLst/>
              <a:ahLst/>
              <a:cxnLst/>
              <a:rect r="r" b="b" t="t" l="l"/>
              <a:pathLst>
                <a:path h="2103120" w="512064">
                  <a:moveTo>
                    <a:pt x="0" y="0"/>
                  </a:moveTo>
                  <a:lnTo>
                    <a:pt x="512064" y="0"/>
                  </a:lnTo>
                  <a:lnTo>
                    <a:pt x="512064" y="2103120"/>
                  </a:lnTo>
                  <a:lnTo>
                    <a:pt x="0" y="2103120"/>
                  </a:lnTo>
                  <a:close/>
                </a:path>
              </a:pathLst>
            </a:custGeom>
            <a:blipFill>
              <a:blip r:embed="rId3">
                <a:alphaModFix amt="0"/>
              </a:blip>
              <a:stretch>
                <a:fillRect l="-476961" t="0" r="-476961" b="0"/>
              </a:stretch>
            </a:blipFill>
          </p:spPr>
        </p:sp>
        <p:sp>
          <p:nvSpPr>
            <p:cNvPr name="TextBox 44" id="44"/>
            <p:cNvSpPr txBox="true"/>
            <p:nvPr/>
          </p:nvSpPr>
          <p:spPr>
            <a:xfrm>
              <a:off x="0" y="-66675"/>
              <a:ext cx="512064" cy="2169795"/>
            </a:xfrm>
            <a:prstGeom prst="rect">
              <a:avLst/>
            </a:prstGeom>
          </p:spPr>
          <p:txBody>
            <a:bodyPr anchor="ctr" rtlCol="false" tIns="0" lIns="0" bIns="0" rIns="0"/>
            <a:lstStyle/>
            <a:p>
              <a:pPr algn="ctr">
                <a:lnSpc>
                  <a:spcPts val="3600"/>
                </a:lnSpc>
              </a:pPr>
              <a:r>
                <a:rPr lang="en-US" sz="3000" b="true">
                  <a:solidFill>
                    <a:srgbClr val="FFB84C"/>
                  </a:solidFill>
                  <a:latin typeface="Calibri (MS) Bold"/>
                  <a:ea typeface="Calibri (MS) Bold"/>
                  <a:cs typeface="Calibri (MS) Bold"/>
                  <a:sym typeface="Calibri (MS) Bold"/>
                </a:rPr>
                <a:t>→</a:t>
              </a:r>
            </a:p>
          </p:txBody>
        </p:sp>
      </p:grpSp>
      <p:grpSp>
        <p:nvGrpSpPr>
          <p:cNvPr name="Group 45" id="45"/>
          <p:cNvGrpSpPr/>
          <p:nvPr/>
        </p:nvGrpSpPr>
        <p:grpSpPr>
          <a:xfrm rot="0">
            <a:off x="7792174" y="6363653"/>
            <a:ext cx="2703195" cy="1605915"/>
            <a:chOff x="0" y="0"/>
            <a:chExt cx="3604260" cy="2141220"/>
          </a:xfrm>
        </p:grpSpPr>
        <p:sp>
          <p:nvSpPr>
            <p:cNvPr name="Freeform 46" id="46"/>
            <p:cNvSpPr/>
            <p:nvPr/>
          </p:nvSpPr>
          <p:spPr>
            <a:xfrm flipH="false" flipV="false" rot="0">
              <a:off x="0" y="0"/>
              <a:ext cx="3604260" cy="2141220"/>
            </a:xfrm>
            <a:custGeom>
              <a:avLst/>
              <a:gdLst/>
              <a:ahLst/>
              <a:cxnLst/>
              <a:rect r="r" b="b" t="t" l="l"/>
              <a:pathLst>
                <a:path h="2141220" w="3604260">
                  <a:moveTo>
                    <a:pt x="0" y="186182"/>
                  </a:moveTo>
                  <a:cubicBezTo>
                    <a:pt x="0" y="83312"/>
                    <a:pt x="83312" y="0"/>
                    <a:pt x="186182" y="0"/>
                  </a:cubicBezTo>
                  <a:lnTo>
                    <a:pt x="3418078" y="0"/>
                  </a:lnTo>
                  <a:cubicBezTo>
                    <a:pt x="3520948" y="0"/>
                    <a:pt x="3604260" y="83312"/>
                    <a:pt x="3604260" y="186182"/>
                  </a:cubicBezTo>
                  <a:lnTo>
                    <a:pt x="3604260" y="1955038"/>
                  </a:lnTo>
                  <a:cubicBezTo>
                    <a:pt x="3604260" y="2057908"/>
                    <a:pt x="3520948" y="2141220"/>
                    <a:pt x="3418078" y="2141220"/>
                  </a:cubicBezTo>
                  <a:lnTo>
                    <a:pt x="186182" y="2141220"/>
                  </a:lnTo>
                  <a:cubicBezTo>
                    <a:pt x="83312" y="2141220"/>
                    <a:pt x="0" y="2057908"/>
                    <a:pt x="0" y="1955038"/>
                  </a:cubicBezTo>
                  <a:close/>
                </a:path>
              </a:pathLst>
            </a:custGeom>
            <a:solidFill>
              <a:srgbClr val="FFFFFF"/>
            </a:solidFill>
            <a:ln w="28575" cap="sq">
              <a:solidFill>
                <a:srgbClr val="ECEEF7"/>
              </a:solidFill>
              <a:prstDash val="solid"/>
              <a:miter/>
            </a:ln>
          </p:spPr>
        </p:sp>
      </p:grpSp>
      <p:grpSp>
        <p:nvGrpSpPr>
          <p:cNvPr name="Group 47" id="47"/>
          <p:cNvGrpSpPr/>
          <p:nvPr/>
        </p:nvGrpSpPr>
        <p:grpSpPr>
          <a:xfrm rot="0">
            <a:off x="7806461" y="6377940"/>
            <a:ext cx="2674620" cy="1577340"/>
            <a:chOff x="0" y="0"/>
            <a:chExt cx="3566160" cy="2103120"/>
          </a:xfrm>
        </p:grpSpPr>
        <p:sp>
          <p:nvSpPr>
            <p:cNvPr name="Freeform 48" id="48"/>
            <p:cNvSpPr/>
            <p:nvPr/>
          </p:nvSpPr>
          <p:spPr>
            <a:xfrm flipH="false" flipV="false" rot="0">
              <a:off x="0" y="0"/>
              <a:ext cx="3566160" cy="2103120"/>
            </a:xfrm>
            <a:custGeom>
              <a:avLst/>
              <a:gdLst/>
              <a:ahLst/>
              <a:cxnLst/>
              <a:rect r="r" b="b" t="t" l="l"/>
              <a:pathLst>
                <a:path h="2103120" w="3566160">
                  <a:moveTo>
                    <a:pt x="0" y="0"/>
                  </a:moveTo>
                  <a:lnTo>
                    <a:pt x="3566160" y="0"/>
                  </a:lnTo>
                  <a:lnTo>
                    <a:pt x="3566160" y="2103120"/>
                  </a:lnTo>
                  <a:lnTo>
                    <a:pt x="0" y="2103120"/>
                  </a:lnTo>
                  <a:close/>
                </a:path>
              </a:pathLst>
            </a:custGeom>
            <a:blipFill>
              <a:blip r:embed="rId3">
                <a:alphaModFix amt="0"/>
              </a:blip>
              <a:stretch>
                <a:fillRect l="-25666" t="0" r="-25666" b="0"/>
              </a:stretch>
            </a:blipFill>
          </p:spPr>
        </p:sp>
        <p:sp>
          <p:nvSpPr>
            <p:cNvPr name="TextBox 49" id="49"/>
            <p:cNvSpPr txBox="true"/>
            <p:nvPr/>
          </p:nvSpPr>
          <p:spPr>
            <a:xfrm>
              <a:off x="0" y="-57150"/>
              <a:ext cx="3566160" cy="2160270"/>
            </a:xfrm>
            <a:prstGeom prst="rect">
              <a:avLst/>
            </a:prstGeom>
          </p:spPr>
          <p:txBody>
            <a:bodyPr anchor="ctr" rtlCol="false" tIns="0" lIns="0" bIns="0" rIns="0"/>
            <a:lstStyle/>
            <a:p>
              <a:pPr algn="ctr">
                <a:lnSpc>
                  <a:spcPts val="2475"/>
                </a:lnSpc>
              </a:pPr>
              <a:r>
                <a:rPr lang="en-US" sz="1875" b="true">
                  <a:solidFill>
                    <a:srgbClr val="1B1F3B"/>
                  </a:solidFill>
                  <a:latin typeface="Calibri (MS) Bold"/>
                  <a:ea typeface="Calibri (MS) Bold"/>
                  <a:cs typeface="Calibri (MS) Bold"/>
                  <a:sym typeface="Calibri (MS) Bold"/>
                </a:rPr>
                <a:t>Source</a:t>
              </a:r>
            </a:p>
            <a:p>
              <a:pPr algn="ctr">
                <a:lnSpc>
                  <a:spcPts val="2475"/>
                </a:lnSpc>
              </a:pPr>
              <a:r>
                <a:rPr lang="en-US" sz="1875" b="true">
                  <a:solidFill>
                    <a:srgbClr val="1B1F3B"/>
                  </a:solidFill>
                  <a:latin typeface="Calibri (MS) Bold"/>
                  <a:ea typeface="Calibri (MS) Bold"/>
                  <a:cs typeface="Calibri (MS) Bold"/>
                  <a:sym typeface="Calibri (MS) Bold"/>
                </a:rPr>
                <a:t>Code</a:t>
              </a:r>
            </a:p>
          </p:txBody>
        </p:sp>
      </p:grpSp>
      <p:grpSp>
        <p:nvGrpSpPr>
          <p:cNvPr name="Group 50" id="50"/>
          <p:cNvGrpSpPr/>
          <p:nvPr/>
        </p:nvGrpSpPr>
        <p:grpSpPr>
          <a:xfrm rot="0">
            <a:off x="10481081" y="6377940"/>
            <a:ext cx="384048" cy="1577340"/>
            <a:chOff x="0" y="0"/>
            <a:chExt cx="512064" cy="2103120"/>
          </a:xfrm>
        </p:grpSpPr>
        <p:sp>
          <p:nvSpPr>
            <p:cNvPr name="Freeform 51" id="51"/>
            <p:cNvSpPr/>
            <p:nvPr/>
          </p:nvSpPr>
          <p:spPr>
            <a:xfrm flipH="false" flipV="false" rot="0">
              <a:off x="0" y="0"/>
              <a:ext cx="512064" cy="2103120"/>
            </a:xfrm>
            <a:custGeom>
              <a:avLst/>
              <a:gdLst/>
              <a:ahLst/>
              <a:cxnLst/>
              <a:rect r="r" b="b" t="t" l="l"/>
              <a:pathLst>
                <a:path h="2103120" w="512064">
                  <a:moveTo>
                    <a:pt x="0" y="0"/>
                  </a:moveTo>
                  <a:lnTo>
                    <a:pt x="512064" y="0"/>
                  </a:lnTo>
                  <a:lnTo>
                    <a:pt x="512064" y="2103120"/>
                  </a:lnTo>
                  <a:lnTo>
                    <a:pt x="0" y="2103120"/>
                  </a:lnTo>
                  <a:close/>
                </a:path>
              </a:pathLst>
            </a:custGeom>
            <a:blipFill>
              <a:blip r:embed="rId3">
                <a:alphaModFix amt="0"/>
              </a:blip>
              <a:stretch>
                <a:fillRect l="-476961" t="0" r="-476961" b="0"/>
              </a:stretch>
            </a:blipFill>
          </p:spPr>
        </p:sp>
        <p:sp>
          <p:nvSpPr>
            <p:cNvPr name="TextBox 52" id="52"/>
            <p:cNvSpPr txBox="true"/>
            <p:nvPr/>
          </p:nvSpPr>
          <p:spPr>
            <a:xfrm>
              <a:off x="0" y="-66675"/>
              <a:ext cx="512064" cy="2169795"/>
            </a:xfrm>
            <a:prstGeom prst="rect">
              <a:avLst/>
            </a:prstGeom>
          </p:spPr>
          <p:txBody>
            <a:bodyPr anchor="ctr" rtlCol="false" tIns="0" lIns="0" bIns="0" rIns="0"/>
            <a:lstStyle/>
            <a:p>
              <a:pPr algn="ctr">
                <a:lnSpc>
                  <a:spcPts val="3600"/>
                </a:lnSpc>
              </a:pPr>
              <a:r>
                <a:rPr lang="en-US" sz="3000" b="true">
                  <a:solidFill>
                    <a:srgbClr val="FFB84C"/>
                  </a:solidFill>
                  <a:latin typeface="Calibri (MS) Bold"/>
                  <a:ea typeface="Calibri (MS) Bold"/>
                  <a:cs typeface="Calibri (MS) Bold"/>
                  <a:sym typeface="Calibri (MS) Bold"/>
                </a:rPr>
                <a:t>→</a:t>
              </a:r>
            </a:p>
          </p:txBody>
        </p:sp>
      </p:grpSp>
      <p:grpSp>
        <p:nvGrpSpPr>
          <p:cNvPr name="Group 53" id="53"/>
          <p:cNvGrpSpPr/>
          <p:nvPr/>
        </p:nvGrpSpPr>
        <p:grpSpPr>
          <a:xfrm rot="0">
            <a:off x="10850842" y="6363653"/>
            <a:ext cx="2703195" cy="1605915"/>
            <a:chOff x="0" y="0"/>
            <a:chExt cx="3604260" cy="2141220"/>
          </a:xfrm>
        </p:grpSpPr>
        <p:sp>
          <p:nvSpPr>
            <p:cNvPr name="Freeform 54" id="54"/>
            <p:cNvSpPr/>
            <p:nvPr/>
          </p:nvSpPr>
          <p:spPr>
            <a:xfrm flipH="false" flipV="false" rot="0">
              <a:off x="0" y="0"/>
              <a:ext cx="3604260" cy="2141220"/>
            </a:xfrm>
            <a:custGeom>
              <a:avLst/>
              <a:gdLst/>
              <a:ahLst/>
              <a:cxnLst/>
              <a:rect r="r" b="b" t="t" l="l"/>
              <a:pathLst>
                <a:path h="2141220" w="3604260">
                  <a:moveTo>
                    <a:pt x="0" y="186182"/>
                  </a:moveTo>
                  <a:cubicBezTo>
                    <a:pt x="0" y="83312"/>
                    <a:pt x="83312" y="0"/>
                    <a:pt x="186182" y="0"/>
                  </a:cubicBezTo>
                  <a:lnTo>
                    <a:pt x="3418078" y="0"/>
                  </a:lnTo>
                  <a:cubicBezTo>
                    <a:pt x="3520948" y="0"/>
                    <a:pt x="3604260" y="83312"/>
                    <a:pt x="3604260" y="186182"/>
                  </a:cubicBezTo>
                  <a:lnTo>
                    <a:pt x="3604260" y="1955038"/>
                  </a:lnTo>
                  <a:cubicBezTo>
                    <a:pt x="3604260" y="2057908"/>
                    <a:pt x="3520948" y="2141220"/>
                    <a:pt x="3418078" y="2141220"/>
                  </a:cubicBezTo>
                  <a:lnTo>
                    <a:pt x="186182" y="2141220"/>
                  </a:lnTo>
                  <a:cubicBezTo>
                    <a:pt x="83312" y="2141220"/>
                    <a:pt x="0" y="2057908"/>
                    <a:pt x="0" y="1955038"/>
                  </a:cubicBezTo>
                  <a:close/>
                </a:path>
              </a:pathLst>
            </a:custGeom>
            <a:solidFill>
              <a:srgbClr val="FFFFFF"/>
            </a:solidFill>
            <a:ln w="28575" cap="sq">
              <a:solidFill>
                <a:srgbClr val="ECEEF7"/>
              </a:solidFill>
              <a:prstDash val="solid"/>
              <a:miter/>
            </a:ln>
          </p:spPr>
        </p:sp>
      </p:grpSp>
      <p:grpSp>
        <p:nvGrpSpPr>
          <p:cNvPr name="Group 55" id="55"/>
          <p:cNvGrpSpPr/>
          <p:nvPr/>
        </p:nvGrpSpPr>
        <p:grpSpPr>
          <a:xfrm rot="0">
            <a:off x="10865129" y="6377940"/>
            <a:ext cx="2674620" cy="1577340"/>
            <a:chOff x="0" y="0"/>
            <a:chExt cx="3566160" cy="2103120"/>
          </a:xfrm>
        </p:grpSpPr>
        <p:sp>
          <p:nvSpPr>
            <p:cNvPr name="Freeform 56" id="56"/>
            <p:cNvSpPr/>
            <p:nvPr/>
          </p:nvSpPr>
          <p:spPr>
            <a:xfrm flipH="false" flipV="false" rot="0">
              <a:off x="0" y="0"/>
              <a:ext cx="3566160" cy="2103120"/>
            </a:xfrm>
            <a:custGeom>
              <a:avLst/>
              <a:gdLst/>
              <a:ahLst/>
              <a:cxnLst/>
              <a:rect r="r" b="b" t="t" l="l"/>
              <a:pathLst>
                <a:path h="2103120" w="3566160">
                  <a:moveTo>
                    <a:pt x="0" y="0"/>
                  </a:moveTo>
                  <a:lnTo>
                    <a:pt x="3566160" y="0"/>
                  </a:lnTo>
                  <a:lnTo>
                    <a:pt x="3566160" y="2103120"/>
                  </a:lnTo>
                  <a:lnTo>
                    <a:pt x="0" y="2103120"/>
                  </a:lnTo>
                  <a:close/>
                </a:path>
              </a:pathLst>
            </a:custGeom>
            <a:blipFill>
              <a:blip r:embed="rId3">
                <a:alphaModFix amt="0"/>
              </a:blip>
              <a:stretch>
                <a:fillRect l="-25666" t="0" r="-25666" b="0"/>
              </a:stretch>
            </a:blipFill>
          </p:spPr>
        </p:sp>
        <p:sp>
          <p:nvSpPr>
            <p:cNvPr name="TextBox 57" id="57"/>
            <p:cNvSpPr txBox="true"/>
            <p:nvPr/>
          </p:nvSpPr>
          <p:spPr>
            <a:xfrm>
              <a:off x="0" y="-57150"/>
              <a:ext cx="3566160" cy="2160270"/>
            </a:xfrm>
            <a:prstGeom prst="rect">
              <a:avLst/>
            </a:prstGeom>
          </p:spPr>
          <p:txBody>
            <a:bodyPr anchor="ctr" rtlCol="false" tIns="0" lIns="0" bIns="0" rIns="0"/>
            <a:lstStyle/>
            <a:p>
              <a:pPr algn="ctr">
                <a:lnSpc>
                  <a:spcPts val="2475"/>
                </a:lnSpc>
              </a:pPr>
              <a:r>
                <a:rPr lang="en-US" sz="1875" b="true">
                  <a:solidFill>
                    <a:srgbClr val="1B1F3B"/>
                  </a:solidFill>
                  <a:latin typeface="Calibri (MS) Bold"/>
                  <a:ea typeface="Calibri (MS) Bold"/>
                  <a:cs typeface="Calibri (MS) Bold"/>
                  <a:sym typeface="Calibri (MS) Bold"/>
                </a:rPr>
                <a:t>Translation /</a:t>
              </a:r>
            </a:p>
            <a:p>
              <a:pPr algn="ctr">
                <a:lnSpc>
                  <a:spcPts val="2475"/>
                </a:lnSpc>
              </a:pPr>
              <a:r>
                <a:rPr lang="en-US" sz="1875" b="true">
                  <a:solidFill>
                    <a:srgbClr val="1B1F3B"/>
                  </a:solidFill>
                  <a:latin typeface="Calibri (MS) Bold"/>
                  <a:ea typeface="Calibri (MS) Bold"/>
                  <a:cs typeface="Calibri (MS) Bold"/>
                  <a:sym typeface="Calibri (MS) Bold"/>
                </a:rPr>
                <a:t>Execution</a:t>
              </a:r>
            </a:p>
          </p:txBody>
        </p:sp>
      </p:grpSp>
      <p:grpSp>
        <p:nvGrpSpPr>
          <p:cNvPr name="Group 58" id="58"/>
          <p:cNvGrpSpPr/>
          <p:nvPr/>
        </p:nvGrpSpPr>
        <p:grpSpPr>
          <a:xfrm rot="0">
            <a:off x="13539749" y="6377940"/>
            <a:ext cx="384048" cy="1577340"/>
            <a:chOff x="0" y="0"/>
            <a:chExt cx="512064" cy="2103120"/>
          </a:xfrm>
        </p:grpSpPr>
        <p:sp>
          <p:nvSpPr>
            <p:cNvPr name="Freeform 59" id="59"/>
            <p:cNvSpPr/>
            <p:nvPr/>
          </p:nvSpPr>
          <p:spPr>
            <a:xfrm flipH="false" flipV="false" rot="0">
              <a:off x="0" y="0"/>
              <a:ext cx="512064" cy="2103120"/>
            </a:xfrm>
            <a:custGeom>
              <a:avLst/>
              <a:gdLst/>
              <a:ahLst/>
              <a:cxnLst/>
              <a:rect r="r" b="b" t="t" l="l"/>
              <a:pathLst>
                <a:path h="2103120" w="512064">
                  <a:moveTo>
                    <a:pt x="0" y="0"/>
                  </a:moveTo>
                  <a:lnTo>
                    <a:pt x="512064" y="0"/>
                  </a:lnTo>
                  <a:lnTo>
                    <a:pt x="512064" y="2103120"/>
                  </a:lnTo>
                  <a:lnTo>
                    <a:pt x="0" y="2103120"/>
                  </a:lnTo>
                  <a:close/>
                </a:path>
              </a:pathLst>
            </a:custGeom>
            <a:blipFill>
              <a:blip r:embed="rId3">
                <a:alphaModFix amt="0"/>
              </a:blip>
              <a:stretch>
                <a:fillRect l="-476961" t="0" r="-476961" b="0"/>
              </a:stretch>
            </a:blipFill>
          </p:spPr>
        </p:sp>
        <p:sp>
          <p:nvSpPr>
            <p:cNvPr name="TextBox 60" id="60"/>
            <p:cNvSpPr txBox="true"/>
            <p:nvPr/>
          </p:nvSpPr>
          <p:spPr>
            <a:xfrm>
              <a:off x="0" y="-66675"/>
              <a:ext cx="512064" cy="2169795"/>
            </a:xfrm>
            <a:prstGeom prst="rect">
              <a:avLst/>
            </a:prstGeom>
          </p:spPr>
          <p:txBody>
            <a:bodyPr anchor="ctr" rtlCol="false" tIns="0" lIns="0" bIns="0" rIns="0"/>
            <a:lstStyle/>
            <a:p>
              <a:pPr algn="ctr">
                <a:lnSpc>
                  <a:spcPts val="3600"/>
                </a:lnSpc>
              </a:pPr>
              <a:r>
                <a:rPr lang="en-US" sz="3000" b="true">
                  <a:solidFill>
                    <a:srgbClr val="FFB84C"/>
                  </a:solidFill>
                  <a:latin typeface="Calibri (MS) Bold"/>
                  <a:ea typeface="Calibri (MS) Bold"/>
                  <a:cs typeface="Calibri (MS) Bold"/>
                  <a:sym typeface="Calibri (MS) Bold"/>
                </a:rPr>
                <a:t>→</a:t>
              </a:r>
            </a:p>
          </p:txBody>
        </p:sp>
      </p:grpSp>
      <p:grpSp>
        <p:nvGrpSpPr>
          <p:cNvPr name="Group 61" id="61"/>
          <p:cNvGrpSpPr/>
          <p:nvPr/>
        </p:nvGrpSpPr>
        <p:grpSpPr>
          <a:xfrm rot="0">
            <a:off x="13909510" y="6363653"/>
            <a:ext cx="2703195" cy="1605915"/>
            <a:chOff x="0" y="0"/>
            <a:chExt cx="3604260" cy="2141220"/>
          </a:xfrm>
        </p:grpSpPr>
        <p:sp>
          <p:nvSpPr>
            <p:cNvPr name="Freeform 62" id="62"/>
            <p:cNvSpPr/>
            <p:nvPr/>
          </p:nvSpPr>
          <p:spPr>
            <a:xfrm flipH="false" flipV="false" rot="0">
              <a:off x="0" y="0"/>
              <a:ext cx="3604260" cy="2141220"/>
            </a:xfrm>
            <a:custGeom>
              <a:avLst/>
              <a:gdLst/>
              <a:ahLst/>
              <a:cxnLst/>
              <a:rect r="r" b="b" t="t" l="l"/>
              <a:pathLst>
                <a:path h="2141220" w="3604260">
                  <a:moveTo>
                    <a:pt x="0" y="186182"/>
                  </a:moveTo>
                  <a:cubicBezTo>
                    <a:pt x="0" y="83312"/>
                    <a:pt x="83312" y="0"/>
                    <a:pt x="186182" y="0"/>
                  </a:cubicBezTo>
                  <a:lnTo>
                    <a:pt x="3418078" y="0"/>
                  </a:lnTo>
                  <a:cubicBezTo>
                    <a:pt x="3520948" y="0"/>
                    <a:pt x="3604260" y="83312"/>
                    <a:pt x="3604260" y="186182"/>
                  </a:cubicBezTo>
                  <a:lnTo>
                    <a:pt x="3604260" y="1955038"/>
                  </a:lnTo>
                  <a:cubicBezTo>
                    <a:pt x="3604260" y="2057908"/>
                    <a:pt x="3520948" y="2141220"/>
                    <a:pt x="3418078" y="2141220"/>
                  </a:cubicBezTo>
                  <a:lnTo>
                    <a:pt x="186182" y="2141220"/>
                  </a:lnTo>
                  <a:cubicBezTo>
                    <a:pt x="83312" y="2141220"/>
                    <a:pt x="0" y="2057908"/>
                    <a:pt x="0" y="1955038"/>
                  </a:cubicBezTo>
                  <a:close/>
                </a:path>
              </a:pathLst>
            </a:custGeom>
            <a:solidFill>
              <a:srgbClr val="1B1F3B"/>
            </a:solidFill>
            <a:ln w="28575" cap="sq">
              <a:solidFill>
                <a:srgbClr val="1B1F3B"/>
              </a:solidFill>
              <a:prstDash val="solid"/>
              <a:miter/>
            </a:ln>
          </p:spPr>
        </p:sp>
      </p:grpSp>
      <p:grpSp>
        <p:nvGrpSpPr>
          <p:cNvPr name="Group 63" id="63"/>
          <p:cNvGrpSpPr/>
          <p:nvPr/>
        </p:nvGrpSpPr>
        <p:grpSpPr>
          <a:xfrm rot="0">
            <a:off x="13923797" y="6377940"/>
            <a:ext cx="2674620" cy="1577340"/>
            <a:chOff x="0" y="0"/>
            <a:chExt cx="3566160" cy="2103120"/>
          </a:xfrm>
        </p:grpSpPr>
        <p:sp>
          <p:nvSpPr>
            <p:cNvPr name="Freeform 64" id="64"/>
            <p:cNvSpPr/>
            <p:nvPr/>
          </p:nvSpPr>
          <p:spPr>
            <a:xfrm flipH="false" flipV="false" rot="0">
              <a:off x="0" y="0"/>
              <a:ext cx="3566160" cy="2103120"/>
            </a:xfrm>
            <a:custGeom>
              <a:avLst/>
              <a:gdLst/>
              <a:ahLst/>
              <a:cxnLst/>
              <a:rect r="r" b="b" t="t" l="l"/>
              <a:pathLst>
                <a:path h="2103120" w="3566160">
                  <a:moveTo>
                    <a:pt x="0" y="0"/>
                  </a:moveTo>
                  <a:lnTo>
                    <a:pt x="3566160" y="0"/>
                  </a:lnTo>
                  <a:lnTo>
                    <a:pt x="3566160" y="2103120"/>
                  </a:lnTo>
                  <a:lnTo>
                    <a:pt x="0" y="2103120"/>
                  </a:lnTo>
                  <a:close/>
                </a:path>
              </a:pathLst>
            </a:custGeom>
            <a:blipFill>
              <a:blip r:embed="rId3">
                <a:alphaModFix amt="0"/>
              </a:blip>
              <a:stretch>
                <a:fillRect l="-25666" t="0" r="-25666" b="0"/>
              </a:stretch>
            </a:blipFill>
          </p:spPr>
        </p:sp>
        <p:sp>
          <p:nvSpPr>
            <p:cNvPr name="TextBox 65" id="65"/>
            <p:cNvSpPr txBox="true"/>
            <p:nvPr/>
          </p:nvSpPr>
          <p:spPr>
            <a:xfrm>
              <a:off x="0" y="-57150"/>
              <a:ext cx="3566160" cy="2160270"/>
            </a:xfrm>
            <a:prstGeom prst="rect">
              <a:avLst/>
            </a:prstGeom>
          </p:spPr>
          <p:txBody>
            <a:bodyPr anchor="ctr" rtlCol="false" tIns="0" lIns="0" bIns="0" rIns="0"/>
            <a:lstStyle/>
            <a:p>
              <a:pPr algn="ctr">
                <a:lnSpc>
                  <a:spcPts val="2475"/>
                </a:lnSpc>
              </a:pPr>
              <a:r>
                <a:rPr lang="en-US" sz="1875" b="true">
                  <a:solidFill>
                    <a:srgbClr val="FFFFFF"/>
                  </a:solidFill>
                  <a:latin typeface="Calibri (MS) Bold"/>
                  <a:ea typeface="Calibri (MS) Bold"/>
                  <a:cs typeface="Calibri (MS) Bold"/>
                  <a:sym typeface="Calibri (MS) Bold"/>
                </a:rPr>
                <a:t>Computer</a:t>
              </a:r>
            </a:p>
          </p:txBody>
        </p:sp>
      </p:grpSp>
      <p:grpSp>
        <p:nvGrpSpPr>
          <p:cNvPr name="Group 66" id="66"/>
          <p:cNvGrpSpPr/>
          <p:nvPr/>
        </p:nvGrpSpPr>
        <p:grpSpPr>
          <a:xfrm rot="0">
            <a:off x="685800" y="9710928"/>
            <a:ext cx="10972800" cy="411480"/>
            <a:chOff x="0" y="0"/>
            <a:chExt cx="14630400" cy="548640"/>
          </a:xfrm>
        </p:grpSpPr>
        <p:sp>
          <p:nvSpPr>
            <p:cNvPr name="Freeform 67" id="6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8" id="6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69" id="69"/>
          <p:cNvGrpSpPr/>
          <p:nvPr/>
        </p:nvGrpSpPr>
        <p:grpSpPr>
          <a:xfrm rot="0">
            <a:off x="16915943" y="9710928"/>
            <a:ext cx="685800" cy="411480"/>
            <a:chOff x="0" y="0"/>
            <a:chExt cx="914400" cy="548640"/>
          </a:xfrm>
        </p:grpSpPr>
        <p:sp>
          <p:nvSpPr>
            <p:cNvPr name="Freeform 70" id="7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1" id="7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THE LANGUAGE SPECTRUM</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Low-level vs. high-level languages</a:t>
              </a:r>
            </a:p>
          </p:txBody>
        </p:sp>
      </p:grpSp>
      <p:grpSp>
        <p:nvGrpSpPr>
          <p:cNvPr name="Group 8" id="8"/>
          <p:cNvGrpSpPr/>
          <p:nvPr/>
        </p:nvGrpSpPr>
        <p:grpSpPr>
          <a:xfrm rot="0">
            <a:off x="813435" y="2322195"/>
            <a:ext cx="8101965" cy="2901089"/>
            <a:chOff x="0" y="0"/>
            <a:chExt cx="10541000" cy="3774440"/>
          </a:xfrm>
        </p:grpSpPr>
        <p:sp>
          <p:nvSpPr>
            <p:cNvPr name="Freeform 9" id="9"/>
            <p:cNvSpPr/>
            <p:nvPr/>
          </p:nvSpPr>
          <p:spPr>
            <a:xfrm flipH="false" flipV="false" rot="0">
              <a:off x="0" y="0"/>
              <a:ext cx="10541000" cy="3774440"/>
            </a:xfrm>
            <a:custGeom>
              <a:avLst/>
              <a:gdLst/>
              <a:ahLst/>
              <a:cxnLst/>
              <a:rect r="r" b="b" t="t" l="l"/>
              <a:pathLst>
                <a:path h="3774440" w="10541000">
                  <a:moveTo>
                    <a:pt x="0" y="184150"/>
                  </a:moveTo>
                  <a:cubicBezTo>
                    <a:pt x="0" y="82423"/>
                    <a:pt x="82423" y="0"/>
                    <a:pt x="184150" y="0"/>
                  </a:cubicBezTo>
                  <a:lnTo>
                    <a:pt x="10356850" y="0"/>
                  </a:lnTo>
                  <a:cubicBezTo>
                    <a:pt x="10458577" y="0"/>
                    <a:pt x="10541000" y="82423"/>
                    <a:pt x="10541000" y="184150"/>
                  </a:cubicBezTo>
                  <a:lnTo>
                    <a:pt x="10541000" y="3590290"/>
                  </a:lnTo>
                  <a:cubicBezTo>
                    <a:pt x="10541000" y="3692017"/>
                    <a:pt x="10458577" y="3774440"/>
                    <a:pt x="10356850" y="3774440"/>
                  </a:cubicBezTo>
                  <a:lnTo>
                    <a:pt x="184150" y="3774440"/>
                  </a:lnTo>
                  <a:cubicBezTo>
                    <a:pt x="82423" y="3774440"/>
                    <a:pt x="0" y="3692017"/>
                    <a:pt x="0" y="3590290"/>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0604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2665E"/>
            </a:solidFill>
          </p:spPr>
        </p:sp>
      </p:grpSp>
      <p:grpSp>
        <p:nvGrpSpPr>
          <p:cNvPr name="Group 12" id="12"/>
          <p:cNvGrpSpPr/>
          <p:nvPr/>
        </p:nvGrpSpPr>
        <p:grpSpPr>
          <a:xfrm rot="0">
            <a:off x="1124712" y="2825496"/>
            <a:ext cx="7283196" cy="493776"/>
            <a:chOff x="0" y="0"/>
            <a:chExt cx="9710928" cy="658368"/>
          </a:xfrm>
        </p:grpSpPr>
        <p:sp>
          <p:nvSpPr>
            <p:cNvPr name="Freeform 13" id="13"/>
            <p:cNvSpPr/>
            <p:nvPr/>
          </p:nvSpPr>
          <p:spPr>
            <a:xfrm flipH="false" flipV="false" rot="0">
              <a:off x="0" y="0"/>
              <a:ext cx="9710928" cy="658368"/>
            </a:xfrm>
            <a:custGeom>
              <a:avLst/>
              <a:gdLst/>
              <a:ahLst/>
              <a:cxnLst/>
              <a:rect r="r" b="b" t="t" l="l"/>
              <a:pathLst>
                <a:path h="658368" w="9710928">
                  <a:moveTo>
                    <a:pt x="0" y="0"/>
                  </a:moveTo>
                  <a:lnTo>
                    <a:pt x="9710928" y="0"/>
                  </a:lnTo>
                  <a:lnTo>
                    <a:pt x="9710928" y="658368"/>
                  </a:lnTo>
                  <a:lnTo>
                    <a:pt x="0" y="658368"/>
                  </a:lnTo>
                  <a:close/>
                </a:path>
              </a:pathLst>
            </a:custGeom>
            <a:blipFill>
              <a:blip r:embed="rId3">
                <a:alphaModFix amt="0"/>
              </a:blip>
              <a:stretch>
                <a:fillRect l="0" t="-237404" r="0" b="-237404"/>
              </a:stretch>
            </a:blipFill>
          </p:spPr>
        </p:sp>
        <p:sp>
          <p:nvSpPr>
            <p:cNvPr name="TextBox 14" id="14"/>
            <p:cNvSpPr txBox="true"/>
            <p:nvPr/>
          </p:nvSpPr>
          <p:spPr>
            <a:xfrm>
              <a:off x="0" y="-57150"/>
              <a:ext cx="971092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LOW-LEVEL LANGUAGE</a:t>
              </a:r>
            </a:p>
          </p:txBody>
        </p:sp>
      </p:grpSp>
      <p:sp>
        <p:nvSpPr>
          <p:cNvPr name="TextBox 15" id="15"/>
          <p:cNvSpPr txBox="true"/>
          <p:nvPr/>
        </p:nvSpPr>
        <p:spPr>
          <a:xfrm rot="0">
            <a:off x="1124712" y="3225215"/>
            <a:ext cx="7653528" cy="1113182"/>
          </a:xfrm>
          <a:prstGeom prst="rect">
            <a:avLst/>
          </a:prstGeom>
        </p:spPr>
        <p:txBody>
          <a:bodyPr anchor="t" rtlCol="false" tIns="0" lIns="0" bIns="0" rIns="0">
            <a:spAutoFit/>
          </a:bodyPr>
          <a:lstStyle/>
          <a:p>
            <a:pPr algn="l">
              <a:lnSpc>
                <a:spcPts val="2891"/>
              </a:lnSpc>
            </a:pPr>
            <a:r>
              <a:rPr lang="en-US" sz="2151" b="true">
                <a:solidFill>
                  <a:srgbClr val="1B1F3B"/>
                </a:solidFill>
                <a:latin typeface="Calibri (MS) Bold"/>
                <a:ea typeface="Calibri (MS) Bold"/>
                <a:cs typeface="Calibri (MS) Bold"/>
                <a:sym typeface="Calibri (MS) Bold"/>
              </a:rPr>
              <a:t>Definition:  A language very close to the hardware, with instructions that map almost directly to what the machine's processor does.</a:t>
            </a:r>
          </a:p>
        </p:txBody>
      </p:sp>
      <p:sp>
        <p:nvSpPr>
          <p:cNvPr name="TextBox 16" id="16"/>
          <p:cNvSpPr txBox="true"/>
          <p:nvPr/>
        </p:nvSpPr>
        <p:spPr>
          <a:xfrm rot="0">
            <a:off x="1124712" y="4334918"/>
            <a:ext cx="728319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Powerful and fast, but written in terms the machine understands — not us.</a:t>
            </a:r>
          </a:p>
        </p:txBody>
      </p:sp>
      <p:grpSp>
        <p:nvGrpSpPr>
          <p:cNvPr name="Group 17" id="17"/>
          <p:cNvGrpSpPr/>
          <p:nvPr/>
        </p:nvGrpSpPr>
        <p:grpSpPr>
          <a:xfrm rot="0">
            <a:off x="8974455" y="2322195"/>
            <a:ext cx="8174524" cy="2852828"/>
            <a:chOff x="0" y="0"/>
            <a:chExt cx="10815320" cy="3774440"/>
          </a:xfrm>
        </p:grpSpPr>
        <p:sp>
          <p:nvSpPr>
            <p:cNvPr name="Freeform 18" id="18"/>
            <p:cNvSpPr/>
            <p:nvPr/>
          </p:nvSpPr>
          <p:spPr>
            <a:xfrm flipH="false" flipV="false" rot="0">
              <a:off x="0" y="0"/>
              <a:ext cx="10815320" cy="3774440"/>
            </a:xfrm>
            <a:custGeom>
              <a:avLst/>
              <a:gdLst/>
              <a:ahLst/>
              <a:cxnLst/>
              <a:rect r="r" b="b" t="t" l="l"/>
              <a:pathLst>
                <a:path h="3774440" w="10815320">
                  <a:moveTo>
                    <a:pt x="0" y="184150"/>
                  </a:moveTo>
                  <a:cubicBezTo>
                    <a:pt x="0" y="82423"/>
                    <a:pt x="82423" y="0"/>
                    <a:pt x="184150" y="0"/>
                  </a:cubicBezTo>
                  <a:lnTo>
                    <a:pt x="10631170" y="0"/>
                  </a:lnTo>
                  <a:cubicBezTo>
                    <a:pt x="10732897" y="0"/>
                    <a:pt x="10815320" y="82423"/>
                    <a:pt x="10815320" y="184150"/>
                  </a:cubicBezTo>
                  <a:lnTo>
                    <a:pt x="10815320" y="3590290"/>
                  </a:lnTo>
                  <a:cubicBezTo>
                    <a:pt x="10815320" y="3692017"/>
                    <a:pt x="10732897" y="3774440"/>
                    <a:pt x="10631170" y="3774440"/>
                  </a:cubicBezTo>
                  <a:lnTo>
                    <a:pt x="184150" y="3774440"/>
                  </a:lnTo>
                  <a:cubicBezTo>
                    <a:pt x="82423" y="3774440"/>
                    <a:pt x="0" y="3692017"/>
                    <a:pt x="0" y="3590290"/>
                  </a:cubicBezTo>
                  <a:close/>
                </a:path>
              </a:pathLst>
            </a:custGeom>
            <a:solidFill>
              <a:srgbClr val="FFFFFF"/>
            </a:solidFill>
            <a:ln w="19050" cap="sq">
              <a:solidFill>
                <a:srgbClr val="ECEEF7"/>
              </a:solidFill>
              <a:prstDash val="solid"/>
              <a:miter/>
            </a:ln>
          </p:spPr>
        </p:sp>
      </p:grpSp>
      <p:grpSp>
        <p:nvGrpSpPr>
          <p:cNvPr name="Group 19" id="19"/>
          <p:cNvGrpSpPr/>
          <p:nvPr/>
        </p:nvGrpSpPr>
        <p:grpSpPr>
          <a:xfrm rot="0">
            <a:off x="9285732" y="2606040"/>
            <a:ext cx="685800" cy="192024"/>
            <a:chOff x="0" y="0"/>
            <a:chExt cx="914400" cy="256032"/>
          </a:xfrm>
        </p:grpSpPr>
        <p:sp>
          <p:nvSpPr>
            <p:cNvPr name="Freeform 20" id="20"/>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21" id="21"/>
          <p:cNvGrpSpPr/>
          <p:nvPr/>
        </p:nvGrpSpPr>
        <p:grpSpPr>
          <a:xfrm rot="0">
            <a:off x="9285732" y="2825496"/>
            <a:ext cx="7488936" cy="493776"/>
            <a:chOff x="0" y="0"/>
            <a:chExt cx="9985248" cy="658368"/>
          </a:xfrm>
        </p:grpSpPr>
        <p:sp>
          <p:nvSpPr>
            <p:cNvPr name="Freeform 22" id="22"/>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23" id="23"/>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HIGH-LEVEL LANGUAGE</a:t>
              </a:r>
            </a:p>
          </p:txBody>
        </p:sp>
      </p:grpSp>
      <p:sp>
        <p:nvSpPr>
          <p:cNvPr name="TextBox 24" id="24"/>
          <p:cNvSpPr txBox="true"/>
          <p:nvPr/>
        </p:nvSpPr>
        <p:spPr>
          <a:xfrm rot="0">
            <a:off x="9285732" y="3187104"/>
            <a:ext cx="7722108" cy="1095070"/>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 language designed to be closer to human language, hiding most hardware-level detail so we can focus on solving problems.</a:t>
            </a:r>
          </a:p>
        </p:txBody>
      </p:sp>
      <p:sp>
        <p:nvSpPr>
          <p:cNvPr name="TextBox 25" id="25"/>
          <p:cNvSpPr txBox="true"/>
          <p:nvPr/>
        </p:nvSpPr>
        <p:spPr>
          <a:xfrm rot="0">
            <a:off x="9285732" y="4252672"/>
            <a:ext cx="748893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Easier to read, write, and reason about — that's Python.</a:t>
            </a:r>
          </a:p>
        </p:txBody>
      </p:sp>
      <p:grpSp>
        <p:nvGrpSpPr>
          <p:cNvPr name="Group 26" id="26"/>
          <p:cNvGrpSpPr/>
          <p:nvPr/>
        </p:nvGrpSpPr>
        <p:grpSpPr>
          <a:xfrm rot="0">
            <a:off x="813435" y="5408295"/>
            <a:ext cx="16615410" cy="3653790"/>
            <a:chOff x="0" y="0"/>
            <a:chExt cx="22153880" cy="4871720"/>
          </a:xfrm>
        </p:grpSpPr>
        <p:sp>
          <p:nvSpPr>
            <p:cNvPr name="Freeform 27" id="27"/>
            <p:cNvSpPr/>
            <p:nvPr/>
          </p:nvSpPr>
          <p:spPr>
            <a:xfrm flipH="false" flipV="false" rot="0">
              <a:off x="0" y="0"/>
              <a:ext cx="22153880" cy="4871720"/>
            </a:xfrm>
            <a:custGeom>
              <a:avLst/>
              <a:gdLst/>
              <a:ahLst/>
              <a:cxnLst/>
              <a:rect r="r" b="b" t="t" l="l"/>
              <a:pathLst>
                <a:path h="4871720" w="22153880">
                  <a:moveTo>
                    <a:pt x="0" y="220599"/>
                  </a:moveTo>
                  <a:cubicBezTo>
                    <a:pt x="0" y="98806"/>
                    <a:pt x="98806" y="0"/>
                    <a:pt x="220599" y="0"/>
                  </a:cubicBezTo>
                  <a:lnTo>
                    <a:pt x="21933281" y="0"/>
                  </a:lnTo>
                  <a:cubicBezTo>
                    <a:pt x="22055074" y="0"/>
                    <a:pt x="22153880" y="98806"/>
                    <a:pt x="22153880" y="220599"/>
                  </a:cubicBezTo>
                  <a:lnTo>
                    <a:pt x="22153880" y="4651121"/>
                  </a:lnTo>
                  <a:cubicBezTo>
                    <a:pt x="22153880" y="4772914"/>
                    <a:pt x="22055074" y="4871720"/>
                    <a:pt x="21933281" y="4871720"/>
                  </a:cubicBezTo>
                  <a:lnTo>
                    <a:pt x="220599" y="4871720"/>
                  </a:lnTo>
                  <a:cubicBezTo>
                    <a:pt x="98806" y="4871720"/>
                    <a:pt x="0" y="4772914"/>
                    <a:pt x="0" y="4651121"/>
                  </a:cubicBezTo>
                  <a:close/>
                </a:path>
              </a:pathLst>
            </a:custGeom>
            <a:solidFill>
              <a:srgbClr val="FFFFFF"/>
            </a:solidFill>
            <a:ln w="19050" cap="sq">
              <a:solidFill>
                <a:srgbClr val="ECEEF7"/>
              </a:solidFill>
              <a:prstDash val="solid"/>
              <a:miter/>
            </a:ln>
          </p:spPr>
        </p:sp>
      </p:grpSp>
      <p:grpSp>
        <p:nvGrpSpPr>
          <p:cNvPr name="Group 28" id="28"/>
          <p:cNvGrpSpPr/>
          <p:nvPr/>
        </p:nvGrpSpPr>
        <p:grpSpPr>
          <a:xfrm rot="0">
            <a:off x="1303020" y="5692140"/>
            <a:ext cx="4114800" cy="411480"/>
            <a:chOff x="0" y="0"/>
            <a:chExt cx="5486400" cy="548640"/>
          </a:xfrm>
        </p:grpSpPr>
        <p:sp>
          <p:nvSpPr>
            <p:cNvPr name="Freeform 29" id="29"/>
            <p:cNvSpPr/>
            <p:nvPr/>
          </p:nvSpPr>
          <p:spPr>
            <a:xfrm flipH="false" flipV="false" rot="0">
              <a:off x="0" y="0"/>
              <a:ext cx="5486400" cy="548640"/>
            </a:xfrm>
            <a:custGeom>
              <a:avLst/>
              <a:gdLst/>
              <a:ahLst/>
              <a:cxnLst/>
              <a:rect r="r" b="b" t="t" l="l"/>
              <a:pathLst>
                <a:path h="548640" w="5486400">
                  <a:moveTo>
                    <a:pt x="0" y="0"/>
                  </a:moveTo>
                  <a:lnTo>
                    <a:pt x="5486400" y="0"/>
                  </a:lnTo>
                  <a:lnTo>
                    <a:pt x="5486400" y="548640"/>
                  </a:lnTo>
                  <a:lnTo>
                    <a:pt x="0" y="548640"/>
                  </a:lnTo>
                  <a:close/>
                </a:path>
              </a:pathLst>
            </a:custGeom>
            <a:blipFill>
              <a:blip r:embed="rId3">
                <a:alphaModFix amt="0"/>
              </a:blip>
              <a:stretch>
                <a:fillRect l="0" t="-144850" r="0" b="-144850"/>
              </a:stretch>
            </a:blipFill>
          </p:spPr>
        </p:sp>
        <p:sp>
          <p:nvSpPr>
            <p:cNvPr name="TextBox 30" id="30"/>
            <p:cNvSpPr txBox="true"/>
            <p:nvPr/>
          </p:nvSpPr>
          <p:spPr>
            <a:xfrm>
              <a:off x="0" y="-19050"/>
              <a:ext cx="5486400" cy="567690"/>
            </a:xfrm>
            <a:prstGeom prst="rect">
              <a:avLst/>
            </a:prstGeom>
          </p:spPr>
          <p:txBody>
            <a:bodyPr anchor="ctr" rtlCol="false" tIns="0" lIns="0" bIns="0" rIns="0"/>
            <a:lstStyle/>
            <a:p>
              <a:pPr algn="l">
                <a:lnSpc>
                  <a:spcPts val="1889"/>
                </a:lnSpc>
              </a:pPr>
              <a:r>
                <a:rPr lang="en-US" b="true" sz="1575">
                  <a:solidFill>
                    <a:srgbClr val="000000"/>
                  </a:solidFill>
                  <a:latin typeface="Calibri (MS) Bold"/>
                  <a:ea typeface="Calibri (MS) Bold"/>
                  <a:cs typeface="Calibri (MS) Bold"/>
                  <a:sym typeface="Calibri (MS) Bold"/>
                </a:rPr>
                <a:t>Closer to hardware</a:t>
              </a:r>
            </a:p>
          </p:txBody>
        </p:sp>
      </p:grpSp>
      <p:grpSp>
        <p:nvGrpSpPr>
          <p:cNvPr name="Group 31" id="31"/>
          <p:cNvGrpSpPr/>
          <p:nvPr/>
        </p:nvGrpSpPr>
        <p:grpSpPr>
          <a:xfrm rot="0">
            <a:off x="12893040" y="5692140"/>
            <a:ext cx="4389120" cy="411480"/>
            <a:chOff x="0" y="0"/>
            <a:chExt cx="5852160" cy="548640"/>
          </a:xfrm>
        </p:grpSpPr>
        <p:sp>
          <p:nvSpPr>
            <p:cNvPr name="Freeform 32" id="32"/>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33" id="33"/>
            <p:cNvSpPr txBox="true"/>
            <p:nvPr/>
          </p:nvSpPr>
          <p:spPr>
            <a:xfrm>
              <a:off x="0" y="-19050"/>
              <a:ext cx="5852160" cy="567690"/>
            </a:xfrm>
            <a:prstGeom prst="rect">
              <a:avLst/>
            </a:prstGeom>
          </p:spPr>
          <p:txBody>
            <a:bodyPr anchor="ctr" rtlCol="false" tIns="0" lIns="0" bIns="0" rIns="0"/>
            <a:lstStyle/>
            <a:p>
              <a:pPr algn="r">
                <a:lnSpc>
                  <a:spcPts val="1889"/>
                </a:lnSpc>
              </a:pPr>
              <a:r>
                <a:rPr lang="en-US" b="true" sz="1575">
                  <a:solidFill>
                    <a:srgbClr val="000000"/>
                  </a:solidFill>
                  <a:latin typeface="Calibri (MS) Bold"/>
                  <a:ea typeface="Calibri (MS) Bold"/>
                  <a:cs typeface="Calibri (MS) Bold"/>
                  <a:sym typeface="Calibri (MS) Bold"/>
                </a:rPr>
                <a:t>Closer to human language</a:t>
              </a:r>
            </a:p>
          </p:txBody>
        </p:sp>
      </p:grpSp>
      <p:grpSp>
        <p:nvGrpSpPr>
          <p:cNvPr name="Group 34" id="34"/>
          <p:cNvGrpSpPr/>
          <p:nvPr/>
        </p:nvGrpSpPr>
        <p:grpSpPr>
          <a:xfrm rot="0">
            <a:off x="1303020" y="6446520"/>
            <a:ext cx="3497580" cy="1714500"/>
            <a:chOff x="0" y="0"/>
            <a:chExt cx="4663440" cy="2286000"/>
          </a:xfrm>
        </p:grpSpPr>
        <p:sp>
          <p:nvSpPr>
            <p:cNvPr name="Freeform 35" id="35"/>
            <p:cNvSpPr/>
            <p:nvPr/>
          </p:nvSpPr>
          <p:spPr>
            <a:xfrm flipH="false" flipV="false" rot="0">
              <a:off x="0" y="0"/>
              <a:ext cx="4663440" cy="2286000"/>
            </a:xfrm>
            <a:custGeom>
              <a:avLst/>
              <a:gdLst/>
              <a:ahLst/>
              <a:cxnLst/>
              <a:rect r="r" b="b" t="t" l="l"/>
              <a:pathLst>
                <a:path h="2286000" w="4663440">
                  <a:moveTo>
                    <a:pt x="0" y="182880"/>
                  </a:moveTo>
                  <a:cubicBezTo>
                    <a:pt x="0" y="81915"/>
                    <a:pt x="81915" y="0"/>
                    <a:pt x="182880" y="0"/>
                  </a:cubicBezTo>
                  <a:lnTo>
                    <a:pt x="4480560" y="0"/>
                  </a:lnTo>
                  <a:cubicBezTo>
                    <a:pt x="4581525" y="0"/>
                    <a:pt x="4663440" y="81915"/>
                    <a:pt x="4663440" y="182880"/>
                  </a:cubicBezTo>
                  <a:lnTo>
                    <a:pt x="4663440" y="2103120"/>
                  </a:lnTo>
                  <a:cubicBezTo>
                    <a:pt x="4663440" y="2204085"/>
                    <a:pt x="4581525" y="2286000"/>
                    <a:pt x="4480560" y="2286000"/>
                  </a:cubicBezTo>
                  <a:lnTo>
                    <a:pt x="182880" y="2286000"/>
                  </a:lnTo>
                  <a:cubicBezTo>
                    <a:pt x="81915" y="2286000"/>
                    <a:pt x="0" y="2204085"/>
                    <a:pt x="0" y="2103120"/>
                  </a:cubicBezTo>
                  <a:close/>
                </a:path>
              </a:pathLst>
            </a:custGeom>
            <a:solidFill>
              <a:srgbClr val="F2665E"/>
            </a:solidFill>
          </p:spPr>
        </p:sp>
      </p:grpSp>
      <p:grpSp>
        <p:nvGrpSpPr>
          <p:cNvPr name="Group 36" id="36"/>
          <p:cNvGrpSpPr/>
          <p:nvPr/>
        </p:nvGrpSpPr>
        <p:grpSpPr>
          <a:xfrm rot="0">
            <a:off x="1303020" y="6446520"/>
            <a:ext cx="3497580" cy="1714500"/>
            <a:chOff x="0" y="0"/>
            <a:chExt cx="4663440" cy="2286000"/>
          </a:xfrm>
        </p:grpSpPr>
        <p:sp>
          <p:nvSpPr>
            <p:cNvPr name="Freeform 37" id="37"/>
            <p:cNvSpPr/>
            <p:nvPr/>
          </p:nvSpPr>
          <p:spPr>
            <a:xfrm flipH="false" flipV="false" rot="0">
              <a:off x="0" y="0"/>
              <a:ext cx="4663440" cy="2286000"/>
            </a:xfrm>
            <a:custGeom>
              <a:avLst/>
              <a:gdLst/>
              <a:ahLst/>
              <a:cxnLst/>
              <a:rect r="r" b="b" t="t" l="l"/>
              <a:pathLst>
                <a:path h="2286000" w="4663440">
                  <a:moveTo>
                    <a:pt x="0" y="0"/>
                  </a:moveTo>
                  <a:lnTo>
                    <a:pt x="4663440" y="0"/>
                  </a:lnTo>
                  <a:lnTo>
                    <a:pt x="4663440" y="2286000"/>
                  </a:lnTo>
                  <a:lnTo>
                    <a:pt x="0" y="2286000"/>
                  </a:lnTo>
                  <a:close/>
                </a:path>
              </a:pathLst>
            </a:custGeom>
            <a:blipFill>
              <a:blip r:embed="rId3">
                <a:alphaModFix amt="0"/>
              </a:blip>
              <a:stretch>
                <a:fillRect l="-12893" t="0" r="-12893" b="0"/>
              </a:stretch>
            </a:blipFill>
          </p:spPr>
        </p:sp>
        <p:sp>
          <p:nvSpPr>
            <p:cNvPr name="TextBox 38" id="38"/>
            <p:cNvSpPr txBox="true"/>
            <p:nvPr/>
          </p:nvSpPr>
          <p:spPr>
            <a:xfrm>
              <a:off x="0" y="-66675"/>
              <a:ext cx="4663440" cy="2352675"/>
            </a:xfrm>
            <a:prstGeom prst="rect">
              <a:avLst/>
            </a:prstGeom>
          </p:spPr>
          <p:txBody>
            <a:bodyPr anchor="ctr" rtlCol="false" tIns="0" lIns="0" bIns="0" rIns="0"/>
            <a:lstStyle/>
            <a:p>
              <a:pPr algn="ctr">
                <a:lnSpc>
                  <a:spcPts val="2772"/>
                </a:lnSpc>
              </a:pPr>
              <a:r>
                <a:rPr lang="en-US" sz="2100" b="true">
                  <a:solidFill>
                    <a:srgbClr val="FFFFFF"/>
                  </a:solidFill>
                  <a:latin typeface="Calibri (MS) Bold"/>
                  <a:ea typeface="Calibri (MS) Bold"/>
                  <a:cs typeface="Calibri (MS) Bold"/>
                  <a:sym typeface="Calibri (MS) Bold"/>
                </a:rPr>
                <a:t>Machine</a:t>
              </a:r>
            </a:p>
            <a:p>
              <a:pPr algn="ctr">
                <a:lnSpc>
                  <a:spcPts val="2772"/>
                </a:lnSpc>
              </a:pPr>
              <a:r>
                <a:rPr lang="en-US" sz="2100" b="true">
                  <a:solidFill>
                    <a:srgbClr val="FFFFFF"/>
                  </a:solidFill>
                  <a:latin typeface="Calibri (MS) Bold"/>
                  <a:ea typeface="Calibri (MS) Bold"/>
                  <a:cs typeface="Calibri (MS) Bold"/>
                  <a:sym typeface="Calibri (MS) Bold"/>
                </a:rPr>
                <a:t>Code</a:t>
              </a:r>
            </a:p>
          </p:txBody>
        </p:sp>
      </p:grpSp>
      <p:grpSp>
        <p:nvGrpSpPr>
          <p:cNvPr name="Group 39" id="39"/>
          <p:cNvGrpSpPr/>
          <p:nvPr/>
        </p:nvGrpSpPr>
        <p:grpSpPr>
          <a:xfrm rot="0">
            <a:off x="4800600" y="6446520"/>
            <a:ext cx="480060" cy="1714500"/>
            <a:chOff x="0" y="0"/>
            <a:chExt cx="640080" cy="2286000"/>
          </a:xfrm>
        </p:grpSpPr>
        <p:sp>
          <p:nvSpPr>
            <p:cNvPr name="Freeform 40" id="40"/>
            <p:cNvSpPr/>
            <p:nvPr/>
          </p:nvSpPr>
          <p:spPr>
            <a:xfrm flipH="false" flipV="false" rot="0">
              <a:off x="0" y="0"/>
              <a:ext cx="640080" cy="2286000"/>
            </a:xfrm>
            <a:custGeom>
              <a:avLst/>
              <a:gdLst/>
              <a:ahLst/>
              <a:cxnLst/>
              <a:rect r="r" b="b" t="t" l="l"/>
              <a:pathLst>
                <a:path h="2286000" w="640080">
                  <a:moveTo>
                    <a:pt x="0" y="0"/>
                  </a:moveTo>
                  <a:lnTo>
                    <a:pt x="640080" y="0"/>
                  </a:lnTo>
                  <a:lnTo>
                    <a:pt x="640080" y="2286000"/>
                  </a:lnTo>
                  <a:lnTo>
                    <a:pt x="0" y="2286000"/>
                  </a:lnTo>
                  <a:close/>
                </a:path>
              </a:pathLst>
            </a:custGeom>
            <a:blipFill>
              <a:blip r:embed="rId3">
                <a:alphaModFix amt="0"/>
              </a:blip>
              <a:stretch>
                <a:fillRect l="-408227" t="0" r="-408227" b="0"/>
              </a:stretch>
            </a:blipFill>
          </p:spPr>
        </p:sp>
        <p:sp>
          <p:nvSpPr>
            <p:cNvPr name="TextBox 41" id="41"/>
            <p:cNvSpPr txBox="true"/>
            <p:nvPr/>
          </p:nvSpPr>
          <p:spPr>
            <a:xfrm>
              <a:off x="0" y="-57150"/>
              <a:ext cx="640080" cy="2343150"/>
            </a:xfrm>
            <a:prstGeom prst="rect">
              <a:avLst/>
            </a:prstGeom>
          </p:spPr>
          <p:txBody>
            <a:bodyPr anchor="ctr" rtlCol="false" tIns="0" lIns="0" bIns="0" rIns="0"/>
            <a:lstStyle/>
            <a:p>
              <a:pPr algn="ctr">
                <a:lnSpc>
                  <a:spcPts val="3240"/>
                </a:lnSpc>
              </a:pPr>
              <a:r>
                <a:rPr lang="en-US" sz="2700" b="true">
                  <a:solidFill>
                    <a:srgbClr val="1B1F3B"/>
                  </a:solidFill>
                  <a:latin typeface="Calibri (MS) Bold"/>
                  <a:ea typeface="Calibri (MS) Bold"/>
                  <a:cs typeface="Calibri (MS) Bold"/>
                  <a:sym typeface="Calibri (MS) Bold"/>
                </a:rPr>
                <a:t>→</a:t>
              </a:r>
            </a:p>
          </p:txBody>
        </p:sp>
      </p:grpSp>
      <p:grpSp>
        <p:nvGrpSpPr>
          <p:cNvPr name="Group 42" id="42"/>
          <p:cNvGrpSpPr/>
          <p:nvPr/>
        </p:nvGrpSpPr>
        <p:grpSpPr>
          <a:xfrm rot="0">
            <a:off x="5280660" y="6446520"/>
            <a:ext cx="3497580" cy="1714500"/>
            <a:chOff x="0" y="0"/>
            <a:chExt cx="4663440" cy="2286000"/>
          </a:xfrm>
        </p:grpSpPr>
        <p:sp>
          <p:nvSpPr>
            <p:cNvPr name="Freeform 43" id="43"/>
            <p:cNvSpPr/>
            <p:nvPr/>
          </p:nvSpPr>
          <p:spPr>
            <a:xfrm flipH="false" flipV="false" rot="0">
              <a:off x="0" y="0"/>
              <a:ext cx="4663440" cy="2286000"/>
            </a:xfrm>
            <a:custGeom>
              <a:avLst/>
              <a:gdLst/>
              <a:ahLst/>
              <a:cxnLst/>
              <a:rect r="r" b="b" t="t" l="l"/>
              <a:pathLst>
                <a:path h="2286000" w="4663440">
                  <a:moveTo>
                    <a:pt x="0" y="182880"/>
                  </a:moveTo>
                  <a:cubicBezTo>
                    <a:pt x="0" y="81915"/>
                    <a:pt x="81915" y="0"/>
                    <a:pt x="182880" y="0"/>
                  </a:cubicBezTo>
                  <a:lnTo>
                    <a:pt x="4480560" y="0"/>
                  </a:lnTo>
                  <a:cubicBezTo>
                    <a:pt x="4581525" y="0"/>
                    <a:pt x="4663440" y="81915"/>
                    <a:pt x="4663440" y="182880"/>
                  </a:cubicBezTo>
                  <a:lnTo>
                    <a:pt x="4663440" y="2103120"/>
                  </a:lnTo>
                  <a:cubicBezTo>
                    <a:pt x="4663440" y="2204085"/>
                    <a:pt x="4581525" y="2286000"/>
                    <a:pt x="4480560" y="2286000"/>
                  </a:cubicBezTo>
                  <a:lnTo>
                    <a:pt x="182880" y="2286000"/>
                  </a:lnTo>
                  <a:cubicBezTo>
                    <a:pt x="81915" y="2286000"/>
                    <a:pt x="0" y="2204085"/>
                    <a:pt x="0" y="2103120"/>
                  </a:cubicBezTo>
                  <a:close/>
                </a:path>
              </a:pathLst>
            </a:custGeom>
            <a:solidFill>
              <a:srgbClr val="F2A65E"/>
            </a:solidFill>
          </p:spPr>
        </p:sp>
      </p:grpSp>
      <p:grpSp>
        <p:nvGrpSpPr>
          <p:cNvPr name="Group 44" id="44"/>
          <p:cNvGrpSpPr/>
          <p:nvPr/>
        </p:nvGrpSpPr>
        <p:grpSpPr>
          <a:xfrm rot="0">
            <a:off x="5280660" y="6446520"/>
            <a:ext cx="3497580" cy="1714500"/>
            <a:chOff x="0" y="0"/>
            <a:chExt cx="4663440" cy="2286000"/>
          </a:xfrm>
        </p:grpSpPr>
        <p:sp>
          <p:nvSpPr>
            <p:cNvPr name="Freeform 45" id="45"/>
            <p:cNvSpPr/>
            <p:nvPr/>
          </p:nvSpPr>
          <p:spPr>
            <a:xfrm flipH="false" flipV="false" rot="0">
              <a:off x="0" y="0"/>
              <a:ext cx="4663440" cy="2286000"/>
            </a:xfrm>
            <a:custGeom>
              <a:avLst/>
              <a:gdLst/>
              <a:ahLst/>
              <a:cxnLst/>
              <a:rect r="r" b="b" t="t" l="l"/>
              <a:pathLst>
                <a:path h="2286000" w="4663440">
                  <a:moveTo>
                    <a:pt x="0" y="0"/>
                  </a:moveTo>
                  <a:lnTo>
                    <a:pt x="4663440" y="0"/>
                  </a:lnTo>
                  <a:lnTo>
                    <a:pt x="4663440" y="2286000"/>
                  </a:lnTo>
                  <a:lnTo>
                    <a:pt x="0" y="2286000"/>
                  </a:lnTo>
                  <a:close/>
                </a:path>
              </a:pathLst>
            </a:custGeom>
            <a:blipFill>
              <a:blip r:embed="rId3">
                <a:alphaModFix amt="0"/>
              </a:blip>
              <a:stretch>
                <a:fillRect l="-12893" t="0" r="-12893" b="0"/>
              </a:stretch>
            </a:blipFill>
          </p:spPr>
        </p:sp>
        <p:sp>
          <p:nvSpPr>
            <p:cNvPr name="TextBox 46" id="46"/>
            <p:cNvSpPr txBox="true"/>
            <p:nvPr/>
          </p:nvSpPr>
          <p:spPr>
            <a:xfrm>
              <a:off x="0" y="-66675"/>
              <a:ext cx="4663440" cy="2352675"/>
            </a:xfrm>
            <a:prstGeom prst="rect">
              <a:avLst/>
            </a:prstGeom>
          </p:spPr>
          <p:txBody>
            <a:bodyPr anchor="ctr" rtlCol="false" tIns="0" lIns="0" bIns="0" rIns="0"/>
            <a:lstStyle/>
            <a:p>
              <a:pPr algn="ctr">
                <a:lnSpc>
                  <a:spcPts val="2772"/>
                </a:lnSpc>
              </a:pPr>
              <a:r>
                <a:rPr lang="en-US" sz="2100" b="true">
                  <a:solidFill>
                    <a:srgbClr val="FFFFFF"/>
                  </a:solidFill>
                  <a:latin typeface="Calibri (MS) Bold"/>
                  <a:ea typeface="Calibri (MS) Bold"/>
                  <a:cs typeface="Calibri (MS) Bold"/>
                  <a:sym typeface="Calibri (MS) Bold"/>
                </a:rPr>
                <a:t>Assembly</a:t>
              </a:r>
            </a:p>
          </p:txBody>
        </p:sp>
      </p:grpSp>
      <p:grpSp>
        <p:nvGrpSpPr>
          <p:cNvPr name="Group 47" id="47"/>
          <p:cNvGrpSpPr/>
          <p:nvPr/>
        </p:nvGrpSpPr>
        <p:grpSpPr>
          <a:xfrm rot="0">
            <a:off x="8778240" y="6446520"/>
            <a:ext cx="480060" cy="1714500"/>
            <a:chOff x="0" y="0"/>
            <a:chExt cx="640080" cy="2286000"/>
          </a:xfrm>
        </p:grpSpPr>
        <p:sp>
          <p:nvSpPr>
            <p:cNvPr name="Freeform 48" id="48"/>
            <p:cNvSpPr/>
            <p:nvPr/>
          </p:nvSpPr>
          <p:spPr>
            <a:xfrm flipH="false" flipV="false" rot="0">
              <a:off x="0" y="0"/>
              <a:ext cx="640080" cy="2286000"/>
            </a:xfrm>
            <a:custGeom>
              <a:avLst/>
              <a:gdLst/>
              <a:ahLst/>
              <a:cxnLst/>
              <a:rect r="r" b="b" t="t" l="l"/>
              <a:pathLst>
                <a:path h="2286000" w="640080">
                  <a:moveTo>
                    <a:pt x="0" y="0"/>
                  </a:moveTo>
                  <a:lnTo>
                    <a:pt x="640080" y="0"/>
                  </a:lnTo>
                  <a:lnTo>
                    <a:pt x="640080" y="2286000"/>
                  </a:lnTo>
                  <a:lnTo>
                    <a:pt x="0" y="2286000"/>
                  </a:lnTo>
                  <a:close/>
                </a:path>
              </a:pathLst>
            </a:custGeom>
            <a:blipFill>
              <a:blip r:embed="rId3">
                <a:alphaModFix amt="0"/>
              </a:blip>
              <a:stretch>
                <a:fillRect l="-408227" t="0" r="-408227" b="0"/>
              </a:stretch>
            </a:blipFill>
          </p:spPr>
        </p:sp>
        <p:sp>
          <p:nvSpPr>
            <p:cNvPr name="TextBox 49" id="49"/>
            <p:cNvSpPr txBox="true"/>
            <p:nvPr/>
          </p:nvSpPr>
          <p:spPr>
            <a:xfrm>
              <a:off x="0" y="-57150"/>
              <a:ext cx="640080" cy="2343150"/>
            </a:xfrm>
            <a:prstGeom prst="rect">
              <a:avLst/>
            </a:prstGeom>
          </p:spPr>
          <p:txBody>
            <a:bodyPr anchor="ctr" rtlCol="false" tIns="0" lIns="0" bIns="0" rIns="0"/>
            <a:lstStyle/>
            <a:p>
              <a:pPr algn="ctr">
                <a:lnSpc>
                  <a:spcPts val="3240"/>
                </a:lnSpc>
              </a:pPr>
              <a:r>
                <a:rPr lang="en-US" sz="2700" b="true">
                  <a:solidFill>
                    <a:srgbClr val="1B1F3B"/>
                  </a:solidFill>
                  <a:latin typeface="Calibri (MS) Bold"/>
                  <a:ea typeface="Calibri (MS) Bold"/>
                  <a:cs typeface="Calibri (MS) Bold"/>
                  <a:sym typeface="Calibri (MS) Bold"/>
                </a:rPr>
                <a:t>→</a:t>
              </a:r>
            </a:p>
          </p:txBody>
        </p:sp>
      </p:grpSp>
      <p:grpSp>
        <p:nvGrpSpPr>
          <p:cNvPr name="Group 50" id="50"/>
          <p:cNvGrpSpPr/>
          <p:nvPr/>
        </p:nvGrpSpPr>
        <p:grpSpPr>
          <a:xfrm rot="0">
            <a:off x="9258300" y="6446520"/>
            <a:ext cx="3497580" cy="1714500"/>
            <a:chOff x="0" y="0"/>
            <a:chExt cx="4663440" cy="2286000"/>
          </a:xfrm>
        </p:grpSpPr>
        <p:sp>
          <p:nvSpPr>
            <p:cNvPr name="Freeform 51" id="51"/>
            <p:cNvSpPr/>
            <p:nvPr/>
          </p:nvSpPr>
          <p:spPr>
            <a:xfrm flipH="false" flipV="false" rot="0">
              <a:off x="0" y="0"/>
              <a:ext cx="4663440" cy="2286000"/>
            </a:xfrm>
            <a:custGeom>
              <a:avLst/>
              <a:gdLst/>
              <a:ahLst/>
              <a:cxnLst/>
              <a:rect r="r" b="b" t="t" l="l"/>
              <a:pathLst>
                <a:path h="2286000" w="4663440">
                  <a:moveTo>
                    <a:pt x="0" y="182880"/>
                  </a:moveTo>
                  <a:cubicBezTo>
                    <a:pt x="0" y="81915"/>
                    <a:pt x="81915" y="0"/>
                    <a:pt x="182880" y="0"/>
                  </a:cubicBezTo>
                  <a:lnTo>
                    <a:pt x="4480560" y="0"/>
                  </a:lnTo>
                  <a:cubicBezTo>
                    <a:pt x="4581525" y="0"/>
                    <a:pt x="4663440" y="81915"/>
                    <a:pt x="4663440" y="182880"/>
                  </a:cubicBezTo>
                  <a:lnTo>
                    <a:pt x="4663440" y="2103120"/>
                  </a:lnTo>
                  <a:cubicBezTo>
                    <a:pt x="4663440" y="2204085"/>
                    <a:pt x="4581525" y="2286000"/>
                    <a:pt x="4480560" y="2286000"/>
                  </a:cubicBezTo>
                  <a:lnTo>
                    <a:pt x="182880" y="2286000"/>
                  </a:lnTo>
                  <a:cubicBezTo>
                    <a:pt x="81915" y="2286000"/>
                    <a:pt x="0" y="2204085"/>
                    <a:pt x="0" y="2103120"/>
                  </a:cubicBezTo>
                  <a:close/>
                </a:path>
              </a:pathLst>
            </a:custGeom>
            <a:solidFill>
              <a:srgbClr val="8FB5E0"/>
            </a:solidFill>
          </p:spPr>
        </p:sp>
      </p:grpSp>
      <p:grpSp>
        <p:nvGrpSpPr>
          <p:cNvPr name="Group 52" id="52"/>
          <p:cNvGrpSpPr/>
          <p:nvPr/>
        </p:nvGrpSpPr>
        <p:grpSpPr>
          <a:xfrm rot="0">
            <a:off x="9258300" y="6446520"/>
            <a:ext cx="3497580" cy="1714500"/>
            <a:chOff x="0" y="0"/>
            <a:chExt cx="4663440" cy="2286000"/>
          </a:xfrm>
        </p:grpSpPr>
        <p:sp>
          <p:nvSpPr>
            <p:cNvPr name="Freeform 53" id="53"/>
            <p:cNvSpPr/>
            <p:nvPr/>
          </p:nvSpPr>
          <p:spPr>
            <a:xfrm flipH="false" flipV="false" rot="0">
              <a:off x="0" y="0"/>
              <a:ext cx="4663440" cy="2286000"/>
            </a:xfrm>
            <a:custGeom>
              <a:avLst/>
              <a:gdLst/>
              <a:ahLst/>
              <a:cxnLst/>
              <a:rect r="r" b="b" t="t" l="l"/>
              <a:pathLst>
                <a:path h="2286000" w="4663440">
                  <a:moveTo>
                    <a:pt x="0" y="0"/>
                  </a:moveTo>
                  <a:lnTo>
                    <a:pt x="4663440" y="0"/>
                  </a:lnTo>
                  <a:lnTo>
                    <a:pt x="4663440" y="2286000"/>
                  </a:lnTo>
                  <a:lnTo>
                    <a:pt x="0" y="2286000"/>
                  </a:lnTo>
                  <a:close/>
                </a:path>
              </a:pathLst>
            </a:custGeom>
            <a:blipFill>
              <a:blip r:embed="rId3">
                <a:alphaModFix amt="0"/>
              </a:blip>
              <a:stretch>
                <a:fillRect l="-12893" t="0" r="-12893" b="0"/>
              </a:stretch>
            </a:blipFill>
          </p:spPr>
        </p:sp>
        <p:sp>
          <p:nvSpPr>
            <p:cNvPr name="TextBox 54" id="54"/>
            <p:cNvSpPr txBox="true"/>
            <p:nvPr/>
          </p:nvSpPr>
          <p:spPr>
            <a:xfrm>
              <a:off x="0" y="-66675"/>
              <a:ext cx="4663440" cy="2352675"/>
            </a:xfrm>
            <a:prstGeom prst="rect">
              <a:avLst/>
            </a:prstGeom>
          </p:spPr>
          <p:txBody>
            <a:bodyPr anchor="ctr" rtlCol="false" tIns="0" lIns="0" bIns="0" rIns="0"/>
            <a:lstStyle/>
            <a:p>
              <a:pPr algn="ctr">
                <a:lnSpc>
                  <a:spcPts val="2772"/>
                </a:lnSpc>
              </a:pPr>
              <a:r>
                <a:rPr lang="en-US" sz="2100" b="true">
                  <a:solidFill>
                    <a:srgbClr val="FFFFFF"/>
                  </a:solidFill>
                  <a:latin typeface="Calibri (MS) Bold"/>
                  <a:ea typeface="Calibri (MS) Bold"/>
                  <a:cs typeface="Calibri (MS) Bold"/>
                  <a:sym typeface="Calibri (MS) Bold"/>
                </a:rPr>
                <a:t>High-Level</a:t>
              </a:r>
            </a:p>
            <a:p>
              <a:pPr algn="ctr">
                <a:lnSpc>
                  <a:spcPts val="2772"/>
                </a:lnSpc>
              </a:pPr>
              <a:r>
                <a:rPr lang="en-US" sz="2100" b="true">
                  <a:solidFill>
                    <a:srgbClr val="FFFFFF"/>
                  </a:solidFill>
                  <a:latin typeface="Calibri (MS) Bold"/>
                  <a:ea typeface="Calibri (MS) Bold"/>
                  <a:cs typeface="Calibri (MS) Bold"/>
                  <a:sym typeface="Calibri (MS) Bold"/>
                </a:rPr>
                <a:t>Languages</a:t>
              </a:r>
            </a:p>
          </p:txBody>
        </p:sp>
      </p:grpSp>
      <p:grpSp>
        <p:nvGrpSpPr>
          <p:cNvPr name="Group 55" id="55"/>
          <p:cNvGrpSpPr/>
          <p:nvPr/>
        </p:nvGrpSpPr>
        <p:grpSpPr>
          <a:xfrm rot="0">
            <a:off x="12755880" y="6446520"/>
            <a:ext cx="480060" cy="1714500"/>
            <a:chOff x="0" y="0"/>
            <a:chExt cx="640080" cy="2286000"/>
          </a:xfrm>
        </p:grpSpPr>
        <p:sp>
          <p:nvSpPr>
            <p:cNvPr name="Freeform 56" id="56"/>
            <p:cNvSpPr/>
            <p:nvPr/>
          </p:nvSpPr>
          <p:spPr>
            <a:xfrm flipH="false" flipV="false" rot="0">
              <a:off x="0" y="0"/>
              <a:ext cx="640080" cy="2286000"/>
            </a:xfrm>
            <a:custGeom>
              <a:avLst/>
              <a:gdLst/>
              <a:ahLst/>
              <a:cxnLst/>
              <a:rect r="r" b="b" t="t" l="l"/>
              <a:pathLst>
                <a:path h="2286000" w="640080">
                  <a:moveTo>
                    <a:pt x="0" y="0"/>
                  </a:moveTo>
                  <a:lnTo>
                    <a:pt x="640080" y="0"/>
                  </a:lnTo>
                  <a:lnTo>
                    <a:pt x="640080" y="2286000"/>
                  </a:lnTo>
                  <a:lnTo>
                    <a:pt x="0" y="2286000"/>
                  </a:lnTo>
                  <a:close/>
                </a:path>
              </a:pathLst>
            </a:custGeom>
            <a:blipFill>
              <a:blip r:embed="rId3">
                <a:alphaModFix amt="0"/>
              </a:blip>
              <a:stretch>
                <a:fillRect l="-408227" t="0" r="-408227" b="0"/>
              </a:stretch>
            </a:blipFill>
          </p:spPr>
        </p:sp>
        <p:sp>
          <p:nvSpPr>
            <p:cNvPr name="TextBox 57" id="57"/>
            <p:cNvSpPr txBox="true"/>
            <p:nvPr/>
          </p:nvSpPr>
          <p:spPr>
            <a:xfrm>
              <a:off x="0" y="-57150"/>
              <a:ext cx="640080" cy="2343150"/>
            </a:xfrm>
            <a:prstGeom prst="rect">
              <a:avLst/>
            </a:prstGeom>
          </p:spPr>
          <p:txBody>
            <a:bodyPr anchor="ctr" rtlCol="false" tIns="0" lIns="0" bIns="0" rIns="0"/>
            <a:lstStyle/>
            <a:p>
              <a:pPr algn="ctr">
                <a:lnSpc>
                  <a:spcPts val="3240"/>
                </a:lnSpc>
              </a:pPr>
              <a:r>
                <a:rPr lang="en-US" sz="2700" b="true">
                  <a:solidFill>
                    <a:srgbClr val="1B1F3B"/>
                  </a:solidFill>
                  <a:latin typeface="Calibri (MS) Bold"/>
                  <a:ea typeface="Calibri (MS) Bold"/>
                  <a:cs typeface="Calibri (MS) Bold"/>
                  <a:sym typeface="Calibri (MS) Bold"/>
                </a:rPr>
                <a:t>→</a:t>
              </a:r>
            </a:p>
          </p:txBody>
        </p:sp>
      </p:grpSp>
      <p:grpSp>
        <p:nvGrpSpPr>
          <p:cNvPr name="Group 58" id="58"/>
          <p:cNvGrpSpPr/>
          <p:nvPr/>
        </p:nvGrpSpPr>
        <p:grpSpPr>
          <a:xfrm rot="0">
            <a:off x="13235940" y="6446520"/>
            <a:ext cx="3497580" cy="1714500"/>
            <a:chOff x="0" y="0"/>
            <a:chExt cx="4663440" cy="2286000"/>
          </a:xfrm>
        </p:grpSpPr>
        <p:sp>
          <p:nvSpPr>
            <p:cNvPr name="Freeform 59" id="59"/>
            <p:cNvSpPr/>
            <p:nvPr/>
          </p:nvSpPr>
          <p:spPr>
            <a:xfrm flipH="false" flipV="false" rot="0">
              <a:off x="0" y="0"/>
              <a:ext cx="4663440" cy="2286000"/>
            </a:xfrm>
            <a:custGeom>
              <a:avLst/>
              <a:gdLst/>
              <a:ahLst/>
              <a:cxnLst/>
              <a:rect r="r" b="b" t="t" l="l"/>
              <a:pathLst>
                <a:path h="2286000" w="4663440">
                  <a:moveTo>
                    <a:pt x="0" y="182880"/>
                  </a:moveTo>
                  <a:cubicBezTo>
                    <a:pt x="0" y="81915"/>
                    <a:pt x="81915" y="0"/>
                    <a:pt x="182880" y="0"/>
                  </a:cubicBezTo>
                  <a:lnTo>
                    <a:pt x="4480560" y="0"/>
                  </a:lnTo>
                  <a:cubicBezTo>
                    <a:pt x="4581525" y="0"/>
                    <a:pt x="4663440" y="81915"/>
                    <a:pt x="4663440" y="182880"/>
                  </a:cubicBezTo>
                  <a:lnTo>
                    <a:pt x="4663440" y="2103120"/>
                  </a:lnTo>
                  <a:cubicBezTo>
                    <a:pt x="4663440" y="2204085"/>
                    <a:pt x="4581525" y="2286000"/>
                    <a:pt x="4480560" y="2286000"/>
                  </a:cubicBezTo>
                  <a:lnTo>
                    <a:pt x="182880" y="2286000"/>
                  </a:lnTo>
                  <a:cubicBezTo>
                    <a:pt x="81915" y="2286000"/>
                    <a:pt x="0" y="2204085"/>
                    <a:pt x="0" y="2103120"/>
                  </a:cubicBezTo>
                  <a:close/>
                </a:path>
              </a:pathLst>
            </a:custGeom>
            <a:solidFill>
              <a:srgbClr val="4FB6B0"/>
            </a:solidFill>
          </p:spPr>
        </p:sp>
      </p:grpSp>
      <p:grpSp>
        <p:nvGrpSpPr>
          <p:cNvPr name="Group 60" id="60"/>
          <p:cNvGrpSpPr/>
          <p:nvPr/>
        </p:nvGrpSpPr>
        <p:grpSpPr>
          <a:xfrm rot="0">
            <a:off x="13235940" y="6446520"/>
            <a:ext cx="3497580" cy="1714500"/>
            <a:chOff x="0" y="0"/>
            <a:chExt cx="4663440" cy="2286000"/>
          </a:xfrm>
        </p:grpSpPr>
        <p:sp>
          <p:nvSpPr>
            <p:cNvPr name="Freeform 61" id="61"/>
            <p:cNvSpPr/>
            <p:nvPr/>
          </p:nvSpPr>
          <p:spPr>
            <a:xfrm flipH="false" flipV="false" rot="0">
              <a:off x="0" y="0"/>
              <a:ext cx="4663440" cy="2286000"/>
            </a:xfrm>
            <a:custGeom>
              <a:avLst/>
              <a:gdLst/>
              <a:ahLst/>
              <a:cxnLst/>
              <a:rect r="r" b="b" t="t" l="l"/>
              <a:pathLst>
                <a:path h="2286000" w="4663440">
                  <a:moveTo>
                    <a:pt x="0" y="0"/>
                  </a:moveTo>
                  <a:lnTo>
                    <a:pt x="4663440" y="0"/>
                  </a:lnTo>
                  <a:lnTo>
                    <a:pt x="4663440" y="2286000"/>
                  </a:lnTo>
                  <a:lnTo>
                    <a:pt x="0" y="2286000"/>
                  </a:lnTo>
                  <a:close/>
                </a:path>
              </a:pathLst>
            </a:custGeom>
            <a:blipFill>
              <a:blip r:embed="rId3">
                <a:alphaModFix amt="0"/>
              </a:blip>
              <a:stretch>
                <a:fillRect l="-12893" t="0" r="-12893" b="0"/>
              </a:stretch>
            </a:blipFill>
          </p:spPr>
        </p:sp>
        <p:sp>
          <p:nvSpPr>
            <p:cNvPr name="TextBox 62" id="62"/>
            <p:cNvSpPr txBox="true"/>
            <p:nvPr/>
          </p:nvSpPr>
          <p:spPr>
            <a:xfrm>
              <a:off x="0" y="-66675"/>
              <a:ext cx="4663440" cy="2352675"/>
            </a:xfrm>
            <a:prstGeom prst="rect">
              <a:avLst/>
            </a:prstGeom>
          </p:spPr>
          <p:txBody>
            <a:bodyPr anchor="ctr" rtlCol="false" tIns="0" lIns="0" bIns="0" rIns="0"/>
            <a:lstStyle/>
            <a:p>
              <a:pPr algn="ctr">
                <a:lnSpc>
                  <a:spcPts val="2772"/>
                </a:lnSpc>
              </a:pPr>
              <a:r>
                <a:rPr lang="en-US" sz="2100" b="true">
                  <a:solidFill>
                    <a:srgbClr val="1B1F3B"/>
                  </a:solidFill>
                  <a:latin typeface="Calibri (MS) Bold"/>
                  <a:ea typeface="Calibri (MS) Bold"/>
                  <a:cs typeface="Calibri (MS) Bold"/>
                  <a:sym typeface="Calibri (MS) Bold"/>
                </a:rPr>
                <a:t>Python</a:t>
              </a:r>
            </a:p>
          </p:txBody>
        </p:sp>
      </p:grpSp>
      <p:grpSp>
        <p:nvGrpSpPr>
          <p:cNvPr name="Group 63" id="63"/>
          <p:cNvGrpSpPr/>
          <p:nvPr/>
        </p:nvGrpSpPr>
        <p:grpSpPr>
          <a:xfrm rot="0">
            <a:off x="1124712" y="8376285"/>
            <a:ext cx="16134131" cy="820703"/>
            <a:chOff x="0" y="0"/>
            <a:chExt cx="21512174" cy="1094270"/>
          </a:xfrm>
        </p:grpSpPr>
        <p:sp>
          <p:nvSpPr>
            <p:cNvPr name="Freeform 64" id="64"/>
            <p:cNvSpPr/>
            <p:nvPr/>
          </p:nvSpPr>
          <p:spPr>
            <a:xfrm flipH="false" flipV="false" rot="0">
              <a:off x="0" y="0"/>
              <a:ext cx="21512174" cy="1094270"/>
            </a:xfrm>
            <a:custGeom>
              <a:avLst/>
              <a:gdLst/>
              <a:ahLst/>
              <a:cxnLst/>
              <a:rect r="r" b="b" t="t" l="l"/>
              <a:pathLst>
                <a:path h="1094270" w="21512174">
                  <a:moveTo>
                    <a:pt x="0" y="0"/>
                  </a:moveTo>
                  <a:lnTo>
                    <a:pt x="21512174" y="0"/>
                  </a:lnTo>
                  <a:lnTo>
                    <a:pt x="21512174" y="1094270"/>
                  </a:lnTo>
                  <a:lnTo>
                    <a:pt x="0" y="1094270"/>
                  </a:lnTo>
                  <a:close/>
                </a:path>
              </a:pathLst>
            </a:custGeom>
            <a:blipFill>
              <a:blip r:embed="rId3">
                <a:alphaModFix amt="0"/>
              </a:blip>
              <a:stretch>
                <a:fillRect l="0" t="-329452" r="3085" b="-313015"/>
              </a:stretch>
            </a:blipFill>
          </p:spPr>
        </p:sp>
        <p:sp>
          <p:nvSpPr>
            <p:cNvPr name="TextBox 65" id="65"/>
            <p:cNvSpPr txBox="true"/>
            <p:nvPr/>
          </p:nvSpPr>
          <p:spPr>
            <a:xfrm>
              <a:off x="0" y="-57150"/>
              <a:ext cx="21512174" cy="1151420"/>
            </a:xfrm>
            <a:prstGeom prst="rect">
              <a:avLst/>
            </a:prstGeom>
          </p:spPr>
          <p:txBody>
            <a:bodyPr anchor="ctr" rtlCol="false" tIns="0" lIns="0" bIns="0" rIns="0"/>
            <a:lstStyle/>
            <a:p>
              <a:pPr algn="l">
                <a:lnSpc>
                  <a:spcPts val="2819"/>
                </a:lnSpc>
              </a:pPr>
              <a:r>
                <a:rPr lang="en-US" sz="2349" i="true">
                  <a:solidFill>
                    <a:srgbClr val="000000"/>
                  </a:solidFill>
                  <a:latin typeface="Calibri (MS) Italics"/>
                  <a:ea typeface="Calibri (MS) Italics"/>
                  <a:cs typeface="Calibri (MS) Italics"/>
                  <a:sym typeface="Calibri (MS) Italics"/>
                </a:rPr>
                <a:t>Python trades a little raw speed for huge gains in readability and development speed — a great trade-off for learning and for building AI applications quickly.</a:t>
              </a:r>
            </a:p>
          </p:txBody>
        </p:sp>
      </p:grpSp>
      <p:grpSp>
        <p:nvGrpSpPr>
          <p:cNvPr name="Group 66" id="66"/>
          <p:cNvGrpSpPr/>
          <p:nvPr/>
        </p:nvGrpSpPr>
        <p:grpSpPr>
          <a:xfrm rot="0">
            <a:off x="685800" y="9710928"/>
            <a:ext cx="10972800" cy="411480"/>
            <a:chOff x="0" y="0"/>
            <a:chExt cx="14630400" cy="548640"/>
          </a:xfrm>
        </p:grpSpPr>
        <p:sp>
          <p:nvSpPr>
            <p:cNvPr name="Freeform 67" id="6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68" id="6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69" id="69"/>
          <p:cNvGrpSpPr/>
          <p:nvPr/>
        </p:nvGrpSpPr>
        <p:grpSpPr>
          <a:xfrm rot="0">
            <a:off x="16915943" y="9710928"/>
            <a:ext cx="685800" cy="411480"/>
            <a:chOff x="0" y="0"/>
            <a:chExt cx="914400" cy="548640"/>
          </a:xfrm>
        </p:grpSpPr>
        <p:sp>
          <p:nvSpPr>
            <p:cNvPr name="Freeform 70" id="7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1" id="7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A QUICK LOOK DOWN THE STACK</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Assembly language</a:t>
              </a:r>
            </a:p>
          </p:txBody>
        </p:sp>
      </p:grpSp>
      <p:grpSp>
        <p:nvGrpSpPr>
          <p:cNvPr name="Group 8" id="8"/>
          <p:cNvGrpSpPr/>
          <p:nvPr/>
        </p:nvGrpSpPr>
        <p:grpSpPr>
          <a:xfrm rot="0">
            <a:off x="813435" y="2390775"/>
            <a:ext cx="8111490" cy="3996690"/>
            <a:chOff x="0" y="0"/>
            <a:chExt cx="10815320" cy="5328920"/>
          </a:xfrm>
        </p:grpSpPr>
        <p:sp>
          <p:nvSpPr>
            <p:cNvPr name="Freeform 9" id="9"/>
            <p:cNvSpPr/>
            <p:nvPr/>
          </p:nvSpPr>
          <p:spPr>
            <a:xfrm flipH="false" flipV="false" rot="0">
              <a:off x="0" y="0"/>
              <a:ext cx="10815320" cy="5328920"/>
            </a:xfrm>
            <a:custGeom>
              <a:avLst/>
              <a:gdLst/>
              <a:ahLst/>
              <a:cxnLst/>
              <a:rect r="r" b="b" t="t" l="l"/>
              <a:pathLst>
                <a:path h="5328920" w="10815320">
                  <a:moveTo>
                    <a:pt x="0" y="183769"/>
                  </a:moveTo>
                  <a:cubicBezTo>
                    <a:pt x="0" y="82296"/>
                    <a:pt x="82296" y="0"/>
                    <a:pt x="183769" y="0"/>
                  </a:cubicBezTo>
                  <a:lnTo>
                    <a:pt x="10631551" y="0"/>
                  </a:lnTo>
                  <a:cubicBezTo>
                    <a:pt x="10733024" y="0"/>
                    <a:pt x="10815320" y="82296"/>
                    <a:pt x="10815320" y="183769"/>
                  </a:cubicBezTo>
                  <a:lnTo>
                    <a:pt x="10815320" y="5145151"/>
                  </a:lnTo>
                  <a:cubicBezTo>
                    <a:pt x="10815320" y="5246624"/>
                    <a:pt x="10733024" y="5328920"/>
                    <a:pt x="10631551" y="5328920"/>
                  </a:cubicBezTo>
                  <a:lnTo>
                    <a:pt x="183769" y="5328920"/>
                  </a:lnTo>
                  <a:cubicBezTo>
                    <a:pt x="82296" y="5328920"/>
                    <a:pt x="0" y="5246624"/>
                    <a:pt x="0" y="5145151"/>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7462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2665E"/>
            </a:solidFill>
          </p:spPr>
        </p:sp>
      </p:grpSp>
      <p:grpSp>
        <p:nvGrpSpPr>
          <p:cNvPr name="Group 12" id="12"/>
          <p:cNvGrpSpPr/>
          <p:nvPr/>
        </p:nvGrpSpPr>
        <p:grpSpPr>
          <a:xfrm rot="0">
            <a:off x="1124712" y="2894076"/>
            <a:ext cx="7488936" cy="493776"/>
            <a:chOff x="0" y="0"/>
            <a:chExt cx="9985248" cy="658368"/>
          </a:xfrm>
        </p:grpSpPr>
        <p:sp>
          <p:nvSpPr>
            <p:cNvPr name="Freeform 13" id="13"/>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14" id="14"/>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ASSEMBLY LANGUAGE</a:t>
              </a:r>
            </a:p>
          </p:txBody>
        </p:sp>
      </p:grpSp>
      <p:sp>
        <p:nvSpPr>
          <p:cNvPr name="TextBox 15" id="15"/>
          <p:cNvSpPr txBox="true"/>
          <p:nvPr/>
        </p:nvSpPr>
        <p:spPr>
          <a:xfrm rot="0">
            <a:off x="1124712" y="3366516"/>
            <a:ext cx="7488936" cy="2682240"/>
          </a:xfrm>
          <a:prstGeom prst="rect">
            <a:avLst/>
          </a:prstGeom>
        </p:spPr>
        <p:txBody>
          <a:bodyPr anchor="t" rtlCol="false" tIns="0" lIns="0" bIns="0" rIns="0">
            <a:spAutoFit/>
          </a:bodyPr>
          <a:lstStyle/>
          <a:p>
            <a:pPr algn="l">
              <a:lnSpc>
                <a:spcPts val="3225"/>
              </a:lnSpc>
            </a:pPr>
            <a:r>
              <a:rPr lang="en-US" sz="2400" b="true">
                <a:solidFill>
                  <a:srgbClr val="1B1F3B"/>
                </a:solidFill>
                <a:latin typeface="Calibri (MS) Bold"/>
                <a:ea typeface="Calibri (MS) Bold"/>
                <a:cs typeface="Calibri (MS) Bold"/>
                <a:sym typeface="Calibri (MS) Bold"/>
              </a:rPr>
              <a:t>Definition:  </a:t>
            </a:r>
            <a:r>
              <a:rPr lang="en-US" sz="2400">
                <a:solidFill>
                  <a:srgbClr val="1B1F3B"/>
                </a:solidFill>
                <a:latin typeface="Calibri (MS)"/>
                <a:ea typeface="Calibri (MS)"/>
                <a:cs typeface="Calibri (MS)"/>
                <a:sym typeface="Calibri (MS)"/>
              </a:rPr>
              <a:t>A low-level language that uses short, human-readable mnemonics to represent basic machine-level operations, such as moving or adding values.</a:t>
            </a:r>
          </a:p>
        </p:txBody>
      </p:sp>
      <p:sp>
        <p:nvSpPr>
          <p:cNvPr name="TextBox 16" id="16"/>
          <p:cNvSpPr txBox="true"/>
          <p:nvPr/>
        </p:nvSpPr>
        <p:spPr>
          <a:xfrm rot="0">
            <a:off x="1024128" y="4906899"/>
            <a:ext cx="7904988" cy="1387602"/>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It's the closest humans get to 'speaking the machine's language' directly — one small readable word per hardware instruction.</a:t>
            </a:r>
          </a:p>
        </p:txBody>
      </p:sp>
      <p:grpSp>
        <p:nvGrpSpPr>
          <p:cNvPr name="Group 17" id="17"/>
          <p:cNvGrpSpPr/>
          <p:nvPr/>
        </p:nvGrpSpPr>
        <p:grpSpPr>
          <a:xfrm rot="0">
            <a:off x="822960" y="6515100"/>
            <a:ext cx="8092440" cy="822960"/>
            <a:chOff x="0" y="0"/>
            <a:chExt cx="10789920" cy="1097280"/>
          </a:xfrm>
        </p:grpSpPr>
        <p:sp>
          <p:nvSpPr>
            <p:cNvPr name="Freeform 18" id="18"/>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3">
                <a:alphaModFix amt="0"/>
              </a:blip>
              <a:stretch>
                <a:fillRect l="0" t="-141602" r="0" b="-141602"/>
              </a:stretch>
            </a:blipFill>
          </p:spPr>
        </p:sp>
        <p:sp>
          <p:nvSpPr>
            <p:cNvPr name="TextBox 19" id="19"/>
            <p:cNvSpPr txBox="true"/>
            <p:nvPr/>
          </p:nvSpPr>
          <p:spPr>
            <a:xfrm>
              <a:off x="0" y="-76200"/>
              <a:ext cx="10789920" cy="1173480"/>
            </a:xfrm>
            <a:prstGeom prst="rect">
              <a:avLst/>
            </a:prstGeom>
          </p:spPr>
          <p:txBody>
            <a:bodyPr anchor="ctr" rtlCol="false" tIns="0" lIns="0" bIns="0" rIns="0"/>
            <a:lstStyle/>
            <a:p>
              <a:pPr algn="l">
                <a:lnSpc>
                  <a:spcPts val="2552"/>
                </a:lnSpc>
              </a:pPr>
              <a:r>
                <a:rPr lang="en-US" sz="1849" i="true">
                  <a:solidFill>
                    <a:srgbClr val="000000"/>
                  </a:solidFill>
                  <a:latin typeface="Calibri (MS) Italics"/>
                  <a:ea typeface="Calibri (MS) Italics"/>
                  <a:cs typeface="Calibri (MS) Italics"/>
                  <a:sym typeface="Calibri (MS) Italics"/>
                </a:rPr>
                <a:t>We won't be writing assembly. This is just to see where Python sits in the bigger picture.</a:t>
              </a:r>
            </a:p>
          </p:txBody>
        </p:sp>
      </p:grpSp>
      <p:grpSp>
        <p:nvGrpSpPr>
          <p:cNvPr name="Group 20" id="20"/>
          <p:cNvGrpSpPr/>
          <p:nvPr/>
        </p:nvGrpSpPr>
        <p:grpSpPr>
          <a:xfrm rot="0">
            <a:off x="9258300" y="2400300"/>
            <a:ext cx="7886700" cy="3977640"/>
            <a:chOff x="0" y="0"/>
            <a:chExt cx="10515600" cy="5303520"/>
          </a:xfrm>
        </p:grpSpPr>
        <p:sp>
          <p:nvSpPr>
            <p:cNvPr name="Freeform 21" id="21"/>
            <p:cNvSpPr/>
            <p:nvPr/>
          </p:nvSpPr>
          <p:spPr>
            <a:xfrm flipH="false" flipV="false" rot="0">
              <a:off x="0" y="0"/>
              <a:ext cx="10515600" cy="5303520"/>
            </a:xfrm>
            <a:custGeom>
              <a:avLst/>
              <a:gdLst/>
              <a:ahLst/>
              <a:cxnLst/>
              <a:rect r="r" b="b" t="t" l="l"/>
              <a:pathLst>
                <a:path h="5303520" w="10515600">
                  <a:moveTo>
                    <a:pt x="0" y="146304"/>
                  </a:moveTo>
                  <a:cubicBezTo>
                    <a:pt x="0" y="65532"/>
                    <a:pt x="65532" y="0"/>
                    <a:pt x="146304" y="0"/>
                  </a:cubicBezTo>
                  <a:lnTo>
                    <a:pt x="10369296" y="0"/>
                  </a:lnTo>
                  <a:cubicBezTo>
                    <a:pt x="10450068" y="0"/>
                    <a:pt x="10515600" y="65532"/>
                    <a:pt x="10515600" y="146304"/>
                  </a:cubicBezTo>
                  <a:lnTo>
                    <a:pt x="10515600" y="5157216"/>
                  </a:lnTo>
                  <a:cubicBezTo>
                    <a:pt x="10515600" y="5237988"/>
                    <a:pt x="10450068" y="5303520"/>
                    <a:pt x="10369296" y="5303520"/>
                  </a:cubicBezTo>
                  <a:lnTo>
                    <a:pt x="146304" y="5303520"/>
                  </a:lnTo>
                  <a:cubicBezTo>
                    <a:pt x="65532" y="5303520"/>
                    <a:pt x="0" y="5237988"/>
                    <a:pt x="0" y="5157216"/>
                  </a:cubicBezTo>
                  <a:close/>
                </a:path>
              </a:pathLst>
            </a:custGeom>
            <a:solidFill>
              <a:srgbClr val="1B1F3B"/>
            </a:solidFill>
          </p:spPr>
        </p:sp>
      </p:grpSp>
      <p:grpSp>
        <p:nvGrpSpPr>
          <p:cNvPr name="Group 22" id="22"/>
          <p:cNvGrpSpPr/>
          <p:nvPr/>
        </p:nvGrpSpPr>
        <p:grpSpPr>
          <a:xfrm rot="0">
            <a:off x="9560052" y="2564892"/>
            <a:ext cx="7200900" cy="356616"/>
            <a:chOff x="0" y="0"/>
            <a:chExt cx="9601200" cy="475488"/>
          </a:xfrm>
        </p:grpSpPr>
        <p:sp>
          <p:nvSpPr>
            <p:cNvPr name="Freeform 23" id="23"/>
            <p:cNvSpPr/>
            <p:nvPr/>
          </p:nvSpPr>
          <p:spPr>
            <a:xfrm flipH="false" flipV="false" rot="0">
              <a:off x="0" y="0"/>
              <a:ext cx="9601200" cy="475488"/>
            </a:xfrm>
            <a:custGeom>
              <a:avLst/>
              <a:gdLst/>
              <a:ahLst/>
              <a:cxnLst/>
              <a:rect r="r" b="b" t="t" l="l"/>
              <a:pathLst>
                <a:path h="475488" w="9601200">
                  <a:moveTo>
                    <a:pt x="0" y="0"/>
                  </a:moveTo>
                  <a:lnTo>
                    <a:pt x="9601200" y="0"/>
                  </a:lnTo>
                  <a:lnTo>
                    <a:pt x="9601200" y="475488"/>
                  </a:lnTo>
                  <a:lnTo>
                    <a:pt x="0" y="475488"/>
                  </a:lnTo>
                  <a:close/>
                </a:path>
              </a:pathLst>
            </a:custGeom>
            <a:blipFill>
              <a:blip r:embed="rId3">
                <a:alphaModFix amt="0"/>
              </a:blip>
              <a:stretch>
                <a:fillRect l="0" t="-343447" r="0" b="-343447"/>
              </a:stretch>
            </a:blipFill>
          </p:spPr>
        </p:sp>
        <p:sp>
          <p:nvSpPr>
            <p:cNvPr name="TextBox 24" id="24"/>
            <p:cNvSpPr txBox="true"/>
            <p:nvPr/>
          </p:nvSpPr>
          <p:spPr>
            <a:xfrm>
              <a:off x="0" y="-38100"/>
              <a:ext cx="960120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ASSEMBLY (ILLUSTRATIVE)</a:t>
              </a:r>
            </a:p>
          </p:txBody>
        </p:sp>
      </p:grpSp>
      <p:sp>
        <p:nvSpPr>
          <p:cNvPr name="TextBox 25" id="25"/>
          <p:cNvSpPr txBox="true"/>
          <p:nvPr/>
        </p:nvSpPr>
        <p:spPr>
          <a:xfrm rot="0">
            <a:off x="9587484" y="3048000"/>
            <a:ext cx="7228332" cy="3110484"/>
          </a:xfrm>
          <a:prstGeom prst="rect">
            <a:avLst/>
          </a:prstGeom>
        </p:spPr>
        <p:txBody>
          <a:bodyPr anchor="t" rtlCol="false" tIns="0" lIns="0" bIns="0" rIns="0">
            <a:spAutoFit/>
          </a:bodyPr>
          <a:lstStyle/>
          <a:p>
            <a:pPr algn="l">
              <a:lnSpc>
                <a:spcPts val="2690"/>
              </a:lnSpc>
            </a:pPr>
            <a:r>
              <a:rPr lang="en-US" sz="1950">
                <a:solidFill>
                  <a:srgbClr val="FF9E5E"/>
                </a:solidFill>
                <a:latin typeface="Courier New"/>
                <a:ea typeface="Courier New"/>
                <a:cs typeface="Courier New"/>
                <a:sym typeface="Courier New"/>
              </a:rPr>
              <a:t>MOV</a:t>
            </a:r>
            <a:r>
              <a:rPr lang="en-US" sz="1950">
                <a:solidFill>
                  <a:srgbClr val="E9ECF7"/>
                </a:solidFill>
                <a:latin typeface="Courier New"/>
                <a:ea typeface="Courier New"/>
                <a:cs typeface="Courier New"/>
                <a:sym typeface="Courier New"/>
              </a:rPr>
              <a:t> AX, 5</a:t>
            </a:r>
          </a:p>
          <a:p>
            <a:pPr algn="l">
              <a:lnSpc>
                <a:spcPts val="2690"/>
              </a:lnSpc>
            </a:pPr>
            <a:r>
              <a:rPr lang="en-US" sz="1950">
                <a:solidFill>
                  <a:srgbClr val="FF9E5E"/>
                </a:solidFill>
                <a:latin typeface="Courier New"/>
                <a:ea typeface="Courier New"/>
                <a:cs typeface="Courier New"/>
                <a:sym typeface="Courier New"/>
              </a:rPr>
              <a:t>MOV</a:t>
            </a:r>
            <a:r>
              <a:rPr lang="en-US" sz="1950">
                <a:solidFill>
                  <a:srgbClr val="E9ECF7"/>
                </a:solidFill>
                <a:latin typeface="Courier New"/>
                <a:ea typeface="Courier New"/>
                <a:cs typeface="Courier New"/>
                <a:sym typeface="Courier New"/>
              </a:rPr>
              <a:t> BX, 3</a:t>
            </a:r>
          </a:p>
          <a:p>
            <a:pPr algn="l">
              <a:lnSpc>
                <a:spcPts val="2690"/>
              </a:lnSpc>
            </a:pPr>
            <a:r>
              <a:rPr lang="en-US" sz="1950">
                <a:solidFill>
                  <a:srgbClr val="FF9E5E"/>
                </a:solidFill>
                <a:latin typeface="Courier New"/>
                <a:ea typeface="Courier New"/>
                <a:cs typeface="Courier New"/>
                <a:sym typeface="Courier New"/>
              </a:rPr>
              <a:t>ADD</a:t>
            </a:r>
            <a:r>
              <a:rPr lang="en-US" sz="1950">
                <a:solidFill>
                  <a:srgbClr val="E9ECF7"/>
                </a:solidFill>
                <a:latin typeface="Courier New"/>
                <a:ea typeface="Courier New"/>
                <a:cs typeface="Courier New"/>
                <a:sym typeface="Courier New"/>
              </a:rPr>
              <a:t> AX, BX</a:t>
            </a:r>
          </a:p>
          <a:p>
            <a:pPr algn="l">
              <a:lnSpc>
                <a:spcPts val="2690"/>
              </a:lnSpc>
            </a:pPr>
            <a:r>
              <a:rPr lang="en-US" sz="1950">
                <a:solidFill>
                  <a:srgbClr val="8A93B8"/>
                </a:solidFill>
                <a:latin typeface="Courier New"/>
                <a:ea typeface="Courier New"/>
                <a:cs typeface="Courier New"/>
                <a:sym typeface="Courier New"/>
              </a:rPr>
              <a:t>; AX now holds 8</a:t>
            </a:r>
          </a:p>
        </p:txBody>
      </p:sp>
      <p:grpSp>
        <p:nvGrpSpPr>
          <p:cNvPr name="Group 26" id="26"/>
          <p:cNvGrpSpPr/>
          <p:nvPr/>
        </p:nvGrpSpPr>
        <p:grpSpPr>
          <a:xfrm rot="0">
            <a:off x="9258300" y="6652260"/>
            <a:ext cx="7886700" cy="411480"/>
            <a:chOff x="0" y="0"/>
            <a:chExt cx="10515600" cy="548640"/>
          </a:xfrm>
        </p:grpSpPr>
        <p:sp>
          <p:nvSpPr>
            <p:cNvPr name="Freeform 27" id="27"/>
            <p:cNvSpPr/>
            <p:nvPr/>
          </p:nvSpPr>
          <p:spPr>
            <a:xfrm flipH="false" flipV="false" rot="0">
              <a:off x="0" y="0"/>
              <a:ext cx="10515600" cy="548640"/>
            </a:xfrm>
            <a:custGeom>
              <a:avLst/>
              <a:gdLst/>
              <a:ahLst/>
              <a:cxnLst/>
              <a:rect r="r" b="b" t="t" l="l"/>
              <a:pathLst>
                <a:path h="548640" w="10515600">
                  <a:moveTo>
                    <a:pt x="0" y="0"/>
                  </a:moveTo>
                  <a:lnTo>
                    <a:pt x="10515600" y="0"/>
                  </a:lnTo>
                  <a:lnTo>
                    <a:pt x="10515600" y="548640"/>
                  </a:lnTo>
                  <a:lnTo>
                    <a:pt x="0" y="548640"/>
                  </a:lnTo>
                  <a:close/>
                </a:path>
              </a:pathLst>
            </a:custGeom>
            <a:blipFill>
              <a:blip r:embed="rId3">
                <a:alphaModFix amt="0"/>
              </a:blip>
              <a:stretch>
                <a:fillRect l="0" t="-323463" r="0" b="-323463"/>
              </a:stretch>
            </a:blipFill>
          </p:spPr>
        </p:sp>
        <p:sp>
          <p:nvSpPr>
            <p:cNvPr name="TextBox 28" id="28"/>
            <p:cNvSpPr txBox="true"/>
            <p:nvPr/>
          </p:nvSpPr>
          <p:spPr>
            <a:xfrm>
              <a:off x="0" y="-38100"/>
              <a:ext cx="10515600" cy="586740"/>
            </a:xfrm>
            <a:prstGeom prst="rect">
              <a:avLst/>
            </a:prstGeom>
          </p:spPr>
          <p:txBody>
            <a:bodyPr anchor="ctr" rtlCol="false" tIns="0" lIns="0" bIns="0" rIns="0"/>
            <a:lstStyle/>
            <a:p>
              <a:pPr algn="l">
                <a:lnSpc>
                  <a:spcPts val="2070"/>
                </a:lnSpc>
              </a:pPr>
              <a:r>
                <a:rPr lang="en-US" sz="1725" b="true">
                  <a:solidFill>
                    <a:srgbClr val="1B1F3B"/>
                  </a:solidFill>
                  <a:latin typeface="Calibri (MS) Bold"/>
                  <a:ea typeface="Calibri (MS) Bold"/>
                  <a:cs typeface="Calibri (MS) Bold"/>
                  <a:sym typeface="Calibri (MS) Bold"/>
                </a:rPr>
                <a:t>Compare that to Python doing the same thing:</a:t>
              </a:r>
            </a:p>
          </p:txBody>
        </p:sp>
      </p:grpSp>
      <p:grpSp>
        <p:nvGrpSpPr>
          <p:cNvPr name="Group 29" id="29"/>
          <p:cNvGrpSpPr/>
          <p:nvPr/>
        </p:nvGrpSpPr>
        <p:grpSpPr>
          <a:xfrm rot="0">
            <a:off x="9258300" y="7132320"/>
            <a:ext cx="7886700" cy="2125980"/>
            <a:chOff x="0" y="0"/>
            <a:chExt cx="10515600" cy="2834640"/>
          </a:xfrm>
        </p:grpSpPr>
        <p:sp>
          <p:nvSpPr>
            <p:cNvPr name="Freeform 30" id="30"/>
            <p:cNvSpPr/>
            <p:nvPr/>
          </p:nvSpPr>
          <p:spPr>
            <a:xfrm flipH="false" flipV="false" rot="0">
              <a:off x="0" y="0"/>
              <a:ext cx="10515600" cy="2834640"/>
            </a:xfrm>
            <a:custGeom>
              <a:avLst/>
              <a:gdLst/>
              <a:ahLst/>
              <a:cxnLst/>
              <a:rect r="r" b="b" t="t" l="l"/>
              <a:pathLst>
                <a:path h="2834640" w="10515600">
                  <a:moveTo>
                    <a:pt x="0" y="146304"/>
                  </a:moveTo>
                  <a:cubicBezTo>
                    <a:pt x="0" y="65532"/>
                    <a:pt x="65532" y="0"/>
                    <a:pt x="146304" y="0"/>
                  </a:cubicBezTo>
                  <a:lnTo>
                    <a:pt x="10369296" y="0"/>
                  </a:lnTo>
                  <a:cubicBezTo>
                    <a:pt x="10450068" y="0"/>
                    <a:pt x="10515600" y="65532"/>
                    <a:pt x="10515600" y="146304"/>
                  </a:cubicBezTo>
                  <a:lnTo>
                    <a:pt x="10515600" y="2688336"/>
                  </a:lnTo>
                  <a:cubicBezTo>
                    <a:pt x="10515600" y="2769108"/>
                    <a:pt x="10450068" y="2834640"/>
                    <a:pt x="10369296" y="2834640"/>
                  </a:cubicBezTo>
                  <a:lnTo>
                    <a:pt x="146304" y="2834640"/>
                  </a:lnTo>
                  <a:cubicBezTo>
                    <a:pt x="65532" y="2834640"/>
                    <a:pt x="0" y="2769108"/>
                    <a:pt x="0" y="2688336"/>
                  </a:cubicBezTo>
                  <a:close/>
                </a:path>
              </a:pathLst>
            </a:custGeom>
            <a:solidFill>
              <a:srgbClr val="1B1F3B"/>
            </a:solidFill>
          </p:spPr>
        </p:sp>
      </p:grpSp>
      <p:grpSp>
        <p:nvGrpSpPr>
          <p:cNvPr name="Group 31" id="31"/>
          <p:cNvGrpSpPr/>
          <p:nvPr/>
        </p:nvGrpSpPr>
        <p:grpSpPr>
          <a:xfrm rot="0">
            <a:off x="9560052" y="7296912"/>
            <a:ext cx="7200900" cy="356616"/>
            <a:chOff x="0" y="0"/>
            <a:chExt cx="9601200" cy="475488"/>
          </a:xfrm>
        </p:grpSpPr>
        <p:sp>
          <p:nvSpPr>
            <p:cNvPr name="Freeform 32" id="32"/>
            <p:cNvSpPr/>
            <p:nvPr/>
          </p:nvSpPr>
          <p:spPr>
            <a:xfrm flipH="false" flipV="false" rot="0">
              <a:off x="0" y="0"/>
              <a:ext cx="9601200" cy="475488"/>
            </a:xfrm>
            <a:custGeom>
              <a:avLst/>
              <a:gdLst/>
              <a:ahLst/>
              <a:cxnLst/>
              <a:rect r="r" b="b" t="t" l="l"/>
              <a:pathLst>
                <a:path h="475488" w="9601200">
                  <a:moveTo>
                    <a:pt x="0" y="0"/>
                  </a:moveTo>
                  <a:lnTo>
                    <a:pt x="9601200" y="0"/>
                  </a:lnTo>
                  <a:lnTo>
                    <a:pt x="9601200" y="475488"/>
                  </a:lnTo>
                  <a:lnTo>
                    <a:pt x="0" y="475488"/>
                  </a:lnTo>
                  <a:close/>
                </a:path>
              </a:pathLst>
            </a:custGeom>
            <a:blipFill>
              <a:blip r:embed="rId3">
                <a:alphaModFix amt="0"/>
              </a:blip>
              <a:stretch>
                <a:fillRect l="0" t="-343447" r="0" b="-343447"/>
              </a:stretch>
            </a:blipFill>
          </p:spPr>
        </p:sp>
        <p:sp>
          <p:nvSpPr>
            <p:cNvPr name="TextBox 33" id="33"/>
            <p:cNvSpPr txBox="true"/>
            <p:nvPr/>
          </p:nvSpPr>
          <p:spPr>
            <a:xfrm>
              <a:off x="0" y="-38100"/>
              <a:ext cx="960120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PYTHON</a:t>
              </a:r>
            </a:p>
          </p:txBody>
        </p:sp>
      </p:grpSp>
      <p:sp>
        <p:nvSpPr>
          <p:cNvPr name="TextBox 34" id="34"/>
          <p:cNvSpPr txBox="true"/>
          <p:nvPr/>
        </p:nvSpPr>
        <p:spPr>
          <a:xfrm rot="0">
            <a:off x="9587484" y="7780020"/>
            <a:ext cx="7228332" cy="1258824"/>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a = </a:t>
            </a:r>
            <a:r>
              <a:rPr lang="en-US" sz="1950">
                <a:solidFill>
                  <a:srgbClr val="9AD1FF"/>
                </a:solidFill>
                <a:latin typeface="Courier New"/>
                <a:ea typeface="Courier New"/>
                <a:cs typeface="Courier New"/>
                <a:sym typeface="Courier New"/>
              </a:rPr>
              <a:t>5</a:t>
            </a:r>
          </a:p>
          <a:p>
            <a:pPr algn="l">
              <a:lnSpc>
                <a:spcPts val="2690"/>
              </a:lnSpc>
            </a:pPr>
            <a:r>
              <a:rPr lang="en-US" sz="1950">
                <a:solidFill>
                  <a:srgbClr val="E9ECF7"/>
                </a:solidFill>
                <a:latin typeface="Courier New"/>
                <a:ea typeface="Courier New"/>
                <a:cs typeface="Courier New"/>
                <a:sym typeface="Courier New"/>
              </a:rPr>
              <a:t>b = </a:t>
            </a:r>
            <a:r>
              <a:rPr lang="en-US" sz="1950">
                <a:solidFill>
                  <a:srgbClr val="9AD1FF"/>
                </a:solidFill>
                <a:latin typeface="Courier New"/>
                <a:ea typeface="Courier New"/>
                <a:cs typeface="Courier New"/>
                <a:sym typeface="Courier New"/>
              </a:rPr>
              <a:t>3</a:t>
            </a:r>
          </a:p>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(a + b)  </a:t>
            </a:r>
            <a:r>
              <a:rPr lang="en-US" sz="1950">
                <a:solidFill>
                  <a:srgbClr val="8A93B8"/>
                </a:solidFill>
                <a:latin typeface="Courier New"/>
                <a:ea typeface="Courier New"/>
                <a:cs typeface="Courier New"/>
                <a:sym typeface="Courier New"/>
              </a:rPr>
              <a:t># 8</a:t>
            </a:r>
          </a:p>
        </p:txBody>
      </p:sp>
      <p:grpSp>
        <p:nvGrpSpPr>
          <p:cNvPr name="Group 35" id="35"/>
          <p:cNvGrpSpPr/>
          <p:nvPr/>
        </p:nvGrpSpPr>
        <p:grpSpPr>
          <a:xfrm rot="0">
            <a:off x="685800" y="9601200"/>
            <a:ext cx="10972800" cy="521208"/>
            <a:chOff x="0" y="0"/>
            <a:chExt cx="14630400" cy="694944"/>
          </a:xfrm>
        </p:grpSpPr>
        <p:sp>
          <p:nvSpPr>
            <p:cNvPr name="Freeform 36" id="36"/>
            <p:cNvSpPr/>
            <p:nvPr/>
          </p:nvSpPr>
          <p:spPr>
            <a:xfrm flipH="false" flipV="false" rot="0">
              <a:off x="0" y="0"/>
              <a:ext cx="14630400" cy="694944"/>
            </a:xfrm>
            <a:custGeom>
              <a:avLst/>
              <a:gdLst/>
              <a:ahLst/>
              <a:cxnLst/>
              <a:rect r="r" b="b" t="t" l="l"/>
              <a:pathLst>
                <a:path h="694944" w="14630400">
                  <a:moveTo>
                    <a:pt x="0" y="0"/>
                  </a:moveTo>
                  <a:lnTo>
                    <a:pt x="14630400" y="0"/>
                  </a:lnTo>
                  <a:lnTo>
                    <a:pt x="14630400" y="694944"/>
                  </a:lnTo>
                  <a:lnTo>
                    <a:pt x="0" y="694944"/>
                  </a:lnTo>
                  <a:close/>
                </a:path>
              </a:pathLst>
            </a:custGeom>
            <a:blipFill>
              <a:blip r:embed="rId3">
                <a:alphaModFix amt="0"/>
              </a:blip>
              <a:stretch>
                <a:fillRect l="0" t="-370737" r="0" b="-349685"/>
              </a:stretch>
            </a:blipFill>
          </p:spPr>
        </p:sp>
        <p:sp>
          <p:nvSpPr>
            <p:cNvPr name="TextBox 37" id="37"/>
            <p:cNvSpPr txBox="true"/>
            <p:nvPr/>
          </p:nvSpPr>
          <p:spPr>
            <a:xfrm>
              <a:off x="0" y="-28575"/>
              <a:ext cx="14630400" cy="723519"/>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38" id="38"/>
          <p:cNvGrpSpPr/>
          <p:nvPr/>
        </p:nvGrpSpPr>
        <p:grpSpPr>
          <a:xfrm rot="0">
            <a:off x="16915943" y="9710928"/>
            <a:ext cx="685800" cy="411480"/>
            <a:chOff x="0" y="0"/>
            <a:chExt cx="914400" cy="548640"/>
          </a:xfrm>
        </p:grpSpPr>
        <p:sp>
          <p:nvSpPr>
            <p:cNvPr name="Freeform 39" id="3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0" id="4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HOW CODE GETS EXECUTED</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Compiler vs. interpreter</a:t>
              </a:r>
            </a:p>
          </p:txBody>
        </p:sp>
      </p:grpSp>
      <p:grpSp>
        <p:nvGrpSpPr>
          <p:cNvPr name="Group 8" id="8"/>
          <p:cNvGrpSpPr/>
          <p:nvPr/>
        </p:nvGrpSpPr>
        <p:grpSpPr>
          <a:xfrm rot="0">
            <a:off x="813435" y="2322195"/>
            <a:ext cx="8111490" cy="2693670"/>
            <a:chOff x="0" y="0"/>
            <a:chExt cx="10815320" cy="3591560"/>
          </a:xfrm>
        </p:grpSpPr>
        <p:sp>
          <p:nvSpPr>
            <p:cNvPr name="Freeform 9" id="9"/>
            <p:cNvSpPr/>
            <p:nvPr/>
          </p:nvSpPr>
          <p:spPr>
            <a:xfrm flipH="false" flipV="false" rot="0">
              <a:off x="0" y="0"/>
              <a:ext cx="10815320" cy="3591560"/>
            </a:xfrm>
            <a:custGeom>
              <a:avLst/>
              <a:gdLst/>
              <a:ahLst/>
              <a:cxnLst/>
              <a:rect r="r" b="b" t="t" l="l"/>
              <a:pathLst>
                <a:path h="3591560" w="10815320">
                  <a:moveTo>
                    <a:pt x="0" y="184150"/>
                  </a:moveTo>
                  <a:cubicBezTo>
                    <a:pt x="0" y="82423"/>
                    <a:pt x="82423" y="0"/>
                    <a:pt x="184150" y="0"/>
                  </a:cubicBezTo>
                  <a:lnTo>
                    <a:pt x="10631170" y="0"/>
                  </a:lnTo>
                  <a:cubicBezTo>
                    <a:pt x="10732897" y="0"/>
                    <a:pt x="10815320" y="82423"/>
                    <a:pt x="10815320" y="184150"/>
                  </a:cubicBezTo>
                  <a:lnTo>
                    <a:pt x="10815320" y="3407410"/>
                  </a:lnTo>
                  <a:cubicBezTo>
                    <a:pt x="10815320" y="3509137"/>
                    <a:pt x="10732897" y="3591560"/>
                    <a:pt x="10631170" y="3591560"/>
                  </a:cubicBezTo>
                  <a:lnTo>
                    <a:pt x="184150" y="3591560"/>
                  </a:lnTo>
                  <a:cubicBezTo>
                    <a:pt x="82423" y="3591560"/>
                    <a:pt x="0" y="3509137"/>
                    <a:pt x="0" y="3407410"/>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0604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12" id="12"/>
          <p:cNvGrpSpPr/>
          <p:nvPr/>
        </p:nvGrpSpPr>
        <p:grpSpPr>
          <a:xfrm rot="0">
            <a:off x="1124712" y="2825496"/>
            <a:ext cx="7488936" cy="493776"/>
            <a:chOff x="0" y="0"/>
            <a:chExt cx="9985248" cy="658368"/>
          </a:xfrm>
        </p:grpSpPr>
        <p:sp>
          <p:nvSpPr>
            <p:cNvPr name="Freeform 13" id="13"/>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14" id="14"/>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COMPILER</a:t>
              </a:r>
            </a:p>
          </p:txBody>
        </p:sp>
      </p:grpSp>
      <p:sp>
        <p:nvSpPr>
          <p:cNvPr name="TextBox 15" id="15"/>
          <p:cNvSpPr txBox="true"/>
          <p:nvPr/>
        </p:nvSpPr>
        <p:spPr>
          <a:xfrm rot="0">
            <a:off x="1124712" y="3297936"/>
            <a:ext cx="7488936" cy="1379220"/>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t>
            </a:r>
            <a:r>
              <a:rPr lang="en-US" sz="2100">
                <a:solidFill>
                  <a:srgbClr val="1B1F3B"/>
                </a:solidFill>
                <a:latin typeface="Calibri (MS)"/>
                <a:ea typeface="Calibri (MS)"/>
                <a:cs typeface="Calibri (MS)"/>
                <a:sym typeface="Calibri (MS)"/>
              </a:rPr>
              <a:t>A program that translates all source code into machine code (or another executable form) before the program is run.</a:t>
            </a:r>
          </a:p>
        </p:txBody>
      </p:sp>
      <p:sp>
        <p:nvSpPr>
          <p:cNvPr name="TextBox 16" id="16"/>
          <p:cNvSpPr txBox="true"/>
          <p:nvPr/>
        </p:nvSpPr>
        <p:spPr>
          <a:xfrm rot="0">
            <a:off x="1124712" y="4015359"/>
            <a:ext cx="748893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Like translating a whole book before anyone reads a single page.</a:t>
            </a:r>
          </a:p>
        </p:txBody>
      </p:sp>
      <p:grpSp>
        <p:nvGrpSpPr>
          <p:cNvPr name="Group 17" id="17"/>
          <p:cNvGrpSpPr/>
          <p:nvPr/>
        </p:nvGrpSpPr>
        <p:grpSpPr>
          <a:xfrm rot="0">
            <a:off x="8974455" y="2322195"/>
            <a:ext cx="8111490" cy="2693670"/>
            <a:chOff x="0" y="0"/>
            <a:chExt cx="10815320" cy="3591560"/>
          </a:xfrm>
        </p:grpSpPr>
        <p:sp>
          <p:nvSpPr>
            <p:cNvPr name="Freeform 18" id="18"/>
            <p:cNvSpPr/>
            <p:nvPr/>
          </p:nvSpPr>
          <p:spPr>
            <a:xfrm flipH="false" flipV="false" rot="0">
              <a:off x="0" y="0"/>
              <a:ext cx="10815320" cy="3591560"/>
            </a:xfrm>
            <a:custGeom>
              <a:avLst/>
              <a:gdLst/>
              <a:ahLst/>
              <a:cxnLst/>
              <a:rect r="r" b="b" t="t" l="l"/>
              <a:pathLst>
                <a:path h="3591560" w="10815320">
                  <a:moveTo>
                    <a:pt x="0" y="184150"/>
                  </a:moveTo>
                  <a:cubicBezTo>
                    <a:pt x="0" y="82423"/>
                    <a:pt x="82423" y="0"/>
                    <a:pt x="184150" y="0"/>
                  </a:cubicBezTo>
                  <a:lnTo>
                    <a:pt x="10631170" y="0"/>
                  </a:lnTo>
                  <a:cubicBezTo>
                    <a:pt x="10732897" y="0"/>
                    <a:pt x="10815320" y="82423"/>
                    <a:pt x="10815320" y="184150"/>
                  </a:cubicBezTo>
                  <a:lnTo>
                    <a:pt x="10815320" y="3407410"/>
                  </a:lnTo>
                  <a:cubicBezTo>
                    <a:pt x="10815320" y="3509137"/>
                    <a:pt x="10732897" y="3591560"/>
                    <a:pt x="10631170" y="3591560"/>
                  </a:cubicBezTo>
                  <a:lnTo>
                    <a:pt x="184150" y="3591560"/>
                  </a:lnTo>
                  <a:cubicBezTo>
                    <a:pt x="82423" y="3591560"/>
                    <a:pt x="0" y="3509137"/>
                    <a:pt x="0" y="3407410"/>
                  </a:cubicBezTo>
                  <a:close/>
                </a:path>
              </a:pathLst>
            </a:custGeom>
            <a:solidFill>
              <a:srgbClr val="FFFFFF"/>
            </a:solidFill>
            <a:ln w="19050" cap="sq">
              <a:solidFill>
                <a:srgbClr val="ECEEF7"/>
              </a:solidFill>
              <a:prstDash val="solid"/>
              <a:miter/>
            </a:ln>
          </p:spPr>
        </p:sp>
      </p:grpSp>
      <p:grpSp>
        <p:nvGrpSpPr>
          <p:cNvPr name="Group 19" id="19"/>
          <p:cNvGrpSpPr/>
          <p:nvPr/>
        </p:nvGrpSpPr>
        <p:grpSpPr>
          <a:xfrm rot="0">
            <a:off x="9285732" y="2606040"/>
            <a:ext cx="685800" cy="192024"/>
            <a:chOff x="0" y="0"/>
            <a:chExt cx="914400" cy="256032"/>
          </a:xfrm>
        </p:grpSpPr>
        <p:sp>
          <p:nvSpPr>
            <p:cNvPr name="Freeform 20" id="20"/>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FB84C"/>
            </a:solidFill>
          </p:spPr>
        </p:sp>
      </p:grpSp>
      <p:grpSp>
        <p:nvGrpSpPr>
          <p:cNvPr name="Group 21" id="21"/>
          <p:cNvGrpSpPr/>
          <p:nvPr/>
        </p:nvGrpSpPr>
        <p:grpSpPr>
          <a:xfrm rot="0">
            <a:off x="9285732" y="2825496"/>
            <a:ext cx="7488936" cy="493776"/>
            <a:chOff x="0" y="0"/>
            <a:chExt cx="9985248" cy="658368"/>
          </a:xfrm>
        </p:grpSpPr>
        <p:sp>
          <p:nvSpPr>
            <p:cNvPr name="Freeform 22" id="22"/>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23" id="23"/>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INTERPRETER</a:t>
              </a:r>
            </a:p>
          </p:txBody>
        </p:sp>
      </p:grpSp>
      <p:sp>
        <p:nvSpPr>
          <p:cNvPr name="TextBox 24" id="24"/>
          <p:cNvSpPr txBox="true"/>
          <p:nvPr/>
        </p:nvSpPr>
        <p:spPr>
          <a:xfrm rot="0">
            <a:off x="9285732" y="3297936"/>
            <a:ext cx="7488936" cy="1379220"/>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t>
            </a:r>
            <a:r>
              <a:rPr lang="en-US" sz="2100">
                <a:solidFill>
                  <a:srgbClr val="1B1F3B"/>
                </a:solidFill>
                <a:latin typeface="Calibri (MS)"/>
                <a:ea typeface="Calibri (MS)"/>
                <a:cs typeface="Calibri (MS)"/>
                <a:sym typeface="Calibri (MS)"/>
              </a:rPr>
              <a:t>A program that translates and executes source code line by line, as the program runs.</a:t>
            </a:r>
          </a:p>
        </p:txBody>
      </p:sp>
      <p:sp>
        <p:nvSpPr>
          <p:cNvPr name="TextBox 25" id="25"/>
          <p:cNvSpPr txBox="true"/>
          <p:nvPr/>
        </p:nvSpPr>
        <p:spPr>
          <a:xfrm rot="0">
            <a:off x="9285732" y="4015359"/>
            <a:ext cx="748893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Like a live interpreter translating a speech sentence by sentence, in real time.</a:t>
            </a:r>
          </a:p>
        </p:txBody>
      </p:sp>
      <p:grpSp>
        <p:nvGrpSpPr>
          <p:cNvPr name="Group 26" id="26"/>
          <p:cNvGrpSpPr/>
          <p:nvPr/>
        </p:nvGrpSpPr>
        <p:grpSpPr>
          <a:xfrm rot="0">
            <a:off x="822960" y="5349240"/>
            <a:ext cx="5486400" cy="354206"/>
            <a:chOff x="0" y="0"/>
            <a:chExt cx="7315200" cy="472275"/>
          </a:xfrm>
        </p:grpSpPr>
        <p:sp>
          <p:nvSpPr>
            <p:cNvPr name="Freeform 27" id="27"/>
            <p:cNvSpPr/>
            <p:nvPr/>
          </p:nvSpPr>
          <p:spPr>
            <a:xfrm flipH="false" flipV="false" rot="0">
              <a:off x="0" y="0"/>
              <a:ext cx="7315200" cy="472275"/>
            </a:xfrm>
            <a:custGeom>
              <a:avLst/>
              <a:gdLst/>
              <a:ahLst/>
              <a:cxnLst/>
              <a:rect r="r" b="b" t="t" l="l"/>
              <a:pathLst>
                <a:path h="472275" w="7315200">
                  <a:moveTo>
                    <a:pt x="0" y="0"/>
                  </a:moveTo>
                  <a:lnTo>
                    <a:pt x="7315200" y="0"/>
                  </a:lnTo>
                  <a:lnTo>
                    <a:pt x="7315200" y="472275"/>
                  </a:lnTo>
                  <a:lnTo>
                    <a:pt x="0" y="472275"/>
                  </a:lnTo>
                  <a:close/>
                </a:path>
              </a:pathLst>
            </a:custGeom>
            <a:blipFill>
              <a:blip r:embed="rId3">
                <a:alphaModFix amt="0"/>
              </a:blip>
              <a:stretch>
                <a:fillRect l="0" t="-253405" r="0" b="-250213"/>
              </a:stretch>
            </a:blipFill>
          </p:spPr>
        </p:sp>
        <p:sp>
          <p:nvSpPr>
            <p:cNvPr name="TextBox 28" id="28"/>
            <p:cNvSpPr txBox="true"/>
            <p:nvPr/>
          </p:nvSpPr>
          <p:spPr>
            <a:xfrm>
              <a:off x="0" y="-38100"/>
              <a:ext cx="7315200" cy="510375"/>
            </a:xfrm>
            <a:prstGeom prst="rect">
              <a:avLst/>
            </a:prstGeom>
          </p:spPr>
          <p:txBody>
            <a:bodyPr anchor="ctr" rtlCol="false" tIns="0" lIns="0" bIns="0" rIns="0"/>
            <a:lstStyle/>
            <a:p>
              <a:pPr algn="l">
                <a:lnSpc>
                  <a:spcPts val="2129"/>
                </a:lnSpc>
              </a:pPr>
              <a:r>
                <a:rPr lang="en-US" b="true" sz="1774">
                  <a:solidFill>
                    <a:srgbClr val="000000"/>
                  </a:solidFill>
                  <a:latin typeface="Calibri (MS) Bold"/>
                  <a:ea typeface="Calibri (MS) Bold"/>
                  <a:cs typeface="Calibri (MS) Bold"/>
                  <a:sym typeface="Calibri (MS) Bold"/>
                </a:rPr>
                <a:t>Compiler path</a:t>
              </a:r>
            </a:p>
          </p:txBody>
        </p:sp>
      </p:grpSp>
      <p:grpSp>
        <p:nvGrpSpPr>
          <p:cNvPr name="Group 29" id="29"/>
          <p:cNvGrpSpPr/>
          <p:nvPr/>
        </p:nvGrpSpPr>
        <p:grpSpPr>
          <a:xfrm rot="0">
            <a:off x="822960" y="5760720"/>
            <a:ext cx="2029968" cy="1097280"/>
            <a:chOff x="0" y="0"/>
            <a:chExt cx="2706624" cy="1463040"/>
          </a:xfrm>
        </p:grpSpPr>
        <p:sp>
          <p:nvSpPr>
            <p:cNvPr name="Freeform 30" id="30"/>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ECEEF7"/>
            </a:solidFill>
          </p:spPr>
        </p:sp>
      </p:grpSp>
      <p:grpSp>
        <p:nvGrpSpPr>
          <p:cNvPr name="Group 31" id="31"/>
          <p:cNvGrpSpPr/>
          <p:nvPr/>
        </p:nvGrpSpPr>
        <p:grpSpPr>
          <a:xfrm rot="0">
            <a:off x="822960" y="5760720"/>
            <a:ext cx="2029968" cy="1097280"/>
            <a:chOff x="0" y="0"/>
            <a:chExt cx="2706624" cy="1463040"/>
          </a:xfrm>
        </p:grpSpPr>
        <p:sp>
          <p:nvSpPr>
            <p:cNvPr name="Freeform 32" id="32"/>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33" id="33"/>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1B1F3B"/>
                  </a:solidFill>
                  <a:latin typeface="Calibri (MS) Bold"/>
                  <a:ea typeface="Calibri (MS) Bold"/>
                  <a:cs typeface="Calibri (MS) Bold"/>
                  <a:sym typeface="Calibri (MS) Bold"/>
                </a:rPr>
                <a:t>Source</a:t>
              </a:r>
            </a:p>
            <a:p>
              <a:pPr algn="ctr">
                <a:lnSpc>
                  <a:spcPts val="1889"/>
                </a:lnSpc>
              </a:pPr>
              <a:r>
                <a:rPr lang="en-US" sz="1500" b="true">
                  <a:solidFill>
                    <a:srgbClr val="1B1F3B"/>
                  </a:solidFill>
                  <a:latin typeface="Calibri (MS) Bold"/>
                  <a:ea typeface="Calibri (MS) Bold"/>
                  <a:cs typeface="Calibri (MS) Bold"/>
                  <a:sym typeface="Calibri (MS) Bold"/>
                </a:rPr>
                <a:t>Code</a:t>
              </a:r>
            </a:p>
          </p:txBody>
        </p:sp>
      </p:grpSp>
      <p:grpSp>
        <p:nvGrpSpPr>
          <p:cNvPr name="Group 34" id="34"/>
          <p:cNvGrpSpPr/>
          <p:nvPr/>
        </p:nvGrpSpPr>
        <p:grpSpPr>
          <a:xfrm rot="0">
            <a:off x="2852928" y="5760720"/>
            <a:ext cx="205740" cy="1097280"/>
            <a:chOff x="0" y="0"/>
            <a:chExt cx="274320" cy="1463040"/>
          </a:xfrm>
        </p:grpSpPr>
        <p:sp>
          <p:nvSpPr>
            <p:cNvPr name="Freeform 35" id="35"/>
            <p:cNvSpPr/>
            <p:nvPr/>
          </p:nvSpPr>
          <p:spPr>
            <a:xfrm flipH="false" flipV="false" rot="0">
              <a:off x="0" y="0"/>
              <a:ext cx="274320" cy="1463040"/>
            </a:xfrm>
            <a:custGeom>
              <a:avLst/>
              <a:gdLst/>
              <a:ahLst/>
              <a:cxnLst/>
              <a:rect r="r" b="b" t="t" l="l"/>
              <a:pathLst>
                <a:path h="1463040" w="274320">
                  <a:moveTo>
                    <a:pt x="0" y="0"/>
                  </a:moveTo>
                  <a:lnTo>
                    <a:pt x="274320" y="0"/>
                  </a:lnTo>
                  <a:lnTo>
                    <a:pt x="274320" y="1463040"/>
                  </a:lnTo>
                  <a:lnTo>
                    <a:pt x="0" y="1463040"/>
                  </a:lnTo>
                  <a:close/>
                </a:path>
              </a:pathLst>
            </a:custGeom>
            <a:blipFill>
              <a:blip r:embed="rId3">
                <a:alphaModFix amt="0"/>
              </a:blip>
              <a:stretch>
                <a:fillRect l="-634285" t="0" r="-634285" b="0"/>
              </a:stretch>
            </a:blipFill>
          </p:spPr>
        </p:sp>
        <p:sp>
          <p:nvSpPr>
            <p:cNvPr name="TextBox 36" id="36"/>
            <p:cNvSpPr txBox="true"/>
            <p:nvPr/>
          </p:nvSpPr>
          <p:spPr>
            <a:xfrm>
              <a:off x="0" y="-47625"/>
              <a:ext cx="274320" cy="151066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a:t>
              </a:r>
            </a:p>
          </p:txBody>
        </p:sp>
      </p:grpSp>
      <p:grpSp>
        <p:nvGrpSpPr>
          <p:cNvPr name="Group 37" id="37"/>
          <p:cNvGrpSpPr/>
          <p:nvPr/>
        </p:nvGrpSpPr>
        <p:grpSpPr>
          <a:xfrm rot="0">
            <a:off x="3058668" y="5760720"/>
            <a:ext cx="2029968" cy="1097280"/>
            <a:chOff x="0" y="0"/>
            <a:chExt cx="2706624" cy="1463040"/>
          </a:xfrm>
        </p:grpSpPr>
        <p:sp>
          <p:nvSpPr>
            <p:cNvPr name="Freeform 38" id="38"/>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4FB6B0"/>
            </a:solidFill>
          </p:spPr>
        </p:sp>
      </p:grpSp>
      <p:grpSp>
        <p:nvGrpSpPr>
          <p:cNvPr name="Group 39" id="39"/>
          <p:cNvGrpSpPr/>
          <p:nvPr/>
        </p:nvGrpSpPr>
        <p:grpSpPr>
          <a:xfrm rot="0">
            <a:off x="3058668" y="5760720"/>
            <a:ext cx="2029968" cy="1097280"/>
            <a:chOff x="0" y="0"/>
            <a:chExt cx="2706624" cy="1463040"/>
          </a:xfrm>
        </p:grpSpPr>
        <p:sp>
          <p:nvSpPr>
            <p:cNvPr name="Freeform 40" id="40"/>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41" id="41"/>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1B1F3B"/>
                  </a:solidFill>
                  <a:latin typeface="Calibri (MS) Bold"/>
                  <a:ea typeface="Calibri (MS) Bold"/>
                  <a:cs typeface="Calibri (MS) Bold"/>
                  <a:sym typeface="Calibri (MS) Bold"/>
                </a:rPr>
                <a:t>Compiler</a:t>
              </a:r>
            </a:p>
          </p:txBody>
        </p:sp>
      </p:grpSp>
      <p:grpSp>
        <p:nvGrpSpPr>
          <p:cNvPr name="Group 42" id="42"/>
          <p:cNvGrpSpPr/>
          <p:nvPr/>
        </p:nvGrpSpPr>
        <p:grpSpPr>
          <a:xfrm rot="0">
            <a:off x="5088636" y="5760720"/>
            <a:ext cx="205740" cy="1097280"/>
            <a:chOff x="0" y="0"/>
            <a:chExt cx="274320" cy="1463040"/>
          </a:xfrm>
        </p:grpSpPr>
        <p:sp>
          <p:nvSpPr>
            <p:cNvPr name="Freeform 43" id="43"/>
            <p:cNvSpPr/>
            <p:nvPr/>
          </p:nvSpPr>
          <p:spPr>
            <a:xfrm flipH="false" flipV="false" rot="0">
              <a:off x="0" y="0"/>
              <a:ext cx="274320" cy="1463040"/>
            </a:xfrm>
            <a:custGeom>
              <a:avLst/>
              <a:gdLst/>
              <a:ahLst/>
              <a:cxnLst/>
              <a:rect r="r" b="b" t="t" l="l"/>
              <a:pathLst>
                <a:path h="1463040" w="274320">
                  <a:moveTo>
                    <a:pt x="0" y="0"/>
                  </a:moveTo>
                  <a:lnTo>
                    <a:pt x="274320" y="0"/>
                  </a:lnTo>
                  <a:lnTo>
                    <a:pt x="274320" y="1463040"/>
                  </a:lnTo>
                  <a:lnTo>
                    <a:pt x="0" y="1463040"/>
                  </a:lnTo>
                  <a:close/>
                </a:path>
              </a:pathLst>
            </a:custGeom>
            <a:blipFill>
              <a:blip r:embed="rId3">
                <a:alphaModFix amt="0"/>
              </a:blip>
              <a:stretch>
                <a:fillRect l="-634285" t="0" r="-634285" b="0"/>
              </a:stretch>
            </a:blipFill>
          </p:spPr>
        </p:sp>
        <p:sp>
          <p:nvSpPr>
            <p:cNvPr name="TextBox 44" id="44"/>
            <p:cNvSpPr txBox="true"/>
            <p:nvPr/>
          </p:nvSpPr>
          <p:spPr>
            <a:xfrm>
              <a:off x="0" y="-47625"/>
              <a:ext cx="274320" cy="151066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a:t>
              </a:r>
            </a:p>
          </p:txBody>
        </p:sp>
      </p:grpSp>
      <p:grpSp>
        <p:nvGrpSpPr>
          <p:cNvPr name="Group 45" id="45"/>
          <p:cNvGrpSpPr/>
          <p:nvPr/>
        </p:nvGrpSpPr>
        <p:grpSpPr>
          <a:xfrm rot="0">
            <a:off x="5294376" y="5760720"/>
            <a:ext cx="2029968" cy="1097280"/>
            <a:chOff x="0" y="0"/>
            <a:chExt cx="2706624" cy="1463040"/>
          </a:xfrm>
        </p:grpSpPr>
        <p:sp>
          <p:nvSpPr>
            <p:cNvPr name="Freeform 46" id="46"/>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ECEEF7"/>
            </a:solidFill>
          </p:spPr>
        </p:sp>
      </p:grpSp>
      <p:grpSp>
        <p:nvGrpSpPr>
          <p:cNvPr name="Group 47" id="47"/>
          <p:cNvGrpSpPr/>
          <p:nvPr/>
        </p:nvGrpSpPr>
        <p:grpSpPr>
          <a:xfrm rot="0">
            <a:off x="5294376" y="5760720"/>
            <a:ext cx="2029968" cy="1097280"/>
            <a:chOff x="0" y="0"/>
            <a:chExt cx="2706624" cy="1463040"/>
          </a:xfrm>
        </p:grpSpPr>
        <p:sp>
          <p:nvSpPr>
            <p:cNvPr name="Freeform 48" id="48"/>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49" id="49"/>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1B1F3B"/>
                  </a:solidFill>
                  <a:latin typeface="Calibri (MS) Bold"/>
                  <a:ea typeface="Calibri (MS) Bold"/>
                  <a:cs typeface="Calibri (MS) Bold"/>
                  <a:sym typeface="Calibri (MS) Bold"/>
                </a:rPr>
                <a:t>Machine</a:t>
              </a:r>
            </a:p>
            <a:p>
              <a:pPr algn="ctr">
                <a:lnSpc>
                  <a:spcPts val="1889"/>
                </a:lnSpc>
              </a:pPr>
              <a:r>
                <a:rPr lang="en-US" sz="1500" b="true">
                  <a:solidFill>
                    <a:srgbClr val="1B1F3B"/>
                  </a:solidFill>
                  <a:latin typeface="Calibri (MS) Bold"/>
                  <a:ea typeface="Calibri (MS) Bold"/>
                  <a:cs typeface="Calibri (MS) Bold"/>
                  <a:sym typeface="Calibri (MS) Bold"/>
                </a:rPr>
                <a:t>Code</a:t>
              </a:r>
            </a:p>
          </p:txBody>
        </p:sp>
      </p:grpSp>
      <p:grpSp>
        <p:nvGrpSpPr>
          <p:cNvPr name="Group 50" id="50"/>
          <p:cNvGrpSpPr/>
          <p:nvPr/>
        </p:nvGrpSpPr>
        <p:grpSpPr>
          <a:xfrm rot="0">
            <a:off x="7324344" y="5760720"/>
            <a:ext cx="205740" cy="1097280"/>
            <a:chOff x="0" y="0"/>
            <a:chExt cx="274320" cy="1463040"/>
          </a:xfrm>
        </p:grpSpPr>
        <p:sp>
          <p:nvSpPr>
            <p:cNvPr name="Freeform 51" id="51"/>
            <p:cNvSpPr/>
            <p:nvPr/>
          </p:nvSpPr>
          <p:spPr>
            <a:xfrm flipH="false" flipV="false" rot="0">
              <a:off x="0" y="0"/>
              <a:ext cx="274320" cy="1463040"/>
            </a:xfrm>
            <a:custGeom>
              <a:avLst/>
              <a:gdLst/>
              <a:ahLst/>
              <a:cxnLst/>
              <a:rect r="r" b="b" t="t" l="l"/>
              <a:pathLst>
                <a:path h="1463040" w="274320">
                  <a:moveTo>
                    <a:pt x="0" y="0"/>
                  </a:moveTo>
                  <a:lnTo>
                    <a:pt x="274320" y="0"/>
                  </a:lnTo>
                  <a:lnTo>
                    <a:pt x="274320" y="1463040"/>
                  </a:lnTo>
                  <a:lnTo>
                    <a:pt x="0" y="1463040"/>
                  </a:lnTo>
                  <a:close/>
                </a:path>
              </a:pathLst>
            </a:custGeom>
            <a:blipFill>
              <a:blip r:embed="rId3">
                <a:alphaModFix amt="0"/>
              </a:blip>
              <a:stretch>
                <a:fillRect l="-634285" t="0" r="-634285" b="0"/>
              </a:stretch>
            </a:blipFill>
          </p:spPr>
        </p:sp>
        <p:sp>
          <p:nvSpPr>
            <p:cNvPr name="TextBox 52" id="52"/>
            <p:cNvSpPr txBox="true"/>
            <p:nvPr/>
          </p:nvSpPr>
          <p:spPr>
            <a:xfrm>
              <a:off x="0" y="-47625"/>
              <a:ext cx="274320" cy="151066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a:t>
              </a:r>
            </a:p>
          </p:txBody>
        </p:sp>
      </p:grpSp>
      <p:grpSp>
        <p:nvGrpSpPr>
          <p:cNvPr name="Group 53" id="53"/>
          <p:cNvGrpSpPr/>
          <p:nvPr/>
        </p:nvGrpSpPr>
        <p:grpSpPr>
          <a:xfrm rot="0">
            <a:off x="7530084" y="5760720"/>
            <a:ext cx="2029968" cy="1097280"/>
            <a:chOff x="0" y="0"/>
            <a:chExt cx="2706624" cy="1463040"/>
          </a:xfrm>
        </p:grpSpPr>
        <p:sp>
          <p:nvSpPr>
            <p:cNvPr name="Freeform 54" id="54"/>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1B1F3B"/>
            </a:solidFill>
          </p:spPr>
        </p:sp>
      </p:grpSp>
      <p:grpSp>
        <p:nvGrpSpPr>
          <p:cNvPr name="Group 55" id="55"/>
          <p:cNvGrpSpPr/>
          <p:nvPr/>
        </p:nvGrpSpPr>
        <p:grpSpPr>
          <a:xfrm rot="0">
            <a:off x="7530084" y="5760720"/>
            <a:ext cx="2029968" cy="1097280"/>
            <a:chOff x="0" y="0"/>
            <a:chExt cx="2706624" cy="1463040"/>
          </a:xfrm>
        </p:grpSpPr>
        <p:sp>
          <p:nvSpPr>
            <p:cNvPr name="Freeform 56" id="56"/>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57" id="57"/>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FFFFFF"/>
                  </a:solidFill>
                  <a:latin typeface="Calibri (MS) Bold"/>
                  <a:ea typeface="Calibri (MS) Bold"/>
                  <a:cs typeface="Calibri (MS) Bold"/>
                  <a:sym typeface="Calibri (MS) Bold"/>
                </a:rPr>
                <a:t>Execution</a:t>
              </a:r>
            </a:p>
          </p:txBody>
        </p:sp>
      </p:grpSp>
      <p:grpSp>
        <p:nvGrpSpPr>
          <p:cNvPr name="Group 58" id="58"/>
          <p:cNvGrpSpPr/>
          <p:nvPr/>
        </p:nvGrpSpPr>
        <p:grpSpPr>
          <a:xfrm rot="0">
            <a:off x="822960" y="7269480"/>
            <a:ext cx="5486400" cy="354206"/>
            <a:chOff x="0" y="0"/>
            <a:chExt cx="7315200" cy="472275"/>
          </a:xfrm>
        </p:grpSpPr>
        <p:sp>
          <p:nvSpPr>
            <p:cNvPr name="Freeform 59" id="59"/>
            <p:cNvSpPr/>
            <p:nvPr/>
          </p:nvSpPr>
          <p:spPr>
            <a:xfrm flipH="false" flipV="false" rot="0">
              <a:off x="0" y="0"/>
              <a:ext cx="7315200" cy="472275"/>
            </a:xfrm>
            <a:custGeom>
              <a:avLst/>
              <a:gdLst/>
              <a:ahLst/>
              <a:cxnLst/>
              <a:rect r="r" b="b" t="t" l="l"/>
              <a:pathLst>
                <a:path h="472275" w="7315200">
                  <a:moveTo>
                    <a:pt x="0" y="0"/>
                  </a:moveTo>
                  <a:lnTo>
                    <a:pt x="7315200" y="0"/>
                  </a:lnTo>
                  <a:lnTo>
                    <a:pt x="7315200" y="472275"/>
                  </a:lnTo>
                  <a:lnTo>
                    <a:pt x="0" y="472275"/>
                  </a:lnTo>
                  <a:close/>
                </a:path>
              </a:pathLst>
            </a:custGeom>
            <a:blipFill>
              <a:blip r:embed="rId3">
                <a:alphaModFix amt="0"/>
              </a:blip>
              <a:stretch>
                <a:fillRect l="0" t="-253405" r="0" b="-250213"/>
              </a:stretch>
            </a:blipFill>
          </p:spPr>
        </p:sp>
        <p:sp>
          <p:nvSpPr>
            <p:cNvPr name="TextBox 60" id="60"/>
            <p:cNvSpPr txBox="true"/>
            <p:nvPr/>
          </p:nvSpPr>
          <p:spPr>
            <a:xfrm>
              <a:off x="0" y="-38100"/>
              <a:ext cx="7315200" cy="510375"/>
            </a:xfrm>
            <a:prstGeom prst="rect">
              <a:avLst/>
            </a:prstGeom>
          </p:spPr>
          <p:txBody>
            <a:bodyPr anchor="ctr" rtlCol="false" tIns="0" lIns="0" bIns="0" rIns="0"/>
            <a:lstStyle/>
            <a:p>
              <a:pPr algn="l">
                <a:lnSpc>
                  <a:spcPts val="2129"/>
                </a:lnSpc>
              </a:pPr>
              <a:r>
                <a:rPr lang="en-US" b="true" sz="1774">
                  <a:solidFill>
                    <a:srgbClr val="000000"/>
                  </a:solidFill>
                  <a:latin typeface="Calibri (MS) Bold"/>
                  <a:ea typeface="Calibri (MS) Bold"/>
                  <a:cs typeface="Calibri (MS) Bold"/>
                  <a:sym typeface="Calibri (MS) Bold"/>
                </a:rPr>
                <a:t>Interpreter path (Python)</a:t>
              </a:r>
            </a:p>
          </p:txBody>
        </p:sp>
      </p:grpSp>
      <p:grpSp>
        <p:nvGrpSpPr>
          <p:cNvPr name="Group 61" id="61"/>
          <p:cNvGrpSpPr/>
          <p:nvPr/>
        </p:nvGrpSpPr>
        <p:grpSpPr>
          <a:xfrm rot="0">
            <a:off x="822960" y="7680960"/>
            <a:ext cx="2029968" cy="1097280"/>
            <a:chOff x="0" y="0"/>
            <a:chExt cx="2706624" cy="1463040"/>
          </a:xfrm>
        </p:grpSpPr>
        <p:sp>
          <p:nvSpPr>
            <p:cNvPr name="Freeform 62" id="62"/>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ECEEF7"/>
            </a:solidFill>
          </p:spPr>
        </p:sp>
      </p:grpSp>
      <p:grpSp>
        <p:nvGrpSpPr>
          <p:cNvPr name="Group 63" id="63"/>
          <p:cNvGrpSpPr/>
          <p:nvPr/>
        </p:nvGrpSpPr>
        <p:grpSpPr>
          <a:xfrm rot="0">
            <a:off x="822960" y="7680960"/>
            <a:ext cx="2029968" cy="1097280"/>
            <a:chOff x="0" y="0"/>
            <a:chExt cx="2706624" cy="1463040"/>
          </a:xfrm>
        </p:grpSpPr>
        <p:sp>
          <p:nvSpPr>
            <p:cNvPr name="Freeform 64" id="64"/>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65" id="65"/>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1B1F3B"/>
                  </a:solidFill>
                  <a:latin typeface="Calibri (MS) Bold"/>
                  <a:ea typeface="Calibri (MS) Bold"/>
                  <a:cs typeface="Calibri (MS) Bold"/>
                  <a:sym typeface="Calibri (MS) Bold"/>
                </a:rPr>
                <a:t>Source</a:t>
              </a:r>
            </a:p>
            <a:p>
              <a:pPr algn="ctr">
                <a:lnSpc>
                  <a:spcPts val="1889"/>
                </a:lnSpc>
              </a:pPr>
              <a:r>
                <a:rPr lang="en-US" sz="1500" b="true">
                  <a:solidFill>
                    <a:srgbClr val="1B1F3B"/>
                  </a:solidFill>
                  <a:latin typeface="Calibri (MS) Bold"/>
                  <a:ea typeface="Calibri (MS) Bold"/>
                  <a:cs typeface="Calibri (MS) Bold"/>
                  <a:sym typeface="Calibri (MS) Bold"/>
                </a:rPr>
                <a:t>Code</a:t>
              </a:r>
            </a:p>
          </p:txBody>
        </p:sp>
      </p:grpSp>
      <p:grpSp>
        <p:nvGrpSpPr>
          <p:cNvPr name="Group 66" id="66"/>
          <p:cNvGrpSpPr/>
          <p:nvPr/>
        </p:nvGrpSpPr>
        <p:grpSpPr>
          <a:xfrm rot="0">
            <a:off x="2852928" y="7680960"/>
            <a:ext cx="205740" cy="1097280"/>
            <a:chOff x="0" y="0"/>
            <a:chExt cx="274320" cy="1463040"/>
          </a:xfrm>
        </p:grpSpPr>
        <p:sp>
          <p:nvSpPr>
            <p:cNvPr name="Freeform 67" id="67"/>
            <p:cNvSpPr/>
            <p:nvPr/>
          </p:nvSpPr>
          <p:spPr>
            <a:xfrm flipH="false" flipV="false" rot="0">
              <a:off x="0" y="0"/>
              <a:ext cx="274320" cy="1463040"/>
            </a:xfrm>
            <a:custGeom>
              <a:avLst/>
              <a:gdLst/>
              <a:ahLst/>
              <a:cxnLst/>
              <a:rect r="r" b="b" t="t" l="l"/>
              <a:pathLst>
                <a:path h="1463040" w="274320">
                  <a:moveTo>
                    <a:pt x="0" y="0"/>
                  </a:moveTo>
                  <a:lnTo>
                    <a:pt x="274320" y="0"/>
                  </a:lnTo>
                  <a:lnTo>
                    <a:pt x="274320" y="1463040"/>
                  </a:lnTo>
                  <a:lnTo>
                    <a:pt x="0" y="1463040"/>
                  </a:lnTo>
                  <a:close/>
                </a:path>
              </a:pathLst>
            </a:custGeom>
            <a:blipFill>
              <a:blip r:embed="rId3">
                <a:alphaModFix amt="0"/>
              </a:blip>
              <a:stretch>
                <a:fillRect l="-634285" t="0" r="-634285" b="0"/>
              </a:stretch>
            </a:blipFill>
          </p:spPr>
        </p:sp>
        <p:sp>
          <p:nvSpPr>
            <p:cNvPr name="TextBox 68" id="68"/>
            <p:cNvSpPr txBox="true"/>
            <p:nvPr/>
          </p:nvSpPr>
          <p:spPr>
            <a:xfrm>
              <a:off x="0" y="-47625"/>
              <a:ext cx="274320" cy="151066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a:t>
              </a:r>
            </a:p>
          </p:txBody>
        </p:sp>
      </p:grpSp>
      <p:grpSp>
        <p:nvGrpSpPr>
          <p:cNvPr name="Group 69" id="69"/>
          <p:cNvGrpSpPr/>
          <p:nvPr/>
        </p:nvGrpSpPr>
        <p:grpSpPr>
          <a:xfrm rot="0">
            <a:off x="3058668" y="7680960"/>
            <a:ext cx="2029968" cy="1097280"/>
            <a:chOff x="0" y="0"/>
            <a:chExt cx="2706624" cy="1463040"/>
          </a:xfrm>
        </p:grpSpPr>
        <p:sp>
          <p:nvSpPr>
            <p:cNvPr name="Freeform 70" id="70"/>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FFB84C"/>
            </a:solidFill>
          </p:spPr>
        </p:sp>
      </p:grpSp>
      <p:grpSp>
        <p:nvGrpSpPr>
          <p:cNvPr name="Group 71" id="71"/>
          <p:cNvGrpSpPr/>
          <p:nvPr/>
        </p:nvGrpSpPr>
        <p:grpSpPr>
          <a:xfrm rot="0">
            <a:off x="3058668" y="7680960"/>
            <a:ext cx="2029968" cy="1097280"/>
            <a:chOff x="0" y="0"/>
            <a:chExt cx="2706624" cy="1463040"/>
          </a:xfrm>
        </p:grpSpPr>
        <p:sp>
          <p:nvSpPr>
            <p:cNvPr name="Freeform 72" id="72"/>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73" id="73"/>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1B1F3B"/>
                  </a:solidFill>
                  <a:latin typeface="Calibri (MS) Bold"/>
                  <a:ea typeface="Calibri (MS) Bold"/>
                  <a:cs typeface="Calibri (MS) Bold"/>
                  <a:sym typeface="Calibri (MS) Bold"/>
                </a:rPr>
                <a:t>Interpreter</a:t>
              </a:r>
            </a:p>
          </p:txBody>
        </p:sp>
      </p:grpSp>
      <p:grpSp>
        <p:nvGrpSpPr>
          <p:cNvPr name="Group 74" id="74"/>
          <p:cNvGrpSpPr/>
          <p:nvPr/>
        </p:nvGrpSpPr>
        <p:grpSpPr>
          <a:xfrm rot="0">
            <a:off x="5088636" y="7680960"/>
            <a:ext cx="205740" cy="1097280"/>
            <a:chOff x="0" y="0"/>
            <a:chExt cx="274320" cy="1463040"/>
          </a:xfrm>
        </p:grpSpPr>
        <p:sp>
          <p:nvSpPr>
            <p:cNvPr name="Freeform 75" id="75"/>
            <p:cNvSpPr/>
            <p:nvPr/>
          </p:nvSpPr>
          <p:spPr>
            <a:xfrm flipH="false" flipV="false" rot="0">
              <a:off x="0" y="0"/>
              <a:ext cx="274320" cy="1463040"/>
            </a:xfrm>
            <a:custGeom>
              <a:avLst/>
              <a:gdLst/>
              <a:ahLst/>
              <a:cxnLst/>
              <a:rect r="r" b="b" t="t" l="l"/>
              <a:pathLst>
                <a:path h="1463040" w="274320">
                  <a:moveTo>
                    <a:pt x="0" y="0"/>
                  </a:moveTo>
                  <a:lnTo>
                    <a:pt x="274320" y="0"/>
                  </a:lnTo>
                  <a:lnTo>
                    <a:pt x="274320" y="1463040"/>
                  </a:lnTo>
                  <a:lnTo>
                    <a:pt x="0" y="1463040"/>
                  </a:lnTo>
                  <a:close/>
                </a:path>
              </a:pathLst>
            </a:custGeom>
            <a:blipFill>
              <a:blip r:embed="rId3">
                <a:alphaModFix amt="0"/>
              </a:blip>
              <a:stretch>
                <a:fillRect l="-634285" t="0" r="-634285" b="0"/>
              </a:stretch>
            </a:blipFill>
          </p:spPr>
        </p:sp>
        <p:sp>
          <p:nvSpPr>
            <p:cNvPr name="TextBox 76" id="76"/>
            <p:cNvSpPr txBox="true"/>
            <p:nvPr/>
          </p:nvSpPr>
          <p:spPr>
            <a:xfrm>
              <a:off x="0" y="-47625"/>
              <a:ext cx="274320" cy="1510665"/>
            </a:xfrm>
            <a:prstGeom prst="rect">
              <a:avLst/>
            </a:prstGeom>
          </p:spPr>
          <p:txBody>
            <a:bodyPr anchor="ctr" rtlCol="false" tIns="0" lIns="0" bIns="0" rIns="0"/>
            <a:lstStyle/>
            <a:p>
              <a:pPr algn="ctr">
                <a:lnSpc>
                  <a:spcPts val="2340"/>
                </a:lnSpc>
              </a:pPr>
              <a:r>
                <a:rPr lang="en-US" sz="1950" b="true">
                  <a:solidFill>
                    <a:srgbClr val="1B1F3B"/>
                  </a:solidFill>
                  <a:latin typeface="Calibri (MS) Bold"/>
                  <a:ea typeface="Calibri (MS) Bold"/>
                  <a:cs typeface="Calibri (MS) Bold"/>
                  <a:sym typeface="Calibri (MS) Bold"/>
                </a:rPr>
                <a:t>→</a:t>
              </a:r>
            </a:p>
          </p:txBody>
        </p:sp>
      </p:grpSp>
      <p:grpSp>
        <p:nvGrpSpPr>
          <p:cNvPr name="Group 77" id="77"/>
          <p:cNvGrpSpPr/>
          <p:nvPr/>
        </p:nvGrpSpPr>
        <p:grpSpPr>
          <a:xfrm rot="0">
            <a:off x="5294376" y="7680960"/>
            <a:ext cx="2029968" cy="1097280"/>
            <a:chOff x="0" y="0"/>
            <a:chExt cx="2706624" cy="1463040"/>
          </a:xfrm>
        </p:grpSpPr>
        <p:sp>
          <p:nvSpPr>
            <p:cNvPr name="Freeform 78" id="78"/>
            <p:cNvSpPr/>
            <p:nvPr/>
          </p:nvSpPr>
          <p:spPr>
            <a:xfrm flipH="false" flipV="false" rot="0">
              <a:off x="0" y="0"/>
              <a:ext cx="2706624" cy="1463040"/>
            </a:xfrm>
            <a:custGeom>
              <a:avLst/>
              <a:gdLst/>
              <a:ahLst/>
              <a:cxnLst/>
              <a:rect r="r" b="b" t="t" l="l"/>
              <a:pathLst>
                <a:path h="1463040" w="2706624">
                  <a:moveTo>
                    <a:pt x="0" y="146304"/>
                  </a:moveTo>
                  <a:cubicBezTo>
                    <a:pt x="0" y="65532"/>
                    <a:pt x="65532" y="0"/>
                    <a:pt x="146304" y="0"/>
                  </a:cubicBezTo>
                  <a:lnTo>
                    <a:pt x="2560320" y="0"/>
                  </a:lnTo>
                  <a:cubicBezTo>
                    <a:pt x="2641092" y="0"/>
                    <a:pt x="2706624" y="65532"/>
                    <a:pt x="2706624" y="146304"/>
                  </a:cubicBezTo>
                  <a:lnTo>
                    <a:pt x="2706624" y="1316736"/>
                  </a:lnTo>
                  <a:cubicBezTo>
                    <a:pt x="2706624" y="1397508"/>
                    <a:pt x="2641092" y="1463040"/>
                    <a:pt x="2560320" y="1463040"/>
                  </a:cubicBezTo>
                  <a:lnTo>
                    <a:pt x="146304" y="1463040"/>
                  </a:lnTo>
                  <a:cubicBezTo>
                    <a:pt x="65532" y="1463040"/>
                    <a:pt x="0" y="1397508"/>
                    <a:pt x="0" y="1316736"/>
                  </a:cubicBezTo>
                  <a:close/>
                </a:path>
              </a:pathLst>
            </a:custGeom>
            <a:solidFill>
              <a:srgbClr val="1B1F3B"/>
            </a:solidFill>
          </p:spPr>
        </p:sp>
      </p:grpSp>
      <p:grpSp>
        <p:nvGrpSpPr>
          <p:cNvPr name="Group 79" id="79"/>
          <p:cNvGrpSpPr/>
          <p:nvPr/>
        </p:nvGrpSpPr>
        <p:grpSpPr>
          <a:xfrm rot="0">
            <a:off x="5294376" y="7680960"/>
            <a:ext cx="2029968" cy="1097280"/>
            <a:chOff x="0" y="0"/>
            <a:chExt cx="2706624" cy="1463040"/>
          </a:xfrm>
        </p:grpSpPr>
        <p:sp>
          <p:nvSpPr>
            <p:cNvPr name="Freeform 80" id="80"/>
            <p:cNvSpPr/>
            <p:nvPr/>
          </p:nvSpPr>
          <p:spPr>
            <a:xfrm flipH="false" flipV="false" rot="0">
              <a:off x="0" y="0"/>
              <a:ext cx="2706624" cy="1463040"/>
            </a:xfrm>
            <a:custGeom>
              <a:avLst/>
              <a:gdLst/>
              <a:ahLst/>
              <a:cxnLst/>
              <a:rect r="r" b="b" t="t" l="l"/>
              <a:pathLst>
                <a:path h="1463040" w="2706624">
                  <a:moveTo>
                    <a:pt x="0" y="0"/>
                  </a:moveTo>
                  <a:lnTo>
                    <a:pt x="2706624" y="0"/>
                  </a:lnTo>
                  <a:lnTo>
                    <a:pt x="2706624" y="1463040"/>
                  </a:lnTo>
                  <a:lnTo>
                    <a:pt x="0" y="1463040"/>
                  </a:lnTo>
                  <a:close/>
                </a:path>
              </a:pathLst>
            </a:custGeom>
            <a:blipFill>
              <a:blip r:embed="rId3">
                <a:alphaModFix amt="0"/>
              </a:blip>
              <a:stretch>
                <a:fillRect l="-19353" t="0" r="-19353" b="0"/>
              </a:stretch>
            </a:blipFill>
          </p:spPr>
        </p:sp>
        <p:sp>
          <p:nvSpPr>
            <p:cNvPr name="TextBox 81" id="81"/>
            <p:cNvSpPr txBox="true"/>
            <p:nvPr/>
          </p:nvSpPr>
          <p:spPr>
            <a:xfrm>
              <a:off x="0" y="-38100"/>
              <a:ext cx="2706624" cy="1501140"/>
            </a:xfrm>
            <a:prstGeom prst="rect">
              <a:avLst/>
            </a:prstGeom>
          </p:spPr>
          <p:txBody>
            <a:bodyPr anchor="ctr" rtlCol="false" tIns="0" lIns="0" bIns="0" rIns="0"/>
            <a:lstStyle/>
            <a:p>
              <a:pPr algn="ctr">
                <a:lnSpc>
                  <a:spcPts val="1889"/>
                </a:lnSpc>
              </a:pPr>
              <a:r>
                <a:rPr lang="en-US" sz="1500" b="true">
                  <a:solidFill>
                    <a:srgbClr val="FFFFFF"/>
                  </a:solidFill>
                  <a:latin typeface="Calibri (MS) Bold"/>
                  <a:ea typeface="Calibri (MS) Bold"/>
                  <a:cs typeface="Calibri (MS) Bold"/>
                  <a:sym typeface="Calibri (MS) Bold"/>
                </a:rPr>
                <a:t>Execution</a:t>
              </a:r>
            </a:p>
          </p:txBody>
        </p:sp>
      </p:grpSp>
      <p:grpSp>
        <p:nvGrpSpPr>
          <p:cNvPr name="Group 82" id="82"/>
          <p:cNvGrpSpPr/>
          <p:nvPr/>
        </p:nvGrpSpPr>
        <p:grpSpPr>
          <a:xfrm rot="0">
            <a:off x="10346055" y="5339715"/>
            <a:ext cx="7082790" cy="3448050"/>
            <a:chOff x="0" y="0"/>
            <a:chExt cx="9443720" cy="4597400"/>
          </a:xfrm>
        </p:grpSpPr>
        <p:sp>
          <p:nvSpPr>
            <p:cNvPr name="Freeform 83" id="83"/>
            <p:cNvSpPr/>
            <p:nvPr/>
          </p:nvSpPr>
          <p:spPr>
            <a:xfrm flipH="false" flipV="false" rot="0">
              <a:off x="0" y="0"/>
              <a:ext cx="9443720" cy="4597400"/>
            </a:xfrm>
            <a:custGeom>
              <a:avLst/>
              <a:gdLst/>
              <a:ahLst/>
              <a:cxnLst/>
              <a:rect r="r" b="b" t="t" l="l"/>
              <a:pathLst>
                <a:path h="4597400" w="9443720">
                  <a:moveTo>
                    <a:pt x="0" y="183896"/>
                  </a:moveTo>
                  <a:cubicBezTo>
                    <a:pt x="0" y="82296"/>
                    <a:pt x="82296" y="0"/>
                    <a:pt x="183896" y="0"/>
                  </a:cubicBezTo>
                  <a:lnTo>
                    <a:pt x="9259824" y="0"/>
                  </a:lnTo>
                  <a:cubicBezTo>
                    <a:pt x="9361424" y="0"/>
                    <a:pt x="9443720" y="82296"/>
                    <a:pt x="9443720" y="183896"/>
                  </a:cubicBezTo>
                  <a:lnTo>
                    <a:pt x="9443720" y="4413504"/>
                  </a:lnTo>
                  <a:cubicBezTo>
                    <a:pt x="9443720" y="4515104"/>
                    <a:pt x="9361424" y="4597400"/>
                    <a:pt x="9259824" y="4597400"/>
                  </a:cubicBezTo>
                  <a:lnTo>
                    <a:pt x="183896" y="4597400"/>
                  </a:lnTo>
                  <a:cubicBezTo>
                    <a:pt x="82296" y="4597400"/>
                    <a:pt x="0" y="4515104"/>
                    <a:pt x="0" y="4413504"/>
                  </a:cubicBezTo>
                  <a:close/>
                </a:path>
              </a:pathLst>
            </a:custGeom>
            <a:solidFill>
              <a:srgbClr val="FFFFFF"/>
            </a:solidFill>
            <a:ln w="19050" cap="sq">
              <a:solidFill>
                <a:srgbClr val="ECEEF7"/>
              </a:solidFill>
              <a:prstDash val="solid"/>
              <a:miter/>
            </a:ln>
          </p:spPr>
        </p:sp>
      </p:grpSp>
      <p:grpSp>
        <p:nvGrpSpPr>
          <p:cNvPr name="Group 84" id="84"/>
          <p:cNvGrpSpPr/>
          <p:nvPr/>
        </p:nvGrpSpPr>
        <p:grpSpPr>
          <a:xfrm rot="0">
            <a:off x="10698480" y="5596128"/>
            <a:ext cx="6446520" cy="411480"/>
            <a:chOff x="0" y="0"/>
            <a:chExt cx="8595360" cy="548640"/>
          </a:xfrm>
        </p:grpSpPr>
        <p:sp>
          <p:nvSpPr>
            <p:cNvPr name="Freeform 85" id="85"/>
            <p:cNvSpPr/>
            <p:nvPr/>
          </p:nvSpPr>
          <p:spPr>
            <a:xfrm flipH="false" flipV="false" rot="0">
              <a:off x="0" y="0"/>
              <a:ext cx="8595360" cy="548640"/>
            </a:xfrm>
            <a:custGeom>
              <a:avLst/>
              <a:gdLst/>
              <a:ahLst/>
              <a:cxnLst/>
              <a:rect r="r" b="b" t="t" l="l"/>
              <a:pathLst>
                <a:path h="548640" w="8595360">
                  <a:moveTo>
                    <a:pt x="0" y="0"/>
                  </a:moveTo>
                  <a:lnTo>
                    <a:pt x="8595360" y="0"/>
                  </a:lnTo>
                  <a:lnTo>
                    <a:pt x="8595360" y="548640"/>
                  </a:lnTo>
                  <a:lnTo>
                    <a:pt x="0" y="548640"/>
                  </a:lnTo>
                  <a:close/>
                </a:path>
              </a:pathLst>
            </a:custGeom>
            <a:blipFill>
              <a:blip r:embed="rId3">
                <a:alphaModFix amt="0"/>
              </a:blip>
              <a:stretch>
                <a:fillRect l="0" t="-255265" r="0" b="-255265"/>
              </a:stretch>
            </a:blipFill>
          </p:spPr>
        </p:sp>
        <p:sp>
          <p:nvSpPr>
            <p:cNvPr name="TextBox 86" id="86"/>
            <p:cNvSpPr txBox="true"/>
            <p:nvPr/>
          </p:nvSpPr>
          <p:spPr>
            <a:xfrm>
              <a:off x="0" y="-38100"/>
              <a:ext cx="8595360" cy="586740"/>
            </a:xfrm>
            <a:prstGeom prst="rect">
              <a:avLst/>
            </a:prstGeom>
          </p:spPr>
          <p:txBody>
            <a:bodyPr anchor="ctr" rtlCol="false" tIns="0" lIns="0" bIns="0" rIns="0"/>
            <a:lstStyle/>
            <a:p>
              <a:pPr algn="l">
                <a:lnSpc>
                  <a:spcPts val="2070"/>
                </a:lnSpc>
              </a:pPr>
              <a:r>
                <a:rPr lang="en-US" b="true" sz="1725">
                  <a:solidFill>
                    <a:srgbClr val="4FB6B0"/>
                  </a:solidFill>
                  <a:latin typeface="Calibri (MS) Bold"/>
                  <a:ea typeface="Calibri (MS) Bold"/>
                  <a:cs typeface="Calibri (MS) Bold"/>
                  <a:sym typeface="Calibri (MS) Bold"/>
                </a:rPr>
                <a:t>A quick honest note</a:t>
              </a:r>
            </a:p>
          </p:txBody>
        </p:sp>
      </p:grpSp>
      <p:grpSp>
        <p:nvGrpSpPr>
          <p:cNvPr name="Group 87" id="87"/>
          <p:cNvGrpSpPr/>
          <p:nvPr/>
        </p:nvGrpSpPr>
        <p:grpSpPr>
          <a:xfrm rot="0">
            <a:off x="10698480" y="6035040"/>
            <a:ext cx="6446520" cy="1440180"/>
            <a:chOff x="0" y="0"/>
            <a:chExt cx="8595360" cy="1920240"/>
          </a:xfrm>
        </p:grpSpPr>
        <p:sp>
          <p:nvSpPr>
            <p:cNvPr name="Freeform 88" id="88"/>
            <p:cNvSpPr/>
            <p:nvPr/>
          </p:nvSpPr>
          <p:spPr>
            <a:xfrm flipH="false" flipV="false" rot="0">
              <a:off x="0" y="0"/>
              <a:ext cx="8595360" cy="1920240"/>
            </a:xfrm>
            <a:custGeom>
              <a:avLst/>
              <a:gdLst/>
              <a:ahLst/>
              <a:cxnLst/>
              <a:rect r="r" b="b" t="t" l="l"/>
              <a:pathLst>
                <a:path h="1920240" w="8595360">
                  <a:moveTo>
                    <a:pt x="0" y="0"/>
                  </a:moveTo>
                  <a:lnTo>
                    <a:pt x="8595360" y="0"/>
                  </a:lnTo>
                  <a:lnTo>
                    <a:pt x="8595360" y="1920240"/>
                  </a:lnTo>
                  <a:lnTo>
                    <a:pt x="0" y="1920240"/>
                  </a:lnTo>
                  <a:close/>
                </a:path>
              </a:pathLst>
            </a:custGeom>
            <a:blipFill>
              <a:blip r:embed="rId3">
                <a:alphaModFix amt="0"/>
              </a:blip>
              <a:stretch>
                <a:fillRect l="0" t="-37218" r="0" b="-37218"/>
              </a:stretch>
            </a:blipFill>
          </p:spPr>
        </p:sp>
        <p:sp>
          <p:nvSpPr>
            <p:cNvPr name="TextBox 89" id="89"/>
            <p:cNvSpPr txBox="true"/>
            <p:nvPr/>
          </p:nvSpPr>
          <p:spPr>
            <a:xfrm>
              <a:off x="0" y="-66675"/>
              <a:ext cx="8595360" cy="1986915"/>
            </a:xfrm>
            <a:prstGeom prst="rect">
              <a:avLst/>
            </a:prstGeom>
          </p:spPr>
          <p:txBody>
            <a:bodyPr anchor="ctr" rtlCol="false" tIns="0" lIns="0" bIns="0" rIns="0"/>
            <a:lstStyle/>
            <a:p>
              <a:pPr algn="l">
                <a:lnSpc>
                  <a:spcPts val="2371"/>
                </a:lnSpc>
              </a:pPr>
              <a:r>
                <a:rPr lang="en-US" sz="1674">
                  <a:solidFill>
                    <a:srgbClr val="000000"/>
                  </a:solidFill>
                  <a:latin typeface="Calibri (MS)"/>
                  <a:ea typeface="Calibri (MS)"/>
                  <a:cs typeface="Calibri (MS)"/>
                  <a:sym typeface="Calibri (MS)"/>
                </a:rPr>
                <a:t>This split isn't perfectly clean for every modern language — many use a mix of both techniques under the hood. For now, the key idea to hold onto is simple:</a:t>
              </a:r>
            </a:p>
          </p:txBody>
        </p:sp>
      </p:grpSp>
      <p:grpSp>
        <p:nvGrpSpPr>
          <p:cNvPr name="Group 90" id="90"/>
          <p:cNvGrpSpPr/>
          <p:nvPr/>
        </p:nvGrpSpPr>
        <p:grpSpPr>
          <a:xfrm rot="0">
            <a:off x="10698480" y="7543800"/>
            <a:ext cx="6446520" cy="1165860"/>
            <a:chOff x="0" y="0"/>
            <a:chExt cx="8595360" cy="1554480"/>
          </a:xfrm>
        </p:grpSpPr>
        <p:sp>
          <p:nvSpPr>
            <p:cNvPr name="Freeform 91" id="91"/>
            <p:cNvSpPr/>
            <p:nvPr/>
          </p:nvSpPr>
          <p:spPr>
            <a:xfrm flipH="false" flipV="false" rot="0">
              <a:off x="0" y="0"/>
              <a:ext cx="8595360" cy="1554480"/>
            </a:xfrm>
            <a:custGeom>
              <a:avLst/>
              <a:gdLst/>
              <a:ahLst/>
              <a:cxnLst/>
              <a:rect r="r" b="b" t="t" l="l"/>
              <a:pathLst>
                <a:path h="1554480" w="8595360">
                  <a:moveTo>
                    <a:pt x="0" y="0"/>
                  </a:moveTo>
                  <a:lnTo>
                    <a:pt x="8595360" y="0"/>
                  </a:lnTo>
                  <a:lnTo>
                    <a:pt x="8595360" y="1554480"/>
                  </a:lnTo>
                  <a:lnTo>
                    <a:pt x="0" y="1554480"/>
                  </a:lnTo>
                  <a:close/>
                </a:path>
              </a:pathLst>
            </a:custGeom>
            <a:blipFill>
              <a:blip r:embed="rId3">
                <a:alphaModFix amt="0"/>
              </a:blip>
              <a:stretch>
                <a:fillRect l="0" t="-57740" r="0" b="-57740"/>
              </a:stretch>
            </a:blipFill>
          </p:spPr>
        </p:sp>
        <p:sp>
          <p:nvSpPr>
            <p:cNvPr name="TextBox 92" id="92"/>
            <p:cNvSpPr txBox="true"/>
            <p:nvPr/>
          </p:nvSpPr>
          <p:spPr>
            <a:xfrm>
              <a:off x="0" y="-66675"/>
              <a:ext cx="8595360" cy="1621155"/>
            </a:xfrm>
            <a:prstGeom prst="rect">
              <a:avLst/>
            </a:prstGeom>
          </p:spPr>
          <p:txBody>
            <a:bodyPr anchor="ctr" rtlCol="false" tIns="0" lIns="0" bIns="0" rIns="0"/>
            <a:lstStyle/>
            <a:p>
              <a:pPr algn="l">
                <a:lnSpc>
                  <a:spcPts val="2371"/>
                </a:lnSpc>
              </a:pPr>
              <a:r>
                <a:rPr lang="en-US" sz="1674" b="true">
                  <a:solidFill>
                    <a:srgbClr val="1B1F3B"/>
                  </a:solidFill>
                  <a:latin typeface="Calibri (MS) Bold"/>
                  <a:ea typeface="Calibri (MS) Bold"/>
                  <a:cs typeface="Calibri (MS) Bold"/>
                  <a:sym typeface="Calibri (MS) Bold"/>
                </a:rPr>
                <a:t>Python code is read and run by a Python interpreter — write it, run it, see the result immediately. No separate build step needed.</a:t>
              </a:r>
            </a:p>
          </p:txBody>
        </p:sp>
      </p:grpSp>
      <p:grpSp>
        <p:nvGrpSpPr>
          <p:cNvPr name="Group 93" id="93"/>
          <p:cNvGrpSpPr/>
          <p:nvPr/>
        </p:nvGrpSpPr>
        <p:grpSpPr>
          <a:xfrm rot="0">
            <a:off x="685800" y="9710928"/>
            <a:ext cx="10972800" cy="411480"/>
            <a:chOff x="0" y="0"/>
            <a:chExt cx="14630400" cy="548640"/>
          </a:xfrm>
        </p:grpSpPr>
        <p:sp>
          <p:nvSpPr>
            <p:cNvPr name="Freeform 94" id="94"/>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95" id="95"/>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96" id="96"/>
          <p:cNvGrpSpPr/>
          <p:nvPr/>
        </p:nvGrpSpPr>
        <p:grpSpPr>
          <a:xfrm rot="0">
            <a:off x="16915943" y="9710928"/>
            <a:ext cx="685800" cy="411480"/>
            <a:chOff x="0" y="0"/>
            <a:chExt cx="914400" cy="548640"/>
          </a:xfrm>
        </p:grpSpPr>
        <p:sp>
          <p:nvSpPr>
            <p:cNvPr name="Freeform 97" id="9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98" id="9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OUR TOOLKIT</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What is an IDE? Meet VS Code</a:t>
              </a:r>
            </a:p>
          </p:txBody>
        </p:sp>
      </p:grpSp>
      <p:grpSp>
        <p:nvGrpSpPr>
          <p:cNvPr name="Group 8" id="8"/>
          <p:cNvGrpSpPr/>
          <p:nvPr/>
        </p:nvGrpSpPr>
        <p:grpSpPr>
          <a:xfrm rot="0">
            <a:off x="635127" y="2212467"/>
            <a:ext cx="8248650" cy="3115789"/>
            <a:chOff x="0" y="0"/>
            <a:chExt cx="10998200" cy="4154386"/>
          </a:xfrm>
        </p:grpSpPr>
        <p:sp>
          <p:nvSpPr>
            <p:cNvPr name="Freeform 9" id="9"/>
            <p:cNvSpPr/>
            <p:nvPr/>
          </p:nvSpPr>
          <p:spPr>
            <a:xfrm flipH="false" flipV="false" rot="0">
              <a:off x="0" y="0"/>
              <a:ext cx="10998200" cy="4154297"/>
            </a:xfrm>
            <a:custGeom>
              <a:avLst/>
              <a:gdLst/>
              <a:ahLst/>
              <a:cxnLst/>
              <a:rect r="r" b="b" t="t" l="l"/>
              <a:pathLst>
                <a:path h="4154297" w="10998200">
                  <a:moveTo>
                    <a:pt x="0" y="193167"/>
                  </a:moveTo>
                  <a:cubicBezTo>
                    <a:pt x="0" y="86487"/>
                    <a:pt x="86487" y="0"/>
                    <a:pt x="193167" y="0"/>
                  </a:cubicBezTo>
                  <a:lnTo>
                    <a:pt x="10805033" y="0"/>
                  </a:lnTo>
                  <a:cubicBezTo>
                    <a:pt x="10911713" y="0"/>
                    <a:pt x="10998200" y="86487"/>
                    <a:pt x="10998200" y="193167"/>
                  </a:cubicBezTo>
                  <a:lnTo>
                    <a:pt x="10998200" y="3961130"/>
                  </a:lnTo>
                  <a:cubicBezTo>
                    <a:pt x="10998200" y="4067810"/>
                    <a:pt x="10911713" y="4154297"/>
                    <a:pt x="10805033" y="4154297"/>
                  </a:cubicBezTo>
                  <a:lnTo>
                    <a:pt x="193167" y="4154297"/>
                  </a:lnTo>
                  <a:cubicBezTo>
                    <a:pt x="86487" y="4154424"/>
                    <a:pt x="0" y="4067937"/>
                    <a:pt x="0" y="3961130"/>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0604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12" id="12"/>
          <p:cNvGrpSpPr/>
          <p:nvPr/>
        </p:nvGrpSpPr>
        <p:grpSpPr>
          <a:xfrm rot="0">
            <a:off x="868680" y="2798064"/>
            <a:ext cx="7744968" cy="521208"/>
            <a:chOff x="0" y="0"/>
            <a:chExt cx="10326624" cy="694944"/>
          </a:xfrm>
        </p:grpSpPr>
        <p:sp>
          <p:nvSpPr>
            <p:cNvPr name="Freeform 13" id="13"/>
            <p:cNvSpPr/>
            <p:nvPr/>
          </p:nvSpPr>
          <p:spPr>
            <a:xfrm flipH="false" flipV="false" rot="0">
              <a:off x="0" y="0"/>
              <a:ext cx="10326624" cy="694944"/>
            </a:xfrm>
            <a:custGeom>
              <a:avLst/>
              <a:gdLst/>
              <a:ahLst/>
              <a:cxnLst/>
              <a:rect r="r" b="b" t="t" l="l"/>
              <a:pathLst>
                <a:path h="694944" w="10326624">
                  <a:moveTo>
                    <a:pt x="0" y="0"/>
                  </a:moveTo>
                  <a:lnTo>
                    <a:pt x="10326624" y="0"/>
                  </a:lnTo>
                  <a:lnTo>
                    <a:pt x="10326624" y="694944"/>
                  </a:lnTo>
                  <a:lnTo>
                    <a:pt x="0" y="694944"/>
                  </a:lnTo>
                  <a:close/>
                </a:path>
              </a:pathLst>
            </a:custGeom>
            <a:blipFill>
              <a:blip r:embed="rId3">
                <a:alphaModFix amt="0"/>
              </a:blip>
              <a:stretch>
                <a:fillRect l="0" t="-239540" r="0" b="-239540"/>
              </a:stretch>
            </a:blipFill>
          </p:spPr>
        </p:sp>
        <p:sp>
          <p:nvSpPr>
            <p:cNvPr name="TextBox 14" id="14"/>
            <p:cNvSpPr txBox="true"/>
            <p:nvPr/>
          </p:nvSpPr>
          <p:spPr>
            <a:xfrm>
              <a:off x="0" y="-57150"/>
              <a:ext cx="10326624" cy="752094"/>
            </a:xfrm>
            <a:prstGeom prst="rect">
              <a:avLst/>
            </a:prstGeom>
          </p:spPr>
          <p:txBody>
            <a:bodyPr anchor="ctr" rtlCol="false" tIns="0" lIns="0" bIns="0" rIns="0"/>
            <a:lstStyle/>
            <a:p>
              <a:pPr algn="l">
                <a:lnSpc>
                  <a:spcPts val="2819"/>
                </a:lnSpc>
              </a:pPr>
              <a:r>
                <a:rPr lang="en-US" b="true" sz="2349" spc="156">
                  <a:solidFill>
                    <a:srgbClr val="1B1F3B"/>
                  </a:solidFill>
                  <a:latin typeface="Calibri (MS) Bold"/>
                  <a:ea typeface="Calibri (MS) Bold"/>
                  <a:cs typeface="Calibri (MS) Bold"/>
                  <a:sym typeface="Calibri (MS) Bold"/>
                </a:rPr>
                <a:t>IDE</a:t>
              </a:r>
            </a:p>
          </p:txBody>
        </p:sp>
      </p:grpSp>
      <p:sp>
        <p:nvSpPr>
          <p:cNvPr name="TextBox 15" id="15"/>
          <p:cNvSpPr txBox="true"/>
          <p:nvPr/>
        </p:nvSpPr>
        <p:spPr>
          <a:xfrm rot="0">
            <a:off x="864108" y="3215640"/>
            <a:ext cx="7488936" cy="1095070"/>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An Integrated Development Environment — a single application that bundles a code editor, tools, and utilities developers need to write, run, and debug code.</a:t>
            </a:r>
          </a:p>
        </p:txBody>
      </p:sp>
      <p:sp>
        <p:nvSpPr>
          <p:cNvPr name="TextBox 16" id="16"/>
          <p:cNvSpPr txBox="true"/>
          <p:nvPr/>
        </p:nvSpPr>
        <p:spPr>
          <a:xfrm rot="0">
            <a:off x="868680" y="4303395"/>
            <a:ext cx="796899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One app instead of juggling five separate tools.</a:t>
            </a:r>
          </a:p>
        </p:txBody>
      </p:sp>
      <p:grpSp>
        <p:nvGrpSpPr>
          <p:cNvPr name="Group 17" id="17"/>
          <p:cNvGrpSpPr/>
          <p:nvPr/>
        </p:nvGrpSpPr>
        <p:grpSpPr>
          <a:xfrm rot="0">
            <a:off x="822960" y="5554980"/>
            <a:ext cx="8092440" cy="1303020"/>
            <a:chOff x="0" y="0"/>
            <a:chExt cx="10789920" cy="1737360"/>
          </a:xfrm>
        </p:grpSpPr>
        <p:sp>
          <p:nvSpPr>
            <p:cNvPr name="Freeform 18" id="18"/>
            <p:cNvSpPr/>
            <p:nvPr/>
          </p:nvSpPr>
          <p:spPr>
            <a:xfrm flipH="false" flipV="false" rot="0">
              <a:off x="0" y="0"/>
              <a:ext cx="10789920" cy="1737360"/>
            </a:xfrm>
            <a:custGeom>
              <a:avLst/>
              <a:gdLst/>
              <a:ahLst/>
              <a:cxnLst/>
              <a:rect r="r" b="b" t="t" l="l"/>
              <a:pathLst>
                <a:path h="1737360" w="10789920">
                  <a:moveTo>
                    <a:pt x="0" y="0"/>
                  </a:moveTo>
                  <a:lnTo>
                    <a:pt x="10789920" y="0"/>
                  </a:lnTo>
                  <a:lnTo>
                    <a:pt x="10789920" y="1737360"/>
                  </a:lnTo>
                  <a:lnTo>
                    <a:pt x="0" y="1737360"/>
                  </a:lnTo>
                  <a:close/>
                </a:path>
              </a:pathLst>
            </a:custGeom>
            <a:blipFill>
              <a:blip r:embed="rId3">
                <a:alphaModFix amt="0"/>
              </a:blip>
              <a:stretch>
                <a:fillRect l="0" t="-71012" r="0" b="-71012"/>
              </a:stretch>
            </a:blipFill>
          </p:spPr>
        </p:sp>
        <p:sp>
          <p:nvSpPr>
            <p:cNvPr name="TextBox 19" id="19"/>
            <p:cNvSpPr txBox="true"/>
            <p:nvPr/>
          </p:nvSpPr>
          <p:spPr>
            <a:xfrm>
              <a:off x="0" y="-95250"/>
              <a:ext cx="10789920" cy="1832610"/>
            </a:xfrm>
            <a:prstGeom prst="rect">
              <a:avLst/>
            </a:prstGeom>
          </p:spPr>
          <p:txBody>
            <a:bodyPr anchor="ctr" rtlCol="false" tIns="0" lIns="0" bIns="0" rIns="0"/>
            <a:lstStyle/>
            <a:p>
              <a:pPr algn="l">
                <a:lnSpc>
                  <a:spcPts val="3456"/>
                </a:lnSpc>
              </a:pPr>
              <a:r>
                <a:rPr lang="en-US" sz="2400">
                  <a:solidFill>
                    <a:srgbClr val="000000"/>
                  </a:solidFill>
                  <a:latin typeface="Calibri (MS)"/>
                  <a:ea typeface="Calibri (MS)"/>
                  <a:cs typeface="Calibri (MS)"/>
                  <a:sym typeface="Calibri (MS)"/>
                </a:rPr>
                <a:t>We'll use Visual Studio Code (VS Code) — free, lightweight, and widely used in industry and in AI development.</a:t>
              </a:r>
            </a:p>
          </p:txBody>
        </p:sp>
      </p:grpSp>
      <p:grpSp>
        <p:nvGrpSpPr>
          <p:cNvPr name="Group 20" id="20"/>
          <p:cNvGrpSpPr/>
          <p:nvPr/>
        </p:nvGrpSpPr>
        <p:grpSpPr>
          <a:xfrm rot="0">
            <a:off x="9189720" y="2331720"/>
            <a:ext cx="8229600" cy="5692140"/>
            <a:chOff x="0" y="0"/>
            <a:chExt cx="10972800" cy="7589520"/>
          </a:xfrm>
        </p:grpSpPr>
        <p:sp>
          <p:nvSpPr>
            <p:cNvPr name="Freeform 21" id="21"/>
            <p:cNvSpPr/>
            <p:nvPr/>
          </p:nvSpPr>
          <p:spPr>
            <a:xfrm flipH="false" flipV="false" rot="0">
              <a:off x="0" y="0"/>
              <a:ext cx="10972800" cy="7589520"/>
            </a:xfrm>
            <a:custGeom>
              <a:avLst/>
              <a:gdLst/>
              <a:ahLst/>
              <a:cxnLst/>
              <a:rect r="r" b="b" t="t" l="l"/>
              <a:pathLst>
                <a:path h="7589520" w="10972800">
                  <a:moveTo>
                    <a:pt x="0" y="146304"/>
                  </a:moveTo>
                  <a:cubicBezTo>
                    <a:pt x="0" y="65532"/>
                    <a:pt x="65532" y="0"/>
                    <a:pt x="146304" y="0"/>
                  </a:cubicBezTo>
                  <a:lnTo>
                    <a:pt x="10826496" y="0"/>
                  </a:lnTo>
                  <a:cubicBezTo>
                    <a:pt x="10907268" y="0"/>
                    <a:pt x="10972800" y="65532"/>
                    <a:pt x="10972800" y="146304"/>
                  </a:cubicBezTo>
                  <a:lnTo>
                    <a:pt x="10972800" y="7443216"/>
                  </a:lnTo>
                  <a:cubicBezTo>
                    <a:pt x="10972800" y="7523988"/>
                    <a:pt x="10907268" y="7589520"/>
                    <a:pt x="10826496" y="7589520"/>
                  </a:cubicBezTo>
                  <a:lnTo>
                    <a:pt x="146304" y="7589520"/>
                  </a:lnTo>
                  <a:cubicBezTo>
                    <a:pt x="65532" y="7589520"/>
                    <a:pt x="0" y="7523988"/>
                    <a:pt x="0" y="7443216"/>
                  </a:cubicBezTo>
                  <a:close/>
                </a:path>
              </a:pathLst>
            </a:custGeom>
            <a:solidFill>
              <a:srgbClr val="1B1F3B"/>
            </a:solidFill>
          </p:spPr>
        </p:sp>
      </p:grpSp>
      <p:grpSp>
        <p:nvGrpSpPr>
          <p:cNvPr name="Group 22" id="22"/>
          <p:cNvGrpSpPr/>
          <p:nvPr/>
        </p:nvGrpSpPr>
        <p:grpSpPr>
          <a:xfrm rot="0">
            <a:off x="9464040" y="2578608"/>
            <a:ext cx="164592" cy="164592"/>
            <a:chOff x="0" y="0"/>
            <a:chExt cx="219456" cy="219456"/>
          </a:xfrm>
        </p:grpSpPr>
        <p:sp>
          <p:nvSpPr>
            <p:cNvPr name="Freeform 23" id="23"/>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F2665E"/>
            </a:solidFill>
          </p:spPr>
        </p:sp>
      </p:grpSp>
      <p:grpSp>
        <p:nvGrpSpPr>
          <p:cNvPr name="Group 24" id="24"/>
          <p:cNvGrpSpPr/>
          <p:nvPr/>
        </p:nvGrpSpPr>
        <p:grpSpPr>
          <a:xfrm rot="0">
            <a:off x="9738360" y="2578608"/>
            <a:ext cx="164592" cy="164592"/>
            <a:chOff x="0" y="0"/>
            <a:chExt cx="219456" cy="219456"/>
          </a:xfrm>
        </p:grpSpPr>
        <p:sp>
          <p:nvSpPr>
            <p:cNvPr name="Freeform 25" id="25"/>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FFB84C"/>
            </a:solidFill>
          </p:spPr>
        </p:sp>
      </p:grpSp>
      <p:grpSp>
        <p:nvGrpSpPr>
          <p:cNvPr name="Group 26" id="26"/>
          <p:cNvGrpSpPr/>
          <p:nvPr/>
        </p:nvGrpSpPr>
        <p:grpSpPr>
          <a:xfrm rot="0">
            <a:off x="10012680" y="2578608"/>
            <a:ext cx="164592" cy="164592"/>
            <a:chOff x="0" y="0"/>
            <a:chExt cx="219456" cy="219456"/>
          </a:xfrm>
        </p:grpSpPr>
        <p:sp>
          <p:nvSpPr>
            <p:cNvPr name="Freeform 27" id="27"/>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4FB6B0"/>
            </a:solidFill>
          </p:spPr>
        </p:sp>
      </p:grpSp>
      <p:grpSp>
        <p:nvGrpSpPr>
          <p:cNvPr name="Group 28" id="28"/>
          <p:cNvGrpSpPr/>
          <p:nvPr/>
        </p:nvGrpSpPr>
        <p:grpSpPr>
          <a:xfrm rot="0">
            <a:off x="9189720" y="2907792"/>
            <a:ext cx="576072" cy="5116068"/>
            <a:chOff x="0" y="0"/>
            <a:chExt cx="768096" cy="6821424"/>
          </a:xfrm>
        </p:grpSpPr>
        <p:sp>
          <p:nvSpPr>
            <p:cNvPr name="Freeform 29" id="29"/>
            <p:cNvSpPr/>
            <p:nvPr/>
          </p:nvSpPr>
          <p:spPr>
            <a:xfrm flipH="false" flipV="false" rot="0">
              <a:off x="0" y="0"/>
              <a:ext cx="768096" cy="6821424"/>
            </a:xfrm>
            <a:custGeom>
              <a:avLst/>
              <a:gdLst/>
              <a:ahLst/>
              <a:cxnLst/>
              <a:rect r="r" b="b" t="t" l="l"/>
              <a:pathLst>
                <a:path h="6821424" w="768096">
                  <a:moveTo>
                    <a:pt x="0" y="0"/>
                  </a:moveTo>
                  <a:lnTo>
                    <a:pt x="768096" y="0"/>
                  </a:lnTo>
                  <a:lnTo>
                    <a:pt x="768096" y="6821424"/>
                  </a:lnTo>
                  <a:lnTo>
                    <a:pt x="0" y="6821424"/>
                  </a:lnTo>
                  <a:close/>
                </a:path>
              </a:pathLst>
            </a:custGeom>
            <a:solidFill>
              <a:srgbClr val="12142A"/>
            </a:solidFill>
          </p:spPr>
        </p:sp>
      </p:grpSp>
      <p:grpSp>
        <p:nvGrpSpPr>
          <p:cNvPr name="Group 30" id="30"/>
          <p:cNvGrpSpPr/>
          <p:nvPr/>
        </p:nvGrpSpPr>
        <p:grpSpPr>
          <a:xfrm rot="0">
            <a:off x="9765792" y="2907792"/>
            <a:ext cx="2125980" cy="3566160"/>
            <a:chOff x="0" y="0"/>
            <a:chExt cx="2834640" cy="4754880"/>
          </a:xfrm>
        </p:grpSpPr>
        <p:sp>
          <p:nvSpPr>
            <p:cNvPr name="Freeform 31" id="31"/>
            <p:cNvSpPr/>
            <p:nvPr/>
          </p:nvSpPr>
          <p:spPr>
            <a:xfrm flipH="false" flipV="false" rot="0">
              <a:off x="0" y="0"/>
              <a:ext cx="2834640" cy="4754880"/>
            </a:xfrm>
            <a:custGeom>
              <a:avLst/>
              <a:gdLst/>
              <a:ahLst/>
              <a:cxnLst/>
              <a:rect r="r" b="b" t="t" l="l"/>
              <a:pathLst>
                <a:path h="4754880" w="2834640">
                  <a:moveTo>
                    <a:pt x="0" y="0"/>
                  </a:moveTo>
                  <a:lnTo>
                    <a:pt x="2834640" y="0"/>
                  </a:lnTo>
                  <a:lnTo>
                    <a:pt x="2834640" y="4754880"/>
                  </a:lnTo>
                  <a:lnTo>
                    <a:pt x="0" y="4754880"/>
                  </a:lnTo>
                  <a:close/>
                </a:path>
              </a:pathLst>
            </a:custGeom>
            <a:solidFill>
              <a:srgbClr val="2A3163"/>
            </a:solidFill>
          </p:spPr>
        </p:sp>
      </p:grpSp>
      <p:grpSp>
        <p:nvGrpSpPr>
          <p:cNvPr name="Group 32" id="32"/>
          <p:cNvGrpSpPr/>
          <p:nvPr/>
        </p:nvGrpSpPr>
        <p:grpSpPr>
          <a:xfrm rot="0">
            <a:off x="9944100" y="3044952"/>
            <a:ext cx="1783080" cy="342900"/>
            <a:chOff x="0" y="0"/>
            <a:chExt cx="2377440" cy="457200"/>
          </a:xfrm>
        </p:grpSpPr>
        <p:sp>
          <p:nvSpPr>
            <p:cNvPr name="Freeform 33" id="33"/>
            <p:cNvSpPr/>
            <p:nvPr/>
          </p:nvSpPr>
          <p:spPr>
            <a:xfrm flipH="false" flipV="false" rot="0">
              <a:off x="0" y="0"/>
              <a:ext cx="2377440" cy="457200"/>
            </a:xfrm>
            <a:custGeom>
              <a:avLst/>
              <a:gdLst/>
              <a:ahLst/>
              <a:cxnLst/>
              <a:rect r="r" b="b" t="t" l="l"/>
              <a:pathLst>
                <a:path h="457200" w="2377440">
                  <a:moveTo>
                    <a:pt x="0" y="0"/>
                  </a:moveTo>
                  <a:lnTo>
                    <a:pt x="2377440" y="0"/>
                  </a:lnTo>
                  <a:lnTo>
                    <a:pt x="2377440" y="457200"/>
                  </a:lnTo>
                  <a:lnTo>
                    <a:pt x="0" y="457200"/>
                  </a:lnTo>
                  <a:close/>
                </a:path>
              </a:pathLst>
            </a:custGeom>
            <a:blipFill>
              <a:blip r:embed="rId3">
                <a:alphaModFix amt="0"/>
              </a:blip>
              <a:stretch>
                <a:fillRect l="0" t="-51322" r="0" b="-51322"/>
              </a:stretch>
            </a:blipFill>
          </p:spPr>
        </p:sp>
        <p:sp>
          <p:nvSpPr>
            <p:cNvPr name="TextBox 34" id="34"/>
            <p:cNvSpPr txBox="true"/>
            <p:nvPr/>
          </p:nvSpPr>
          <p:spPr>
            <a:xfrm>
              <a:off x="0" y="-19050"/>
              <a:ext cx="2377440" cy="476250"/>
            </a:xfrm>
            <a:prstGeom prst="rect">
              <a:avLst/>
            </a:prstGeom>
          </p:spPr>
          <p:txBody>
            <a:bodyPr anchor="ctr" rtlCol="false" tIns="0" lIns="0" bIns="0" rIns="0"/>
            <a:lstStyle/>
            <a:p>
              <a:pPr algn="l">
                <a:lnSpc>
                  <a:spcPts val="1439"/>
                </a:lnSpc>
              </a:pPr>
              <a:r>
                <a:rPr lang="en-US" sz="1200" b="true">
                  <a:solidFill>
                    <a:srgbClr val="9AA1CC"/>
                  </a:solidFill>
                  <a:latin typeface="Calibri (MS) Bold"/>
                  <a:ea typeface="Calibri (MS) Bold"/>
                  <a:cs typeface="Calibri (MS) Bold"/>
                  <a:sym typeface="Calibri (MS) Bold"/>
                </a:rPr>
                <a:t>EXPLORER</a:t>
              </a:r>
            </a:p>
          </p:txBody>
        </p:sp>
      </p:grpSp>
      <p:grpSp>
        <p:nvGrpSpPr>
          <p:cNvPr name="Group 35" id="35"/>
          <p:cNvGrpSpPr/>
          <p:nvPr/>
        </p:nvGrpSpPr>
        <p:grpSpPr>
          <a:xfrm rot="0">
            <a:off x="9944100" y="3497580"/>
            <a:ext cx="1851660" cy="1234440"/>
            <a:chOff x="0" y="0"/>
            <a:chExt cx="2468880" cy="1645920"/>
          </a:xfrm>
        </p:grpSpPr>
        <p:sp>
          <p:nvSpPr>
            <p:cNvPr name="Freeform 36" id="36"/>
            <p:cNvSpPr/>
            <p:nvPr/>
          </p:nvSpPr>
          <p:spPr>
            <a:xfrm flipH="false" flipV="false" rot="0">
              <a:off x="0" y="0"/>
              <a:ext cx="2468880" cy="1645920"/>
            </a:xfrm>
            <a:custGeom>
              <a:avLst/>
              <a:gdLst/>
              <a:ahLst/>
              <a:cxnLst/>
              <a:rect r="r" b="b" t="t" l="l"/>
              <a:pathLst>
                <a:path h="1645920" w="2468880">
                  <a:moveTo>
                    <a:pt x="0" y="0"/>
                  </a:moveTo>
                  <a:lnTo>
                    <a:pt x="2468880" y="0"/>
                  </a:lnTo>
                  <a:lnTo>
                    <a:pt x="2468880" y="1645920"/>
                  </a:lnTo>
                  <a:lnTo>
                    <a:pt x="0" y="1645920"/>
                  </a:lnTo>
                  <a:close/>
                </a:path>
              </a:pathLst>
            </a:custGeom>
            <a:blipFill>
              <a:blip r:embed="rId3">
                <a:alphaModFix amt="0"/>
              </a:blip>
              <a:stretch>
                <a:fillRect l="-35535" t="0" r="-35535" b="0"/>
              </a:stretch>
            </a:blipFill>
          </p:spPr>
        </p:sp>
        <p:sp>
          <p:nvSpPr>
            <p:cNvPr name="TextBox 37" id="37"/>
            <p:cNvSpPr txBox="true"/>
            <p:nvPr/>
          </p:nvSpPr>
          <p:spPr>
            <a:xfrm>
              <a:off x="0" y="-95250"/>
              <a:ext cx="2468880" cy="1741170"/>
            </a:xfrm>
            <a:prstGeom prst="rect">
              <a:avLst/>
            </a:prstGeom>
          </p:spPr>
          <p:txBody>
            <a:bodyPr anchor="ctr" rtlCol="false" tIns="0" lIns="0" bIns="0" rIns="0"/>
            <a:lstStyle/>
            <a:p>
              <a:pPr algn="l">
                <a:lnSpc>
                  <a:spcPts val="2477"/>
                </a:lnSpc>
              </a:pPr>
              <a:r>
                <a:rPr lang="en-US" sz="1474">
                  <a:solidFill>
                    <a:srgbClr val="C7CCEA"/>
                  </a:solidFill>
                  <a:latin typeface="Calibri (MS)"/>
                  <a:ea typeface="Calibri (MS)"/>
                  <a:cs typeface="Calibri (MS)"/>
                  <a:sym typeface="Calibri (MS)"/>
                </a:rPr>
                <a:t>main.py</a:t>
              </a:r>
            </a:p>
            <a:p>
              <a:pPr algn="l">
                <a:lnSpc>
                  <a:spcPts val="2477"/>
                </a:lnSpc>
              </a:pPr>
              <a:r>
                <a:rPr lang="en-US" sz="1474">
                  <a:solidFill>
                    <a:srgbClr val="C7CCEA"/>
                  </a:solidFill>
                  <a:latin typeface="Calibri (MS)"/>
                  <a:ea typeface="Calibri (MS)"/>
                  <a:cs typeface="Calibri (MS)"/>
                  <a:sym typeface="Calibri (MS)"/>
                </a:rPr>
                <a:t>utils.py</a:t>
              </a:r>
            </a:p>
            <a:p>
              <a:pPr algn="l">
                <a:lnSpc>
                  <a:spcPts val="2477"/>
                </a:lnSpc>
              </a:pPr>
              <a:r>
                <a:rPr lang="en-US" sz="1474">
                  <a:solidFill>
                    <a:srgbClr val="C7CCEA"/>
                  </a:solidFill>
                  <a:latin typeface="Calibri (MS)"/>
                  <a:ea typeface="Calibri (MS)"/>
                  <a:cs typeface="Calibri (MS)"/>
                  <a:sym typeface="Calibri (MS)"/>
                </a:rPr>
                <a:t>README.md</a:t>
              </a:r>
            </a:p>
          </p:txBody>
        </p:sp>
      </p:grpSp>
      <p:grpSp>
        <p:nvGrpSpPr>
          <p:cNvPr name="Group 38" id="38"/>
          <p:cNvGrpSpPr/>
          <p:nvPr/>
        </p:nvGrpSpPr>
        <p:grpSpPr>
          <a:xfrm rot="0">
            <a:off x="11891772" y="2907792"/>
            <a:ext cx="5527548" cy="3566160"/>
            <a:chOff x="0" y="0"/>
            <a:chExt cx="7370064" cy="4754880"/>
          </a:xfrm>
        </p:grpSpPr>
        <p:sp>
          <p:nvSpPr>
            <p:cNvPr name="Freeform 39" id="39"/>
            <p:cNvSpPr/>
            <p:nvPr/>
          </p:nvSpPr>
          <p:spPr>
            <a:xfrm flipH="false" flipV="false" rot="0">
              <a:off x="0" y="0"/>
              <a:ext cx="7370064" cy="4754880"/>
            </a:xfrm>
            <a:custGeom>
              <a:avLst/>
              <a:gdLst/>
              <a:ahLst/>
              <a:cxnLst/>
              <a:rect r="r" b="b" t="t" l="l"/>
              <a:pathLst>
                <a:path h="4754880" w="7370064">
                  <a:moveTo>
                    <a:pt x="0" y="146304"/>
                  </a:moveTo>
                  <a:cubicBezTo>
                    <a:pt x="0" y="65532"/>
                    <a:pt x="65532" y="0"/>
                    <a:pt x="146304" y="0"/>
                  </a:cubicBezTo>
                  <a:lnTo>
                    <a:pt x="7223760" y="0"/>
                  </a:lnTo>
                  <a:cubicBezTo>
                    <a:pt x="7304532" y="0"/>
                    <a:pt x="7370064" y="65532"/>
                    <a:pt x="7370064" y="146304"/>
                  </a:cubicBezTo>
                  <a:lnTo>
                    <a:pt x="7370064" y="4608576"/>
                  </a:lnTo>
                  <a:cubicBezTo>
                    <a:pt x="7370064" y="4689348"/>
                    <a:pt x="7304532" y="4754880"/>
                    <a:pt x="7223760" y="4754880"/>
                  </a:cubicBezTo>
                  <a:lnTo>
                    <a:pt x="146304" y="4754880"/>
                  </a:lnTo>
                  <a:cubicBezTo>
                    <a:pt x="65532" y="4754880"/>
                    <a:pt x="0" y="4689348"/>
                    <a:pt x="0" y="4608576"/>
                  </a:cubicBezTo>
                  <a:close/>
                </a:path>
              </a:pathLst>
            </a:custGeom>
            <a:solidFill>
              <a:srgbClr val="1B1F3B"/>
            </a:solidFill>
          </p:spPr>
        </p:sp>
      </p:grpSp>
      <p:sp>
        <p:nvSpPr>
          <p:cNvPr name="TextBox 40" id="40"/>
          <p:cNvSpPr txBox="true"/>
          <p:nvPr/>
        </p:nvSpPr>
        <p:spPr>
          <a:xfrm rot="0">
            <a:off x="12220956" y="3198876"/>
            <a:ext cx="4869180" cy="3055620"/>
          </a:xfrm>
          <a:prstGeom prst="rect">
            <a:avLst/>
          </a:prstGeom>
        </p:spPr>
        <p:txBody>
          <a:bodyPr anchor="t" rtlCol="false" tIns="0" lIns="0" bIns="0" rIns="0">
            <a:spAutoFit/>
          </a:bodyPr>
          <a:lstStyle/>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a:t>
            </a:r>
            <a:r>
              <a:rPr lang="en-US" sz="1950">
                <a:solidFill>
                  <a:srgbClr val="8FE3C0"/>
                </a:solidFill>
                <a:latin typeface="Courier New"/>
                <a:ea typeface="Courier New"/>
                <a:cs typeface="Courier New"/>
                <a:sym typeface="Courier New"/>
              </a:rPr>
              <a:t>"Hello, World!"</a:t>
            </a:r>
            <a:r>
              <a:rPr lang="en-US" sz="1950">
                <a:solidFill>
                  <a:srgbClr val="E9ECF7"/>
                </a:solidFill>
                <a:latin typeface="Courier New"/>
                <a:ea typeface="Courier New"/>
                <a:cs typeface="Courier New"/>
                <a:sym typeface="Courier New"/>
              </a:rPr>
              <a:t>)</a:t>
            </a:r>
          </a:p>
        </p:txBody>
      </p:sp>
      <p:grpSp>
        <p:nvGrpSpPr>
          <p:cNvPr name="Group 41" id="41"/>
          <p:cNvGrpSpPr/>
          <p:nvPr/>
        </p:nvGrpSpPr>
        <p:grpSpPr>
          <a:xfrm rot="0">
            <a:off x="9189720" y="6652260"/>
            <a:ext cx="8229600" cy="1371600"/>
            <a:chOff x="0" y="0"/>
            <a:chExt cx="10972800" cy="1828800"/>
          </a:xfrm>
        </p:grpSpPr>
        <p:sp>
          <p:nvSpPr>
            <p:cNvPr name="Freeform 42" id="42"/>
            <p:cNvSpPr/>
            <p:nvPr/>
          </p:nvSpPr>
          <p:spPr>
            <a:xfrm flipH="false" flipV="false" rot="0">
              <a:off x="0" y="0"/>
              <a:ext cx="10972800" cy="1828800"/>
            </a:xfrm>
            <a:custGeom>
              <a:avLst/>
              <a:gdLst/>
              <a:ahLst/>
              <a:cxnLst/>
              <a:rect r="r" b="b" t="t" l="l"/>
              <a:pathLst>
                <a:path h="1828800" w="10972800">
                  <a:moveTo>
                    <a:pt x="0" y="0"/>
                  </a:moveTo>
                  <a:lnTo>
                    <a:pt x="10972800" y="0"/>
                  </a:lnTo>
                  <a:lnTo>
                    <a:pt x="10972800" y="1828800"/>
                  </a:lnTo>
                  <a:lnTo>
                    <a:pt x="0" y="1828800"/>
                  </a:lnTo>
                  <a:close/>
                </a:path>
              </a:pathLst>
            </a:custGeom>
            <a:solidFill>
              <a:srgbClr val="0F1128"/>
            </a:solidFill>
          </p:spPr>
        </p:sp>
      </p:grpSp>
      <p:grpSp>
        <p:nvGrpSpPr>
          <p:cNvPr name="Group 43" id="43"/>
          <p:cNvGrpSpPr/>
          <p:nvPr/>
        </p:nvGrpSpPr>
        <p:grpSpPr>
          <a:xfrm rot="0">
            <a:off x="9395460" y="6761988"/>
            <a:ext cx="2743200" cy="274320"/>
            <a:chOff x="0" y="0"/>
            <a:chExt cx="3657600" cy="365760"/>
          </a:xfrm>
        </p:grpSpPr>
        <p:sp>
          <p:nvSpPr>
            <p:cNvPr name="Freeform 44" id="44"/>
            <p:cNvSpPr/>
            <p:nvPr/>
          </p:nvSpPr>
          <p:spPr>
            <a:xfrm flipH="false" flipV="false" rot="0">
              <a:off x="0" y="0"/>
              <a:ext cx="3657600" cy="365760"/>
            </a:xfrm>
            <a:custGeom>
              <a:avLst/>
              <a:gdLst/>
              <a:ahLst/>
              <a:cxnLst/>
              <a:rect r="r" b="b" t="t" l="l"/>
              <a:pathLst>
                <a:path h="365760" w="3657600">
                  <a:moveTo>
                    <a:pt x="0" y="0"/>
                  </a:moveTo>
                  <a:lnTo>
                    <a:pt x="3657600" y="0"/>
                  </a:lnTo>
                  <a:lnTo>
                    <a:pt x="3657600" y="365760"/>
                  </a:lnTo>
                  <a:lnTo>
                    <a:pt x="0" y="365760"/>
                  </a:lnTo>
                  <a:close/>
                </a:path>
              </a:pathLst>
            </a:custGeom>
            <a:blipFill>
              <a:blip r:embed="rId3">
                <a:alphaModFix amt="0"/>
              </a:blip>
              <a:stretch>
                <a:fillRect l="0" t="-144850" r="0" b="-144850"/>
              </a:stretch>
            </a:blipFill>
          </p:spPr>
        </p:sp>
        <p:sp>
          <p:nvSpPr>
            <p:cNvPr name="TextBox 45" id="45"/>
            <p:cNvSpPr txBox="true"/>
            <p:nvPr/>
          </p:nvSpPr>
          <p:spPr>
            <a:xfrm>
              <a:off x="0" y="-28575"/>
              <a:ext cx="3657600" cy="394335"/>
            </a:xfrm>
            <a:prstGeom prst="rect">
              <a:avLst/>
            </a:prstGeom>
          </p:spPr>
          <p:txBody>
            <a:bodyPr anchor="ctr" rtlCol="false" tIns="0" lIns="0" bIns="0" rIns="0"/>
            <a:lstStyle/>
            <a:p>
              <a:pPr algn="l">
                <a:lnSpc>
                  <a:spcPts val="1559"/>
                </a:lnSpc>
              </a:pPr>
              <a:r>
                <a:rPr lang="en-US" sz="1299" b="true">
                  <a:solidFill>
                    <a:srgbClr val="9AA1CC"/>
                  </a:solidFill>
                  <a:latin typeface="Calibri (MS) Bold"/>
                  <a:ea typeface="Calibri (MS) Bold"/>
                  <a:cs typeface="Calibri (MS) Bold"/>
                  <a:sym typeface="Calibri (MS) Bold"/>
                </a:rPr>
                <a:t>TERMINAL</a:t>
              </a:r>
            </a:p>
          </p:txBody>
        </p:sp>
      </p:grpSp>
      <p:grpSp>
        <p:nvGrpSpPr>
          <p:cNvPr name="Group 46" id="46"/>
          <p:cNvGrpSpPr/>
          <p:nvPr/>
        </p:nvGrpSpPr>
        <p:grpSpPr>
          <a:xfrm rot="0">
            <a:off x="9395460" y="7091172"/>
            <a:ext cx="7818120" cy="891540"/>
            <a:chOff x="0" y="0"/>
            <a:chExt cx="10424160" cy="1188720"/>
          </a:xfrm>
        </p:grpSpPr>
        <p:sp>
          <p:nvSpPr>
            <p:cNvPr name="Freeform 47" id="47"/>
            <p:cNvSpPr/>
            <p:nvPr/>
          </p:nvSpPr>
          <p:spPr>
            <a:xfrm flipH="false" flipV="false" rot="0">
              <a:off x="0" y="0"/>
              <a:ext cx="10424160" cy="1188720"/>
            </a:xfrm>
            <a:custGeom>
              <a:avLst/>
              <a:gdLst/>
              <a:ahLst/>
              <a:cxnLst/>
              <a:rect r="r" b="b" t="t" l="l"/>
              <a:pathLst>
                <a:path h="1188720" w="10424160">
                  <a:moveTo>
                    <a:pt x="0" y="0"/>
                  </a:moveTo>
                  <a:lnTo>
                    <a:pt x="10424160" y="0"/>
                  </a:lnTo>
                  <a:lnTo>
                    <a:pt x="10424160" y="1188720"/>
                  </a:lnTo>
                  <a:lnTo>
                    <a:pt x="0" y="1188720"/>
                  </a:lnTo>
                  <a:close/>
                </a:path>
              </a:pathLst>
            </a:custGeom>
            <a:blipFill>
              <a:blip r:embed="rId3">
                <a:alphaModFix amt="0"/>
              </a:blip>
              <a:stretch>
                <a:fillRect l="0" t="-120868" r="0" b="-120868"/>
              </a:stretch>
            </a:blipFill>
          </p:spPr>
        </p:sp>
        <p:sp>
          <p:nvSpPr>
            <p:cNvPr name="TextBox 48" id="48"/>
            <p:cNvSpPr txBox="true"/>
            <p:nvPr/>
          </p:nvSpPr>
          <p:spPr>
            <a:xfrm>
              <a:off x="0" y="-47625"/>
              <a:ext cx="10424160" cy="1236345"/>
            </a:xfrm>
            <a:prstGeom prst="rect">
              <a:avLst/>
            </a:prstGeom>
          </p:spPr>
          <p:txBody>
            <a:bodyPr anchor="ctr" rtlCol="false" tIns="0" lIns="0" bIns="0" rIns="0"/>
            <a:lstStyle/>
            <a:p>
              <a:pPr algn="l">
                <a:lnSpc>
                  <a:spcPts val="2411"/>
                </a:lnSpc>
              </a:pPr>
              <a:r>
                <a:rPr lang="en-US" sz="1674">
                  <a:solidFill>
                    <a:srgbClr val="8FE3C0"/>
                  </a:solidFill>
                  <a:latin typeface="Courier New"/>
                  <a:ea typeface="Courier New"/>
                  <a:cs typeface="Courier New"/>
                  <a:sym typeface="Courier New"/>
                </a:rPr>
                <a:t>$ python main.py</a:t>
              </a:r>
            </a:p>
            <a:p>
              <a:pPr algn="l">
                <a:lnSpc>
                  <a:spcPts val="2411"/>
                </a:lnSpc>
              </a:pPr>
              <a:r>
                <a:rPr lang="en-US" sz="1674">
                  <a:solidFill>
                    <a:srgbClr val="E9ECF7"/>
                  </a:solidFill>
                  <a:latin typeface="Courier New"/>
                  <a:ea typeface="Courier New"/>
                  <a:cs typeface="Courier New"/>
                  <a:sym typeface="Courier New"/>
                </a:rPr>
                <a:t>Hello, World!</a:t>
              </a:r>
            </a:p>
          </p:txBody>
        </p:sp>
      </p:grpSp>
      <p:grpSp>
        <p:nvGrpSpPr>
          <p:cNvPr name="Group 49" id="49"/>
          <p:cNvGrpSpPr/>
          <p:nvPr/>
        </p:nvGrpSpPr>
        <p:grpSpPr>
          <a:xfrm rot="0">
            <a:off x="822960" y="8435340"/>
            <a:ext cx="438912" cy="438912"/>
            <a:chOff x="0" y="0"/>
            <a:chExt cx="585216" cy="585216"/>
          </a:xfrm>
        </p:grpSpPr>
        <p:sp>
          <p:nvSpPr>
            <p:cNvPr name="Freeform 50" id="50"/>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4FB6B0"/>
            </a:solidFill>
          </p:spPr>
        </p:sp>
      </p:grpSp>
      <p:grpSp>
        <p:nvGrpSpPr>
          <p:cNvPr name="Group 51" id="51"/>
          <p:cNvGrpSpPr/>
          <p:nvPr/>
        </p:nvGrpSpPr>
        <p:grpSpPr>
          <a:xfrm rot="0">
            <a:off x="822960" y="8435340"/>
            <a:ext cx="438912" cy="438912"/>
            <a:chOff x="0" y="0"/>
            <a:chExt cx="585216" cy="585216"/>
          </a:xfrm>
        </p:grpSpPr>
        <p:sp>
          <p:nvSpPr>
            <p:cNvPr name="Freeform 52" id="52"/>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53" id="53"/>
            <p:cNvSpPr txBox="true"/>
            <p:nvPr/>
          </p:nvSpPr>
          <p:spPr>
            <a:xfrm>
              <a:off x="0" y="-19050"/>
              <a:ext cx="585216" cy="604266"/>
            </a:xfrm>
            <a:prstGeom prst="rect">
              <a:avLst/>
            </a:prstGeom>
          </p:spPr>
          <p:txBody>
            <a:bodyPr anchor="ctr" rtlCol="false" tIns="0" lIns="0" bIns="0" rIns="0"/>
            <a:lstStyle/>
            <a:p>
              <a:pPr algn="ctr">
                <a:lnSpc>
                  <a:spcPts val="1497"/>
                </a:lnSpc>
              </a:pPr>
              <a:r>
                <a:rPr lang="en-US" sz="1248" b="true">
                  <a:solidFill>
                    <a:srgbClr val="FFFFFF"/>
                  </a:solidFill>
                  <a:latin typeface="Calibri (MS) Bold"/>
                  <a:ea typeface="Calibri (MS) Bold"/>
                  <a:cs typeface="Calibri (MS) Bold"/>
                  <a:sym typeface="Calibri (MS) Bold"/>
                </a:rPr>
                <a:t>1</a:t>
              </a:r>
            </a:p>
          </p:txBody>
        </p:sp>
      </p:grpSp>
      <p:grpSp>
        <p:nvGrpSpPr>
          <p:cNvPr name="Group 54" id="54"/>
          <p:cNvGrpSpPr/>
          <p:nvPr/>
        </p:nvGrpSpPr>
        <p:grpSpPr>
          <a:xfrm rot="0">
            <a:off x="1371600" y="8435340"/>
            <a:ext cx="2674620" cy="438912"/>
            <a:chOff x="0" y="0"/>
            <a:chExt cx="3566160" cy="585216"/>
          </a:xfrm>
        </p:grpSpPr>
        <p:sp>
          <p:nvSpPr>
            <p:cNvPr name="Freeform 55" id="55"/>
            <p:cNvSpPr/>
            <p:nvPr/>
          </p:nvSpPr>
          <p:spPr>
            <a:xfrm flipH="false" flipV="false" rot="0">
              <a:off x="0" y="0"/>
              <a:ext cx="3566160" cy="585216"/>
            </a:xfrm>
            <a:custGeom>
              <a:avLst/>
              <a:gdLst/>
              <a:ahLst/>
              <a:cxnLst/>
              <a:rect r="r" b="b" t="t" l="l"/>
              <a:pathLst>
                <a:path h="585216" w="3566160">
                  <a:moveTo>
                    <a:pt x="0" y="0"/>
                  </a:moveTo>
                  <a:lnTo>
                    <a:pt x="3566160" y="0"/>
                  </a:lnTo>
                  <a:lnTo>
                    <a:pt x="3566160" y="585216"/>
                  </a:lnTo>
                  <a:lnTo>
                    <a:pt x="0" y="585216"/>
                  </a:lnTo>
                  <a:close/>
                </a:path>
              </a:pathLst>
            </a:custGeom>
            <a:blipFill>
              <a:blip r:embed="rId3">
                <a:alphaModFix amt="0"/>
              </a:blip>
              <a:stretch>
                <a:fillRect l="0" t="-68736" r="0" b="-68736"/>
              </a:stretch>
            </a:blipFill>
          </p:spPr>
        </p:sp>
        <p:sp>
          <p:nvSpPr>
            <p:cNvPr name="TextBox 56" id="56"/>
            <p:cNvSpPr txBox="true"/>
            <p:nvPr/>
          </p:nvSpPr>
          <p:spPr>
            <a:xfrm>
              <a:off x="0" y="-47625"/>
              <a:ext cx="3566160" cy="632841"/>
            </a:xfrm>
            <a:prstGeom prst="rect">
              <a:avLst/>
            </a:prstGeom>
          </p:spPr>
          <p:txBody>
            <a:bodyPr anchor="ctr" rtlCol="false" tIns="0" lIns="0" bIns="0" rIns="0"/>
            <a:lstStyle/>
            <a:p>
              <a:pPr algn="l">
                <a:lnSpc>
                  <a:spcPts val="2399"/>
                </a:lnSpc>
              </a:pPr>
              <a:r>
                <a:rPr lang="en-US" sz="1999" b="true">
                  <a:solidFill>
                    <a:srgbClr val="1B1F3B"/>
                  </a:solidFill>
                  <a:latin typeface="Calibri (MS) Bold"/>
                  <a:ea typeface="Calibri (MS) Bold"/>
                  <a:cs typeface="Calibri (MS) Bold"/>
                  <a:sym typeface="Calibri (MS) Bold"/>
                </a:rPr>
                <a:t>Code Editor</a:t>
              </a:r>
            </a:p>
          </p:txBody>
        </p:sp>
      </p:grpSp>
      <p:grpSp>
        <p:nvGrpSpPr>
          <p:cNvPr name="Group 57" id="57"/>
          <p:cNvGrpSpPr/>
          <p:nvPr/>
        </p:nvGrpSpPr>
        <p:grpSpPr>
          <a:xfrm rot="0">
            <a:off x="4251960" y="8435340"/>
            <a:ext cx="438912" cy="438912"/>
            <a:chOff x="0" y="0"/>
            <a:chExt cx="585216" cy="585216"/>
          </a:xfrm>
        </p:grpSpPr>
        <p:sp>
          <p:nvSpPr>
            <p:cNvPr name="Freeform 58" id="58"/>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4FB6B0"/>
            </a:solidFill>
          </p:spPr>
        </p:sp>
      </p:grpSp>
      <p:grpSp>
        <p:nvGrpSpPr>
          <p:cNvPr name="Group 59" id="59"/>
          <p:cNvGrpSpPr/>
          <p:nvPr/>
        </p:nvGrpSpPr>
        <p:grpSpPr>
          <a:xfrm rot="0">
            <a:off x="4251960" y="8435340"/>
            <a:ext cx="438912" cy="438912"/>
            <a:chOff x="0" y="0"/>
            <a:chExt cx="585216" cy="585216"/>
          </a:xfrm>
        </p:grpSpPr>
        <p:sp>
          <p:nvSpPr>
            <p:cNvPr name="Freeform 60" id="60"/>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61" id="61"/>
            <p:cNvSpPr txBox="true"/>
            <p:nvPr/>
          </p:nvSpPr>
          <p:spPr>
            <a:xfrm>
              <a:off x="0" y="-19050"/>
              <a:ext cx="585216" cy="604266"/>
            </a:xfrm>
            <a:prstGeom prst="rect">
              <a:avLst/>
            </a:prstGeom>
          </p:spPr>
          <p:txBody>
            <a:bodyPr anchor="ctr" rtlCol="false" tIns="0" lIns="0" bIns="0" rIns="0"/>
            <a:lstStyle/>
            <a:p>
              <a:pPr algn="ctr">
                <a:lnSpc>
                  <a:spcPts val="1497"/>
                </a:lnSpc>
              </a:pPr>
              <a:r>
                <a:rPr lang="en-US" sz="1248" b="true">
                  <a:solidFill>
                    <a:srgbClr val="FFFFFF"/>
                  </a:solidFill>
                  <a:latin typeface="Calibri (MS) Bold"/>
                  <a:ea typeface="Calibri (MS) Bold"/>
                  <a:cs typeface="Calibri (MS) Bold"/>
                  <a:sym typeface="Calibri (MS) Bold"/>
                </a:rPr>
                <a:t>2</a:t>
              </a:r>
            </a:p>
          </p:txBody>
        </p:sp>
      </p:grpSp>
      <p:grpSp>
        <p:nvGrpSpPr>
          <p:cNvPr name="Group 62" id="62"/>
          <p:cNvGrpSpPr/>
          <p:nvPr/>
        </p:nvGrpSpPr>
        <p:grpSpPr>
          <a:xfrm rot="0">
            <a:off x="4800600" y="8435340"/>
            <a:ext cx="2674620" cy="438912"/>
            <a:chOff x="0" y="0"/>
            <a:chExt cx="3566160" cy="585216"/>
          </a:xfrm>
        </p:grpSpPr>
        <p:sp>
          <p:nvSpPr>
            <p:cNvPr name="Freeform 63" id="63"/>
            <p:cNvSpPr/>
            <p:nvPr/>
          </p:nvSpPr>
          <p:spPr>
            <a:xfrm flipH="false" flipV="false" rot="0">
              <a:off x="0" y="0"/>
              <a:ext cx="3566160" cy="585216"/>
            </a:xfrm>
            <a:custGeom>
              <a:avLst/>
              <a:gdLst/>
              <a:ahLst/>
              <a:cxnLst/>
              <a:rect r="r" b="b" t="t" l="l"/>
              <a:pathLst>
                <a:path h="585216" w="3566160">
                  <a:moveTo>
                    <a:pt x="0" y="0"/>
                  </a:moveTo>
                  <a:lnTo>
                    <a:pt x="3566160" y="0"/>
                  </a:lnTo>
                  <a:lnTo>
                    <a:pt x="3566160" y="585216"/>
                  </a:lnTo>
                  <a:lnTo>
                    <a:pt x="0" y="585216"/>
                  </a:lnTo>
                  <a:close/>
                </a:path>
              </a:pathLst>
            </a:custGeom>
            <a:blipFill>
              <a:blip r:embed="rId3">
                <a:alphaModFix amt="0"/>
              </a:blip>
              <a:stretch>
                <a:fillRect l="0" t="-68736" r="0" b="-68736"/>
              </a:stretch>
            </a:blipFill>
          </p:spPr>
        </p:sp>
        <p:sp>
          <p:nvSpPr>
            <p:cNvPr name="TextBox 64" id="64"/>
            <p:cNvSpPr txBox="true"/>
            <p:nvPr/>
          </p:nvSpPr>
          <p:spPr>
            <a:xfrm>
              <a:off x="0" y="-47625"/>
              <a:ext cx="3566160" cy="632841"/>
            </a:xfrm>
            <a:prstGeom prst="rect">
              <a:avLst/>
            </a:prstGeom>
          </p:spPr>
          <p:txBody>
            <a:bodyPr anchor="ctr" rtlCol="false" tIns="0" lIns="0" bIns="0" rIns="0"/>
            <a:lstStyle/>
            <a:p>
              <a:pPr algn="l">
                <a:lnSpc>
                  <a:spcPts val="2399"/>
                </a:lnSpc>
              </a:pPr>
              <a:r>
                <a:rPr lang="en-US" sz="1999" b="true">
                  <a:solidFill>
                    <a:srgbClr val="1B1F3B"/>
                  </a:solidFill>
                  <a:latin typeface="Calibri (MS) Bold"/>
                  <a:ea typeface="Calibri (MS) Bold"/>
                  <a:cs typeface="Calibri (MS) Bold"/>
                  <a:sym typeface="Calibri (MS) Bold"/>
                </a:rPr>
                <a:t>File Explorer</a:t>
              </a:r>
            </a:p>
          </p:txBody>
        </p:sp>
      </p:grpSp>
      <p:grpSp>
        <p:nvGrpSpPr>
          <p:cNvPr name="Group 65" id="65"/>
          <p:cNvGrpSpPr/>
          <p:nvPr/>
        </p:nvGrpSpPr>
        <p:grpSpPr>
          <a:xfrm rot="0">
            <a:off x="7680960" y="8435340"/>
            <a:ext cx="438912" cy="438912"/>
            <a:chOff x="0" y="0"/>
            <a:chExt cx="585216" cy="585216"/>
          </a:xfrm>
        </p:grpSpPr>
        <p:sp>
          <p:nvSpPr>
            <p:cNvPr name="Freeform 66" id="66"/>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4FB6B0"/>
            </a:solidFill>
          </p:spPr>
        </p:sp>
      </p:grpSp>
      <p:grpSp>
        <p:nvGrpSpPr>
          <p:cNvPr name="Group 67" id="67"/>
          <p:cNvGrpSpPr/>
          <p:nvPr/>
        </p:nvGrpSpPr>
        <p:grpSpPr>
          <a:xfrm rot="0">
            <a:off x="7680960" y="8435340"/>
            <a:ext cx="438912" cy="438912"/>
            <a:chOff x="0" y="0"/>
            <a:chExt cx="585216" cy="585216"/>
          </a:xfrm>
        </p:grpSpPr>
        <p:sp>
          <p:nvSpPr>
            <p:cNvPr name="Freeform 68" id="68"/>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69" id="69"/>
            <p:cNvSpPr txBox="true"/>
            <p:nvPr/>
          </p:nvSpPr>
          <p:spPr>
            <a:xfrm>
              <a:off x="0" y="-19050"/>
              <a:ext cx="585216" cy="604266"/>
            </a:xfrm>
            <a:prstGeom prst="rect">
              <a:avLst/>
            </a:prstGeom>
          </p:spPr>
          <p:txBody>
            <a:bodyPr anchor="ctr" rtlCol="false" tIns="0" lIns="0" bIns="0" rIns="0"/>
            <a:lstStyle/>
            <a:p>
              <a:pPr algn="ctr">
                <a:lnSpc>
                  <a:spcPts val="1497"/>
                </a:lnSpc>
              </a:pPr>
              <a:r>
                <a:rPr lang="en-US" sz="1248" b="true">
                  <a:solidFill>
                    <a:srgbClr val="FFFFFF"/>
                  </a:solidFill>
                  <a:latin typeface="Calibri (MS) Bold"/>
                  <a:ea typeface="Calibri (MS) Bold"/>
                  <a:cs typeface="Calibri (MS) Bold"/>
                  <a:sym typeface="Calibri (MS) Bold"/>
                </a:rPr>
                <a:t>3</a:t>
              </a:r>
            </a:p>
          </p:txBody>
        </p:sp>
      </p:grpSp>
      <p:grpSp>
        <p:nvGrpSpPr>
          <p:cNvPr name="Group 70" id="70"/>
          <p:cNvGrpSpPr/>
          <p:nvPr/>
        </p:nvGrpSpPr>
        <p:grpSpPr>
          <a:xfrm rot="0">
            <a:off x="8229600" y="8435340"/>
            <a:ext cx="2674620" cy="438912"/>
            <a:chOff x="0" y="0"/>
            <a:chExt cx="3566160" cy="585216"/>
          </a:xfrm>
        </p:grpSpPr>
        <p:sp>
          <p:nvSpPr>
            <p:cNvPr name="Freeform 71" id="71"/>
            <p:cNvSpPr/>
            <p:nvPr/>
          </p:nvSpPr>
          <p:spPr>
            <a:xfrm flipH="false" flipV="false" rot="0">
              <a:off x="0" y="0"/>
              <a:ext cx="3566160" cy="585216"/>
            </a:xfrm>
            <a:custGeom>
              <a:avLst/>
              <a:gdLst/>
              <a:ahLst/>
              <a:cxnLst/>
              <a:rect r="r" b="b" t="t" l="l"/>
              <a:pathLst>
                <a:path h="585216" w="3566160">
                  <a:moveTo>
                    <a:pt x="0" y="0"/>
                  </a:moveTo>
                  <a:lnTo>
                    <a:pt x="3566160" y="0"/>
                  </a:lnTo>
                  <a:lnTo>
                    <a:pt x="3566160" y="585216"/>
                  </a:lnTo>
                  <a:lnTo>
                    <a:pt x="0" y="585216"/>
                  </a:lnTo>
                  <a:close/>
                </a:path>
              </a:pathLst>
            </a:custGeom>
            <a:blipFill>
              <a:blip r:embed="rId3">
                <a:alphaModFix amt="0"/>
              </a:blip>
              <a:stretch>
                <a:fillRect l="0" t="-68736" r="0" b="-68736"/>
              </a:stretch>
            </a:blipFill>
          </p:spPr>
        </p:sp>
        <p:sp>
          <p:nvSpPr>
            <p:cNvPr name="TextBox 72" id="72"/>
            <p:cNvSpPr txBox="true"/>
            <p:nvPr/>
          </p:nvSpPr>
          <p:spPr>
            <a:xfrm>
              <a:off x="0" y="-47625"/>
              <a:ext cx="3566160" cy="632841"/>
            </a:xfrm>
            <a:prstGeom prst="rect">
              <a:avLst/>
            </a:prstGeom>
          </p:spPr>
          <p:txBody>
            <a:bodyPr anchor="ctr" rtlCol="false" tIns="0" lIns="0" bIns="0" rIns="0"/>
            <a:lstStyle/>
            <a:p>
              <a:pPr algn="l">
                <a:lnSpc>
                  <a:spcPts val="2399"/>
                </a:lnSpc>
              </a:pPr>
              <a:r>
                <a:rPr lang="en-US" sz="1999" b="true">
                  <a:solidFill>
                    <a:srgbClr val="1B1F3B"/>
                  </a:solidFill>
                  <a:latin typeface="Calibri (MS) Bold"/>
                  <a:ea typeface="Calibri (MS) Bold"/>
                  <a:cs typeface="Calibri (MS) Bold"/>
                  <a:sym typeface="Calibri (MS) Bold"/>
                </a:rPr>
                <a:t>Terminal</a:t>
              </a:r>
            </a:p>
          </p:txBody>
        </p:sp>
      </p:grpSp>
      <p:grpSp>
        <p:nvGrpSpPr>
          <p:cNvPr name="Group 73" id="73"/>
          <p:cNvGrpSpPr/>
          <p:nvPr/>
        </p:nvGrpSpPr>
        <p:grpSpPr>
          <a:xfrm rot="0">
            <a:off x="11109960" y="8435340"/>
            <a:ext cx="438912" cy="438912"/>
            <a:chOff x="0" y="0"/>
            <a:chExt cx="585216" cy="585216"/>
          </a:xfrm>
        </p:grpSpPr>
        <p:sp>
          <p:nvSpPr>
            <p:cNvPr name="Freeform 74" id="7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4FB6B0"/>
            </a:solidFill>
          </p:spPr>
        </p:sp>
      </p:grpSp>
      <p:grpSp>
        <p:nvGrpSpPr>
          <p:cNvPr name="Group 75" id="75"/>
          <p:cNvGrpSpPr/>
          <p:nvPr/>
        </p:nvGrpSpPr>
        <p:grpSpPr>
          <a:xfrm rot="0">
            <a:off x="11109960" y="8435340"/>
            <a:ext cx="438912" cy="438912"/>
            <a:chOff x="0" y="0"/>
            <a:chExt cx="585216" cy="585216"/>
          </a:xfrm>
        </p:grpSpPr>
        <p:sp>
          <p:nvSpPr>
            <p:cNvPr name="Freeform 76" id="7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77" id="77"/>
            <p:cNvSpPr txBox="true"/>
            <p:nvPr/>
          </p:nvSpPr>
          <p:spPr>
            <a:xfrm>
              <a:off x="0" y="-19050"/>
              <a:ext cx="585216" cy="604266"/>
            </a:xfrm>
            <a:prstGeom prst="rect">
              <a:avLst/>
            </a:prstGeom>
          </p:spPr>
          <p:txBody>
            <a:bodyPr anchor="ctr" rtlCol="false" tIns="0" lIns="0" bIns="0" rIns="0"/>
            <a:lstStyle/>
            <a:p>
              <a:pPr algn="ctr">
                <a:lnSpc>
                  <a:spcPts val="1497"/>
                </a:lnSpc>
              </a:pPr>
              <a:r>
                <a:rPr lang="en-US" sz="1248" b="true">
                  <a:solidFill>
                    <a:srgbClr val="FFFFFF"/>
                  </a:solidFill>
                  <a:latin typeface="Calibri (MS) Bold"/>
                  <a:ea typeface="Calibri (MS) Bold"/>
                  <a:cs typeface="Calibri (MS) Bold"/>
                  <a:sym typeface="Calibri (MS) Bold"/>
                </a:rPr>
                <a:t>4</a:t>
              </a:r>
            </a:p>
          </p:txBody>
        </p:sp>
      </p:grpSp>
      <p:grpSp>
        <p:nvGrpSpPr>
          <p:cNvPr name="Group 78" id="78"/>
          <p:cNvGrpSpPr/>
          <p:nvPr/>
        </p:nvGrpSpPr>
        <p:grpSpPr>
          <a:xfrm rot="0">
            <a:off x="11658600" y="8435340"/>
            <a:ext cx="2674620" cy="438912"/>
            <a:chOff x="0" y="0"/>
            <a:chExt cx="3566160" cy="585216"/>
          </a:xfrm>
        </p:grpSpPr>
        <p:sp>
          <p:nvSpPr>
            <p:cNvPr name="Freeform 79" id="79"/>
            <p:cNvSpPr/>
            <p:nvPr/>
          </p:nvSpPr>
          <p:spPr>
            <a:xfrm flipH="false" flipV="false" rot="0">
              <a:off x="0" y="0"/>
              <a:ext cx="3566160" cy="585216"/>
            </a:xfrm>
            <a:custGeom>
              <a:avLst/>
              <a:gdLst/>
              <a:ahLst/>
              <a:cxnLst/>
              <a:rect r="r" b="b" t="t" l="l"/>
              <a:pathLst>
                <a:path h="585216" w="3566160">
                  <a:moveTo>
                    <a:pt x="0" y="0"/>
                  </a:moveTo>
                  <a:lnTo>
                    <a:pt x="3566160" y="0"/>
                  </a:lnTo>
                  <a:lnTo>
                    <a:pt x="3566160" y="585216"/>
                  </a:lnTo>
                  <a:lnTo>
                    <a:pt x="0" y="585216"/>
                  </a:lnTo>
                  <a:close/>
                </a:path>
              </a:pathLst>
            </a:custGeom>
            <a:blipFill>
              <a:blip r:embed="rId3">
                <a:alphaModFix amt="0"/>
              </a:blip>
              <a:stretch>
                <a:fillRect l="0" t="-68736" r="0" b="-68736"/>
              </a:stretch>
            </a:blipFill>
          </p:spPr>
        </p:sp>
        <p:sp>
          <p:nvSpPr>
            <p:cNvPr name="TextBox 80" id="80"/>
            <p:cNvSpPr txBox="true"/>
            <p:nvPr/>
          </p:nvSpPr>
          <p:spPr>
            <a:xfrm>
              <a:off x="0" y="-47625"/>
              <a:ext cx="3566160" cy="632841"/>
            </a:xfrm>
            <a:prstGeom prst="rect">
              <a:avLst/>
            </a:prstGeom>
          </p:spPr>
          <p:txBody>
            <a:bodyPr anchor="ctr" rtlCol="false" tIns="0" lIns="0" bIns="0" rIns="0"/>
            <a:lstStyle/>
            <a:p>
              <a:pPr algn="l">
                <a:lnSpc>
                  <a:spcPts val="2399"/>
                </a:lnSpc>
              </a:pPr>
              <a:r>
                <a:rPr lang="en-US" sz="1999" b="true">
                  <a:solidFill>
                    <a:srgbClr val="1B1F3B"/>
                  </a:solidFill>
                  <a:latin typeface="Calibri (MS) Bold"/>
                  <a:ea typeface="Calibri (MS) Bold"/>
                  <a:cs typeface="Calibri (MS) Bold"/>
                  <a:sym typeface="Calibri (MS) Bold"/>
                </a:rPr>
                <a:t>Extensions</a:t>
              </a:r>
            </a:p>
          </p:txBody>
        </p:sp>
      </p:grpSp>
      <p:grpSp>
        <p:nvGrpSpPr>
          <p:cNvPr name="Group 81" id="81"/>
          <p:cNvGrpSpPr/>
          <p:nvPr/>
        </p:nvGrpSpPr>
        <p:grpSpPr>
          <a:xfrm rot="0">
            <a:off x="14538960" y="8435340"/>
            <a:ext cx="438912" cy="438912"/>
            <a:chOff x="0" y="0"/>
            <a:chExt cx="585216" cy="585216"/>
          </a:xfrm>
        </p:grpSpPr>
        <p:sp>
          <p:nvSpPr>
            <p:cNvPr name="Freeform 82" id="82"/>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4FB6B0"/>
            </a:solidFill>
          </p:spPr>
        </p:sp>
      </p:grpSp>
      <p:grpSp>
        <p:nvGrpSpPr>
          <p:cNvPr name="Group 83" id="83"/>
          <p:cNvGrpSpPr/>
          <p:nvPr/>
        </p:nvGrpSpPr>
        <p:grpSpPr>
          <a:xfrm rot="0">
            <a:off x="14538960" y="8435340"/>
            <a:ext cx="438912" cy="438912"/>
            <a:chOff x="0" y="0"/>
            <a:chExt cx="585216" cy="585216"/>
          </a:xfrm>
        </p:grpSpPr>
        <p:sp>
          <p:nvSpPr>
            <p:cNvPr name="Freeform 84" id="84"/>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85" id="85"/>
            <p:cNvSpPr txBox="true"/>
            <p:nvPr/>
          </p:nvSpPr>
          <p:spPr>
            <a:xfrm>
              <a:off x="0" y="-19050"/>
              <a:ext cx="585216" cy="604266"/>
            </a:xfrm>
            <a:prstGeom prst="rect">
              <a:avLst/>
            </a:prstGeom>
          </p:spPr>
          <p:txBody>
            <a:bodyPr anchor="ctr" rtlCol="false" tIns="0" lIns="0" bIns="0" rIns="0"/>
            <a:lstStyle/>
            <a:p>
              <a:pPr algn="ctr">
                <a:lnSpc>
                  <a:spcPts val="1497"/>
                </a:lnSpc>
              </a:pPr>
              <a:r>
                <a:rPr lang="en-US" sz="1248" b="true">
                  <a:solidFill>
                    <a:srgbClr val="FFFFFF"/>
                  </a:solidFill>
                  <a:latin typeface="Calibri (MS) Bold"/>
                  <a:ea typeface="Calibri (MS) Bold"/>
                  <a:cs typeface="Calibri (MS) Bold"/>
                  <a:sym typeface="Calibri (MS) Bold"/>
                </a:rPr>
                <a:t>5</a:t>
              </a:r>
            </a:p>
          </p:txBody>
        </p:sp>
      </p:grpSp>
      <p:grpSp>
        <p:nvGrpSpPr>
          <p:cNvPr name="Group 86" id="86"/>
          <p:cNvGrpSpPr/>
          <p:nvPr/>
        </p:nvGrpSpPr>
        <p:grpSpPr>
          <a:xfrm rot="0">
            <a:off x="15087600" y="8435340"/>
            <a:ext cx="2674620" cy="438912"/>
            <a:chOff x="0" y="0"/>
            <a:chExt cx="3566160" cy="585216"/>
          </a:xfrm>
        </p:grpSpPr>
        <p:sp>
          <p:nvSpPr>
            <p:cNvPr name="Freeform 87" id="87"/>
            <p:cNvSpPr/>
            <p:nvPr/>
          </p:nvSpPr>
          <p:spPr>
            <a:xfrm flipH="false" flipV="false" rot="0">
              <a:off x="0" y="0"/>
              <a:ext cx="3566160" cy="585216"/>
            </a:xfrm>
            <a:custGeom>
              <a:avLst/>
              <a:gdLst/>
              <a:ahLst/>
              <a:cxnLst/>
              <a:rect r="r" b="b" t="t" l="l"/>
              <a:pathLst>
                <a:path h="585216" w="3566160">
                  <a:moveTo>
                    <a:pt x="0" y="0"/>
                  </a:moveTo>
                  <a:lnTo>
                    <a:pt x="3566160" y="0"/>
                  </a:lnTo>
                  <a:lnTo>
                    <a:pt x="3566160" y="585216"/>
                  </a:lnTo>
                  <a:lnTo>
                    <a:pt x="0" y="585216"/>
                  </a:lnTo>
                  <a:close/>
                </a:path>
              </a:pathLst>
            </a:custGeom>
            <a:blipFill>
              <a:blip r:embed="rId3">
                <a:alphaModFix amt="0"/>
              </a:blip>
              <a:stretch>
                <a:fillRect l="0" t="-68736" r="0" b="-68736"/>
              </a:stretch>
            </a:blipFill>
          </p:spPr>
        </p:sp>
        <p:sp>
          <p:nvSpPr>
            <p:cNvPr name="TextBox 88" id="88"/>
            <p:cNvSpPr txBox="true"/>
            <p:nvPr/>
          </p:nvSpPr>
          <p:spPr>
            <a:xfrm>
              <a:off x="0" y="-47625"/>
              <a:ext cx="3566160" cy="632841"/>
            </a:xfrm>
            <a:prstGeom prst="rect">
              <a:avLst/>
            </a:prstGeom>
          </p:spPr>
          <p:txBody>
            <a:bodyPr anchor="ctr" rtlCol="false" tIns="0" lIns="0" bIns="0" rIns="0"/>
            <a:lstStyle/>
            <a:p>
              <a:pPr algn="l">
                <a:lnSpc>
                  <a:spcPts val="2399"/>
                </a:lnSpc>
              </a:pPr>
              <a:r>
                <a:rPr lang="en-US" sz="1999" b="true">
                  <a:solidFill>
                    <a:srgbClr val="1B1F3B"/>
                  </a:solidFill>
                  <a:latin typeface="Calibri (MS) Bold"/>
                  <a:ea typeface="Calibri (MS) Bold"/>
                  <a:cs typeface="Calibri (MS) Bold"/>
                  <a:sym typeface="Calibri (MS) Bold"/>
                </a:rPr>
                <a:t>Run / Debug</a:t>
              </a:r>
            </a:p>
          </p:txBody>
        </p:sp>
      </p:grpSp>
      <p:grpSp>
        <p:nvGrpSpPr>
          <p:cNvPr name="Group 89" id="89"/>
          <p:cNvGrpSpPr/>
          <p:nvPr/>
        </p:nvGrpSpPr>
        <p:grpSpPr>
          <a:xfrm rot="0">
            <a:off x="685800" y="9710928"/>
            <a:ext cx="10972800" cy="411480"/>
            <a:chOff x="0" y="0"/>
            <a:chExt cx="14630400" cy="548640"/>
          </a:xfrm>
        </p:grpSpPr>
        <p:sp>
          <p:nvSpPr>
            <p:cNvPr name="Freeform 90" id="9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91" id="91"/>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92" id="92"/>
          <p:cNvGrpSpPr/>
          <p:nvPr/>
        </p:nvGrpSpPr>
        <p:grpSpPr>
          <a:xfrm rot="0">
            <a:off x="16915943" y="9710928"/>
            <a:ext cx="685800" cy="411480"/>
            <a:chOff x="0" y="0"/>
            <a:chExt cx="914400" cy="548640"/>
          </a:xfrm>
        </p:grpSpPr>
        <p:sp>
          <p:nvSpPr>
            <p:cNvPr name="Freeform 93" id="9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94" id="9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MEET THE LANGUAGE</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What is Python?</a:t>
              </a:r>
            </a:p>
          </p:txBody>
        </p:sp>
      </p:grpSp>
      <p:grpSp>
        <p:nvGrpSpPr>
          <p:cNvPr name="Group 8" id="8"/>
          <p:cNvGrpSpPr/>
          <p:nvPr/>
        </p:nvGrpSpPr>
        <p:grpSpPr>
          <a:xfrm rot="0">
            <a:off x="731139" y="2322195"/>
            <a:ext cx="16615410" cy="2419350"/>
            <a:chOff x="0" y="0"/>
            <a:chExt cx="22153880" cy="3225800"/>
          </a:xfrm>
        </p:grpSpPr>
        <p:sp>
          <p:nvSpPr>
            <p:cNvPr name="Freeform 9" id="9"/>
            <p:cNvSpPr/>
            <p:nvPr/>
          </p:nvSpPr>
          <p:spPr>
            <a:xfrm flipH="false" flipV="false" rot="0">
              <a:off x="0" y="0"/>
              <a:ext cx="22153880" cy="3225800"/>
            </a:xfrm>
            <a:custGeom>
              <a:avLst/>
              <a:gdLst/>
              <a:ahLst/>
              <a:cxnLst/>
              <a:rect r="r" b="b" t="t" l="l"/>
              <a:pathLst>
                <a:path h="3225800" w="22153880">
                  <a:moveTo>
                    <a:pt x="0" y="184277"/>
                  </a:moveTo>
                  <a:cubicBezTo>
                    <a:pt x="0" y="82550"/>
                    <a:pt x="82550" y="0"/>
                    <a:pt x="184277" y="0"/>
                  </a:cubicBezTo>
                  <a:lnTo>
                    <a:pt x="21969603" y="0"/>
                  </a:lnTo>
                  <a:cubicBezTo>
                    <a:pt x="22071457" y="0"/>
                    <a:pt x="22153880" y="82550"/>
                    <a:pt x="22153880" y="184277"/>
                  </a:cubicBezTo>
                  <a:lnTo>
                    <a:pt x="22153880" y="3041523"/>
                  </a:lnTo>
                  <a:cubicBezTo>
                    <a:pt x="22153880" y="3143377"/>
                    <a:pt x="22071330" y="3225800"/>
                    <a:pt x="21969603" y="3225800"/>
                  </a:cubicBezTo>
                  <a:lnTo>
                    <a:pt x="184277" y="3225800"/>
                  </a:lnTo>
                  <a:cubicBezTo>
                    <a:pt x="82550" y="3225800"/>
                    <a:pt x="0" y="3143250"/>
                    <a:pt x="0" y="3041523"/>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0604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12" id="12"/>
          <p:cNvGrpSpPr/>
          <p:nvPr/>
        </p:nvGrpSpPr>
        <p:grpSpPr>
          <a:xfrm rot="0">
            <a:off x="1124712" y="2825496"/>
            <a:ext cx="15992856" cy="493776"/>
            <a:chOff x="0" y="0"/>
            <a:chExt cx="21323808" cy="658368"/>
          </a:xfrm>
        </p:grpSpPr>
        <p:sp>
          <p:nvSpPr>
            <p:cNvPr name="Freeform 13" id="13"/>
            <p:cNvSpPr/>
            <p:nvPr/>
          </p:nvSpPr>
          <p:spPr>
            <a:xfrm flipH="false" flipV="false" rot="0">
              <a:off x="0" y="0"/>
              <a:ext cx="21323808" cy="658368"/>
            </a:xfrm>
            <a:custGeom>
              <a:avLst/>
              <a:gdLst/>
              <a:ahLst/>
              <a:cxnLst/>
              <a:rect r="r" b="b" t="t" l="l"/>
              <a:pathLst>
                <a:path h="658368" w="21323808">
                  <a:moveTo>
                    <a:pt x="0" y="0"/>
                  </a:moveTo>
                  <a:lnTo>
                    <a:pt x="21323808" y="0"/>
                  </a:lnTo>
                  <a:lnTo>
                    <a:pt x="21323808" y="658368"/>
                  </a:lnTo>
                  <a:lnTo>
                    <a:pt x="0" y="658368"/>
                  </a:lnTo>
                  <a:close/>
                </a:path>
              </a:pathLst>
            </a:custGeom>
            <a:blipFill>
              <a:blip r:embed="rId3">
                <a:alphaModFix amt="0"/>
              </a:blip>
              <a:stretch>
                <a:fillRect l="0" t="-581098" r="0" b="-581098"/>
              </a:stretch>
            </a:blipFill>
          </p:spPr>
        </p:sp>
        <p:sp>
          <p:nvSpPr>
            <p:cNvPr name="TextBox 14" id="14"/>
            <p:cNvSpPr txBox="true"/>
            <p:nvPr/>
          </p:nvSpPr>
          <p:spPr>
            <a:xfrm>
              <a:off x="0" y="-57150"/>
              <a:ext cx="2132380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PYTHON</a:t>
              </a:r>
            </a:p>
          </p:txBody>
        </p:sp>
      </p:grpSp>
      <p:sp>
        <p:nvSpPr>
          <p:cNvPr name="TextBox 15" id="15"/>
          <p:cNvSpPr txBox="true"/>
          <p:nvPr/>
        </p:nvSpPr>
        <p:spPr>
          <a:xfrm rot="0">
            <a:off x="1124712" y="3297936"/>
            <a:ext cx="15992856" cy="424663"/>
          </a:xfrm>
          <a:prstGeom prst="rect">
            <a:avLst/>
          </a:prstGeom>
        </p:spPr>
        <p:txBody>
          <a:bodyPr anchor="t" rtlCol="false" tIns="0" lIns="0" bIns="0" rIns="0">
            <a:spAutoFit/>
          </a:bodyPr>
          <a:lstStyle/>
          <a:p>
            <a:pPr algn="l">
              <a:lnSpc>
                <a:spcPts val="3091"/>
              </a:lnSpc>
            </a:pPr>
            <a:r>
              <a:rPr lang="en-US" sz="2299" b="true">
                <a:solidFill>
                  <a:srgbClr val="1B1F3B"/>
                </a:solidFill>
                <a:latin typeface="Calibri (MS) Bold"/>
                <a:ea typeface="Calibri (MS) Bold"/>
                <a:cs typeface="Calibri (MS) Bold"/>
                <a:sym typeface="Calibri (MS) Bold"/>
              </a:rPr>
              <a:t>Definition:  </a:t>
            </a:r>
            <a:r>
              <a:rPr lang="en-US" sz="2299">
                <a:solidFill>
                  <a:srgbClr val="1B1F3B"/>
                </a:solidFill>
                <a:latin typeface="Calibri (MS)"/>
                <a:ea typeface="Calibri (MS)"/>
                <a:cs typeface="Calibri (MS)"/>
                <a:sym typeface="Calibri (MS)"/>
              </a:rPr>
              <a:t>A high-level, general-purpose programming language known for its readable syntax and broad ecosystem of libraries.</a:t>
            </a:r>
          </a:p>
        </p:txBody>
      </p:sp>
      <p:sp>
        <p:nvSpPr>
          <p:cNvPr name="TextBox 16" id="16"/>
          <p:cNvSpPr txBox="true"/>
          <p:nvPr/>
        </p:nvSpPr>
        <p:spPr>
          <a:xfrm rot="0">
            <a:off x="1124712" y="3741039"/>
            <a:ext cx="1599285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Python reads almost like plain English, which is exactly why it's a great first language — and a favorite for AI work.</a:t>
            </a:r>
          </a:p>
        </p:txBody>
      </p:sp>
      <p:grpSp>
        <p:nvGrpSpPr>
          <p:cNvPr name="Group 17" id="17"/>
          <p:cNvGrpSpPr/>
          <p:nvPr/>
        </p:nvGrpSpPr>
        <p:grpSpPr>
          <a:xfrm rot="0">
            <a:off x="822960" y="5006340"/>
            <a:ext cx="10972800" cy="411480"/>
            <a:chOff x="0" y="0"/>
            <a:chExt cx="14630400" cy="548640"/>
          </a:xfrm>
        </p:grpSpPr>
        <p:sp>
          <p:nvSpPr>
            <p:cNvPr name="Freeform 18" id="1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9" id="19"/>
            <p:cNvSpPr txBox="true"/>
            <p:nvPr/>
          </p:nvSpPr>
          <p:spPr>
            <a:xfrm>
              <a:off x="0" y="-47625"/>
              <a:ext cx="14630400" cy="596265"/>
            </a:xfrm>
            <a:prstGeom prst="rect">
              <a:avLst/>
            </a:prstGeom>
          </p:spPr>
          <p:txBody>
            <a:bodyPr anchor="ctr" rtlCol="false" tIns="0" lIns="0" bIns="0" rIns="0"/>
            <a:lstStyle/>
            <a:p>
              <a:pPr algn="l">
                <a:lnSpc>
                  <a:spcPts val="2340"/>
                </a:lnSpc>
              </a:pPr>
              <a:r>
                <a:rPr lang="en-US" sz="1950" b="true">
                  <a:solidFill>
                    <a:srgbClr val="1B1F3B"/>
                  </a:solidFill>
                  <a:latin typeface="Calibri (MS) Bold"/>
                  <a:ea typeface="Calibri (MS) Bold"/>
                  <a:cs typeface="Calibri (MS) Bold"/>
                  <a:sym typeface="Calibri (MS) Bold"/>
                </a:rPr>
                <a:t>Why it's everywhere in AI and beyond:</a:t>
              </a:r>
            </a:p>
          </p:txBody>
        </p:sp>
      </p:grpSp>
      <p:grpSp>
        <p:nvGrpSpPr>
          <p:cNvPr name="Group 20" id="20"/>
          <p:cNvGrpSpPr/>
          <p:nvPr/>
        </p:nvGrpSpPr>
        <p:grpSpPr>
          <a:xfrm rot="0">
            <a:off x="813435" y="5545455"/>
            <a:ext cx="3146298" cy="2145030"/>
            <a:chOff x="0" y="0"/>
            <a:chExt cx="4195064" cy="2860040"/>
          </a:xfrm>
        </p:grpSpPr>
        <p:sp>
          <p:nvSpPr>
            <p:cNvPr name="Freeform 21" id="21"/>
            <p:cNvSpPr/>
            <p:nvPr/>
          </p:nvSpPr>
          <p:spPr>
            <a:xfrm flipH="false" flipV="false" rot="0">
              <a:off x="0" y="0"/>
              <a:ext cx="4195064" cy="2860040"/>
            </a:xfrm>
            <a:custGeom>
              <a:avLst/>
              <a:gdLst/>
              <a:ahLst/>
              <a:cxnLst/>
              <a:rect r="r" b="b" t="t" l="l"/>
              <a:pathLst>
                <a:path h="2860040" w="4195064">
                  <a:moveTo>
                    <a:pt x="0" y="184531"/>
                  </a:moveTo>
                  <a:cubicBezTo>
                    <a:pt x="0" y="82677"/>
                    <a:pt x="82677" y="0"/>
                    <a:pt x="184531" y="0"/>
                  </a:cubicBezTo>
                  <a:lnTo>
                    <a:pt x="4010533" y="0"/>
                  </a:lnTo>
                  <a:cubicBezTo>
                    <a:pt x="4112387" y="0"/>
                    <a:pt x="4195064" y="82677"/>
                    <a:pt x="4195064" y="184531"/>
                  </a:cubicBezTo>
                  <a:lnTo>
                    <a:pt x="4195064" y="2675509"/>
                  </a:lnTo>
                  <a:cubicBezTo>
                    <a:pt x="4195064" y="2777363"/>
                    <a:pt x="4112387" y="2860040"/>
                    <a:pt x="4010533"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22" id="22"/>
          <p:cNvGrpSpPr/>
          <p:nvPr/>
        </p:nvGrpSpPr>
        <p:grpSpPr>
          <a:xfrm rot="0">
            <a:off x="1069848" y="5801868"/>
            <a:ext cx="685800" cy="685800"/>
            <a:chOff x="0" y="0"/>
            <a:chExt cx="914400" cy="914400"/>
          </a:xfrm>
        </p:grpSpPr>
        <p:sp>
          <p:nvSpPr>
            <p:cNvPr name="Freeform 23" id="2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B84C"/>
            </a:solidFill>
          </p:spPr>
        </p:sp>
      </p:grpSp>
      <p:grpSp>
        <p:nvGrpSpPr>
          <p:cNvPr name="Group 24" id="24"/>
          <p:cNvGrpSpPr/>
          <p:nvPr/>
        </p:nvGrpSpPr>
        <p:grpSpPr>
          <a:xfrm rot="0">
            <a:off x="1069848" y="6679692"/>
            <a:ext cx="2633472" cy="548640"/>
            <a:chOff x="0" y="0"/>
            <a:chExt cx="3511296" cy="731520"/>
          </a:xfrm>
        </p:grpSpPr>
        <p:sp>
          <p:nvSpPr>
            <p:cNvPr name="Freeform 25" id="25"/>
            <p:cNvSpPr/>
            <p:nvPr/>
          </p:nvSpPr>
          <p:spPr>
            <a:xfrm flipH="false" flipV="false" rot="0">
              <a:off x="0" y="0"/>
              <a:ext cx="3511296" cy="731520"/>
            </a:xfrm>
            <a:custGeom>
              <a:avLst/>
              <a:gdLst/>
              <a:ahLst/>
              <a:cxnLst/>
              <a:rect r="r" b="b" t="t" l="l"/>
              <a:pathLst>
                <a:path h="731520" w="3511296">
                  <a:moveTo>
                    <a:pt x="0" y="0"/>
                  </a:moveTo>
                  <a:lnTo>
                    <a:pt x="3511296" y="0"/>
                  </a:lnTo>
                  <a:lnTo>
                    <a:pt x="3511296" y="731520"/>
                  </a:lnTo>
                  <a:lnTo>
                    <a:pt x="0" y="731520"/>
                  </a:lnTo>
                  <a:close/>
                </a:path>
              </a:pathLst>
            </a:custGeom>
            <a:blipFill>
              <a:blip r:embed="rId3">
                <a:alphaModFix amt="0"/>
              </a:blip>
              <a:stretch>
                <a:fillRect l="0" t="-43528" r="0" b="-43528"/>
              </a:stretch>
            </a:blipFill>
          </p:spPr>
        </p:sp>
        <p:sp>
          <p:nvSpPr>
            <p:cNvPr name="TextBox 26" id="26"/>
            <p:cNvSpPr txBox="true"/>
            <p:nvPr/>
          </p:nvSpPr>
          <p:spPr>
            <a:xfrm>
              <a:off x="0" y="-38100"/>
              <a:ext cx="3511296" cy="769620"/>
            </a:xfrm>
            <a:prstGeom prst="rect">
              <a:avLst/>
            </a:prstGeom>
          </p:spPr>
          <p:txBody>
            <a:bodyPr anchor="ctr" rtlCol="false" tIns="0" lIns="0" bIns="0" rIns="0"/>
            <a:lstStyle/>
            <a:p>
              <a:pPr algn="l">
                <a:lnSpc>
                  <a:spcPts val="2250"/>
                </a:lnSpc>
              </a:pPr>
              <a:r>
                <a:rPr lang="en-US" sz="1875" b="true">
                  <a:solidFill>
                    <a:srgbClr val="1B1F3B"/>
                  </a:solidFill>
                  <a:latin typeface="Calibri (MS) Bold"/>
                  <a:ea typeface="Calibri (MS) Bold"/>
                  <a:cs typeface="Calibri (MS) Bold"/>
                  <a:sym typeface="Calibri (MS) Bold"/>
                </a:rPr>
                <a:t>AI</a:t>
              </a:r>
            </a:p>
          </p:txBody>
        </p:sp>
      </p:grpSp>
      <p:grpSp>
        <p:nvGrpSpPr>
          <p:cNvPr name="Group 27" id="27"/>
          <p:cNvGrpSpPr/>
          <p:nvPr/>
        </p:nvGrpSpPr>
        <p:grpSpPr>
          <a:xfrm rot="0">
            <a:off x="1069848" y="7173468"/>
            <a:ext cx="2633472" cy="576072"/>
            <a:chOff x="0" y="0"/>
            <a:chExt cx="3511296" cy="768096"/>
          </a:xfrm>
        </p:grpSpPr>
        <p:sp>
          <p:nvSpPr>
            <p:cNvPr name="Freeform 28" id="28"/>
            <p:cNvSpPr/>
            <p:nvPr/>
          </p:nvSpPr>
          <p:spPr>
            <a:xfrm flipH="false" flipV="false" rot="0">
              <a:off x="0" y="0"/>
              <a:ext cx="3511296" cy="768096"/>
            </a:xfrm>
            <a:custGeom>
              <a:avLst/>
              <a:gdLst/>
              <a:ahLst/>
              <a:cxnLst/>
              <a:rect r="r" b="b" t="t" l="l"/>
              <a:pathLst>
                <a:path h="768096" w="3511296">
                  <a:moveTo>
                    <a:pt x="0" y="0"/>
                  </a:moveTo>
                  <a:lnTo>
                    <a:pt x="3511296" y="0"/>
                  </a:lnTo>
                  <a:lnTo>
                    <a:pt x="3511296" y="768096"/>
                  </a:lnTo>
                  <a:lnTo>
                    <a:pt x="0" y="768096"/>
                  </a:lnTo>
                  <a:close/>
                </a:path>
              </a:pathLst>
            </a:custGeom>
            <a:blipFill>
              <a:blip r:embed="rId3">
                <a:alphaModFix amt="0"/>
              </a:blip>
              <a:stretch>
                <a:fillRect l="0" t="-39074" r="0" b="-39074"/>
              </a:stretch>
            </a:blipFill>
          </p:spPr>
        </p:sp>
        <p:sp>
          <p:nvSpPr>
            <p:cNvPr name="TextBox 29" id="29"/>
            <p:cNvSpPr txBox="true"/>
            <p:nvPr/>
          </p:nvSpPr>
          <p:spPr>
            <a:xfrm>
              <a:off x="0" y="-66675"/>
              <a:ext cx="3511296" cy="834771"/>
            </a:xfrm>
            <a:prstGeom prst="rect">
              <a:avLst/>
            </a:prstGeom>
          </p:spPr>
          <p:txBody>
            <a:bodyPr anchor="ctr" rtlCol="false" tIns="0" lIns="0" bIns="0" rIns="0"/>
            <a:lstStyle/>
            <a:p>
              <a:pPr algn="l">
                <a:lnSpc>
                  <a:spcPts val="2772"/>
                </a:lnSpc>
              </a:pPr>
              <a:r>
                <a:rPr lang="en-US" sz="2100">
                  <a:solidFill>
                    <a:srgbClr val="000000"/>
                  </a:solidFill>
                  <a:latin typeface="Calibri (MS)"/>
                  <a:ea typeface="Calibri (MS)"/>
                  <a:cs typeface="Calibri (MS)"/>
                  <a:sym typeface="Calibri (MS)"/>
                </a:rPr>
                <a:t>Building intelligent agents &amp; models</a:t>
              </a:r>
            </a:p>
          </p:txBody>
        </p:sp>
      </p:grpSp>
      <p:grpSp>
        <p:nvGrpSpPr>
          <p:cNvPr name="Group 30" id="30"/>
          <p:cNvGrpSpPr/>
          <p:nvPr/>
        </p:nvGrpSpPr>
        <p:grpSpPr>
          <a:xfrm rot="0">
            <a:off x="4160139" y="5545455"/>
            <a:ext cx="3146298" cy="2145030"/>
            <a:chOff x="0" y="0"/>
            <a:chExt cx="4195064" cy="2860040"/>
          </a:xfrm>
        </p:grpSpPr>
        <p:sp>
          <p:nvSpPr>
            <p:cNvPr name="Freeform 31" id="31"/>
            <p:cNvSpPr/>
            <p:nvPr/>
          </p:nvSpPr>
          <p:spPr>
            <a:xfrm flipH="false" flipV="false" rot="0">
              <a:off x="0" y="0"/>
              <a:ext cx="4195064" cy="2860040"/>
            </a:xfrm>
            <a:custGeom>
              <a:avLst/>
              <a:gdLst/>
              <a:ahLst/>
              <a:cxnLst/>
              <a:rect r="r" b="b" t="t" l="l"/>
              <a:pathLst>
                <a:path h="2860040" w="4195064">
                  <a:moveTo>
                    <a:pt x="0" y="184531"/>
                  </a:moveTo>
                  <a:cubicBezTo>
                    <a:pt x="0" y="82677"/>
                    <a:pt x="82677" y="0"/>
                    <a:pt x="184531" y="0"/>
                  </a:cubicBezTo>
                  <a:lnTo>
                    <a:pt x="4010533" y="0"/>
                  </a:lnTo>
                  <a:cubicBezTo>
                    <a:pt x="4112387" y="0"/>
                    <a:pt x="4195064" y="82677"/>
                    <a:pt x="4195064" y="184531"/>
                  </a:cubicBezTo>
                  <a:lnTo>
                    <a:pt x="4195064" y="2675509"/>
                  </a:lnTo>
                  <a:cubicBezTo>
                    <a:pt x="4195064" y="2777363"/>
                    <a:pt x="4112387" y="2860040"/>
                    <a:pt x="4010533"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32" id="32"/>
          <p:cNvGrpSpPr/>
          <p:nvPr/>
        </p:nvGrpSpPr>
        <p:grpSpPr>
          <a:xfrm rot="0">
            <a:off x="4416552" y="5801868"/>
            <a:ext cx="685800" cy="685800"/>
            <a:chOff x="0" y="0"/>
            <a:chExt cx="914400" cy="914400"/>
          </a:xfrm>
        </p:grpSpPr>
        <p:sp>
          <p:nvSpPr>
            <p:cNvPr name="Freeform 33" id="3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4FB6B0"/>
            </a:solidFill>
          </p:spPr>
        </p:sp>
      </p:grpSp>
      <p:grpSp>
        <p:nvGrpSpPr>
          <p:cNvPr name="Group 34" id="34"/>
          <p:cNvGrpSpPr/>
          <p:nvPr/>
        </p:nvGrpSpPr>
        <p:grpSpPr>
          <a:xfrm rot="0">
            <a:off x="4416552" y="6679692"/>
            <a:ext cx="2633472" cy="548640"/>
            <a:chOff x="0" y="0"/>
            <a:chExt cx="3511296" cy="731520"/>
          </a:xfrm>
        </p:grpSpPr>
        <p:sp>
          <p:nvSpPr>
            <p:cNvPr name="Freeform 35" id="35"/>
            <p:cNvSpPr/>
            <p:nvPr/>
          </p:nvSpPr>
          <p:spPr>
            <a:xfrm flipH="false" flipV="false" rot="0">
              <a:off x="0" y="0"/>
              <a:ext cx="3511296" cy="731520"/>
            </a:xfrm>
            <a:custGeom>
              <a:avLst/>
              <a:gdLst/>
              <a:ahLst/>
              <a:cxnLst/>
              <a:rect r="r" b="b" t="t" l="l"/>
              <a:pathLst>
                <a:path h="731520" w="3511296">
                  <a:moveTo>
                    <a:pt x="0" y="0"/>
                  </a:moveTo>
                  <a:lnTo>
                    <a:pt x="3511296" y="0"/>
                  </a:lnTo>
                  <a:lnTo>
                    <a:pt x="3511296" y="731520"/>
                  </a:lnTo>
                  <a:lnTo>
                    <a:pt x="0" y="731520"/>
                  </a:lnTo>
                  <a:close/>
                </a:path>
              </a:pathLst>
            </a:custGeom>
            <a:blipFill>
              <a:blip r:embed="rId3">
                <a:alphaModFix amt="0"/>
              </a:blip>
              <a:stretch>
                <a:fillRect l="0" t="-43528" r="0" b="-43528"/>
              </a:stretch>
            </a:blipFill>
          </p:spPr>
        </p:sp>
        <p:sp>
          <p:nvSpPr>
            <p:cNvPr name="TextBox 36" id="36"/>
            <p:cNvSpPr txBox="true"/>
            <p:nvPr/>
          </p:nvSpPr>
          <p:spPr>
            <a:xfrm>
              <a:off x="0" y="-38100"/>
              <a:ext cx="3511296" cy="769620"/>
            </a:xfrm>
            <a:prstGeom prst="rect">
              <a:avLst/>
            </a:prstGeom>
          </p:spPr>
          <p:txBody>
            <a:bodyPr anchor="ctr" rtlCol="false" tIns="0" lIns="0" bIns="0" rIns="0"/>
            <a:lstStyle/>
            <a:p>
              <a:pPr algn="l">
                <a:lnSpc>
                  <a:spcPts val="2250"/>
                </a:lnSpc>
              </a:pPr>
              <a:r>
                <a:rPr lang="en-US" sz="1875" b="true">
                  <a:solidFill>
                    <a:srgbClr val="1B1F3B"/>
                  </a:solidFill>
                  <a:latin typeface="Calibri (MS) Bold"/>
                  <a:ea typeface="Calibri (MS) Bold"/>
                  <a:cs typeface="Calibri (MS) Bold"/>
                  <a:sym typeface="Calibri (MS) Bold"/>
                </a:rPr>
                <a:t>Machine Learning</a:t>
              </a:r>
            </a:p>
          </p:txBody>
        </p:sp>
      </p:grpSp>
      <p:grpSp>
        <p:nvGrpSpPr>
          <p:cNvPr name="Group 37" id="37"/>
          <p:cNvGrpSpPr/>
          <p:nvPr/>
        </p:nvGrpSpPr>
        <p:grpSpPr>
          <a:xfrm rot="0">
            <a:off x="4416552" y="7173468"/>
            <a:ext cx="2633472" cy="576072"/>
            <a:chOff x="0" y="0"/>
            <a:chExt cx="3511296" cy="768096"/>
          </a:xfrm>
        </p:grpSpPr>
        <p:sp>
          <p:nvSpPr>
            <p:cNvPr name="Freeform 38" id="38"/>
            <p:cNvSpPr/>
            <p:nvPr/>
          </p:nvSpPr>
          <p:spPr>
            <a:xfrm flipH="false" flipV="false" rot="0">
              <a:off x="0" y="0"/>
              <a:ext cx="3511296" cy="768096"/>
            </a:xfrm>
            <a:custGeom>
              <a:avLst/>
              <a:gdLst/>
              <a:ahLst/>
              <a:cxnLst/>
              <a:rect r="r" b="b" t="t" l="l"/>
              <a:pathLst>
                <a:path h="768096" w="3511296">
                  <a:moveTo>
                    <a:pt x="0" y="0"/>
                  </a:moveTo>
                  <a:lnTo>
                    <a:pt x="3511296" y="0"/>
                  </a:lnTo>
                  <a:lnTo>
                    <a:pt x="3511296" y="768096"/>
                  </a:lnTo>
                  <a:lnTo>
                    <a:pt x="0" y="768096"/>
                  </a:lnTo>
                  <a:close/>
                </a:path>
              </a:pathLst>
            </a:custGeom>
            <a:blipFill>
              <a:blip r:embed="rId3">
                <a:alphaModFix amt="0"/>
              </a:blip>
              <a:stretch>
                <a:fillRect l="0" t="-39074" r="0" b="-39074"/>
              </a:stretch>
            </a:blipFill>
          </p:spPr>
        </p:sp>
        <p:sp>
          <p:nvSpPr>
            <p:cNvPr name="TextBox 39" id="39"/>
            <p:cNvSpPr txBox="true"/>
            <p:nvPr/>
          </p:nvSpPr>
          <p:spPr>
            <a:xfrm>
              <a:off x="0" y="-66675"/>
              <a:ext cx="3511296" cy="834771"/>
            </a:xfrm>
            <a:prstGeom prst="rect">
              <a:avLst/>
            </a:prstGeom>
          </p:spPr>
          <p:txBody>
            <a:bodyPr anchor="ctr" rtlCol="false" tIns="0" lIns="0" bIns="0" rIns="0"/>
            <a:lstStyle/>
            <a:p>
              <a:pPr algn="l">
                <a:lnSpc>
                  <a:spcPts val="2772"/>
                </a:lnSpc>
              </a:pPr>
              <a:r>
                <a:rPr lang="en-US" sz="2100">
                  <a:solidFill>
                    <a:srgbClr val="000000"/>
                  </a:solidFill>
                  <a:latin typeface="Calibri (MS)"/>
                  <a:ea typeface="Calibri (MS)"/>
                  <a:cs typeface="Calibri (MS)"/>
                  <a:sym typeface="Calibri (MS)"/>
                </a:rPr>
                <a:t>Training models on data</a:t>
              </a:r>
            </a:p>
          </p:txBody>
        </p:sp>
      </p:grpSp>
      <p:grpSp>
        <p:nvGrpSpPr>
          <p:cNvPr name="Group 40" id="40"/>
          <p:cNvGrpSpPr/>
          <p:nvPr/>
        </p:nvGrpSpPr>
        <p:grpSpPr>
          <a:xfrm rot="0">
            <a:off x="7506843" y="5545455"/>
            <a:ext cx="3146298" cy="2145030"/>
            <a:chOff x="0" y="0"/>
            <a:chExt cx="4195064" cy="2860040"/>
          </a:xfrm>
        </p:grpSpPr>
        <p:sp>
          <p:nvSpPr>
            <p:cNvPr name="Freeform 41" id="41"/>
            <p:cNvSpPr/>
            <p:nvPr/>
          </p:nvSpPr>
          <p:spPr>
            <a:xfrm flipH="false" flipV="false" rot="0">
              <a:off x="0" y="0"/>
              <a:ext cx="4195064" cy="2860040"/>
            </a:xfrm>
            <a:custGeom>
              <a:avLst/>
              <a:gdLst/>
              <a:ahLst/>
              <a:cxnLst/>
              <a:rect r="r" b="b" t="t" l="l"/>
              <a:pathLst>
                <a:path h="2860040" w="4195064">
                  <a:moveTo>
                    <a:pt x="0" y="184531"/>
                  </a:moveTo>
                  <a:cubicBezTo>
                    <a:pt x="0" y="82677"/>
                    <a:pt x="82677" y="0"/>
                    <a:pt x="184531" y="0"/>
                  </a:cubicBezTo>
                  <a:lnTo>
                    <a:pt x="4010533" y="0"/>
                  </a:lnTo>
                  <a:cubicBezTo>
                    <a:pt x="4112387" y="0"/>
                    <a:pt x="4195064" y="82677"/>
                    <a:pt x="4195064" y="184531"/>
                  </a:cubicBezTo>
                  <a:lnTo>
                    <a:pt x="4195064" y="2675509"/>
                  </a:lnTo>
                  <a:cubicBezTo>
                    <a:pt x="4195064" y="2777363"/>
                    <a:pt x="4112387" y="2860040"/>
                    <a:pt x="4010533"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42" id="42"/>
          <p:cNvGrpSpPr/>
          <p:nvPr/>
        </p:nvGrpSpPr>
        <p:grpSpPr>
          <a:xfrm rot="0">
            <a:off x="7763256" y="5801868"/>
            <a:ext cx="685800" cy="685800"/>
            <a:chOff x="0" y="0"/>
            <a:chExt cx="914400" cy="914400"/>
          </a:xfrm>
        </p:grpSpPr>
        <p:sp>
          <p:nvSpPr>
            <p:cNvPr name="Freeform 43" id="4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2665E"/>
            </a:solidFill>
          </p:spPr>
        </p:sp>
      </p:grpSp>
      <p:grpSp>
        <p:nvGrpSpPr>
          <p:cNvPr name="Group 44" id="44"/>
          <p:cNvGrpSpPr/>
          <p:nvPr/>
        </p:nvGrpSpPr>
        <p:grpSpPr>
          <a:xfrm rot="0">
            <a:off x="7763256" y="6679692"/>
            <a:ext cx="2633472" cy="548640"/>
            <a:chOff x="0" y="0"/>
            <a:chExt cx="3511296" cy="731520"/>
          </a:xfrm>
        </p:grpSpPr>
        <p:sp>
          <p:nvSpPr>
            <p:cNvPr name="Freeform 45" id="45"/>
            <p:cNvSpPr/>
            <p:nvPr/>
          </p:nvSpPr>
          <p:spPr>
            <a:xfrm flipH="false" flipV="false" rot="0">
              <a:off x="0" y="0"/>
              <a:ext cx="3511296" cy="731520"/>
            </a:xfrm>
            <a:custGeom>
              <a:avLst/>
              <a:gdLst/>
              <a:ahLst/>
              <a:cxnLst/>
              <a:rect r="r" b="b" t="t" l="l"/>
              <a:pathLst>
                <a:path h="731520" w="3511296">
                  <a:moveTo>
                    <a:pt x="0" y="0"/>
                  </a:moveTo>
                  <a:lnTo>
                    <a:pt x="3511296" y="0"/>
                  </a:lnTo>
                  <a:lnTo>
                    <a:pt x="3511296" y="731520"/>
                  </a:lnTo>
                  <a:lnTo>
                    <a:pt x="0" y="731520"/>
                  </a:lnTo>
                  <a:close/>
                </a:path>
              </a:pathLst>
            </a:custGeom>
            <a:blipFill>
              <a:blip r:embed="rId3">
                <a:alphaModFix amt="0"/>
              </a:blip>
              <a:stretch>
                <a:fillRect l="0" t="-43528" r="0" b="-43528"/>
              </a:stretch>
            </a:blipFill>
          </p:spPr>
        </p:sp>
        <p:sp>
          <p:nvSpPr>
            <p:cNvPr name="TextBox 46" id="46"/>
            <p:cNvSpPr txBox="true"/>
            <p:nvPr/>
          </p:nvSpPr>
          <p:spPr>
            <a:xfrm>
              <a:off x="0" y="-38100"/>
              <a:ext cx="3511296" cy="769620"/>
            </a:xfrm>
            <a:prstGeom prst="rect">
              <a:avLst/>
            </a:prstGeom>
          </p:spPr>
          <p:txBody>
            <a:bodyPr anchor="ctr" rtlCol="false" tIns="0" lIns="0" bIns="0" rIns="0"/>
            <a:lstStyle/>
            <a:p>
              <a:pPr algn="l">
                <a:lnSpc>
                  <a:spcPts val="2250"/>
                </a:lnSpc>
              </a:pPr>
              <a:r>
                <a:rPr lang="en-US" sz="1875" b="true">
                  <a:solidFill>
                    <a:srgbClr val="1B1F3B"/>
                  </a:solidFill>
                  <a:latin typeface="Calibri (MS) Bold"/>
                  <a:ea typeface="Calibri (MS) Bold"/>
                  <a:cs typeface="Calibri (MS) Bold"/>
                  <a:sym typeface="Calibri (MS) Bold"/>
                </a:rPr>
                <a:t>Data Science</a:t>
              </a:r>
            </a:p>
          </p:txBody>
        </p:sp>
      </p:grpSp>
      <p:grpSp>
        <p:nvGrpSpPr>
          <p:cNvPr name="Group 47" id="47"/>
          <p:cNvGrpSpPr/>
          <p:nvPr/>
        </p:nvGrpSpPr>
        <p:grpSpPr>
          <a:xfrm rot="0">
            <a:off x="7763256" y="7173468"/>
            <a:ext cx="2633472" cy="576072"/>
            <a:chOff x="0" y="0"/>
            <a:chExt cx="3511296" cy="768096"/>
          </a:xfrm>
        </p:grpSpPr>
        <p:sp>
          <p:nvSpPr>
            <p:cNvPr name="Freeform 48" id="48"/>
            <p:cNvSpPr/>
            <p:nvPr/>
          </p:nvSpPr>
          <p:spPr>
            <a:xfrm flipH="false" flipV="false" rot="0">
              <a:off x="0" y="0"/>
              <a:ext cx="3511296" cy="768096"/>
            </a:xfrm>
            <a:custGeom>
              <a:avLst/>
              <a:gdLst/>
              <a:ahLst/>
              <a:cxnLst/>
              <a:rect r="r" b="b" t="t" l="l"/>
              <a:pathLst>
                <a:path h="768096" w="3511296">
                  <a:moveTo>
                    <a:pt x="0" y="0"/>
                  </a:moveTo>
                  <a:lnTo>
                    <a:pt x="3511296" y="0"/>
                  </a:lnTo>
                  <a:lnTo>
                    <a:pt x="3511296" y="768096"/>
                  </a:lnTo>
                  <a:lnTo>
                    <a:pt x="0" y="768096"/>
                  </a:lnTo>
                  <a:close/>
                </a:path>
              </a:pathLst>
            </a:custGeom>
            <a:blipFill>
              <a:blip r:embed="rId3">
                <a:alphaModFix amt="0"/>
              </a:blip>
              <a:stretch>
                <a:fillRect l="0" t="-39074" r="0" b="-39074"/>
              </a:stretch>
            </a:blipFill>
          </p:spPr>
        </p:sp>
        <p:sp>
          <p:nvSpPr>
            <p:cNvPr name="TextBox 49" id="49"/>
            <p:cNvSpPr txBox="true"/>
            <p:nvPr/>
          </p:nvSpPr>
          <p:spPr>
            <a:xfrm>
              <a:off x="0" y="-66675"/>
              <a:ext cx="3511296" cy="834771"/>
            </a:xfrm>
            <a:prstGeom prst="rect">
              <a:avLst/>
            </a:prstGeom>
          </p:spPr>
          <p:txBody>
            <a:bodyPr anchor="ctr" rtlCol="false" tIns="0" lIns="0" bIns="0" rIns="0"/>
            <a:lstStyle/>
            <a:p>
              <a:pPr algn="l">
                <a:lnSpc>
                  <a:spcPts val="2772"/>
                </a:lnSpc>
              </a:pPr>
              <a:r>
                <a:rPr lang="en-US" sz="2100">
                  <a:solidFill>
                    <a:srgbClr val="000000"/>
                  </a:solidFill>
                  <a:latin typeface="Calibri (MS)"/>
                  <a:ea typeface="Calibri (MS)"/>
                  <a:cs typeface="Calibri (MS)"/>
                  <a:sym typeface="Calibri (MS)"/>
                </a:rPr>
                <a:t>Analyzing &amp; visualizing data</a:t>
              </a:r>
            </a:p>
          </p:txBody>
        </p:sp>
      </p:grpSp>
      <p:grpSp>
        <p:nvGrpSpPr>
          <p:cNvPr name="Group 50" id="50"/>
          <p:cNvGrpSpPr/>
          <p:nvPr/>
        </p:nvGrpSpPr>
        <p:grpSpPr>
          <a:xfrm rot="0">
            <a:off x="10853547" y="5545455"/>
            <a:ext cx="3146298" cy="2145030"/>
            <a:chOff x="0" y="0"/>
            <a:chExt cx="4195064" cy="2860040"/>
          </a:xfrm>
        </p:grpSpPr>
        <p:sp>
          <p:nvSpPr>
            <p:cNvPr name="Freeform 51" id="51"/>
            <p:cNvSpPr/>
            <p:nvPr/>
          </p:nvSpPr>
          <p:spPr>
            <a:xfrm flipH="false" flipV="false" rot="0">
              <a:off x="0" y="0"/>
              <a:ext cx="4195064" cy="2860040"/>
            </a:xfrm>
            <a:custGeom>
              <a:avLst/>
              <a:gdLst/>
              <a:ahLst/>
              <a:cxnLst/>
              <a:rect r="r" b="b" t="t" l="l"/>
              <a:pathLst>
                <a:path h="2860040" w="4195064">
                  <a:moveTo>
                    <a:pt x="0" y="184531"/>
                  </a:moveTo>
                  <a:cubicBezTo>
                    <a:pt x="0" y="82677"/>
                    <a:pt x="82677" y="0"/>
                    <a:pt x="184531" y="0"/>
                  </a:cubicBezTo>
                  <a:lnTo>
                    <a:pt x="4010533" y="0"/>
                  </a:lnTo>
                  <a:cubicBezTo>
                    <a:pt x="4112387" y="0"/>
                    <a:pt x="4195064" y="82677"/>
                    <a:pt x="4195064" y="184531"/>
                  </a:cubicBezTo>
                  <a:lnTo>
                    <a:pt x="4195064" y="2675509"/>
                  </a:lnTo>
                  <a:cubicBezTo>
                    <a:pt x="4195064" y="2777363"/>
                    <a:pt x="4112387" y="2860040"/>
                    <a:pt x="4010533"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52" id="52"/>
          <p:cNvGrpSpPr/>
          <p:nvPr/>
        </p:nvGrpSpPr>
        <p:grpSpPr>
          <a:xfrm rot="0">
            <a:off x="11109960" y="5801868"/>
            <a:ext cx="685800" cy="685800"/>
            <a:chOff x="0" y="0"/>
            <a:chExt cx="914400" cy="914400"/>
          </a:xfrm>
        </p:grpSpPr>
        <p:sp>
          <p:nvSpPr>
            <p:cNvPr name="Freeform 53" id="5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8FB5E0"/>
            </a:solidFill>
          </p:spPr>
        </p:sp>
      </p:grpSp>
      <p:grpSp>
        <p:nvGrpSpPr>
          <p:cNvPr name="Group 54" id="54"/>
          <p:cNvGrpSpPr/>
          <p:nvPr/>
        </p:nvGrpSpPr>
        <p:grpSpPr>
          <a:xfrm rot="0">
            <a:off x="11109960" y="6679692"/>
            <a:ext cx="2633472" cy="548640"/>
            <a:chOff x="0" y="0"/>
            <a:chExt cx="3511296" cy="731520"/>
          </a:xfrm>
        </p:grpSpPr>
        <p:sp>
          <p:nvSpPr>
            <p:cNvPr name="Freeform 55" id="55"/>
            <p:cNvSpPr/>
            <p:nvPr/>
          </p:nvSpPr>
          <p:spPr>
            <a:xfrm flipH="false" flipV="false" rot="0">
              <a:off x="0" y="0"/>
              <a:ext cx="3511296" cy="731520"/>
            </a:xfrm>
            <a:custGeom>
              <a:avLst/>
              <a:gdLst/>
              <a:ahLst/>
              <a:cxnLst/>
              <a:rect r="r" b="b" t="t" l="l"/>
              <a:pathLst>
                <a:path h="731520" w="3511296">
                  <a:moveTo>
                    <a:pt x="0" y="0"/>
                  </a:moveTo>
                  <a:lnTo>
                    <a:pt x="3511296" y="0"/>
                  </a:lnTo>
                  <a:lnTo>
                    <a:pt x="3511296" y="731520"/>
                  </a:lnTo>
                  <a:lnTo>
                    <a:pt x="0" y="731520"/>
                  </a:lnTo>
                  <a:close/>
                </a:path>
              </a:pathLst>
            </a:custGeom>
            <a:blipFill>
              <a:blip r:embed="rId3">
                <a:alphaModFix amt="0"/>
              </a:blip>
              <a:stretch>
                <a:fillRect l="0" t="-43528" r="0" b="-43528"/>
              </a:stretch>
            </a:blipFill>
          </p:spPr>
        </p:sp>
        <p:sp>
          <p:nvSpPr>
            <p:cNvPr name="TextBox 56" id="56"/>
            <p:cNvSpPr txBox="true"/>
            <p:nvPr/>
          </p:nvSpPr>
          <p:spPr>
            <a:xfrm>
              <a:off x="0" y="-38100"/>
              <a:ext cx="3511296" cy="769620"/>
            </a:xfrm>
            <a:prstGeom prst="rect">
              <a:avLst/>
            </a:prstGeom>
          </p:spPr>
          <p:txBody>
            <a:bodyPr anchor="ctr" rtlCol="false" tIns="0" lIns="0" bIns="0" rIns="0"/>
            <a:lstStyle/>
            <a:p>
              <a:pPr algn="l">
                <a:lnSpc>
                  <a:spcPts val="2250"/>
                </a:lnSpc>
              </a:pPr>
              <a:r>
                <a:rPr lang="en-US" sz="1875" b="true">
                  <a:solidFill>
                    <a:srgbClr val="1B1F3B"/>
                  </a:solidFill>
                  <a:latin typeface="Calibri (MS) Bold"/>
                  <a:ea typeface="Calibri (MS) Bold"/>
                  <a:cs typeface="Calibri (MS) Bold"/>
                  <a:sym typeface="Calibri (MS) Bold"/>
                </a:rPr>
                <a:t>Automation</a:t>
              </a:r>
            </a:p>
          </p:txBody>
        </p:sp>
      </p:grpSp>
      <p:grpSp>
        <p:nvGrpSpPr>
          <p:cNvPr name="Group 57" id="57"/>
          <p:cNvGrpSpPr/>
          <p:nvPr/>
        </p:nvGrpSpPr>
        <p:grpSpPr>
          <a:xfrm rot="0">
            <a:off x="11109960" y="7173468"/>
            <a:ext cx="2633472" cy="576072"/>
            <a:chOff x="0" y="0"/>
            <a:chExt cx="3511296" cy="768096"/>
          </a:xfrm>
        </p:grpSpPr>
        <p:sp>
          <p:nvSpPr>
            <p:cNvPr name="Freeform 58" id="58"/>
            <p:cNvSpPr/>
            <p:nvPr/>
          </p:nvSpPr>
          <p:spPr>
            <a:xfrm flipH="false" flipV="false" rot="0">
              <a:off x="0" y="0"/>
              <a:ext cx="3511296" cy="768096"/>
            </a:xfrm>
            <a:custGeom>
              <a:avLst/>
              <a:gdLst/>
              <a:ahLst/>
              <a:cxnLst/>
              <a:rect r="r" b="b" t="t" l="l"/>
              <a:pathLst>
                <a:path h="768096" w="3511296">
                  <a:moveTo>
                    <a:pt x="0" y="0"/>
                  </a:moveTo>
                  <a:lnTo>
                    <a:pt x="3511296" y="0"/>
                  </a:lnTo>
                  <a:lnTo>
                    <a:pt x="3511296" y="768096"/>
                  </a:lnTo>
                  <a:lnTo>
                    <a:pt x="0" y="768096"/>
                  </a:lnTo>
                  <a:close/>
                </a:path>
              </a:pathLst>
            </a:custGeom>
            <a:blipFill>
              <a:blip r:embed="rId3">
                <a:alphaModFix amt="0"/>
              </a:blip>
              <a:stretch>
                <a:fillRect l="0" t="-39074" r="0" b="-39074"/>
              </a:stretch>
            </a:blipFill>
          </p:spPr>
        </p:sp>
        <p:sp>
          <p:nvSpPr>
            <p:cNvPr name="TextBox 59" id="59"/>
            <p:cNvSpPr txBox="true"/>
            <p:nvPr/>
          </p:nvSpPr>
          <p:spPr>
            <a:xfrm>
              <a:off x="0" y="-66675"/>
              <a:ext cx="3511296" cy="834771"/>
            </a:xfrm>
            <a:prstGeom prst="rect">
              <a:avLst/>
            </a:prstGeom>
          </p:spPr>
          <p:txBody>
            <a:bodyPr anchor="ctr" rtlCol="false" tIns="0" lIns="0" bIns="0" rIns="0"/>
            <a:lstStyle/>
            <a:p>
              <a:pPr algn="l">
                <a:lnSpc>
                  <a:spcPts val="2772"/>
                </a:lnSpc>
              </a:pPr>
              <a:r>
                <a:rPr lang="en-US" sz="2100">
                  <a:solidFill>
                    <a:srgbClr val="000000"/>
                  </a:solidFill>
                  <a:latin typeface="Calibri (MS)"/>
                  <a:ea typeface="Calibri (MS)"/>
                  <a:cs typeface="Calibri (MS)"/>
                  <a:sym typeface="Calibri (MS)"/>
                </a:rPr>
                <a:t>Scripting repetitive tasks</a:t>
              </a:r>
            </a:p>
          </p:txBody>
        </p:sp>
      </p:grpSp>
      <p:grpSp>
        <p:nvGrpSpPr>
          <p:cNvPr name="Group 60" id="60"/>
          <p:cNvGrpSpPr/>
          <p:nvPr/>
        </p:nvGrpSpPr>
        <p:grpSpPr>
          <a:xfrm rot="0">
            <a:off x="14200251" y="5545455"/>
            <a:ext cx="3146298" cy="2145030"/>
            <a:chOff x="0" y="0"/>
            <a:chExt cx="4195064" cy="2860040"/>
          </a:xfrm>
        </p:grpSpPr>
        <p:sp>
          <p:nvSpPr>
            <p:cNvPr name="Freeform 61" id="61"/>
            <p:cNvSpPr/>
            <p:nvPr/>
          </p:nvSpPr>
          <p:spPr>
            <a:xfrm flipH="false" flipV="false" rot="0">
              <a:off x="0" y="0"/>
              <a:ext cx="4195064" cy="2860040"/>
            </a:xfrm>
            <a:custGeom>
              <a:avLst/>
              <a:gdLst/>
              <a:ahLst/>
              <a:cxnLst/>
              <a:rect r="r" b="b" t="t" l="l"/>
              <a:pathLst>
                <a:path h="2860040" w="4195064">
                  <a:moveTo>
                    <a:pt x="0" y="184531"/>
                  </a:moveTo>
                  <a:cubicBezTo>
                    <a:pt x="0" y="82677"/>
                    <a:pt x="82677" y="0"/>
                    <a:pt x="184531" y="0"/>
                  </a:cubicBezTo>
                  <a:lnTo>
                    <a:pt x="4010533" y="0"/>
                  </a:lnTo>
                  <a:cubicBezTo>
                    <a:pt x="4112387" y="0"/>
                    <a:pt x="4195064" y="82677"/>
                    <a:pt x="4195064" y="184531"/>
                  </a:cubicBezTo>
                  <a:lnTo>
                    <a:pt x="4195064" y="2675509"/>
                  </a:lnTo>
                  <a:cubicBezTo>
                    <a:pt x="4195064" y="2777363"/>
                    <a:pt x="4112387" y="2860040"/>
                    <a:pt x="4010533" y="2860040"/>
                  </a:cubicBezTo>
                  <a:lnTo>
                    <a:pt x="184531" y="2860040"/>
                  </a:lnTo>
                  <a:cubicBezTo>
                    <a:pt x="82677" y="2860040"/>
                    <a:pt x="0" y="2777363"/>
                    <a:pt x="0" y="2675509"/>
                  </a:cubicBezTo>
                  <a:close/>
                </a:path>
              </a:pathLst>
            </a:custGeom>
            <a:solidFill>
              <a:srgbClr val="FFFFFF"/>
            </a:solidFill>
            <a:ln w="19050" cap="sq">
              <a:solidFill>
                <a:srgbClr val="ECEEF7"/>
              </a:solidFill>
              <a:prstDash val="solid"/>
              <a:miter/>
            </a:ln>
          </p:spPr>
        </p:sp>
      </p:grpSp>
      <p:grpSp>
        <p:nvGrpSpPr>
          <p:cNvPr name="Group 62" id="62"/>
          <p:cNvGrpSpPr/>
          <p:nvPr/>
        </p:nvGrpSpPr>
        <p:grpSpPr>
          <a:xfrm rot="0">
            <a:off x="14456664" y="5801868"/>
            <a:ext cx="685800" cy="685800"/>
            <a:chOff x="0" y="0"/>
            <a:chExt cx="914400" cy="914400"/>
          </a:xfrm>
        </p:grpSpPr>
        <p:sp>
          <p:nvSpPr>
            <p:cNvPr name="Freeform 63" id="6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97BC62"/>
            </a:solidFill>
          </p:spPr>
        </p:sp>
      </p:grpSp>
      <p:grpSp>
        <p:nvGrpSpPr>
          <p:cNvPr name="Group 64" id="64"/>
          <p:cNvGrpSpPr/>
          <p:nvPr/>
        </p:nvGrpSpPr>
        <p:grpSpPr>
          <a:xfrm rot="0">
            <a:off x="14456664" y="6679692"/>
            <a:ext cx="2633472" cy="548640"/>
            <a:chOff x="0" y="0"/>
            <a:chExt cx="3511296" cy="731520"/>
          </a:xfrm>
        </p:grpSpPr>
        <p:sp>
          <p:nvSpPr>
            <p:cNvPr name="Freeform 65" id="65"/>
            <p:cNvSpPr/>
            <p:nvPr/>
          </p:nvSpPr>
          <p:spPr>
            <a:xfrm flipH="false" flipV="false" rot="0">
              <a:off x="0" y="0"/>
              <a:ext cx="3511296" cy="731520"/>
            </a:xfrm>
            <a:custGeom>
              <a:avLst/>
              <a:gdLst/>
              <a:ahLst/>
              <a:cxnLst/>
              <a:rect r="r" b="b" t="t" l="l"/>
              <a:pathLst>
                <a:path h="731520" w="3511296">
                  <a:moveTo>
                    <a:pt x="0" y="0"/>
                  </a:moveTo>
                  <a:lnTo>
                    <a:pt x="3511296" y="0"/>
                  </a:lnTo>
                  <a:lnTo>
                    <a:pt x="3511296" y="731520"/>
                  </a:lnTo>
                  <a:lnTo>
                    <a:pt x="0" y="731520"/>
                  </a:lnTo>
                  <a:close/>
                </a:path>
              </a:pathLst>
            </a:custGeom>
            <a:blipFill>
              <a:blip r:embed="rId3">
                <a:alphaModFix amt="0"/>
              </a:blip>
              <a:stretch>
                <a:fillRect l="0" t="-43528" r="0" b="-43528"/>
              </a:stretch>
            </a:blipFill>
          </p:spPr>
        </p:sp>
        <p:sp>
          <p:nvSpPr>
            <p:cNvPr name="TextBox 66" id="66"/>
            <p:cNvSpPr txBox="true"/>
            <p:nvPr/>
          </p:nvSpPr>
          <p:spPr>
            <a:xfrm>
              <a:off x="0" y="-38100"/>
              <a:ext cx="3511296" cy="769620"/>
            </a:xfrm>
            <a:prstGeom prst="rect">
              <a:avLst/>
            </a:prstGeom>
          </p:spPr>
          <p:txBody>
            <a:bodyPr anchor="ctr" rtlCol="false" tIns="0" lIns="0" bIns="0" rIns="0"/>
            <a:lstStyle/>
            <a:p>
              <a:pPr algn="l">
                <a:lnSpc>
                  <a:spcPts val="2250"/>
                </a:lnSpc>
              </a:pPr>
              <a:r>
                <a:rPr lang="en-US" sz="1875" b="true">
                  <a:solidFill>
                    <a:srgbClr val="1B1F3B"/>
                  </a:solidFill>
                  <a:latin typeface="Calibri (MS) Bold"/>
                  <a:ea typeface="Calibri (MS) Bold"/>
                  <a:cs typeface="Calibri (MS) Bold"/>
                  <a:sym typeface="Calibri (MS) Bold"/>
                </a:rPr>
                <a:t>Web Dev</a:t>
              </a:r>
            </a:p>
          </p:txBody>
        </p:sp>
      </p:grpSp>
      <p:grpSp>
        <p:nvGrpSpPr>
          <p:cNvPr name="Group 67" id="67"/>
          <p:cNvGrpSpPr/>
          <p:nvPr/>
        </p:nvGrpSpPr>
        <p:grpSpPr>
          <a:xfrm rot="0">
            <a:off x="14456664" y="7173468"/>
            <a:ext cx="2633472" cy="576072"/>
            <a:chOff x="0" y="0"/>
            <a:chExt cx="3511296" cy="768096"/>
          </a:xfrm>
        </p:grpSpPr>
        <p:sp>
          <p:nvSpPr>
            <p:cNvPr name="Freeform 68" id="68"/>
            <p:cNvSpPr/>
            <p:nvPr/>
          </p:nvSpPr>
          <p:spPr>
            <a:xfrm flipH="false" flipV="false" rot="0">
              <a:off x="0" y="0"/>
              <a:ext cx="3511296" cy="768096"/>
            </a:xfrm>
            <a:custGeom>
              <a:avLst/>
              <a:gdLst/>
              <a:ahLst/>
              <a:cxnLst/>
              <a:rect r="r" b="b" t="t" l="l"/>
              <a:pathLst>
                <a:path h="768096" w="3511296">
                  <a:moveTo>
                    <a:pt x="0" y="0"/>
                  </a:moveTo>
                  <a:lnTo>
                    <a:pt x="3511296" y="0"/>
                  </a:lnTo>
                  <a:lnTo>
                    <a:pt x="3511296" y="768096"/>
                  </a:lnTo>
                  <a:lnTo>
                    <a:pt x="0" y="768096"/>
                  </a:lnTo>
                  <a:close/>
                </a:path>
              </a:pathLst>
            </a:custGeom>
            <a:blipFill>
              <a:blip r:embed="rId3">
                <a:alphaModFix amt="0"/>
              </a:blip>
              <a:stretch>
                <a:fillRect l="0" t="-39074" r="0" b="-39074"/>
              </a:stretch>
            </a:blipFill>
          </p:spPr>
        </p:sp>
        <p:sp>
          <p:nvSpPr>
            <p:cNvPr name="TextBox 69" id="69"/>
            <p:cNvSpPr txBox="true"/>
            <p:nvPr/>
          </p:nvSpPr>
          <p:spPr>
            <a:xfrm>
              <a:off x="0" y="-66675"/>
              <a:ext cx="3511296" cy="834771"/>
            </a:xfrm>
            <a:prstGeom prst="rect">
              <a:avLst/>
            </a:prstGeom>
          </p:spPr>
          <p:txBody>
            <a:bodyPr anchor="ctr" rtlCol="false" tIns="0" lIns="0" bIns="0" rIns="0"/>
            <a:lstStyle/>
            <a:p>
              <a:pPr algn="l">
                <a:lnSpc>
                  <a:spcPts val="2772"/>
                </a:lnSpc>
              </a:pPr>
              <a:r>
                <a:rPr lang="en-US" sz="2100">
                  <a:solidFill>
                    <a:srgbClr val="000000"/>
                  </a:solidFill>
                  <a:latin typeface="Calibri (MS)"/>
                  <a:ea typeface="Calibri (MS)"/>
                  <a:cs typeface="Calibri (MS)"/>
                  <a:sym typeface="Calibri (MS)"/>
                </a:rPr>
                <a:t>Powering back-end services</a:t>
              </a:r>
            </a:p>
          </p:txBody>
        </p:sp>
      </p:grpSp>
      <p:grpSp>
        <p:nvGrpSpPr>
          <p:cNvPr name="Group 70" id="70"/>
          <p:cNvGrpSpPr/>
          <p:nvPr/>
        </p:nvGrpSpPr>
        <p:grpSpPr>
          <a:xfrm rot="0">
            <a:off x="822960" y="7886700"/>
            <a:ext cx="16596360" cy="1165860"/>
            <a:chOff x="0" y="0"/>
            <a:chExt cx="22128480" cy="1554480"/>
          </a:xfrm>
        </p:grpSpPr>
        <p:sp>
          <p:nvSpPr>
            <p:cNvPr name="Freeform 71" id="71"/>
            <p:cNvSpPr/>
            <p:nvPr/>
          </p:nvSpPr>
          <p:spPr>
            <a:xfrm flipH="false" flipV="false" rot="0">
              <a:off x="0" y="0"/>
              <a:ext cx="22128480" cy="1554480"/>
            </a:xfrm>
            <a:custGeom>
              <a:avLst/>
              <a:gdLst/>
              <a:ahLst/>
              <a:cxnLst/>
              <a:rect r="r" b="b" t="t" l="l"/>
              <a:pathLst>
                <a:path h="1554480" w="22128480">
                  <a:moveTo>
                    <a:pt x="0" y="182880"/>
                  </a:moveTo>
                  <a:cubicBezTo>
                    <a:pt x="0" y="81915"/>
                    <a:pt x="81915" y="0"/>
                    <a:pt x="182880" y="0"/>
                  </a:cubicBezTo>
                  <a:lnTo>
                    <a:pt x="21945600" y="0"/>
                  </a:lnTo>
                  <a:cubicBezTo>
                    <a:pt x="22046564" y="0"/>
                    <a:pt x="22128480" y="81915"/>
                    <a:pt x="22128480" y="182880"/>
                  </a:cubicBezTo>
                  <a:lnTo>
                    <a:pt x="22128480" y="1371600"/>
                  </a:lnTo>
                  <a:cubicBezTo>
                    <a:pt x="22128480" y="1472565"/>
                    <a:pt x="22046564" y="1554480"/>
                    <a:pt x="21945600" y="1554480"/>
                  </a:cubicBezTo>
                  <a:lnTo>
                    <a:pt x="182880" y="1554480"/>
                  </a:lnTo>
                  <a:cubicBezTo>
                    <a:pt x="81915" y="1554480"/>
                    <a:pt x="0" y="1472565"/>
                    <a:pt x="0" y="1371600"/>
                  </a:cubicBezTo>
                  <a:close/>
                </a:path>
              </a:pathLst>
            </a:custGeom>
            <a:solidFill>
              <a:srgbClr val="1B1F3B"/>
            </a:solidFill>
          </p:spPr>
        </p:sp>
      </p:grpSp>
      <p:grpSp>
        <p:nvGrpSpPr>
          <p:cNvPr name="Group 72" id="72"/>
          <p:cNvGrpSpPr/>
          <p:nvPr/>
        </p:nvGrpSpPr>
        <p:grpSpPr>
          <a:xfrm rot="0">
            <a:off x="1207008" y="8106156"/>
            <a:ext cx="15828264" cy="411480"/>
            <a:chOff x="0" y="0"/>
            <a:chExt cx="21104352" cy="548640"/>
          </a:xfrm>
        </p:grpSpPr>
        <p:sp>
          <p:nvSpPr>
            <p:cNvPr name="Freeform 73" id="73"/>
            <p:cNvSpPr/>
            <p:nvPr/>
          </p:nvSpPr>
          <p:spPr>
            <a:xfrm flipH="false" flipV="false" rot="0">
              <a:off x="0" y="0"/>
              <a:ext cx="21104352" cy="548640"/>
            </a:xfrm>
            <a:custGeom>
              <a:avLst/>
              <a:gdLst/>
              <a:ahLst/>
              <a:cxnLst/>
              <a:rect r="r" b="b" t="t" l="l"/>
              <a:pathLst>
                <a:path h="548640" w="21104352">
                  <a:moveTo>
                    <a:pt x="0" y="0"/>
                  </a:moveTo>
                  <a:lnTo>
                    <a:pt x="21104352" y="0"/>
                  </a:lnTo>
                  <a:lnTo>
                    <a:pt x="21104352" y="548640"/>
                  </a:lnTo>
                  <a:lnTo>
                    <a:pt x="0" y="548640"/>
                  </a:lnTo>
                  <a:close/>
                </a:path>
              </a:pathLst>
            </a:custGeom>
            <a:blipFill>
              <a:blip r:embed="rId3">
                <a:alphaModFix amt="0"/>
              </a:blip>
              <a:stretch>
                <a:fillRect l="0" t="-699524" r="0" b="-699524"/>
              </a:stretch>
            </a:blipFill>
          </p:spPr>
        </p:sp>
        <p:sp>
          <p:nvSpPr>
            <p:cNvPr name="TextBox 74" id="74"/>
            <p:cNvSpPr txBox="true"/>
            <p:nvPr/>
          </p:nvSpPr>
          <p:spPr>
            <a:xfrm>
              <a:off x="0" y="-28575"/>
              <a:ext cx="21104352" cy="577215"/>
            </a:xfrm>
            <a:prstGeom prst="rect">
              <a:avLst/>
            </a:prstGeom>
          </p:spPr>
          <p:txBody>
            <a:bodyPr anchor="ctr" rtlCol="false" tIns="0" lIns="0" bIns="0" rIns="0"/>
            <a:lstStyle/>
            <a:p>
              <a:pPr algn="l">
                <a:lnSpc>
                  <a:spcPts val="1980"/>
                </a:lnSpc>
              </a:pPr>
              <a:r>
                <a:rPr lang="en-US" b="true" sz="1650" spc="225">
                  <a:solidFill>
                    <a:srgbClr val="FFB84C"/>
                  </a:solidFill>
                  <a:latin typeface="Calibri (MS) Bold"/>
                  <a:ea typeface="Calibri (MS) Bold"/>
                  <a:cs typeface="Calibri (MS) Bold"/>
                  <a:sym typeface="Calibri (MS) Bold"/>
                </a:rPr>
                <a:t>OUR PATH</a:t>
              </a:r>
            </a:p>
          </p:txBody>
        </p:sp>
      </p:grpSp>
      <p:sp>
        <p:nvSpPr>
          <p:cNvPr name="TextBox 75" id="75"/>
          <p:cNvSpPr txBox="true"/>
          <p:nvPr/>
        </p:nvSpPr>
        <p:spPr>
          <a:xfrm rot="0">
            <a:off x="1207008" y="8486775"/>
            <a:ext cx="15828264" cy="318897"/>
          </a:xfrm>
          <a:prstGeom prst="rect">
            <a:avLst/>
          </a:prstGeom>
        </p:spPr>
        <p:txBody>
          <a:bodyPr anchor="t" rtlCol="false" tIns="0" lIns="0" bIns="0" rIns="0">
            <a:spAutoFit/>
          </a:bodyPr>
          <a:lstStyle/>
          <a:p>
            <a:pPr algn="l">
              <a:lnSpc>
                <a:spcPts val="2916"/>
              </a:lnSpc>
            </a:pPr>
            <a:r>
              <a:rPr lang="en-US" sz="2025">
                <a:solidFill>
                  <a:srgbClr val="FFFFFF"/>
                </a:solidFill>
                <a:latin typeface="Calibri (MS)"/>
                <a:ea typeface="Calibri (MS)"/>
                <a:cs typeface="Calibri (MS)"/>
                <a:sym typeface="Calibri (MS)"/>
              </a:rPr>
              <a:t>“We will use Python as one of the main tools for building AI applications in this Study Group.”</a:t>
            </a:r>
          </a:p>
        </p:txBody>
      </p:sp>
      <p:grpSp>
        <p:nvGrpSpPr>
          <p:cNvPr name="Group 76" id="76"/>
          <p:cNvGrpSpPr/>
          <p:nvPr/>
        </p:nvGrpSpPr>
        <p:grpSpPr>
          <a:xfrm rot="0">
            <a:off x="685800" y="9710928"/>
            <a:ext cx="10972800" cy="411480"/>
            <a:chOff x="0" y="0"/>
            <a:chExt cx="14630400" cy="548640"/>
          </a:xfrm>
        </p:grpSpPr>
        <p:sp>
          <p:nvSpPr>
            <p:cNvPr name="Freeform 77" id="7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78" id="7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79" id="79"/>
          <p:cNvGrpSpPr/>
          <p:nvPr/>
        </p:nvGrpSpPr>
        <p:grpSpPr>
          <a:xfrm rot="0">
            <a:off x="16915943" y="9710928"/>
            <a:ext cx="685800" cy="411480"/>
            <a:chOff x="0" y="0"/>
            <a:chExt cx="914400" cy="548640"/>
          </a:xfrm>
        </p:grpSpPr>
        <p:sp>
          <p:nvSpPr>
            <p:cNvPr name="Freeform 80" id="8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81" id="8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YOUR FIRST PYTHON PROGRAM</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Displaying output with print()</a:t>
              </a:r>
            </a:p>
          </p:txBody>
        </p:sp>
      </p:grpSp>
      <p:grpSp>
        <p:nvGrpSpPr>
          <p:cNvPr name="Group 8" id="8"/>
          <p:cNvGrpSpPr/>
          <p:nvPr/>
        </p:nvGrpSpPr>
        <p:grpSpPr>
          <a:xfrm rot="0">
            <a:off x="822960" y="2400300"/>
            <a:ext cx="8092440" cy="1783080"/>
            <a:chOff x="0" y="0"/>
            <a:chExt cx="10789920" cy="2377440"/>
          </a:xfrm>
        </p:grpSpPr>
        <p:sp>
          <p:nvSpPr>
            <p:cNvPr name="Freeform 9" id="9"/>
            <p:cNvSpPr/>
            <p:nvPr/>
          </p:nvSpPr>
          <p:spPr>
            <a:xfrm flipH="false" flipV="false" rot="0">
              <a:off x="0" y="0"/>
              <a:ext cx="10789920" cy="2377440"/>
            </a:xfrm>
            <a:custGeom>
              <a:avLst/>
              <a:gdLst/>
              <a:ahLst/>
              <a:cxnLst/>
              <a:rect r="r" b="b" t="t" l="l"/>
              <a:pathLst>
                <a:path h="2377440" w="10789920">
                  <a:moveTo>
                    <a:pt x="0" y="146304"/>
                  </a:moveTo>
                  <a:cubicBezTo>
                    <a:pt x="0" y="65532"/>
                    <a:pt x="65532" y="0"/>
                    <a:pt x="146304" y="0"/>
                  </a:cubicBezTo>
                  <a:lnTo>
                    <a:pt x="10643616" y="0"/>
                  </a:lnTo>
                  <a:cubicBezTo>
                    <a:pt x="10724388" y="0"/>
                    <a:pt x="10789920" y="65532"/>
                    <a:pt x="10789920" y="146304"/>
                  </a:cubicBezTo>
                  <a:lnTo>
                    <a:pt x="10789920" y="2231136"/>
                  </a:lnTo>
                  <a:cubicBezTo>
                    <a:pt x="10789920" y="2311908"/>
                    <a:pt x="10724388" y="2377440"/>
                    <a:pt x="10643616" y="2377440"/>
                  </a:cubicBezTo>
                  <a:lnTo>
                    <a:pt x="146304" y="2377440"/>
                  </a:lnTo>
                  <a:cubicBezTo>
                    <a:pt x="65532" y="2377440"/>
                    <a:pt x="0" y="2311908"/>
                    <a:pt x="0" y="2231136"/>
                  </a:cubicBezTo>
                  <a:close/>
                </a:path>
              </a:pathLst>
            </a:custGeom>
            <a:solidFill>
              <a:srgbClr val="1B1F3B"/>
            </a:solidFill>
          </p:spPr>
        </p:sp>
      </p:grpSp>
      <p:grpSp>
        <p:nvGrpSpPr>
          <p:cNvPr name="Group 10" id="10"/>
          <p:cNvGrpSpPr/>
          <p:nvPr/>
        </p:nvGrpSpPr>
        <p:grpSpPr>
          <a:xfrm rot="0">
            <a:off x="1124712" y="2564892"/>
            <a:ext cx="7406640" cy="356616"/>
            <a:chOff x="0" y="0"/>
            <a:chExt cx="9875520" cy="475488"/>
          </a:xfrm>
        </p:grpSpPr>
        <p:sp>
          <p:nvSpPr>
            <p:cNvPr name="Freeform 11" id="11"/>
            <p:cNvSpPr/>
            <p:nvPr/>
          </p:nvSpPr>
          <p:spPr>
            <a:xfrm flipH="false" flipV="false" rot="0">
              <a:off x="0" y="0"/>
              <a:ext cx="9875520" cy="475488"/>
            </a:xfrm>
            <a:custGeom>
              <a:avLst/>
              <a:gdLst/>
              <a:ahLst/>
              <a:cxnLst/>
              <a:rect r="r" b="b" t="t" l="l"/>
              <a:pathLst>
                <a:path h="475488" w="9875520">
                  <a:moveTo>
                    <a:pt x="0" y="0"/>
                  </a:moveTo>
                  <a:lnTo>
                    <a:pt x="9875520" y="0"/>
                  </a:lnTo>
                  <a:lnTo>
                    <a:pt x="9875520" y="475488"/>
                  </a:lnTo>
                  <a:lnTo>
                    <a:pt x="0" y="475488"/>
                  </a:lnTo>
                  <a:close/>
                </a:path>
              </a:pathLst>
            </a:custGeom>
            <a:blipFill>
              <a:blip r:embed="rId3">
                <a:alphaModFix amt="0"/>
              </a:blip>
              <a:stretch>
                <a:fillRect l="0" t="-354689" r="0" b="-354689"/>
              </a:stretch>
            </a:blipFill>
          </p:spPr>
        </p:sp>
        <p:sp>
          <p:nvSpPr>
            <p:cNvPr name="TextBox 12" id="12"/>
            <p:cNvSpPr txBox="true"/>
            <p:nvPr/>
          </p:nvSpPr>
          <p:spPr>
            <a:xfrm>
              <a:off x="0" y="-38100"/>
              <a:ext cx="987552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MAIN.PY</a:t>
              </a:r>
            </a:p>
          </p:txBody>
        </p:sp>
      </p:grpSp>
      <p:sp>
        <p:nvSpPr>
          <p:cNvPr name="TextBox 13" id="13"/>
          <p:cNvSpPr txBox="true"/>
          <p:nvPr/>
        </p:nvSpPr>
        <p:spPr>
          <a:xfrm rot="0">
            <a:off x="1152144" y="3048000"/>
            <a:ext cx="7434072" cy="915924"/>
          </a:xfrm>
          <a:prstGeom prst="rect">
            <a:avLst/>
          </a:prstGeom>
        </p:spPr>
        <p:txBody>
          <a:bodyPr anchor="t" rtlCol="false" tIns="0" lIns="0" bIns="0" rIns="0">
            <a:spAutoFit/>
          </a:bodyPr>
          <a:lstStyle/>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a:t>
            </a:r>
            <a:r>
              <a:rPr lang="en-US" sz="1950">
                <a:solidFill>
                  <a:srgbClr val="8FE3C0"/>
                </a:solidFill>
                <a:latin typeface="Courier New"/>
                <a:ea typeface="Courier New"/>
                <a:cs typeface="Courier New"/>
                <a:sym typeface="Courier New"/>
              </a:rPr>
              <a:t>"Hello, World!"</a:t>
            </a:r>
            <a:r>
              <a:rPr lang="en-US" sz="1950">
                <a:solidFill>
                  <a:srgbClr val="E9ECF7"/>
                </a:solidFill>
                <a:latin typeface="Courier New"/>
                <a:ea typeface="Courier New"/>
                <a:cs typeface="Courier New"/>
                <a:sym typeface="Courier New"/>
              </a:rPr>
              <a:t>)</a:t>
            </a:r>
          </a:p>
        </p:txBody>
      </p:sp>
      <p:grpSp>
        <p:nvGrpSpPr>
          <p:cNvPr name="Group 14" id="14"/>
          <p:cNvGrpSpPr/>
          <p:nvPr/>
        </p:nvGrpSpPr>
        <p:grpSpPr>
          <a:xfrm rot="0">
            <a:off x="822960" y="4457700"/>
            <a:ext cx="8092440" cy="1234440"/>
            <a:chOff x="0" y="0"/>
            <a:chExt cx="10789920" cy="1645920"/>
          </a:xfrm>
        </p:grpSpPr>
        <p:sp>
          <p:nvSpPr>
            <p:cNvPr name="Freeform 15" id="15"/>
            <p:cNvSpPr/>
            <p:nvPr/>
          </p:nvSpPr>
          <p:spPr>
            <a:xfrm flipH="false" flipV="false" rot="0">
              <a:off x="0" y="0"/>
              <a:ext cx="10789920" cy="1645920"/>
            </a:xfrm>
            <a:custGeom>
              <a:avLst/>
              <a:gdLst/>
              <a:ahLst/>
              <a:cxnLst/>
              <a:rect r="r" b="b" t="t" l="l"/>
              <a:pathLst>
                <a:path h="1645920" w="10789920">
                  <a:moveTo>
                    <a:pt x="0" y="146304"/>
                  </a:moveTo>
                  <a:cubicBezTo>
                    <a:pt x="0" y="65532"/>
                    <a:pt x="65532" y="0"/>
                    <a:pt x="146304" y="0"/>
                  </a:cubicBezTo>
                  <a:lnTo>
                    <a:pt x="10643616" y="0"/>
                  </a:lnTo>
                  <a:cubicBezTo>
                    <a:pt x="10724388" y="0"/>
                    <a:pt x="10789920" y="65532"/>
                    <a:pt x="10789920" y="146304"/>
                  </a:cubicBezTo>
                  <a:lnTo>
                    <a:pt x="10789920" y="1499616"/>
                  </a:lnTo>
                  <a:cubicBezTo>
                    <a:pt x="10789920" y="1580388"/>
                    <a:pt x="10724388" y="1645920"/>
                    <a:pt x="10643616" y="1645920"/>
                  </a:cubicBezTo>
                  <a:lnTo>
                    <a:pt x="146304" y="1645920"/>
                  </a:lnTo>
                  <a:cubicBezTo>
                    <a:pt x="65532" y="1645920"/>
                    <a:pt x="0" y="1580388"/>
                    <a:pt x="0" y="1499616"/>
                  </a:cubicBezTo>
                  <a:close/>
                </a:path>
              </a:pathLst>
            </a:custGeom>
            <a:solidFill>
              <a:srgbClr val="ECEEF7"/>
            </a:solidFill>
          </p:spPr>
        </p:sp>
      </p:grpSp>
      <p:grpSp>
        <p:nvGrpSpPr>
          <p:cNvPr name="Group 16" id="16"/>
          <p:cNvGrpSpPr/>
          <p:nvPr/>
        </p:nvGrpSpPr>
        <p:grpSpPr>
          <a:xfrm rot="0">
            <a:off x="1165860" y="4457700"/>
            <a:ext cx="7406640" cy="1234440"/>
            <a:chOff x="0" y="0"/>
            <a:chExt cx="9875520" cy="1645920"/>
          </a:xfrm>
        </p:grpSpPr>
        <p:sp>
          <p:nvSpPr>
            <p:cNvPr name="Freeform 17" id="17"/>
            <p:cNvSpPr/>
            <p:nvPr/>
          </p:nvSpPr>
          <p:spPr>
            <a:xfrm flipH="false" flipV="false" rot="0">
              <a:off x="0" y="0"/>
              <a:ext cx="9875520" cy="1645920"/>
            </a:xfrm>
            <a:custGeom>
              <a:avLst/>
              <a:gdLst/>
              <a:ahLst/>
              <a:cxnLst/>
              <a:rect r="r" b="b" t="t" l="l"/>
              <a:pathLst>
                <a:path h="1645920" w="9875520">
                  <a:moveTo>
                    <a:pt x="0" y="0"/>
                  </a:moveTo>
                  <a:lnTo>
                    <a:pt x="9875520" y="0"/>
                  </a:lnTo>
                  <a:lnTo>
                    <a:pt x="9875520" y="1645920"/>
                  </a:lnTo>
                  <a:lnTo>
                    <a:pt x="0" y="1645920"/>
                  </a:lnTo>
                  <a:close/>
                </a:path>
              </a:pathLst>
            </a:custGeom>
            <a:blipFill>
              <a:blip r:embed="rId3">
                <a:alphaModFix amt="0"/>
              </a:blip>
              <a:stretch>
                <a:fillRect l="0" t="-66910" r="0" b="-66910"/>
              </a:stretch>
            </a:blipFill>
          </p:spPr>
        </p:sp>
        <p:sp>
          <p:nvSpPr>
            <p:cNvPr name="TextBox 18" id="18"/>
            <p:cNvSpPr txBox="true"/>
            <p:nvPr/>
          </p:nvSpPr>
          <p:spPr>
            <a:xfrm>
              <a:off x="0" y="-9525"/>
              <a:ext cx="9875520" cy="1655445"/>
            </a:xfrm>
            <a:prstGeom prst="rect">
              <a:avLst/>
            </a:prstGeom>
          </p:spPr>
          <p:txBody>
            <a:bodyPr anchor="ctr" rtlCol="false" tIns="0" lIns="0" bIns="0" rIns="0"/>
            <a:lstStyle/>
            <a:p>
              <a:pPr algn="l">
                <a:lnSpc>
                  <a:spcPts val="2699"/>
                </a:lnSpc>
              </a:pPr>
              <a:r>
                <a:rPr lang="en-US" sz="2249" b="true">
                  <a:solidFill>
                    <a:srgbClr val="1B1F3B"/>
                  </a:solidFill>
                  <a:latin typeface="Courier New Bold"/>
                  <a:ea typeface="Courier New Bold"/>
                  <a:cs typeface="Courier New Bold"/>
                  <a:sym typeface="Courier New Bold"/>
                </a:rPr>
                <a:t>Output:  </a:t>
              </a:r>
              <a:r>
                <a:rPr lang="en-US" sz="2249" b="true">
                  <a:solidFill>
                    <a:srgbClr val="1B7A5E"/>
                  </a:solidFill>
                  <a:latin typeface="Courier New Bold"/>
                  <a:ea typeface="Courier New Bold"/>
                  <a:cs typeface="Courier New Bold"/>
                  <a:sym typeface="Courier New Bold"/>
                </a:rPr>
                <a:t>Hello, World!</a:t>
              </a:r>
            </a:p>
          </p:txBody>
        </p:sp>
      </p:grpSp>
      <p:grpSp>
        <p:nvGrpSpPr>
          <p:cNvPr name="Group 19" id="19"/>
          <p:cNvGrpSpPr/>
          <p:nvPr/>
        </p:nvGrpSpPr>
        <p:grpSpPr>
          <a:xfrm rot="0">
            <a:off x="822960" y="5966460"/>
            <a:ext cx="8092440" cy="1645920"/>
            <a:chOff x="0" y="0"/>
            <a:chExt cx="10789920" cy="2194560"/>
          </a:xfrm>
        </p:grpSpPr>
        <p:sp>
          <p:nvSpPr>
            <p:cNvPr name="Freeform 20" id="20"/>
            <p:cNvSpPr/>
            <p:nvPr/>
          </p:nvSpPr>
          <p:spPr>
            <a:xfrm flipH="false" flipV="false" rot="0">
              <a:off x="0" y="0"/>
              <a:ext cx="10789920" cy="2194560"/>
            </a:xfrm>
            <a:custGeom>
              <a:avLst/>
              <a:gdLst/>
              <a:ahLst/>
              <a:cxnLst/>
              <a:rect r="r" b="b" t="t" l="l"/>
              <a:pathLst>
                <a:path h="2194560" w="10789920">
                  <a:moveTo>
                    <a:pt x="0" y="0"/>
                  </a:moveTo>
                  <a:lnTo>
                    <a:pt x="10789920" y="0"/>
                  </a:lnTo>
                  <a:lnTo>
                    <a:pt x="10789920" y="2194560"/>
                  </a:lnTo>
                  <a:lnTo>
                    <a:pt x="0" y="2194560"/>
                  </a:lnTo>
                  <a:close/>
                </a:path>
              </a:pathLst>
            </a:custGeom>
            <a:blipFill>
              <a:blip r:embed="rId3">
                <a:alphaModFix amt="0"/>
              </a:blip>
              <a:stretch>
                <a:fillRect l="0" t="-45801" r="0" b="-45801"/>
              </a:stretch>
            </a:blipFill>
          </p:spPr>
        </p:sp>
        <p:sp>
          <p:nvSpPr>
            <p:cNvPr name="TextBox 21" id="21"/>
            <p:cNvSpPr txBox="true"/>
            <p:nvPr/>
          </p:nvSpPr>
          <p:spPr>
            <a:xfrm>
              <a:off x="0" y="-104775"/>
              <a:ext cx="10789920" cy="2299335"/>
            </a:xfrm>
            <a:prstGeom prst="rect">
              <a:avLst/>
            </a:prstGeom>
          </p:spPr>
          <p:txBody>
            <a:bodyPr anchor="ctr" rtlCol="false" tIns="0" lIns="0" bIns="0" rIns="0"/>
            <a:lstStyle/>
            <a:p>
              <a:pPr algn="l">
                <a:lnSpc>
                  <a:spcPts val="3150"/>
                </a:lnSpc>
              </a:pPr>
              <a:r>
                <a:rPr lang="en-US" sz="2100" b="true">
                  <a:solidFill>
                    <a:srgbClr val="1B1F3B"/>
                  </a:solidFill>
                  <a:latin typeface="Calibri (MS) Bold"/>
                  <a:ea typeface="Calibri (MS) Bold"/>
                  <a:cs typeface="Calibri (MS) Bold"/>
                  <a:sym typeface="Calibri (MS) Bold"/>
                </a:rPr>
                <a:t>print()</a:t>
              </a:r>
              <a:r>
                <a:rPr lang="en-US" sz="2100">
                  <a:solidFill>
                    <a:srgbClr val="1B1F3B"/>
                  </a:solidFill>
                  <a:latin typeface="Calibri (MS)"/>
                  <a:ea typeface="Calibri (MS)"/>
                  <a:cs typeface="Calibri (MS)"/>
                  <a:sym typeface="Calibri (MS)"/>
                </a:rPr>
                <a:t> is a </a:t>
              </a:r>
              <a:r>
                <a:rPr lang="en-US" sz="2100" b="true">
                  <a:solidFill>
                    <a:srgbClr val="1B1F3B"/>
                  </a:solidFill>
                  <a:latin typeface="Calibri (MS) Bold"/>
                  <a:ea typeface="Calibri (MS) Bold"/>
                  <a:cs typeface="Calibri (MS) Bold"/>
                  <a:sym typeface="Calibri (MS) Bold"/>
                </a:rPr>
                <a:t>function call</a:t>
              </a:r>
              <a:r>
                <a:rPr lang="en-US" sz="2100">
                  <a:solidFill>
                    <a:srgbClr val="1B1F3B"/>
                  </a:solidFill>
                  <a:latin typeface="Calibri (MS)"/>
                  <a:ea typeface="Calibri (MS)"/>
                  <a:cs typeface="Calibri (MS)"/>
                  <a:sym typeface="Calibri (MS)"/>
                </a:rPr>
                <a:t> — you're asking Python to run a small, ready-made piece of behavior (“display this on screen”) and handing it the text to display, inside the parentheses.</a:t>
              </a:r>
            </a:p>
          </p:txBody>
        </p:sp>
      </p:grpSp>
      <p:grpSp>
        <p:nvGrpSpPr>
          <p:cNvPr name="Group 22" id="22"/>
          <p:cNvGrpSpPr/>
          <p:nvPr/>
        </p:nvGrpSpPr>
        <p:grpSpPr>
          <a:xfrm rot="0">
            <a:off x="9395460" y="2400300"/>
            <a:ext cx="8023860" cy="3429000"/>
            <a:chOff x="0" y="0"/>
            <a:chExt cx="10698480" cy="4572000"/>
          </a:xfrm>
        </p:grpSpPr>
        <p:sp>
          <p:nvSpPr>
            <p:cNvPr name="Freeform 23" id="23"/>
            <p:cNvSpPr/>
            <p:nvPr/>
          </p:nvSpPr>
          <p:spPr>
            <a:xfrm flipH="false" flipV="false" rot="0">
              <a:off x="0" y="0"/>
              <a:ext cx="10698480" cy="4572000"/>
            </a:xfrm>
            <a:custGeom>
              <a:avLst/>
              <a:gdLst/>
              <a:ahLst/>
              <a:cxnLst/>
              <a:rect r="r" b="b" t="t" l="l"/>
              <a:pathLst>
                <a:path h="4572000" w="10698480">
                  <a:moveTo>
                    <a:pt x="0" y="182880"/>
                  </a:moveTo>
                  <a:cubicBezTo>
                    <a:pt x="0" y="81915"/>
                    <a:pt x="81915" y="0"/>
                    <a:pt x="182880" y="0"/>
                  </a:cubicBezTo>
                  <a:lnTo>
                    <a:pt x="10515600" y="0"/>
                  </a:lnTo>
                  <a:cubicBezTo>
                    <a:pt x="10616565" y="0"/>
                    <a:pt x="10698480" y="81915"/>
                    <a:pt x="10698480" y="182880"/>
                  </a:cubicBezTo>
                  <a:lnTo>
                    <a:pt x="10698480" y="4389120"/>
                  </a:lnTo>
                  <a:cubicBezTo>
                    <a:pt x="10698480" y="4490085"/>
                    <a:pt x="10616565" y="4572000"/>
                    <a:pt x="10515600" y="4572000"/>
                  </a:cubicBezTo>
                  <a:lnTo>
                    <a:pt x="182880" y="4572000"/>
                  </a:lnTo>
                  <a:cubicBezTo>
                    <a:pt x="81915" y="4572000"/>
                    <a:pt x="0" y="4490085"/>
                    <a:pt x="0" y="4389120"/>
                  </a:cubicBezTo>
                  <a:close/>
                </a:path>
              </a:pathLst>
            </a:custGeom>
            <a:solidFill>
              <a:srgbClr val="1B1F3B"/>
            </a:solidFill>
          </p:spPr>
        </p:sp>
      </p:grpSp>
      <p:grpSp>
        <p:nvGrpSpPr>
          <p:cNvPr name="Group 24" id="24"/>
          <p:cNvGrpSpPr/>
          <p:nvPr/>
        </p:nvGrpSpPr>
        <p:grpSpPr>
          <a:xfrm rot="0">
            <a:off x="9779508" y="2619756"/>
            <a:ext cx="7255764" cy="411480"/>
            <a:chOff x="0" y="0"/>
            <a:chExt cx="9674352" cy="548640"/>
          </a:xfrm>
        </p:grpSpPr>
        <p:sp>
          <p:nvSpPr>
            <p:cNvPr name="Freeform 25" id="25"/>
            <p:cNvSpPr/>
            <p:nvPr/>
          </p:nvSpPr>
          <p:spPr>
            <a:xfrm flipH="false" flipV="false" rot="0">
              <a:off x="0" y="0"/>
              <a:ext cx="9674352" cy="548640"/>
            </a:xfrm>
            <a:custGeom>
              <a:avLst/>
              <a:gdLst/>
              <a:ahLst/>
              <a:cxnLst/>
              <a:rect r="r" b="b" t="t" l="l"/>
              <a:pathLst>
                <a:path h="548640" w="9674352">
                  <a:moveTo>
                    <a:pt x="0" y="0"/>
                  </a:moveTo>
                  <a:lnTo>
                    <a:pt x="9674352" y="0"/>
                  </a:lnTo>
                  <a:lnTo>
                    <a:pt x="9674352" y="548640"/>
                  </a:lnTo>
                  <a:lnTo>
                    <a:pt x="0" y="548640"/>
                  </a:lnTo>
                  <a:close/>
                </a:path>
              </a:pathLst>
            </a:custGeom>
            <a:blipFill>
              <a:blip r:embed="rId3">
                <a:alphaModFix amt="0"/>
              </a:blip>
              <a:stretch>
                <a:fillRect l="0" t="-293586" r="0" b="-293586"/>
              </a:stretch>
            </a:blipFill>
          </p:spPr>
        </p:sp>
        <p:sp>
          <p:nvSpPr>
            <p:cNvPr name="TextBox 26" id="26"/>
            <p:cNvSpPr txBox="true"/>
            <p:nvPr/>
          </p:nvSpPr>
          <p:spPr>
            <a:xfrm>
              <a:off x="0" y="-28575"/>
              <a:ext cx="9674352" cy="577215"/>
            </a:xfrm>
            <a:prstGeom prst="rect">
              <a:avLst/>
            </a:prstGeom>
          </p:spPr>
          <p:txBody>
            <a:bodyPr anchor="ctr" rtlCol="false" tIns="0" lIns="0" bIns="0" rIns="0"/>
            <a:lstStyle/>
            <a:p>
              <a:pPr algn="l">
                <a:lnSpc>
                  <a:spcPts val="1980"/>
                </a:lnSpc>
              </a:pPr>
              <a:r>
                <a:rPr lang="en-US" b="true" sz="1650" spc="225">
                  <a:solidFill>
                    <a:srgbClr val="FFB84C"/>
                  </a:solidFill>
                  <a:latin typeface="Calibri (MS) Bold"/>
                  <a:ea typeface="Calibri (MS) Bold"/>
                  <a:cs typeface="Calibri (MS) Bold"/>
                  <a:sym typeface="Calibri (MS) Bold"/>
                </a:rPr>
                <a:t>PREDICT THE OUTPUT</a:t>
              </a:r>
            </a:p>
          </p:txBody>
        </p:sp>
      </p:grpSp>
      <p:sp>
        <p:nvSpPr>
          <p:cNvPr name="TextBox 27" id="27"/>
          <p:cNvSpPr txBox="true"/>
          <p:nvPr/>
        </p:nvSpPr>
        <p:spPr>
          <a:xfrm rot="0">
            <a:off x="9779508" y="3000375"/>
            <a:ext cx="7255764" cy="2582037"/>
          </a:xfrm>
          <a:prstGeom prst="rect">
            <a:avLst/>
          </a:prstGeom>
        </p:spPr>
        <p:txBody>
          <a:bodyPr anchor="t" rtlCol="false" tIns="0" lIns="0" bIns="0" rIns="0">
            <a:spAutoFit/>
          </a:bodyPr>
          <a:lstStyle/>
          <a:p>
            <a:pPr algn="l">
              <a:lnSpc>
                <a:spcPts val="2916"/>
              </a:lnSpc>
            </a:pPr>
            <a:r>
              <a:rPr lang="en-US" sz="2025">
                <a:solidFill>
                  <a:srgbClr val="FFFFFF"/>
                </a:solidFill>
                <a:latin typeface="Calibri (MS)"/>
                <a:ea typeface="Calibri (MS)"/>
                <a:cs typeface="Calibri (MS)"/>
                <a:sym typeface="Calibri (MS)"/>
              </a:rPr>
              <a:t>What will this print?</a:t>
            </a:r>
          </a:p>
          <a:p>
            <a:pPr algn="l">
              <a:lnSpc>
                <a:spcPts val="2916"/>
              </a:lnSpc>
            </a:pPr>
          </a:p>
          <a:p>
            <a:pPr algn="l">
              <a:lnSpc>
                <a:spcPts val="2916"/>
              </a:lnSpc>
            </a:pPr>
            <a:r>
              <a:rPr lang="en-US" sz="2025">
                <a:solidFill>
                  <a:srgbClr val="FFFFFF"/>
                </a:solidFill>
                <a:latin typeface="Calibri (MS)"/>
                <a:ea typeface="Calibri (MS)"/>
                <a:cs typeface="Calibri (MS)"/>
                <a:sym typeface="Calibri (MS)"/>
              </a:rPr>
              <a:t>print("Study Group")</a:t>
            </a:r>
          </a:p>
          <a:p>
            <a:pPr algn="l">
              <a:lnSpc>
                <a:spcPts val="2916"/>
              </a:lnSpc>
            </a:pPr>
            <a:r>
              <a:rPr lang="en-US" sz="2025">
                <a:solidFill>
                  <a:srgbClr val="FFFFFF"/>
                </a:solidFill>
                <a:latin typeface="Calibri (MS)"/>
                <a:ea typeface="Calibri (MS)"/>
                <a:cs typeface="Calibri (MS)"/>
                <a:sym typeface="Calibri (MS)"/>
              </a:rPr>
              <a:t>print("Session 1")</a:t>
            </a:r>
          </a:p>
          <a:p>
            <a:pPr algn="l">
              <a:lnSpc>
                <a:spcPts val="2916"/>
              </a:lnSpc>
            </a:pPr>
          </a:p>
          <a:p>
            <a:pPr algn="l">
              <a:lnSpc>
                <a:spcPts val="2916"/>
              </a:lnSpc>
            </a:pPr>
            <a:r>
              <a:rPr lang="en-US" sz="2025">
                <a:solidFill>
                  <a:srgbClr val="FFFFFF"/>
                </a:solidFill>
                <a:latin typeface="Calibri (MS)"/>
                <a:ea typeface="Calibri (MS)"/>
                <a:cs typeface="Calibri (MS)"/>
                <a:sym typeface="Calibri (MS)"/>
              </a:rPr>
              <a:t>How many lines of output do you expect, and what will they say?</a:t>
            </a:r>
          </a:p>
        </p:txBody>
      </p:sp>
      <p:grpSp>
        <p:nvGrpSpPr>
          <p:cNvPr name="Group 28" id="28"/>
          <p:cNvGrpSpPr/>
          <p:nvPr/>
        </p:nvGrpSpPr>
        <p:grpSpPr>
          <a:xfrm rot="0">
            <a:off x="9385935" y="6094095"/>
            <a:ext cx="8042910" cy="1596390"/>
            <a:chOff x="0" y="0"/>
            <a:chExt cx="10723880" cy="2128520"/>
          </a:xfrm>
        </p:grpSpPr>
        <p:sp>
          <p:nvSpPr>
            <p:cNvPr name="Freeform 29" id="29"/>
            <p:cNvSpPr/>
            <p:nvPr/>
          </p:nvSpPr>
          <p:spPr>
            <a:xfrm flipH="false" flipV="false" rot="0">
              <a:off x="0" y="0"/>
              <a:ext cx="10723880" cy="2128520"/>
            </a:xfrm>
            <a:custGeom>
              <a:avLst/>
              <a:gdLst/>
              <a:ahLst/>
              <a:cxnLst/>
              <a:rect r="r" b="b" t="t" l="l"/>
              <a:pathLst>
                <a:path h="2128520" w="10723880">
                  <a:moveTo>
                    <a:pt x="0" y="185039"/>
                  </a:moveTo>
                  <a:cubicBezTo>
                    <a:pt x="0" y="82931"/>
                    <a:pt x="82931" y="0"/>
                    <a:pt x="185039" y="0"/>
                  </a:cubicBezTo>
                  <a:lnTo>
                    <a:pt x="10538841" y="0"/>
                  </a:lnTo>
                  <a:cubicBezTo>
                    <a:pt x="10641076" y="0"/>
                    <a:pt x="10723880" y="82931"/>
                    <a:pt x="10723880" y="185039"/>
                  </a:cubicBezTo>
                  <a:lnTo>
                    <a:pt x="10723880" y="1943481"/>
                  </a:lnTo>
                  <a:cubicBezTo>
                    <a:pt x="10723880" y="2045716"/>
                    <a:pt x="10640949" y="2128520"/>
                    <a:pt x="10538841" y="2128520"/>
                  </a:cubicBezTo>
                  <a:lnTo>
                    <a:pt x="185039" y="2128520"/>
                  </a:lnTo>
                  <a:cubicBezTo>
                    <a:pt x="82931" y="2128520"/>
                    <a:pt x="0" y="2045589"/>
                    <a:pt x="0" y="1943481"/>
                  </a:cubicBezTo>
                  <a:close/>
                </a:path>
              </a:pathLst>
            </a:custGeom>
            <a:solidFill>
              <a:srgbClr val="FFFFFF"/>
            </a:solidFill>
            <a:ln w="19050" cap="sq">
              <a:solidFill>
                <a:srgbClr val="ECEEF7"/>
              </a:solidFill>
              <a:prstDash val="solid"/>
              <a:miter/>
            </a:ln>
          </p:spPr>
        </p:sp>
      </p:grpSp>
      <p:grpSp>
        <p:nvGrpSpPr>
          <p:cNvPr name="Group 30" id="30"/>
          <p:cNvGrpSpPr/>
          <p:nvPr/>
        </p:nvGrpSpPr>
        <p:grpSpPr>
          <a:xfrm rot="0">
            <a:off x="9738360" y="6281928"/>
            <a:ext cx="7269480" cy="384048"/>
            <a:chOff x="0" y="0"/>
            <a:chExt cx="9692640" cy="512064"/>
          </a:xfrm>
        </p:grpSpPr>
        <p:sp>
          <p:nvSpPr>
            <p:cNvPr name="Freeform 31" id="31"/>
            <p:cNvSpPr/>
            <p:nvPr/>
          </p:nvSpPr>
          <p:spPr>
            <a:xfrm flipH="false" flipV="false" rot="0">
              <a:off x="0" y="0"/>
              <a:ext cx="9692640" cy="512064"/>
            </a:xfrm>
            <a:custGeom>
              <a:avLst/>
              <a:gdLst/>
              <a:ahLst/>
              <a:cxnLst/>
              <a:rect r="r" b="b" t="t" l="l"/>
              <a:pathLst>
                <a:path h="512064" w="9692640">
                  <a:moveTo>
                    <a:pt x="0" y="0"/>
                  </a:moveTo>
                  <a:lnTo>
                    <a:pt x="9692640" y="0"/>
                  </a:lnTo>
                  <a:lnTo>
                    <a:pt x="9692640" y="512064"/>
                  </a:lnTo>
                  <a:lnTo>
                    <a:pt x="0" y="512064"/>
                  </a:lnTo>
                  <a:close/>
                </a:path>
              </a:pathLst>
            </a:custGeom>
            <a:blipFill>
              <a:blip r:embed="rId3">
                <a:alphaModFix amt="0"/>
              </a:blip>
              <a:stretch>
                <a:fillRect l="0" t="-318823" r="0" b="-318823"/>
              </a:stretch>
            </a:blipFill>
          </p:spPr>
        </p:sp>
        <p:sp>
          <p:nvSpPr>
            <p:cNvPr name="TextBox 32" id="32"/>
            <p:cNvSpPr txBox="true"/>
            <p:nvPr/>
          </p:nvSpPr>
          <p:spPr>
            <a:xfrm>
              <a:off x="0" y="-38100"/>
              <a:ext cx="9692640" cy="550164"/>
            </a:xfrm>
            <a:prstGeom prst="rect">
              <a:avLst/>
            </a:prstGeom>
          </p:spPr>
          <p:txBody>
            <a:bodyPr anchor="ctr" rtlCol="false" tIns="0" lIns="0" bIns="0" rIns="0"/>
            <a:lstStyle/>
            <a:p>
              <a:pPr algn="l">
                <a:lnSpc>
                  <a:spcPts val="2279"/>
                </a:lnSpc>
              </a:pPr>
              <a:r>
                <a:rPr lang="en-US" sz="1899" b="true">
                  <a:solidFill>
                    <a:srgbClr val="4FB6B0"/>
                  </a:solidFill>
                  <a:latin typeface="Calibri (MS) Bold"/>
                  <a:ea typeface="Calibri (MS) Bold"/>
                  <a:cs typeface="Calibri (MS) Bold"/>
                  <a:sym typeface="Calibri (MS) Bold"/>
                </a:rPr>
                <a:t>Try it in VS Code</a:t>
              </a:r>
            </a:p>
          </p:txBody>
        </p:sp>
      </p:grpSp>
      <p:grpSp>
        <p:nvGrpSpPr>
          <p:cNvPr name="Group 33" id="33"/>
          <p:cNvGrpSpPr/>
          <p:nvPr/>
        </p:nvGrpSpPr>
        <p:grpSpPr>
          <a:xfrm rot="0">
            <a:off x="9738360" y="6665976"/>
            <a:ext cx="7269480" cy="932688"/>
            <a:chOff x="0" y="0"/>
            <a:chExt cx="9692640" cy="1243584"/>
          </a:xfrm>
        </p:grpSpPr>
        <p:sp>
          <p:nvSpPr>
            <p:cNvPr name="Freeform 34" id="34"/>
            <p:cNvSpPr/>
            <p:nvPr/>
          </p:nvSpPr>
          <p:spPr>
            <a:xfrm flipH="false" flipV="false" rot="0">
              <a:off x="0" y="0"/>
              <a:ext cx="9692640" cy="1243584"/>
            </a:xfrm>
            <a:custGeom>
              <a:avLst/>
              <a:gdLst/>
              <a:ahLst/>
              <a:cxnLst/>
              <a:rect r="r" b="b" t="t" l="l"/>
              <a:pathLst>
                <a:path h="1243584" w="9692640">
                  <a:moveTo>
                    <a:pt x="0" y="0"/>
                  </a:moveTo>
                  <a:lnTo>
                    <a:pt x="9692640" y="0"/>
                  </a:lnTo>
                  <a:lnTo>
                    <a:pt x="9692640" y="1243584"/>
                  </a:lnTo>
                  <a:lnTo>
                    <a:pt x="0" y="1243584"/>
                  </a:lnTo>
                  <a:close/>
                </a:path>
              </a:pathLst>
            </a:custGeom>
            <a:blipFill>
              <a:blip r:embed="rId3">
                <a:alphaModFix amt="0"/>
              </a:blip>
              <a:stretch>
                <a:fillRect l="0" t="-101868" r="0" b="-101868"/>
              </a:stretch>
            </a:blipFill>
          </p:spPr>
        </p:sp>
        <p:sp>
          <p:nvSpPr>
            <p:cNvPr name="TextBox 35" id="35"/>
            <p:cNvSpPr txBox="true"/>
            <p:nvPr/>
          </p:nvSpPr>
          <p:spPr>
            <a:xfrm>
              <a:off x="0" y="-76200"/>
              <a:ext cx="9692640" cy="1319784"/>
            </a:xfrm>
            <a:prstGeom prst="rect">
              <a:avLst/>
            </a:prstGeom>
          </p:spPr>
          <p:txBody>
            <a:bodyPr anchor="ctr" rtlCol="false" tIns="0" lIns="0" bIns="0" rIns="0"/>
            <a:lstStyle/>
            <a:p>
              <a:pPr algn="l">
                <a:lnSpc>
                  <a:spcPts val="2897"/>
                </a:lnSpc>
              </a:pPr>
              <a:r>
                <a:rPr lang="en-US" sz="2100">
                  <a:solidFill>
                    <a:srgbClr val="000000"/>
                  </a:solidFill>
                  <a:latin typeface="Calibri (MS)"/>
                  <a:ea typeface="Calibri (MS)"/>
                  <a:cs typeface="Calibri (MS)"/>
                  <a:sym typeface="Calibri (MS)"/>
                </a:rPr>
                <a:t>Open main.py, type the line above, save, and run it in the terminal. Change the text inside the quotes and run it again.</a:t>
              </a:r>
            </a:p>
          </p:txBody>
        </p:sp>
      </p:grpSp>
      <p:grpSp>
        <p:nvGrpSpPr>
          <p:cNvPr name="Group 36" id="36"/>
          <p:cNvGrpSpPr/>
          <p:nvPr/>
        </p:nvGrpSpPr>
        <p:grpSpPr>
          <a:xfrm rot="0">
            <a:off x="813435" y="7877175"/>
            <a:ext cx="16615410" cy="979170"/>
            <a:chOff x="0" y="0"/>
            <a:chExt cx="22153880" cy="1305560"/>
          </a:xfrm>
        </p:grpSpPr>
        <p:sp>
          <p:nvSpPr>
            <p:cNvPr name="Freeform 37" id="37"/>
            <p:cNvSpPr/>
            <p:nvPr/>
          </p:nvSpPr>
          <p:spPr>
            <a:xfrm flipH="false" flipV="false" rot="0">
              <a:off x="0" y="0"/>
              <a:ext cx="22153880" cy="1305560"/>
            </a:xfrm>
            <a:custGeom>
              <a:avLst/>
              <a:gdLst/>
              <a:ahLst/>
              <a:cxnLst/>
              <a:rect r="r" b="b" t="t" l="l"/>
              <a:pathLst>
                <a:path h="1305560" w="22153880">
                  <a:moveTo>
                    <a:pt x="0" y="149225"/>
                  </a:moveTo>
                  <a:cubicBezTo>
                    <a:pt x="0" y="66802"/>
                    <a:pt x="66802" y="0"/>
                    <a:pt x="149225" y="0"/>
                  </a:cubicBezTo>
                  <a:lnTo>
                    <a:pt x="22004655" y="0"/>
                  </a:lnTo>
                  <a:cubicBezTo>
                    <a:pt x="22087078" y="0"/>
                    <a:pt x="22153880" y="66802"/>
                    <a:pt x="22153880" y="149225"/>
                  </a:cubicBezTo>
                  <a:lnTo>
                    <a:pt x="22153880" y="1156335"/>
                  </a:lnTo>
                  <a:cubicBezTo>
                    <a:pt x="22153880" y="1238758"/>
                    <a:pt x="22087078" y="1305560"/>
                    <a:pt x="22004655" y="1305560"/>
                  </a:cubicBezTo>
                  <a:lnTo>
                    <a:pt x="149225" y="1305560"/>
                  </a:lnTo>
                  <a:cubicBezTo>
                    <a:pt x="66802" y="1305560"/>
                    <a:pt x="0" y="1238758"/>
                    <a:pt x="0" y="1156335"/>
                  </a:cubicBezTo>
                  <a:close/>
                </a:path>
              </a:pathLst>
            </a:custGeom>
            <a:solidFill>
              <a:srgbClr val="FFF3E0"/>
            </a:solidFill>
            <a:ln w="19050" cap="sq">
              <a:solidFill>
                <a:srgbClr val="FFB84C"/>
              </a:solidFill>
              <a:prstDash val="solid"/>
              <a:miter/>
            </a:ln>
          </p:spPr>
        </p:sp>
      </p:grpSp>
      <p:grpSp>
        <p:nvGrpSpPr>
          <p:cNvPr name="Group 38" id="38"/>
          <p:cNvGrpSpPr/>
          <p:nvPr/>
        </p:nvGrpSpPr>
        <p:grpSpPr>
          <a:xfrm rot="0">
            <a:off x="1124712" y="7886700"/>
            <a:ext cx="15992856" cy="960120"/>
            <a:chOff x="0" y="0"/>
            <a:chExt cx="21323808" cy="1280160"/>
          </a:xfrm>
        </p:grpSpPr>
        <p:sp>
          <p:nvSpPr>
            <p:cNvPr name="Freeform 39" id="39"/>
            <p:cNvSpPr/>
            <p:nvPr/>
          </p:nvSpPr>
          <p:spPr>
            <a:xfrm flipH="false" flipV="false" rot="0">
              <a:off x="0" y="0"/>
              <a:ext cx="21323808" cy="1280160"/>
            </a:xfrm>
            <a:custGeom>
              <a:avLst/>
              <a:gdLst/>
              <a:ahLst/>
              <a:cxnLst/>
              <a:rect r="r" b="b" t="t" l="l"/>
              <a:pathLst>
                <a:path h="1280160" w="21323808">
                  <a:moveTo>
                    <a:pt x="0" y="0"/>
                  </a:moveTo>
                  <a:lnTo>
                    <a:pt x="21323808" y="0"/>
                  </a:lnTo>
                  <a:lnTo>
                    <a:pt x="21323808" y="1280160"/>
                  </a:lnTo>
                  <a:lnTo>
                    <a:pt x="0" y="1280160"/>
                  </a:lnTo>
                  <a:close/>
                </a:path>
              </a:pathLst>
            </a:custGeom>
            <a:blipFill>
              <a:blip r:embed="rId3">
                <a:alphaModFix amt="0"/>
              </a:blip>
              <a:stretch>
                <a:fillRect l="0" t="-274565" r="0" b="-274565"/>
              </a:stretch>
            </a:blipFill>
          </p:spPr>
        </p:sp>
        <p:sp>
          <p:nvSpPr>
            <p:cNvPr name="TextBox 40" id="40"/>
            <p:cNvSpPr txBox="true"/>
            <p:nvPr/>
          </p:nvSpPr>
          <p:spPr>
            <a:xfrm>
              <a:off x="0" y="-57150"/>
              <a:ext cx="21323808" cy="1337310"/>
            </a:xfrm>
            <a:prstGeom prst="rect">
              <a:avLst/>
            </a:prstGeom>
          </p:spPr>
          <p:txBody>
            <a:bodyPr anchor="ctr" rtlCol="false" tIns="0" lIns="0" bIns="0" rIns="0"/>
            <a:lstStyle/>
            <a:p>
              <a:pPr algn="l">
                <a:lnSpc>
                  <a:spcPts val="2277"/>
                </a:lnSpc>
              </a:pPr>
              <a:r>
                <a:rPr lang="en-US" sz="1650" b="true">
                  <a:solidFill>
                    <a:srgbClr val="B85C00"/>
                  </a:solidFill>
                  <a:latin typeface="Calibri (MS) Bold"/>
                  <a:ea typeface="Calibri (MS) Bold"/>
                  <a:cs typeface="Calibri (MS) Bold"/>
                  <a:sym typeface="Calibri (MS) Bold"/>
                </a:rPr>
                <a:t>Why this matters for Agentic AI:  </a:t>
              </a:r>
              <a:r>
                <a:rPr lang="en-US" sz="1650">
                  <a:solidFill>
                    <a:srgbClr val="5A4632"/>
                  </a:solidFill>
                  <a:latin typeface="Calibri (MS)"/>
                  <a:ea typeface="Calibri (MS)"/>
                  <a:cs typeface="Calibri (MS)"/>
                  <a:sym typeface="Calibri (MS)"/>
                </a:rPr>
                <a:t>This is exactly how we'll display a chatbot or agent's response — print() is our window into what the program is doing.</a:t>
              </a:r>
            </a:p>
          </p:txBody>
        </p:sp>
      </p:grpSp>
      <p:grpSp>
        <p:nvGrpSpPr>
          <p:cNvPr name="Group 41" id="41"/>
          <p:cNvGrpSpPr/>
          <p:nvPr/>
        </p:nvGrpSpPr>
        <p:grpSpPr>
          <a:xfrm rot="0">
            <a:off x="685800" y="9710928"/>
            <a:ext cx="10972800" cy="411480"/>
            <a:chOff x="0" y="0"/>
            <a:chExt cx="14630400" cy="548640"/>
          </a:xfrm>
        </p:grpSpPr>
        <p:sp>
          <p:nvSpPr>
            <p:cNvPr name="Freeform 42" id="4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3" id="4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Agentic AI Study Group  •  Python Foundations</a:t>
              </a:r>
            </a:p>
          </p:txBody>
        </p:sp>
      </p:grpSp>
      <p:grpSp>
        <p:nvGrpSpPr>
          <p:cNvPr name="Group 44" id="44"/>
          <p:cNvGrpSpPr/>
          <p:nvPr/>
        </p:nvGrpSpPr>
        <p:grpSpPr>
          <a:xfrm rot="0">
            <a:off x="16915943" y="9710928"/>
            <a:ext cx="685800" cy="411480"/>
            <a:chOff x="0" y="0"/>
            <a:chExt cx="914400" cy="548640"/>
          </a:xfrm>
        </p:grpSpPr>
        <p:sp>
          <p:nvSpPr>
            <p:cNvPr name="Freeform 45" id="4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6" id="4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STORING INFORMATION</a:t>
              </a:r>
            </a:p>
          </p:txBody>
        </p:sp>
      </p:grpSp>
      <p:grpSp>
        <p:nvGrpSpPr>
          <p:cNvPr name="Group 5" id="5"/>
          <p:cNvGrpSpPr/>
          <p:nvPr/>
        </p:nvGrpSpPr>
        <p:grpSpPr>
          <a:xfrm rot="0">
            <a:off x="850392" y="1000125"/>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Variables</a:t>
              </a:r>
            </a:p>
          </p:txBody>
        </p:sp>
      </p:grpSp>
      <p:grpSp>
        <p:nvGrpSpPr>
          <p:cNvPr name="Group 8" id="8"/>
          <p:cNvGrpSpPr/>
          <p:nvPr/>
        </p:nvGrpSpPr>
        <p:grpSpPr>
          <a:xfrm rot="0">
            <a:off x="822960" y="2263140"/>
            <a:ext cx="16596360" cy="822960"/>
            <a:chOff x="0" y="0"/>
            <a:chExt cx="22128480" cy="1097280"/>
          </a:xfrm>
        </p:grpSpPr>
        <p:sp>
          <p:nvSpPr>
            <p:cNvPr name="Freeform 9" id="9"/>
            <p:cNvSpPr/>
            <p:nvPr/>
          </p:nvSpPr>
          <p:spPr>
            <a:xfrm flipH="false" flipV="false" rot="0">
              <a:off x="0" y="0"/>
              <a:ext cx="22128480" cy="1097280"/>
            </a:xfrm>
            <a:custGeom>
              <a:avLst/>
              <a:gdLst/>
              <a:ahLst/>
              <a:cxnLst/>
              <a:rect r="r" b="b" t="t" l="l"/>
              <a:pathLst>
                <a:path h="1097280" w="22128480">
                  <a:moveTo>
                    <a:pt x="0" y="0"/>
                  </a:moveTo>
                  <a:lnTo>
                    <a:pt x="22128480" y="0"/>
                  </a:lnTo>
                  <a:lnTo>
                    <a:pt x="22128480" y="1097280"/>
                  </a:lnTo>
                  <a:lnTo>
                    <a:pt x="0" y="1097280"/>
                  </a:lnTo>
                  <a:close/>
                </a:path>
              </a:pathLst>
            </a:custGeom>
            <a:blipFill>
              <a:blip r:embed="rId3">
                <a:alphaModFix amt="0"/>
              </a:blip>
              <a:stretch>
                <a:fillRect l="0" t="-342948" r="0" b="-342948"/>
              </a:stretch>
            </a:blipFill>
          </p:spPr>
        </p:sp>
        <p:sp>
          <p:nvSpPr>
            <p:cNvPr name="TextBox 10" id="10"/>
            <p:cNvSpPr txBox="true"/>
            <p:nvPr/>
          </p:nvSpPr>
          <p:spPr>
            <a:xfrm>
              <a:off x="0" y="-85725"/>
              <a:ext cx="22128480" cy="1183005"/>
            </a:xfrm>
            <a:prstGeom prst="rect">
              <a:avLst/>
            </a:prstGeom>
          </p:spPr>
          <p:txBody>
            <a:bodyPr anchor="ctr" rtlCol="false" tIns="0" lIns="0" bIns="0" rIns="0"/>
            <a:lstStyle/>
            <a:p>
              <a:pPr algn="l">
                <a:lnSpc>
                  <a:spcPts val="2987"/>
                </a:lnSpc>
              </a:pPr>
              <a:r>
                <a:rPr lang="en-US" sz="2074">
                  <a:solidFill>
                    <a:srgbClr val="1B1F3B"/>
                  </a:solidFill>
                  <a:latin typeface="Calibri (MS)"/>
                  <a:ea typeface="Calibri (MS)"/>
                  <a:cs typeface="Calibri (MS)"/>
                  <a:sym typeface="Calibri (MS)"/>
                </a:rPr>
                <a:t>A variable is a named place to store a value so we can use it later. </a:t>
              </a:r>
              <a:r>
                <a:rPr lang="en-US" b="true" sz="2074" i="true">
                  <a:solidFill>
                    <a:srgbClr val="6B7280"/>
                  </a:solidFill>
                  <a:latin typeface="Calibri (MS) Bold Italics"/>
                  <a:ea typeface="Calibri (MS) Bold Italics"/>
                  <a:cs typeface="Calibri (MS) Bold Italics"/>
                  <a:sym typeface="Calibri (MS) Bold Italics"/>
                </a:rPr>
                <a:t>Give a value a meaningful name, and Python remembers it for you.</a:t>
              </a:r>
            </a:p>
          </p:txBody>
        </p:sp>
      </p:grpSp>
      <p:grpSp>
        <p:nvGrpSpPr>
          <p:cNvPr name="Group 11" id="11"/>
          <p:cNvGrpSpPr/>
          <p:nvPr/>
        </p:nvGrpSpPr>
        <p:grpSpPr>
          <a:xfrm rot="0">
            <a:off x="813435" y="3282315"/>
            <a:ext cx="5368290" cy="2556510"/>
            <a:chOff x="0" y="0"/>
            <a:chExt cx="7157720" cy="3408680"/>
          </a:xfrm>
        </p:grpSpPr>
        <p:sp>
          <p:nvSpPr>
            <p:cNvPr name="Freeform 12" id="12"/>
            <p:cNvSpPr/>
            <p:nvPr/>
          </p:nvSpPr>
          <p:spPr>
            <a:xfrm flipH="false" flipV="false" rot="0">
              <a:off x="0" y="0"/>
              <a:ext cx="7157720" cy="3408680"/>
            </a:xfrm>
            <a:custGeom>
              <a:avLst/>
              <a:gdLst/>
              <a:ahLst/>
              <a:cxnLst/>
              <a:rect r="r" b="b" t="t" l="l"/>
              <a:pathLst>
                <a:path h="3408680" w="7157720">
                  <a:moveTo>
                    <a:pt x="0" y="184277"/>
                  </a:moveTo>
                  <a:cubicBezTo>
                    <a:pt x="0" y="82550"/>
                    <a:pt x="82550" y="0"/>
                    <a:pt x="184277" y="0"/>
                  </a:cubicBezTo>
                  <a:lnTo>
                    <a:pt x="6973443" y="0"/>
                  </a:lnTo>
                  <a:cubicBezTo>
                    <a:pt x="7075170" y="0"/>
                    <a:pt x="7157720" y="82550"/>
                    <a:pt x="7157720" y="184277"/>
                  </a:cubicBezTo>
                  <a:lnTo>
                    <a:pt x="7157720" y="3224403"/>
                  </a:lnTo>
                  <a:cubicBezTo>
                    <a:pt x="7157720" y="3326130"/>
                    <a:pt x="7075170" y="3408680"/>
                    <a:pt x="6973443" y="3408680"/>
                  </a:cubicBezTo>
                  <a:lnTo>
                    <a:pt x="184277" y="3408680"/>
                  </a:lnTo>
                  <a:cubicBezTo>
                    <a:pt x="82550" y="3408680"/>
                    <a:pt x="0" y="3326130"/>
                    <a:pt x="0" y="3224403"/>
                  </a:cubicBezTo>
                  <a:close/>
                </a:path>
              </a:pathLst>
            </a:custGeom>
            <a:solidFill>
              <a:srgbClr val="FFFFFF"/>
            </a:solidFill>
            <a:ln w="19050" cap="sq">
              <a:solidFill>
                <a:srgbClr val="ECEEF7"/>
              </a:solidFill>
              <a:prstDash val="solid"/>
              <a:miter/>
            </a:ln>
          </p:spPr>
        </p:sp>
      </p:grpSp>
      <p:grpSp>
        <p:nvGrpSpPr>
          <p:cNvPr name="Group 13" id="13"/>
          <p:cNvGrpSpPr/>
          <p:nvPr/>
        </p:nvGrpSpPr>
        <p:grpSpPr>
          <a:xfrm rot="0">
            <a:off x="1124712" y="3566160"/>
            <a:ext cx="685800" cy="192024"/>
            <a:chOff x="0" y="0"/>
            <a:chExt cx="914400" cy="256032"/>
          </a:xfrm>
        </p:grpSpPr>
        <p:sp>
          <p:nvSpPr>
            <p:cNvPr name="Freeform 14" id="14"/>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FB84C"/>
            </a:solidFill>
          </p:spPr>
        </p:sp>
      </p:grpSp>
      <p:grpSp>
        <p:nvGrpSpPr>
          <p:cNvPr name="Group 15" id="15"/>
          <p:cNvGrpSpPr/>
          <p:nvPr/>
        </p:nvGrpSpPr>
        <p:grpSpPr>
          <a:xfrm rot="0">
            <a:off x="1124712" y="3785616"/>
            <a:ext cx="4745736" cy="493776"/>
            <a:chOff x="0" y="0"/>
            <a:chExt cx="6327648" cy="658368"/>
          </a:xfrm>
        </p:grpSpPr>
        <p:sp>
          <p:nvSpPr>
            <p:cNvPr name="Freeform 16" id="16"/>
            <p:cNvSpPr/>
            <p:nvPr/>
          </p:nvSpPr>
          <p:spPr>
            <a:xfrm flipH="false" flipV="false" rot="0">
              <a:off x="0" y="0"/>
              <a:ext cx="6327648" cy="658368"/>
            </a:xfrm>
            <a:custGeom>
              <a:avLst/>
              <a:gdLst/>
              <a:ahLst/>
              <a:cxnLst/>
              <a:rect r="r" b="b" t="t" l="l"/>
              <a:pathLst>
                <a:path h="658368" w="6327648">
                  <a:moveTo>
                    <a:pt x="0" y="0"/>
                  </a:moveTo>
                  <a:lnTo>
                    <a:pt x="6327648" y="0"/>
                  </a:lnTo>
                  <a:lnTo>
                    <a:pt x="6327648" y="658368"/>
                  </a:lnTo>
                  <a:lnTo>
                    <a:pt x="0" y="658368"/>
                  </a:lnTo>
                  <a:close/>
                </a:path>
              </a:pathLst>
            </a:custGeom>
            <a:blipFill>
              <a:blip r:embed="rId3">
                <a:alphaModFix amt="0"/>
              </a:blip>
              <a:stretch>
                <a:fillRect l="0" t="-137272" r="0" b="-137272"/>
              </a:stretch>
            </a:blipFill>
          </p:spPr>
        </p:sp>
        <p:sp>
          <p:nvSpPr>
            <p:cNvPr name="TextBox 17" id="17"/>
            <p:cNvSpPr txBox="true"/>
            <p:nvPr/>
          </p:nvSpPr>
          <p:spPr>
            <a:xfrm>
              <a:off x="0" y="-57150"/>
              <a:ext cx="63276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VARIABLE</a:t>
              </a:r>
            </a:p>
          </p:txBody>
        </p:sp>
      </p:grpSp>
      <p:sp>
        <p:nvSpPr>
          <p:cNvPr name="TextBox 18" id="18"/>
          <p:cNvSpPr txBox="true"/>
          <p:nvPr/>
        </p:nvSpPr>
        <p:spPr>
          <a:xfrm rot="0">
            <a:off x="1124712" y="4267581"/>
            <a:ext cx="5047488" cy="355321"/>
          </a:xfrm>
          <a:prstGeom prst="rect">
            <a:avLst/>
          </a:prstGeom>
        </p:spPr>
        <p:txBody>
          <a:bodyPr anchor="t" rtlCol="false" tIns="0" lIns="0" bIns="0" rIns="0">
            <a:spAutoFit/>
          </a:bodyPr>
          <a:lstStyle/>
          <a:p>
            <a:pPr algn="l">
              <a:lnSpc>
                <a:spcPts val="2587"/>
              </a:lnSpc>
            </a:pPr>
            <a:r>
              <a:rPr lang="en-US" sz="1924" b="true">
                <a:solidFill>
                  <a:srgbClr val="1B1F3B"/>
                </a:solidFill>
                <a:latin typeface="Calibri (MS) Bold"/>
                <a:ea typeface="Calibri (MS) Bold"/>
                <a:cs typeface="Calibri (MS) Bold"/>
                <a:sym typeface="Calibri (MS) Bold"/>
              </a:rPr>
              <a:t>Definition:  </a:t>
            </a:r>
            <a:r>
              <a:rPr lang="en-US" sz="1924">
                <a:solidFill>
                  <a:srgbClr val="1B1F3B"/>
                </a:solidFill>
                <a:latin typeface="Calibri (MS)"/>
                <a:ea typeface="Calibri (MS)"/>
                <a:cs typeface="Calibri (MS)"/>
                <a:sym typeface="Calibri (MS)"/>
              </a:rPr>
              <a:t>A name that refers to a stored value.</a:t>
            </a:r>
          </a:p>
        </p:txBody>
      </p:sp>
      <p:sp>
        <p:nvSpPr>
          <p:cNvPr name="TextBox 19" id="19"/>
          <p:cNvSpPr txBox="true"/>
          <p:nvPr/>
        </p:nvSpPr>
        <p:spPr>
          <a:xfrm rot="0">
            <a:off x="1124712" y="4866894"/>
            <a:ext cx="4745736" cy="638175"/>
          </a:xfrm>
          <a:prstGeom prst="rect">
            <a:avLst/>
          </a:prstGeom>
        </p:spPr>
        <p:txBody>
          <a:bodyPr anchor="t" rtlCol="false" tIns="0" lIns="0" bIns="0" rIns="0">
            <a:spAutoFit/>
          </a:bodyPr>
          <a:lstStyle/>
          <a:p>
            <a:pPr algn="l">
              <a:lnSpc>
                <a:spcPts val="2474"/>
              </a:lnSpc>
            </a:pPr>
            <a:r>
              <a:rPr lang="en-US" sz="1874" i="true">
                <a:solidFill>
                  <a:srgbClr val="4FB6B0"/>
                </a:solidFill>
                <a:latin typeface="Calibri (MS) Italics"/>
                <a:ea typeface="Calibri (MS) Italics"/>
                <a:cs typeface="Calibri (MS) Italics"/>
                <a:sym typeface="Calibri (MS) Italics"/>
              </a:rPr>
              <a:t>In plain words: </a:t>
            </a:r>
            <a:r>
              <a:rPr lang="en-US" sz="1874" i="true">
                <a:solidFill>
                  <a:srgbClr val="000000"/>
                </a:solidFill>
                <a:latin typeface="Calibri (MS) Italics"/>
                <a:ea typeface="Calibri (MS) Italics"/>
                <a:cs typeface="Calibri (MS) Italics"/>
                <a:sym typeface="Calibri (MS) Italics"/>
              </a:rPr>
              <a:t> A labeled box that holds something.</a:t>
            </a:r>
          </a:p>
        </p:txBody>
      </p:sp>
      <p:grpSp>
        <p:nvGrpSpPr>
          <p:cNvPr name="Group 20" id="20"/>
          <p:cNvGrpSpPr/>
          <p:nvPr/>
        </p:nvGrpSpPr>
        <p:grpSpPr>
          <a:xfrm rot="0">
            <a:off x="6368415" y="3282315"/>
            <a:ext cx="5368290" cy="2556510"/>
            <a:chOff x="0" y="0"/>
            <a:chExt cx="7157720" cy="3408680"/>
          </a:xfrm>
        </p:grpSpPr>
        <p:sp>
          <p:nvSpPr>
            <p:cNvPr name="Freeform 21" id="21"/>
            <p:cNvSpPr/>
            <p:nvPr/>
          </p:nvSpPr>
          <p:spPr>
            <a:xfrm flipH="false" flipV="false" rot="0">
              <a:off x="0" y="0"/>
              <a:ext cx="7157720" cy="3408680"/>
            </a:xfrm>
            <a:custGeom>
              <a:avLst/>
              <a:gdLst/>
              <a:ahLst/>
              <a:cxnLst/>
              <a:rect r="r" b="b" t="t" l="l"/>
              <a:pathLst>
                <a:path h="3408680" w="7157720">
                  <a:moveTo>
                    <a:pt x="0" y="184277"/>
                  </a:moveTo>
                  <a:cubicBezTo>
                    <a:pt x="0" y="82550"/>
                    <a:pt x="82550" y="0"/>
                    <a:pt x="184277" y="0"/>
                  </a:cubicBezTo>
                  <a:lnTo>
                    <a:pt x="6973443" y="0"/>
                  </a:lnTo>
                  <a:cubicBezTo>
                    <a:pt x="7075170" y="0"/>
                    <a:pt x="7157720" y="82550"/>
                    <a:pt x="7157720" y="184277"/>
                  </a:cubicBezTo>
                  <a:lnTo>
                    <a:pt x="7157720" y="3224403"/>
                  </a:lnTo>
                  <a:cubicBezTo>
                    <a:pt x="7157720" y="3326130"/>
                    <a:pt x="7075170" y="3408680"/>
                    <a:pt x="6973443" y="3408680"/>
                  </a:cubicBezTo>
                  <a:lnTo>
                    <a:pt x="184277" y="3408680"/>
                  </a:lnTo>
                  <a:cubicBezTo>
                    <a:pt x="82550" y="3408680"/>
                    <a:pt x="0" y="3326130"/>
                    <a:pt x="0" y="3224403"/>
                  </a:cubicBezTo>
                  <a:close/>
                </a:path>
              </a:pathLst>
            </a:custGeom>
            <a:solidFill>
              <a:srgbClr val="FFFFFF"/>
            </a:solidFill>
            <a:ln w="19050" cap="sq">
              <a:solidFill>
                <a:srgbClr val="ECEEF7"/>
              </a:solidFill>
              <a:prstDash val="solid"/>
              <a:miter/>
            </a:ln>
          </p:spPr>
        </p:sp>
      </p:grpSp>
      <p:grpSp>
        <p:nvGrpSpPr>
          <p:cNvPr name="Group 22" id="22"/>
          <p:cNvGrpSpPr/>
          <p:nvPr/>
        </p:nvGrpSpPr>
        <p:grpSpPr>
          <a:xfrm rot="0">
            <a:off x="6679692" y="3566160"/>
            <a:ext cx="685800" cy="192024"/>
            <a:chOff x="0" y="0"/>
            <a:chExt cx="914400" cy="256032"/>
          </a:xfrm>
        </p:grpSpPr>
        <p:sp>
          <p:nvSpPr>
            <p:cNvPr name="Freeform 23" id="23"/>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24" id="24"/>
          <p:cNvGrpSpPr/>
          <p:nvPr/>
        </p:nvGrpSpPr>
        <p:grpSpPr>
          <a:xfrm rot="0">
            <a:off x="6679692" y="3785616"/>
            <a:ext cx="4745736" cy="493776"/>
            <a:chOff x="0" y="0"/>
            <a:chExt cx="6327648" cy="658368"/>
          </a:xfrm>
        </p:grpSpPr>
        <p:sp>
          <p:nvSpPr>
            <p:cNvPr name="Freeform 25" id="25"/>
            <p:cNvSpPr/>
            <p:nvPr/>
          </p:nvSpPr>
          <p:spPr>
            <a:xfrm flipH="false" flipV="false" rot="0">
              <a:off x="0" y="0"/>
              <a:ext cx="6327648" cy="658368"/>
            </a:xfrm>
            <a:custGeom>
              <a:avLst/>
              <a:gdLst/>
              <a:ahLst/>
              <a:cxnLst/>
              <a:rect r="r" b="b" t="t" l="l"/>
              <a:pathLst>
                <a:path h="658368" w="6327648">
                  <a:moveTo>
                    <a:pt x="0" y="0"/>
                  </a:moveTo>
                  <a:lnTo>
                    <a:pt x="6327648" y="0"/>
                  </a:lnTo>
                  <a:lnTo>
                    <a:pt x="6327648" y="658368"/>
                  </a:lnTo>
                  <a:lnTo>
                    <a:pt x="0" y="658368"/>
                  </a:lnTo>
                  <a:close/>
                </a:path>
              </a:pathLst>
            </a:custGeom>
            <a:blipFill>
              <a:blip r:embed="rId3">
                <a:alphaModFix amt="0"/>
              </a:blip>
              <a:stretch>
                <a:fillRect l="0" t="-137272" r="0" b="-137272"/>
              </a:stretch>
            </a:blipFill>
          </p:spPr>
        </p:sp>
        <p:sp>
          <p:nvSpPr>
            <p:cNvPr name="TextBox 26" id="26"/>
            <p:cNvSpPr txBox="true"/>
            <p:nvPr/>
          </p:nvSpPr>
          <p:spPr>
            <a:xfrm>
              <a:off x="0" y="-57150"/>
              <a:ext cx="63276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ASSIGNMENT</a:t>
              </a:r>
            </a:p>
          </p:txBody>
        </p:sp>
      </p:grpSp>
      <p:sp>
        <p:nvSpPr>
          <p:cNvPr name="TextBox 27" id="27"/>
          <p:cNvSpPr txBox="true"/>
          <p:nvPr/>
        </p:nvSpPr>
        <p:spPr>
          <a:xfrm rot="0">
            <a:off x="6617970" y="4267581"/>
            <a:ext cx="5554980" cy="372542"/>
          </a:xfrm>
          <a:prstGeom prst="rect">
            <a:avLst/>
          </a:prstGeom>
        </p:spPr>
        <p:txBody>
          <a:bodyPr anchor="t" rtlCol="false" tIns="0" lIns="0" bIns="0" rIns="0">
            <a:spAutoFit/>
          </a:bodyPr>
          <a:lstStyle/>
          <a:p>
            <a:pPr algn="l">
              <a:lnSpc>
                <a:spcPts val="2721"/>
              </a:lnSpc>
            </a:pPr>
            <a:r>
              <a:rPr lang="en-US" sz="2024" b="true">
                <a:solidFill>
                  <a:srgbClr val="1B1F3B"/>
                </a:solidFill>
                <a:latin typeface="Calibri (MS) Bold"/>
                <a:ea typeface="Calibri (MS) Bold"/>
                <a:cs typeface="Calibri (MS) Bold"/>
                <a:sym typeface="Calibri (MS) Bold"/>
              </a:rPr>
              <a:t>Definition:  </a:t>
            </a:r>
            <a:r>
              <a:rPr lang="en-US" sz="2024">
                <a:solidFill>
                  <a:srgbClr val="1B1F3B"/>
                </a:solidFill>
                <a:latin typeface="Calibri (MS)"/>
                <a:ea typeface="Calibri (MS)"/>
                <a:cs typeface="Calibri (MS)"/>
                <a:sym typeface="Calibri (MS)"/>
              </a:rPr>
              <a:t>Using = to store a value in a variable.</a:t>
            </a:r>
          </a:p>
        </p:txBody>
      </p:sp>
      <p:sp>
        <p:nvSpPr>
          <p:cNvPr name="TextBox 28" id="28"/>
          <p:cNvSpPr txBox="true"/>
          <p:nvPr/>
        </p:nvSpPr>
        <p:spPr>
          <a:xfrm rot="0">
            <a:off x="6679692" y="4866894"/>
            <a:ext cx="4745736" cy="333375"/>
          </a:xfrm>
          <a:prstGeom prst="rect">
            <a:avLst/>
          </a:prstGeom>
        </p:spPr>
        <p:txBody>
          <a:bodyPr anchor="t" rtlCol="false" tIns="0" lIns="0" bIns="0" rIns="0">
            <a:spAutoFit/>
          </a:bodyPr>
          <a:lstStyle/>
          <a:p>
            <a:pPr algn="l">
              <a:lnSpc>
                <a:spcPts val="2474"/>
              </a:lnSpc>
            </a:pPr>
            <a:r>
              <a:rPr lang="en-US" b="true" sz="1874" i="true">
                <a:solidFill>
                  <a:srgbClr val="4FB6B0"/>
                </a:solidFill>
                <a:latin typeface="Calibri (MS) Bold Italics"/>
                <a:ea typeface="Calibri (MS) Bold Italics"/>
                <a:cs typeface="Calibri (MS) Bold Italics"/>
                <a:sym typeface="Calibri (MS) Bold Italics"/>
              </a:rPr>
              <a:t>In plain words:  </a:t>
            </a:r>
            <a:r>
              <a:rPr lang="en-US" sz="1874" i="true">
                <a:solidFill>
                  <a:srgbClr val="000000"/>
                </a:solidFill>
                <a:latin typeface="Calibri (MS) Italics"/>
                <a:ea typeface="Calibri (MS) Italics"/>
                <a:cs typeface="Calibri (MS) Italics"/>
                <a:sym typeface="Calibri (MS) Italics"/>
              </a:rPr>
              <a:t>“Put this value into that name.”</a:t>
            </a:r>
          </a:p>
        </p:txBody>
      </p:sp>
      <p:grpSp>
        <p:nvGrpSpPr>
          <p:cNvPr name="Group 29" id="29"/>
          <p:cNvGrpSpPr/>
          <p:nvPr/>
        </p:nvGrpSpPr>
        <p:grpSpPr>
          <a:xfrm rot="0">
            <a:off x="11923395" y="3282315"/>
            <a:ext cx="5678348" cy="2556510"/>
            <a:chOff x="0" y="0"/>
            <a:chExt cx="7571130" cy="3408680"/>
          </a:xfrm>
        </p:grpSpPr>
        <p:sp>
          <p:nvSpPr>
            <p:cNvPr name="Freeform 30" id="30"/>
            <p:cNvSpPr/>
            <p:nvPr/>
          </p:nvSpPr>
          <p:spPr>
            <a:xfrm flipH="false" flipV="false" rot="0">
              <a:off x="0" y="0"/>
              <a:ext cx="7571130" cy="3408680"/>
            </a:xfrm>
            <a:custGeom>
              <a:avLst/>
              <a:gdLst/>
              <a:ahLst/>
              <a:cxnLst/>
              <a:rect r="r" b="b" t="t" l="l"/>
              <a:pathLst>
                <a:path h="3408680" w="7571130">
                  <a:moveTo>
                    <a:pt x="0" y="184277"/>
                  </a:moveTo>
                  <a:cubicBezTo>
                    <a:pt x="0" y="82550"/>
                    <a:pt x="85142" y="0"/>
                    <a:pt x="190064" y="0"/>
                  </a:cubicBezTo>
                  <a:lnTo>
                    <a:pt x="7381066" y="0"/>
                  </a:lnTo>
                  <a:cubicBezTo>
                    <a:pt x="7485988" y="0"/>
                    <a:pt x="7571130" y="82550"/>
                    <a:pt x="7571130" y="184277"/>
                  </a:cubicBezTo>
                  <a:lnTo>
                    <a:pt x="7571130" y="3224403"/>
                  </a:lnTo>
                  <a:cubicBezTo>
                    <a:pt x="7571130" y="3326130"/>
                    <a:pt x="7485988" y="3408680"/>
                    <a:pt x="7381066" y="3408680"/>
                  </a:cubicBezTo>
                  <a:lnTo>
                    <a:pt x="190064" y="3408680"/>
                  </a:lnTo>
                  <a:cubicBezTo>
                    <a:pt x="85142" y="3408680"/>
                    <a:pt x="0" y="3326130"/>
                    <a:pt x="0" y="3224403"/>
                  </a:cubicBezTo>
                  <a:close/>
                </a:path>
              </a:pathLst>
            </a:custGeom>
            <a:solidFill>
              <a:srgbClr val="FFFFFF"/>
            </a:solidFill>
            <a:ln w="19050" cap="sq">
              <a:solidFill>
                <a:srgbClr val="ECEEF7"/>
              </a:solidFill>
              <a:prstDash val="solid"/>
              <a:miter/>
            </a:ln>
          </p:spPr>
        </p:sp>
      </p:grpSp>
      <p:grpSp>
        <p:nvGrpSpPr>
          <p:cNvPr name="Group 31" id="31"/>
          <p:cNvGrpSpPr/>
          <p:nvPr/>
        </p:nvGrpSpPr>
        <p:grpSpPr>
          <a:xfrm rot="0">
            <a:off x="12234672" y="3566160"/>
            <a:ext cx="685800" cy="192024"/>
            <a:chOff x="0" y="0"/>
            <a:chExt cx="914400" cy="256032"/>
          </a:xfrm>
        </p:grpSpPr>
        <p:sp>
          <p:nvSpPr>
            <p:cNvPr name="Freeform 32" id="32"/>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2665E"/>
            </a:solidFill>
          </p:spPr>
        </p:sp>
      </p:grpSp>
      <p:grpSp>
        <p:nvGrpSpPr>
          <p:cNvPr name="Group 33" id="33"/>
          <p:cNvGrpSpPr/>
          <p:nvPr/>
        </p:nvGrpSpPr>
        <p:grpSpPr>
          <a:xfrm rot="0">
            <a:off x="12234672" y="3785616"/>
            <a:ext cx="4882896" cy="493776"/>
            <a:chOff x="0" y="0"/>
            <a:chExt cx="6510528" cy="658368"/>
          </a:xfrm>
        </p:grpSpPr>
        <p:sp>
          <p:nvSpPr>
            <p:cNvPr name="Freeform 34" id="34"/>
            <p:cNvSpPr/>
            <p:nvPr/>
          </p:nvSpPr>
          <p:spPr>
            <a:xfrm flipH="false" flipV="false" rot="0">
              <a:off x="0" y="0"/>
              <a:ext cx="6510528" cy="658368"/>
            </a:xfrm>
            <a:custGeom>
              <a:avLst/>
              <a:gdLst/>
              <a:ahLst/>
              <a:cxnLst/>
              <a:rect r="r" b="b" t="t" l="l"/>
              <a:pathLst>
                <a:path h="658368" w="6510528">
                  <a:moveTo>
                    <a:pt x="0" y="0"/>
                  </a:moveTo>
                  <a:lnTo>
                    <a:pt x="6510528" y="0"/>
                  </a:lnTo>
                  <a:lnTo>
                    <a:pt x="6510528" y="658368"/>
                  </a:lnTo>
                  <a:lnTo>
                    <a:pt x="0" y="658368"/>
                  </a:lnTo>
                  <a:close/>
                </a:path>
              </a:pathLst>
            </a:custGeom>
            <a:blipFill>
              <a:blip r:embed="rId3">
                <a:alphaModFix amt="0"/>
              </a:blip>
              <a:stretch>
                <a:fillRect l="0" t="-142685" r="0" b="-142685"/>
              </a:stretch>
            </a:blipFill>
          </p:spPr>
        </p:sp>
        <p:sp>
          <p:nvSpPr>
            <p:cNvPr name="TextBox 35" id="35"/>
            <p:cNvSpPr txBox="true"/>
            <p:nvPr/>
          </p:nvSpPr>
          <p:spPr>
            <a:xfrm>
              <a:off x="0" y="-57150"/>
              <a:ext cx="651052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VALUE</a:t>
              </a:r>
            </a:p>
          </p:txBody>
        </p:sp>
      </p:grpSp>
      <p:sp>
        <p:nvSpPr>
          <p:cNvPr name="TextBox 36" id="36"/>
          <p:cNvSpPr txBox="true"/>
          <p:nvPr/>
        </p:nvSpPr>
        <p:spPr>
          <a:xfrm rot="0">
            <a:off x="12234672" y="4208602"/>
            <a:ext cx="5508789" cy="372542"/>
          </a:xfrm>
          <a:prstGeom prst="rect">
            <a:avLst/>
          </a:prstGeom>
        </p:spPr>
        <p:txBody>
          <a:bodyPr anchor="t" rtlCol="false" tIns="0" lIns="0" bIns="0" rIns="0">
            <a:spAutoFit/>
          </a:bodyPr>
          <a:lstStyle/>
          <a:p>
            <a:pPr algn="l">
              <a:lnSpc>
                <a:spcPts val="2721"/>
              </a:lnSpc>
            </a:pPr>
            <a:r>
              <a:rPr lang="en-US" sz="2024" b="true">
                <a:solidFill>
                  <a:srgbClr val="1B1F3B"/>
                </a:solidFill>
                <a:latin typeface="Calibri (MS) Bold"/>
                <a:ea typeface="Calibri (MS) Bold"/>
                <a:cs typeface="Calibri (MS) Bold"/>
                <a:sym typeface="Calibri (MS) Bold"/>
              </a:rPr>
              <a:t>Definition:  </a:t>
            </a:r>
            <a:r>
              <a:rPr lang="en-US" sz="2024">
                <a:solidFill>
                  <a:srgbClr val="1B1F3B"/>
                </a:solidFill>
                <a:latin typeface="Calibri (MS)"/>
                <a:ea typeface="Calibri (MS)"/>
                <a:cs typeface="Calibri (MS)"/>
                <a:sym typeface="Calibri (MS)"/>
              </a:rPr>
              <a:t>The actual piece of data being stored.</a:t>
            </a:r>
          </a:p>
        </p:txBody>
      </p:sp>
      <p:sp>
        <p:nvSpPr>
          <p:cNvPr name="TextBox 37" id="37"/>
          <p:cNvSpPr txBox="true"/>
          <p:nvPr/>
        </p:nvSpPr>
        <p:spPr>
          <a:xfrm rot="0">
            <a:off x="12234672" y="4866894"/>
            <a:ext cx="4882896" cy="333375"/>
          </a:xfrm>
          <a:prstGeom prst="rect">
            <a:avLst/>
          </a:prstGeom>
        </p:spPr>
        <p:txBody>
          <a:bodyPr anchor="t" rtlCol="false" tIns="0" lIns="0" bIns="0" rIns="0">
            <a:spAutoFit/>
          </a:bodyPr>
          <a:lstStyle/>
          <a:p>
            <a:pPr algn="l">
              <a:lnSpc>
                <a:spcPts val="2474"/>
              </a:lnSpc>
            </a:pPr>
            <a:r>
              <a:rPr lang="en-US" b="true" sz="1874" i="true">
                <a:solidFill>
                  <a:srgbClr val="4FB6B0"/>
                </a:solidFill>
                <a:latin typeface="Calibri (MS) Bold Italics"/>
                <a:ea typeface="Calibri (MS) Bold Italics"/>
                <a:cs typeface="Calibri (MS) Bold Italics"/>
                <a:sym typeface="Calibri (MS) Bold Italics"/>
              </a:rPr>
              <a:t>In plain words:</a:t>
            </a:r>
            <a:r>
              <a:rPr lang="en-US" b="true" sz="1874" i="true">
                <a:solidFill>
                  <a:srgbClr val="000000"/>
                </a:solidFill>
                <a:latin typeface="Calibri (MS) Bold Italics"/>
                <a:ea typeface="Calibri (MS) Bold Italics"/>
                <a:cs typeface="Calibri (MS) Bold Italics"/>
                <a:sym typeface="Calibri (MS) Bold Italics"/>
              </a:rPr>
              <a:t>  </a:t>
            </a:r>
            <a:r>
              <a:rPr lang="en-US" sz="1874" i="true">
                <a:solidFill>
                  <a:srgbClr val="000000"/>
                </a:solidFill>
                <a:latin typeface="Calibri (MS) Italics"/>
                <a:ea typeface="Calibri (MS) Italics"/>
                <a:cs typeface="Calibri (MS) Italics"/>
                <a:sym typeface="Calibri (MS) Italics"/>
              </a:rPr>
              <a:t>What's really inside the box.</a:t>
            </a:r>
          </a:p>
        </p:txBody>
      </p:sp>
      <p:grpSp>
        <p:nvGrpSpPr>
          <p:cNvPr name="Group 38" id="38"/>
          <p:cNvGrpSpPr/>
          <p:nvPr/>
        </p:nvGrpSpPr>
        <p:grpSpPr>
          <a:xfrm rot="0">
            <a:off x="822960" y="6035040"/>
            <a:ext cx="8092440" cy="2537460"/>
            <a:chOff x="0" y="0"/>
            <a:chExt cx="10789920" cy="3383280"/>
          </a:xfrm>
        </p:grpSpPr>
        <p:sp>
          <p:nvSpPr>
            <p:cNvPr name="Freeform 39" id="39"/>
            <p:cNvSpPr/>
            <p:nvPr/>
          </p:nvSpPr>
          <p:spPr>
            <a:xfrm flipH="false" flipV="false" rot="0">
              <a:off x="0" y="0"/>
              <a:ext cx="10789920" cy="3383280"/>
            </a:xfrm>
            <a:custGeom>
              <a:avLst/>
              <a:gdLst/>
              <a:ahLst/>
              <a:cxnLst/>
              <a:rect r="r" b="b" t="t" l="l"/>
              <a:pathLst>
                <a:path h="3383280" w="10789920">
                  <a:moveTo>
                    <a:pt x="0" y="174621"/>
                  </a:moveTo>
                  <a:cubicBezTo>
                    <a:pt x="0" y="78216"/>
                    <a:pt x="65532" y="0"/>
                    <a:pt x="146304" y="0"/>
                  </a:cubicBezTo>
                  <a:lnTo>
                    <a:pt x="10643616" y="0"/>
                  </a:lnTo>
                  <a:cubicBezTo>
                    <a:pt x="10724388" y="0"/>
                    <a:pt x="10789920" y="78216"/>
                    <a:pt x="10789920" y="174621"/>
                  </a:cubicBezTo>
                  <a:lnTo>
                    <a:pt x="10789920" y="3208659"/>
                  </a:lnTo>
                  <a:cubicBezTo>
                    <a:pt x="10789920" y="3305064"/>
                    <a:pt x="10724388" y="3383280"/>
                    <a:pt x="10643616" y="3383280"/>
                  </a:cubicBezTo>
                  <a:lnTo>
                    <a:pt x="146304" y="3383280"/>
                  </a:lnTo>
                  <a:cubicBezTo>
                    <a:pt x="65532" y="3383280"/>
                    <a:pt x="0" y="3305064"/>
                    <a:pt x="0" y="3208659"/>
                  </a:cubicBezTo>
                  <a:close/>
                </a:path>
              </a:pathLst>
            </a:custGeom>
            <a:solidFill>
              <a:srgbClr val="1B1F3B"/>
            </a:solidFill>
          </p:spPr>
        </p:sp>
      </p:grpSp>
      <p:grpSp>
        <p:nvGrpSpPr>
          <p:cNvPr name="Group 40" id="40"/>
          <p:cNvGrpSpPr/>
          <p:nvPr/>
        </p:nvGrpSpPr>
        <p:grpSpPr>
          <a:xfrm rot="0">
            <a:off x="1124712" y="6199632"/>
            <a:ext cx="7406640" cy="356616"/>
            <a:chOff x="0" y="0"/>
            <a:chExt cx="9875520" cy="475488"/>
          </a:xfrm>
        </p:grpSpPr>
        <p:sp>
          <p:nvSpPr>
            <p:cNvPr name="Freeform 41" id="41"/>
            <p:cNvSpPr/>
            <p:nvPr/>
          </p:nvSpPr>
          <p:spPr>
            <a:xfrm flipH="false" flipV="false" rot="0">
              <a:off x="0" y="0"/>
              <a:ext cx="9875520" cy="475488"/>
            </a:xfrm>
            <a:custGeom>
              <a:avLst/>
              <a:gdLst/>
              <a:ahLst/>
              <a:cxnLst/>
              <a:rect r="r" b="b" t="t" l="l"/>
              <a:pathLst>
                <a:path h="475488" w="9875520">
                  <a:moveTo>
                    <a:pt x="0" y="0"/>
                  </a:moveTo>
                  <a:lnTo>
                    <a:pt x="9875520" y="0"/>
                  </a:lnTo>
                  <a:lnTo>
                    <a:pt x="9875520" y="475488"/>
                  </a:lnTo>
                  <a:lnTo>
                    <a:pt x="0" y="475488"/>
                  </a:lnTo>
                  <a:close/>
                </a:path>
              </a:pathLst>
            </a:custGeom>
            <a:blipFill>
              <a:blip r:embed="rId3">
                <a:alphaModFix amt="0"/>
              </a:blip>
              <a:stretch>
                <a:fillRect l="0" t="-354689" r="0" b="-354689"/>
              </a:stretch>
            </a:blipFill>
          </p:spPr>
        </p:sp>
        <p:sp>
          <p:nvSpPr>
            <p:cNvPr name="TextBox 42" id="42"/>
            <p:cNvSpPr txBox="true"/>
            <p:nvPr/>
          </p:nvSpPr>
          <p:spPr>
            <a:xfrm>
              <a:off x="0" y="-38100"/>
              <a:ext cx="987552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EXAMPLE</a:t>
              </a:r>
            </a:p>
          </p:txBody>
        </p:sp>
      </p:grpSp>
      <p:sp>
        <p:nvSpPr>
          <p:cNvPr name="TextBox 43" id="43"/>
          <p:cNvSpPr txBox="true"/>
          <p:nvPr/>
        </p:nvSpPr>
        <p:spPr>
          <a:xfrm rot="0">
            <a:off x="1152144" y="6682740"/>
            <a:ext cx="7434072" cy="1258824"/>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name = </a:t>
            </a:r>
            <a:r>
              <a:rPr lang="en-US" sz="1950">
                <a:solidFill>
                  <a:srgbClr val="8FE3C0"/>
                </a:solidFill>
                <a:latin typeface="Courier New"/>
                <a:ea typeface="Courier New"/>
                <a:cs typeface="Courier New"/>
                <a:sym typeface="Courier New"/>
              </a:rPr>
              <a:t>“Sara"</a:t>
            </a:r>
          </a:p>
          <a:p>
            <a:pPr algn="l">
              <a:lnSpc>
                <a:spcPts val="2690"/>
              </a:lnSpc>
            </a:pPr>
            <a:r>
              <a:rPr lang="en-US" sz="1950">
                <a:solidFill>
                  <a:srgbClr val="E9ECF7"/>
                </a:solidFill>
                <a:latin typeface="Courier New"/>
                <a:ea typeface="Courier New"/>
                <a:cs typeface="Courier New"/>
                <a:sym typeface="Courier New"/>
              </a:rPr>
              <a:t>age = </a:t>
            </a:r>
            <a:r>
              <a:rPr lang="en-US" sz="1950">
                <a:solidFill>
                  <a:srgbClr val="9AD1FF"/>
                </a:solidFill>
                <a:latin typeface="Courier New"/>
                <a:ea typeface="Courier New"/>
                <a:cs typeface="Courier New"/>
                <a:sym typeface="Courier New"/>
              </a:rPr>
              <a:t>20</a:t>
            </a:r>
          </a:p>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(name, age)</a:t>
            </a:r>
          </a:p>
        </p:txBody>
      </p:sp>
      <p:grpSp>
        <p:nvGrpSpPr>
          <p:cNvPr name="Group 44" id="44"/>
          <p:cNvGrpSpPr/>
          <p:nvPr/>
        </p:nvGrpSpPr>
        <p:grpSpPr>
          <a:xfrm rot="0">
            <a:off x="9395460" y="6035040"/>
            <a:ext cx="8023860" cy="2537460"/>
            <a:chOff x="0" y="0"/>
            <a:chExt cx="10698480" cy="3383280"/>
          </a:xfrm>
        </p:grpSpPr>
        <p:sp>
          <p:nvSpPr>
            <p:cNvPr name="Freeform 45" id="45"/>
            <p:cNvSpPr/>
            <p:nvPr/>
          </p:nvSpPr>
          <p:spPr>
            <a:xfrm flipH="false" flipV="false" rot="0">
              <a:off x="0" y="0"/>
              <a:ext cx="10698480" cy="3383280"/>
            </a:xfrm>
            <a:custGeom>
              <a:avLst/>
              <a:gdLst/>
              <a:ahLst/>
              <a:cxnLst/>
              <a:rect r="r" b="b" t="t" l="l"/>
              <a:pathLst>
                <a:path h="3383280" w="10698480">
                  <a:moveTo>
                    <a:pt x="0" y="182880"/>
                  </a:moveTo>
                  <a:cubicBezTo>
                    <a:pt x="0" y="81915"/>
                    <a:pt x="81915" y="0"/>
                    <a:pt x="182880" y="0"/>
                  </a:cubicBezTo>
                  <a:lnTo>
                    <a:pt x="10515600" y="0"/>
                  </a:lnTo>
                  <a:cubicBezTo>
                    <a:pt x="10616565" y="0"/>
                    <a:pt x="10698480" y="81915"/>
                    <a:pt x="10698480" y="182880"/>
                  </a:cubicBezTo>
                  <a:lnTo>
                    <a:pt x="10698480" y="3200400"/>
                  </a:lnTo>
                  <a:cubicBezTo>
                    <a:pt x="10698480" y="3301365"/>
                    <a:pt x="10616565" y="3383280"/>
                    <a:pt x="10515600" y="3383280"/>
                  </a:cubicBezTo>
                  <a:lnTo>
                    <a:pt x="182880" y="3383280"/>
                  </a:lnTo>
                  <a:cubicBezTo>
                    <a:pt x="81915" y="3383280"/>
                    <a:pt x="0" y="3301365"/>
                    <a:pt x="0" y="3200400"/>
                  </a:cubicBezTo>
                  <a:close/>
                </a:path>
              </a:pathLst>
            </a:custGeom>
            <a:solidFill>
              <a:srgbClr val="1B1F3B"/>
            </a:solidFill>
          </p:spPr>
        </p:sp>
      </p:grpSp>
      <p:grpSp>
        <p:nvGrpSpPr>
          <p:cNvPr name="Group 46" id="46"/>
          <p:cNvGrpSpPr/>
          <p:nvPr/>
        </p:nvGrpSpPr>
        <p:grpSpPr>
          <a:xfrm rot="0">
            <a:off x="9779508" y="6254496"/>
            <a:ext cx="7255764" cy="411480"/>
            <a:chOff x="0" y="0"/>
            <a:chExt cx="9674352" cy="548640"/>
          </a:xfrm>
        </p:grpSpPr>
        <p:sp>
          <p:nvSpPr>
            <p:cNvPr name="Freeform 47" id="47"/>
            <p:cNvSpPr/>
            <p:nvPr/>
          </p:nvSpPr>
          <p:spPr>
            <a:xfrm flipH="false" flipV="false" rot="0">
              <a:off x="0" y="0"/>
              <a:ext cx="9674352" cy="548640"/>
            </a:xfrm>
            <a:custGeom>
              <a:avLst/>
              <a:gdLst/>
              <a:ahLst/>
              <a:cxnLst/>
              <a:rect r="r" b="b" t="t" l="l"/>
              <a:pathLst>
                <a:path h="548640" w="9674352">
                  <a:moveTo>
                    <a:pt x="0" y="0"/>
                  </a:moveTo>
                  <a:lnTo>
                    <a:pt x="9674352" y="0"/>
                  </a:lnTo>
                  <a:lnTo>
                    <a:pt x="9674352" y="548640"/>
                  </a:lnTo>
                  <a:lnTo>
                    <a:pt x="0" y="548640"/>
                  </a:lnTo>
                  <a:close/>
                </a:path>
              </a:pathLst>
            </a:custGeom>
            <a:blipFill>
              <a:blip r:embed="rId3">
                <a:alphaModFix amt="0"/>
              </a:blip>
              <a:stretch>
                <a:fillRect l="0" t="-293586" r="0" b="-293586"/>
              </a:stretch>
            </a:blipFill>
          </p:spPr>
        </p:sp>
        <p:sp>
          <p:nvSpPr>
            <p:cNvPr name="TextBox 48" id="48"/>
            <p:cNvSpPr txBox="true"/>
            <p:nvPr/>
          </p:nvSpPr>
          <p:spPr>
            <a:xfrm>
              <a:off x="0" y="-28575"/>
              <a:ext cx="9674352" cy="577215"/>
            </a:xfrm>
            <a:prstGeom prst="rect">
              <a:avLst/>
            </a:prstGeom>
          </p:spPr>
          <p:txBody>
            <a:bodyPr anchor="ctr" rtlCol="false" tIns="0" lIns="0" bIns="0" rIns="0"/>
            <a:lstStyle/>
            <a:p>
              <a:pPr algn="l">
                <a:lnSpc>
                  <a:spcPts val="1980"/>
                </a:lnSpc>
              </a:pPr>
              <a:r>
                <a:rPr lang="en-US" b="true" sz="1650" spc="225">
                  <a:solidFill>
                    <a:srgbClr val="FFB84C"/>
                  </a:solidFill>
                  <a:latin typeface="Calibri (MS) Bold"/>
                  <a:ea typeface="Calibri (MS) Bold"/>
                  <a:cs typeface="Calibri (MS) Bold"/>
                  <a:sym typeface="Calibri (MS) Bold"/>
                </a:rPr>
                <a:t>PREDICT THE OUTPUT</a:t>
              </a:r>
            </a:p>
          </p:txBody>
        </p:sp>
      </p:grpSp>
      <p:sp>
        <p:nvSpPr>
          <p:cNvPr name="TextBox 49" id="49"/>
          <p:cNvSpPr txBox="true"/>
          <p:nvPr/>
        </p:nvSpPr>
        <p:spPr>
          <a:xfrm rot="0">
            <a:off x="9779508" y="6635115"/>
            <a:ext cx="7255764" cy="1690497"/>
          </a:xfrm>
          <a:prstGeom prst="rect">
            <a:avLst/>
          </a:prstGeom>
        </p:spPr>
        <p:txBody>
          <a:bodyPr anchor="t" rtlCol="false" tIns="0" lIns="0" bIns="0" rIns="0">
            <a:spAutoFit/>
          </a:bodyPr>
          <a:lstStyle/>
          <a:p>
            <a:pPr algn="l">
              <a:lnSpc>
                <a:spcPts val="2916"/>
              </a:lnSpc>
            </a:pPr>
            <a:r>
              <a:rPr lang="en-US" sz="2025">
                <a:solidFill>
                  <a:srgbClr val="FFFFFF"/>
                </a:solidFill>
                <a:latin typeface="Calibri (MS)"/>
                <a:ea typeface="Calibri (MS)"/>
                <a:cs typeface="Calibri (MS)"/>
                <a:sym typeface="Calibri (MS)"/>
              </a:rPr>
              <a:t>x = 10</a:t>
            </a:r>
          </a:p>
          <a:p>
            <a:pPr algn="l">
              <a:lnSpc>
                <a:spcPts val="2916"/>
              </a:lnSpc>
            </a:pPr>
            <a:r>
              <a:rPr lang="en-US" sz="2025">
                <a:solidFill>
                  <a:srgbClr val="FFFFFF"/>
                </a:solidFill>
                <a:latin typeface="Calibri (MS)"/>
                <a:ea typeface="Calibri (MS)"/>
                <a:cs typeface="Calibri (MS)"/>
                <a:sym typeface="Calibri (MS)"/>
              </a:rPr>
              <a:t>x = 20</a:t>
            </a:r>
          </a:p>
          <a:p>
            <a:pPr algn="l">
              <a:lnSpc>
                <a:spcPts val="2916"/>
              </a:lnSpc>
            </a:pPr>
            <a:r>
              <a:rPr lang="en-US" sz="2025">
                <a:solidFill>
                  <a:srgbClr val="FFFFFF"/>
                </a:solidFill>
                <a:latin typeface="Calibri (MS)"/>
                <a:ea typeface="Calibri (MS)"/>
                <a:cs typeface="Calibri (MS)"/>
                <a:sym typeface="Calibri (MS)"/>
              </a:rPr>
              <a:t>print(x)</a:t>
            </a:r>
          </a:p>
          <a:p>
            <a:pPr algn="l">
              <a:lnSpc>
                <a:spcPts val="2916"/>
              </a:lnSpc>
            </a:pPr>
          </a:p>
          <a:p>
            <a:pPr algn="l">
              <a:lnSpc>
                <a:spcPts val="2916"/>
              </a:lnSpc>
            </a:pPr>
            <a:r>
              <a:rPr lang="en-US" sz="2025">
                <a:solidFill>
                  <a:srgbClr val="FFFFFF"/>
                </a:solidFill>
                <a:latin typeface="Calibri (MS)"/>
                <a:ea typeface="Calibri (MS)"/>
                <a:cs typeface="Calibri (MS)"/>
                <a:sym typeface="Calibri (MS)"/>
              </a:rPr>
              <a:t>What gets printed — 10, 20, or both? Why?</a:t>
            </a:r>
          </a:p>
        </p:txBody>
      </p:sp>
      <p:grpSp>
        <p:nvGrpSpPr>
          <p:cNvPr name="Group 50" id="50"/>
          <p:cNvGrpSpPr/>
          <p:nvPr/>
        </p:nvGrpSpPr>
        <p:grpSpPr>
          <a:xfrm rot="0">
            <a:off x="813435" y="8837295"/>
            <a:ext cx="16615410" cy="842010"/>
            <a:chOff x="0" y="0"/>
            <a:chExt cx="22153880" cy="1122680"/>
          </a:xfrm>
        </p:grpSpPr>
        <p:sp>
          <p:nvSpPr>
            <p:cNvPr name="Freeform 51" id="51"/>
            <p:cNvSpPr/>
            <p:nvPr/>
          </p:nvSpPr>
          <p:spPr>
            <a:xfrm flipH="false" flipV="false" rot="0">
              <a:off x="0" y="0"/>
              <a:ext cx="22153880" cy="1122680"/>
            </a:xfrm>
            <a:custGeom>
              <a:avLst/>
              <a:gdLst/>
              <a:ahLst/>
              <a:cxnLst/>
              <a:rect r="r" b="b" t="t" l="l"/>
              <a:pathLst>
                <a:path h="1122680" w="22153880">
                  <a:moveTo>
                    <a:pt x="0" y="149733"/>
                  </a:moveTo>
                  <a:cubicBezTo>
                    <a:pt x="0" y="67056"/>
                    <a:pt x="67056" y="0"/>
                    <a:pt x="149733" y="0"/>
                  </a:cubicBezTo>
                  <a:lnTo>
                    <a:pt x="22004147" y="0"/>
                  </a:lnTo>
                  <a:cubicBezTo>
                    <a:pt x="22086824" y="0"/>
                    <a:pt x="22153880" y="67056"/>
                    <a:pt x="22153880" y="149733"/>
                  </a:cubicBezTo>
                  <a:lnTo>
                    <a:pt x="22153880" y="972947"/>
                  </a:lnTo>
                  <a:cubicBezTo>
                    <a:pt x="22153880" y="1055624"/>
                    <a:pt x="22086824" y="1122680"/>
                    <a:pt x="22004147" y="1122680"/>
                  </a:cubicBezTo>
                  <a:lnTo>
                    <a:pt x="149733" y="1122680"/>
                  </a:lnTo>
                  <a:cubicBezTo>
                    <a:pt x="67056" y="1122680"/>
                    <a:pt x="0" y="1055624"/>
                    <a:pt x="0" y="972947"/>
                  </a:cubicBezTo>
                  <a:close/>
                </a:path>
              </a:pathLst>
            </a:custGeom>
            <a:solidFill>
              <a:srgbClr val="FFF3E0"/>
            </a:solidFill>
            <a:ln w="19050" cap="sq">
              <a:solidFill>
                <a:srgbClr val="FFB84C"/>
              </a:solidFill>
              <a:prstDash val="solid"/>
              <a:miter/>
            </a:ln>
          </p:spPr>
        </p:sp>
      </p:grpSp>
      <p:grpSp>
        <p:nvGrpSpPr>
          <p:cNvPr name="Group 52" id="52"/>
          <p:cNvGrpSpPr/>
          <p:nvPr/>
        </p:nvGrpSpPr>
        <p:grpSpPr>
          <a:xfrm rot="0">
            <a:off x="1124712" y="8846820"/>
            <a:ext cx="15992856" cy="822960"/>
            <a:chOff x="0" y="0"/>
            <a:chExt cx="21323808" cy="1097280"/>
          </a:xfrm>
        </p:grpSpPr>
        <p:sp>
          <p:nvSpPr>
            <p:cNvPr name="Freeform 53" id="53"/>
            <p:cNvSpPr/>
            <p:nvPr/>
          </p:nvSpPr>
          <p:spPr>
            <a:xfrm flipH="false" flipV="false" rot="0">
              <a:off x="0" y="0"/>
              <a:ext cx="21323808" cy="1097280"/>
            </a:xfrm>
            <a:custGeom>
              <a:avLst/>
              <a:gdLst/>
              <a:ahLst/>
              <a:cxnLst/>
              <a:rect r="r" b="b" t="t" l="l"/>
              <a:pathLst>
                <a:path h="1097280" w="21323808">
                  <a:moveTo>
                    <a:pt x="0" y="0"/>
                  </a:moveTo>
                  <a:lnTo>
                    <a:pt x="21323808" y="0"/>
                  </a:lnTo>
                  <a:lnTo>
                    <a:pt x="21323808" y="1097280"/>
                  </a:lnTo>
                  <a:lnTo>
                    <a:pt x="0" y="1097280"/>
                  </a:lnTo>
                  <a:close/>
                </a:path>
              </a:pathLst>
            </a:custGeom>
            <a:blipFill>
              <a:blip r:embed="rId3">
                <a:alphaModFix amt="0"/>
              </a:blip>
              <a:stretch>
                <a:fillRect l="0" t="-328659" r="0" b="-328659"/>
              </a:stretch>
            </a:blipFill>
          </p:spPr>
        </p:sp>
        <p:sp>
          <p:nvSpPr>
            <p:cNvPr name="TextBox 54" id="54"/>
            <p:cNvSpPr txBox="true"/>
            <p:nvPr/>
          </p:nvSpPr>
          <p:spPr>
            <a:xfrm>
              <a:off x="0" y="-57150"/>
              <a:ext cx="21323808" cy="1154430"/>
            </a:xfrm>
            <a:prstGeom prst="rect">
              <a:avLst/>
            </a:prstGeom>
          </p:spPr>
          <p:txBody>
            <a:bodyPr anchor="ctr" rtlCol="false" tIns="0" lIns="0" bIns="0" rIns="0"/>
            <a:lstStyle/>
            <a:p>
              <a:pPr algn="l">
                <a:lnSpc>
                  <a:spcPts val="2277"/>
                </a:lnSpc>
              </a:pPr>
              <a:r>
                <a:rPr lang="en-US" sz="1650" b="true">
                  <a:solidFill>
                    <a:srgbClr val="B85C00"/>
                  </a:solidFill>
                  <a:latin typeface="Calibri (MS) Bold"/>
                  <a:ea typeface="Calibri (MS) Bold"/>
                  <a:cs typeface="Calibri (MS) Bold"/>
                  <a:sym typeface="Calibri (MS) Bold"/>
                </a:rPr>
                <a:t>Why this matters for Agentic AI:  </a:t>
              </a:r>
              <a:r>
                <a:rPr lang="en-US" sz="1650" b="true">
                  <a:solidFill>
                    <a:srgbClr val="5A4632"/>
                  </a:solidFill>
                  <a:latin typeface="Calibri (MS) Bold"/>
                  <a:ea typeface="Calibri (MS) Bold"/>
                  <a:cs typeface="Calibri (MS) Bold"/>
                  <a:sym typeface="Calibri (MS) Bold"/>
                </a:rPr>
                <a:t>Agents constantly store information as they work — a user's question, a running total, the latest reply. Variables are step one.</a:t>
              </a:r>
            </a:p>
          </p:txBody>
        </p:sp>
      </p:grpSp>
      <p:grpSp>
        <p:nvGrpSpPr>
          <p:cNvPr name="Group 55" id="55"/>
          <p:cNvGrpSpPr/>
          <p:nvPr/>
        </p:nvGrpSpPr>
        <p:grpSpPr>
          <a:xfrm rot="0">
            <a:off x="685800" y="9710928"/>
            <a:ext cx="10972800" cy="411480"/>
            <a:chOff x="0" y="0"/>
            <a:chExt cx="14630400" cy="548640"/>
          </a:xfrm>
        </p:grpSpPr>
        <p:sp>
          <p:nvSpPr>
            <p:cNvPr name="Freeform 56" id="5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7" id="5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58" id="58"/>
          <p:cNvGrpSpPr/>
          <p:nvPr/>
        </p:nvGrpSpPr>
        <p:grpSpPr>
          <a:xfrm rot="0">
            <a:off x="16915943" y="9710928"/>
            <a:ext cx="685800" cy="411480"/>
            <a:chOff x="0" y="0"/>
            <a:chExt cx="914400" cy="548640"/>
          </a:xfrm>
        </p:grpSpPr>
        <p:sp>
          <p:nvSpPr>
            <p:cNvPr name="Freeform 59" id="5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0" id="6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WHAT KIND OF VALUE IS IT?</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Data types</a:t>
              </a:r>
            </a:p>
          </p:txBody>
        </p:sp>
      </p:grpSp>
      <p:grpSp>
        <p:nvGrpSpPr>
          <p:cNvPr name="Group 8" id="8"/>
          <p:cNvGrpSpPr/>
          <p:nvPr/>
        </p:nvGrpSpPr>
        <p:grpSpPr>
          <a:xfrm rot="0">
            <a:off x="822960" y="2263140"/>
            <a:ext cx="16596360" cy="754380"/>
            <a:chOff x="0" y="0"/>
            <a:chExt cx="22128480" cy="1005840"/>
          </a:xfrm>
        </p:grpSpPr>
        <p:sp>
          <p:nvSpPr>
            <p:cNvPr name="Freeform 9" id="9"/>
            <p:cNvSpPr/>
            <p:nvPr/>
          </p:nvSpPr>
          <p:spPr>
            <a:xfrm flipH="false" flipV="false" rot="0">
              <a:off x="0" y="0"/>
              <a:ext cx="22128480" cy="1005840"/>
            </a:xfrm>
            <a:custGeom>
              <a:avLst/>
              <a:gdLst/>
              <a:ahLst/>
              <a:cxnLst/>
              <a:rect r="r" b="b" t="t" l="l"/>
              <a:pathLst>
                <a:path h="1005840" w="22128480">
                  <a:moveTo>
                    <a:pt x="0" y="0"/>
                  </a:moveTo>
                  <a:lnTo>
                    <a:pt x="22128480" y="0"/>
                  </a:lnTo>
                  <a:lnTo>
                    <a:pt x="22128480" y="1005840"/>
                  </a:lnTo>
                  <a:lnTo>
                    <a:pt x="0" y="1005840"/>
                  </a:lnTo>
                  <a:close/>
                </a:path>
              </a:pathLst>
            </a:custGeom>
            <a:blipFill>
              <a:blip r:embed="rId3">
                <a:alphaModFix amt="0"/>
              </a:blip>
              <a:stretch>
                <a:fillRect l="0" t="-378670" r="0" b="-378670"/>
              </a:stretch>
            </a:blipFill>
          </p:spPr>
        </p:sp>
        <p:sp>
          <p:nvSpPr>
            <p:cNvPr name="TextBox 10" id="10"/>
            <p:cNvSpPr txBox="true"/>
            <p:nvPr/>
          </p:nvSpPr>
          <p:spPr>
            <a:xfrm>
              <a:off x="0" y="-95250"/>
              <a:ext cx="22128480" cy="1101090"/>
            </a:xfrm>
            <a:prstGeom prst="rect">
              <a:avLst/>
            </a:prstGeom>
          </p:spPr>
          <p:txBody>
            <a:bodyPr anchor="ctr" rtlCol="false" tIns="0" lIns="0" bIns="0" rIns="0"/>
            <a:lstStyle/>
            <a:p>
              <a:pPr algn="l">
                <a:lnSpc>
                  <a:spcPts val="2843"/>
                </a:lnSpc>
              </a:pPr>
              <a:r>
                <a:rPr lang="en-US" sz="1974">
                  <a:solidFill>
                    <a:srgbClr val="1B1F3B"/>
                  </a:solidFill>
                  <a:latin typeface="Calibri (MS)"/>
                  <a:ea typeface="Calibri (MS)"/>
                  <a:cs typeface="Calibri (MS)"/>
                  <a:sym typeface="Calibri (MS)"/>
                </a:rPr>
                <a:t>Every value in Python has a </a:t>
              </a:r>
              <a:r>
                <a:rPr lang="en-US" sz="1974" b="true">
                  <a:solidFill>
                    <a:srgbClr val="1B1F3B"/>
                  </a:solidFill>
                  <a:latin typeface="Calibri (MS) Bold"/>
                  <a:ea typeface="Calibri (MS) Bold"/>
                  <a:cs typeface="Calibri (MS) Bold"/>
                  <a:sym typeface="Calibri (MS) Bold"/>
                </a:rPr>
                <a:t>data type</a:t>
              </a:r>
              <a:r>
                <a:rPr lang="en-US" sz="1974">
                  <a:solidFill>
                    <a:srgbClr val="1B1F3B"/>
                  </a:solidFill>
                  <a:latin typeface="Calibri (MS)"/>
                  <a:ea typeface="Calibri (MS)"/>
                  <a:cs typeface="Calibri (MS)"/>
                  <a:sym typeface="Calibri (MS)"/>
                </a:rPr>
                <a:t> — it tells Python (and us) what kind of data we're working with, and what we can do with it.</a:t>
              </a:r>
            </a:p>
          </p:txBody>
        </p:sp>
      </p:grpSp>
      <p:grpSp>
        <p:nvGrpSpPr>
          <p:cNvPr name="Group 11" id="11"/>
          <p:cNvGrpSpPr/>
          <p:nvPr/>
        </p:nvGrpSpPr>
        <p:grpSpPr>
          <a:xfrm rot="0">
            <a:off x="813435" y="3282315"/>
            <a:ext cx="3996690" cy="2830830"/>
            <a:chOff x="0" y="0"/>
            <a:chExt cx="5328920" cy="3774440"/>
          </a:xfrm>
        </p:grpSpPr>
        <p:sp>
          <p:nvSpPr>
            <p:cNvPr name="Freeform 12" id="12"/>
            <p:cNvSpPr/>
            <p:nvPr/>
          </p:nvSpPr>
          <p:spPr>
            <a:xfrm flipH="false" flipV="false" rot="0">
              <a:off x="0" y="0"/>
              <a:ext cx="5328920" cy="3774440"/>
            </a:xfrm>
            <a:custGeom>
              <a:avLst/>
              <a:gdLst/>
              <a:ahLst/>
              <a:cxnLst/>
              <a:rect r="r" b="b" t="t" l="l"/>
              <a:pathLst>
                <a:path h="3774440" w="5328920">
                  <a:moveTo>
                    <a:pt x="0" y="184150"/>
                  </a:moveTo>
                  <a:cubicBezTo>
                    <a:pt x="0" y="82423"/>
                    <a:pt x="82423" y="0"/>
                    <a:pt x="184150" y="0"/>
                  </a:cubicBezTo>
                  <a:lnTo>
                    <a:pt x="5144770" y="0"/>
                  </a:lnTo>
                  <a:cubicBezTo>
                    <a:pt x="5246497" y="0"/>
                    <a:pt x="5328920" y="82423"/>
                    <a:pt x="5328920" y="184150"/>
                  </a:cubicBezTo>
                  <a:lnTo>
                    <a:pt x="5328920" y="3590290"/>
                  </a:lnTo>
                  <a:cubicBezTo>
                    <a:pt x="5328920" y="3692017"/>
                    <a:pt x="5246497" y="3774440"/>
                    <a:pt x="5144770" y="3774440"/>
                  </a:cubicBezTo>
                  <a:lnTo>
                    <a:pt x="184150" y="3774440"/>
                  </a:lnTo>
                  <a:cubicBezTo>
                    <a:pt x="82423" y="3774440"/>
                    <a:pt x="0" y="3692017"/>
                    <a:pt x="0" y="3590290"/>
                  </a:cubicBezTo>
                  <a:close/>
                </a:path>
              </a:pathLst>
            </a:custGeom>
            <a:solidFill>
              <a:srgbClr val="FFFFFF"/>
            </a:solidFill>
            <a:ln w="19050" cap="sq">
              <a:solidFill>
                <a:srgbClr val="ECEEF7"/>
              </a:solidFill>
              <a:prstDash val="solid"/>
              <a:miter/>
            </a:ln>
          </p:spPr>
        </p:sp>
      </p:grpSp>
      <p:grpSp>
        <p:nvGrpSpPr>
          <p:cNvPr name="Group 13" id="13"/>
          <p:cNvGrpSpPr/>
          <p:nvPr/>
        </p:nvGrpSpPr>
        <p:grpSpPr>
          <a:xfrm rot="0">
            <a:off x="1097280" y="3566160"/>
            <a:ext cx="1508760" cy="548640"/>
            <a:chOff x="0" y="0"/>
            <a:chExt cx="2011680" cy="731520"/>
          </a:xfrm>
        </p:grpSpPr>
        <p:sp>
          <p:nvSpPr>
            <p:cNvPr name="Freeform 14" id="14"/>
            <p:cNvSpPr/>
            <p:nvPr/>
          </p:nvSpPr>
          <p:spPr>
            <a:xfrm flipH="false" flipV="false" rot="0">
              <a:off x="0" y="0"/>
              <a:ext cx="2011680" cy="731520"/>
            </a:xfrm>
            <a:custGeom>
              <a:avLst/>
              <a:gdLst/>
              <a:ahLst/>
              <a:cxnLst/>
              <a:rect r="r" b="b" t="t" l="l"/>
              <a:pathLst>
                <a:path h="731520" w="2011680">
                  <a:moveTo>
                    <a:pt x="0" y="365760"/>
                  </a:moveTo>
                  <a:cubicBezTo>
                    <a:pt x="0" y="163703"/>
                    <a:pt x="163703" y="0"/>
                    <a:pt x="365760" y="0"/>
                  </a:cubicBezTo>
                  <a:lnTo>
                    <a:pt x="1645920" y="0"/>
                  </a:lnTo>
                  <a:cubicBezTo>
                    <a:pt x="1847977" y="0"/>
                    <a:pt x="2011680" y="163703"/>
                    <a:pt x="2011680" y="365760"/>
                  </a:cubicBezTo>
                  <a:cubicBezTo>
                    <a:pt x="2011680" y="567817"/>
                    <a:pt x="1847977" y="731520"/>
                    <a:pt x="1645920" y="731520"/>
                  </a:cubicBezTo>
                  <a:lnTo>
                    <a:pt x="365760" y="731520"/>
                  </a:lnTo>
                  <a:cubicBezTo>
                    <a:pt x="163703" y="731520"/>
                    <a:pt x="0" y="567817"/>
                    <a:pt x="0" y="365760"/>
                  </a:cubicBezTo>
                  <a:close/>
                </a:path>
              </a:pathLst>
            </a:custGeom>
            <a:solidFill>
              <a:srgbClr val="FFB84C"/>
            </a:solidFill>
          </p:spPr>
        </p:sp>
      </p:grpSp>
      <p:grpSp>
        <p:nvGrpSpPr>
          <p:cNvPr name="Group 15" id="15"/>
          <p:cNvGrpSpPr/>
          <p:nvPr/>
        </p:nvGrpSpPr>
        <p:grpSpPr>
          <a:xfrm rot="0">
            <a:off x="1097280" y="3566160"/>
            <a:ext cx="1508760" cy="548640"/>
            <a:chOff x="0" y="0"/>
            <a:chExt cx="2011680" cy="731520"/>
          </a:xfrm>
        </p:grpSpPr>
        <p:sp>
          <p:nvSpPr>
            <p:cNvPr name="Freeform 16" id="16"/>
            <p:cNvSpPr/>
            <p:nvPr/>
          </p:nvSpPr>
          <p:spPr>
            <a:xfrm flipH="false" flipV="false" rot="0">
              <a:off x="0" y="0"/>
              <a:ext cx="2011680" cy="731520"/>
            </a:xfrm>
            <a:custGeom>
              <a:avLst/>
              <a:gdLst/>
              <a:ahLst/>
              <a:cxnLst/>
              <a:rect r="r" b="b" t="t" l="l"/>
              <a:pathLst>
                <a:path h="731520" w="2011680">
                  <a:moveTo>
                    <a:pt x="0" y="0"/>
                  </a:moveTo>
                  <a:lnTo>
                    <a:pt x="2011680" y="0"/>
                  </a:lnTo>
                  <a:lnTo>
                    <a:pt x="2011680" y="731520"/>
                  </a:lnTo>
                  <a:lnTo>
                    <a:pt x="0" y="731520"/>
                  </a:lnTo>
                  <a:close/>
                </a:path>
              </a:pathLst>
            </a:custGeom>
            <a:blipFill>
              <a:blip r:embed="rId3">
                <a:alphaModFix amt="0"/>
              </a:blip>
              <a:stretch>
                <a:fillRect l="0" t="-3583" r="0" b="-3583"/>
              </a:stretch>
            </a:blipFill>
          </p:spPr>
        </p:sp>
        <p:sp>
          <p:nvSpPr>
            <p:cNvPr name="TextBox 17" id="17"/>
            <p:cNvSpPr txBox="true"/>
            <p:nvPr/>
          </p:nvSpPr>
          <p:spPr>
            <a:xfrm>
              <a:off x="0" y="-9525"/>
              <a:ext cx="2011680" cy="741045"/>
            </a:xfrm>
            <a:prstGeom prst="rect">
              <a:avLst/>
            </a:prstGeom>
          </p:spPr>
          <p:txBody>
            <a:bodyPr anchor="ctr" rtlCol="false" tIns="0" lIns="0" bIns="0" rIns="0"/>
            <a:lstStyle/>
            <a:p>
              <a:pPr algn="ctr">
                <a:lnSpc>
                  <a:spcPts val="2459"/>
                </a:lnSpc>
              </a:pPr>
              <a:r>
                <a:rPr lang="en-US" sz="2049" b="true">
                  <a:solidFill>
                    <a:srgbClr val="1B1F3B"/>
                  </a:solidFill>
                  <a:latin typeface="Courier New Bold"/>
                  <a:ea typeface="Courier New Bold"/>
                  <a:cs typeface="Courier New Bold"/>
                  <a:sym typeface="Courier New Bold"/>
                </a:rPr>
                <a:t>int</a:t>
              </a:r>
            </a:p>
          </p:txBody>
        </p:sp>
      </p:grpSp>
      <p:grpSp>
        <p:nvGrpSpPr>
          <p:cNvPr name="Group 18" id="18"/>
          <p:cNvGrpSpPr/>
          <p:nvPr/>
        </p:nvGrpSpPr>
        <p:grpSpPr>
          <a:xfrm rot="0">
            <a:off x="1097280" y="4224528"/>
            <a:ext cx="3429000" cy="411480"/>
            <a:chOff x="0" y="0"/>
            <a:chExt cx="4572000" cy="548640"/>
          </a:xfrm>
        </p:grpSpPr>
        <p:sp>
          <p:nvSpPr>
            <p:cNvPr name="Freeform 19" id="19"/>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20" id="20"/>
            <p:cNvSpPr txBox="true"/>
            <p:nvPr/>
          </p:nvSpPr>
          <p:spPr>
            <a:xfrm>
              <a:off x="0" y="-38100"/>
              <a:ext cx="4572000" cy="586740"/>
            </a:xfrm>
            <a:prstGeom prst="rect">
              <a:avLst/>
            </a:prstGeom>
          </p:spPr>
          <p:txBody>
            <a:bodyPr anchor="ctr" rtlCol="false" tIns="0" lIns="0" bIns="0" rIns="0"/>
            <a:lstStyle/>
            <a:p>
              <a:pPr algn="l">
                <a:lnSpc>
                  <a:spcPts val="2009"/>
                </a:lnSpc>
              </a:pPr>
              <a:r>
                <a:rPr lang="en-US" sz="1674">
                  <a:solidFill>
                    <a:srgbClr val="000000"/>
                  </a:solidFill>
                  <a:latin typeface="Calibri (MS)"/>
                  <a:ea typeface="Calibri (MS)"/>
                  <a:cs typeface="Calibri (MS)"/>
                  <a:sym typeface="Calibri (MS)"/>
                </a:rPr>
                <a:t>Whole numbers</a:t>
              </a:r>
            </a:p>
          </p:txBody>
        </p:sp>
      </p:grpSp>
      <p:grpSp>
        <p:nvGrpSpPr>
          <p:cNvPr name="Group 21" id="21"/>
          <p:cNvGrpSpPr/>
          <p:nvPr/>
        </p:nvGrpSpPr>
        <p:grpSpPr>
          <a:xfrm rot="0">
            <a:off x="1028700" y="4690872"/>
            <a:ext cx="3566160" cy="1234440"/>
            <a:chOff x="0" y="0"/>
            <a:chExt cx="4754880" cy="1645920"/>
          </a:xfrm>
        </p:grpSpPr>
        <p:sp>
          <p:nvSpPr>
            <p:cNvPr name="Freeform 22" id="22"/>
            <p:cNvSpPr/>
            <p:nvPr/>
          </p:nvSpPr>
          <p:spPr>
            <a:xfrm flipH="false" flipV="false" rot="0">
              <a:off x="0" y="0"/>
              <a:ext cx="4754880" cy="1645920"/>
            </a:xfrm>
            <a:custGeom>
              <a:avLst/>
              <a:gdLst/>
              <a:ahLst/>
              <a:cxnLst/>
              <a:rect r="r" b="b" t="t" l="l"/>
              <a:pathLst>
                <a:path h="1645920" w="4754880">
                  <a:moveTo>
                    <a:pt x="0" y="146304"/>
                  </a:moveTo>
                  <a:cubicBezTo>
                    <a:pt x="0" y="65532"/>
                    <a:pt x="65532" y="0"/>
                    <a:pt x="146304" y="0"/>
                  </a:cubicBezTo>
                  <a:lnTo>
                    <a:pt x="4608576" y="0"/>
                  </a:lnTo>
                  <a:cubicBezTo>
                    <a:pt x="4689348" y="0"/>
                    <a:pt x="4754880" y="65532"/>
                    <a:pt x="4754880" y="146304"/>
                  </a:cubicBezTo>
                  <a:lnTo>
                    <a:pt x="4754880" y="1499616"/>
                  </a:lnTo>
                  <a:cubicBezTo>
                    <a:pt x="4754880" y="1580388"/>
                    <a:pt x="4689348" y="1645920"/>
                    <a:pt x="4608576" y="1645920"/>
                  </a:cubicBezTo>
                  <a:lnTo>
                    <a:pt x="146304" y="1645920"/>
                  </a:lnTo>
                  <a:cubicBezTo>
                    <a:pt x="65532" y="1645920"/>
                    <a:pt x="0" y="1580388"/>
                    <a:pt x="0" y="1499616"/>
                  </a:cubicBezTo>
                  <a:close/>
                </a:path>
              </a:pathLst>
            </a:custGeom>
            <a:solidFill>
              <a:srgbClr val="1B1F3B"/>
            </a:solidFill>
          </p:spPr>
        </p:sp>
      </p:grpSp>
      <p:sp>
        <p:nvSpPr>
          <p:cNvPr name="TextBox 23" id="23"/>
          <p:cNvSpPr txBox="true"/>
          <p:nvPr/>
        </p:nvSpPr>
        <p:spPr>
          <a:xfrm rot="0">
            <a:off x="1357884" y="4981956"/>
            <a:ext cx="2907792" cy="723900"/>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age = 20</a:t>
            </a:r>
          </a:p>
        </p:txBody>
      </p:sp>
      <p:grpSp>
        <p:nvGrpSpPr>
          <p:cNvPr name="Group 24" id="24"/>
          <p:cNvGrpSpPr/>
          <p:nvPr/>
        </p:nvGrpSpPr>
        <p:grpSpPr>
          <a:xfrm rot="0">
            <a:off x="5065395" y="3282315"/>
            <a:ext cx="3996690" cy="2830830"/>
            <a:chOff x="0" y="0"/>
            <a:chExt cx="5328920" cy="3774440"/>
          </a:xfrm>
        </p:grpSpPr>
        <p:sp>
          <p:nvSpPr>
            <p:cNvPr name="Freeform 25" id="25"/>
            <p:cNvSpPr/>
            <p:nvPr/>
          </p:nvSpPr>
          <p:spPr>
            <a:xfrm flipH="false" flipV="false" rot="0">
              <a:off x="0" y="0"/>
              <a:ext cx="5328920" cy="3774440"/>
            </a:xfrm>
            <a:custGeom>
              <a:avLst/>
              <a:gdLst/>
              <a:ahLst/>
              <a:cxnLst/>
              <a:rect r="r" b="b" t="t" l="l"/>
              <a:pathLst>
                <a:path h="3774440" w="5328920">
                  <a:moveTo>
                    <a:pt x="0" y="184150"/>
                  </a:moveTo>
                  <a:cubicBezTo>
                    <a:pt x="0" y="82423"/>
                    <a:pt x="82423" y="0"/>
                    <a:pt x="184150" y="0"/>
                  </a:cubicBezTo>
                  <a:lnTo>
                    <a:pt x="5144770" y="0"/>
                  </a:lnTo>
                  <a:cubicBezTo>
                    <a:pt x="5246497" y="0"/>
                    <a:pt x="5328920" y="82423"/>
                    <a:pt x="5328920" y="184150"/>
                  </a:cubicBezTo>
                  <a:lnTo>
                    <a:pt x="5328920" y="3590290"/>
                  </a:lnTo>
                  <a:cubicBezTo>
                    <a:pt x="5328920" y="3692017"/>
                    <a:pt x="5246497" y="3774440"/>
                    <a:pt x="5144770" y="3774440"/>
                  </a:cubicBezTo>
                  <a:lnTo>
                    <a:pt x="184150" y="3774440"/>
                  </a:lnTo>
                  <a:cubicBezTo>
                    <a:pt x="82423" y="3774440"/>
                    <a:pt x="0" y="3692017"/>
                    <a:pt x="0" y="3590290"/>
                  </a:cubicBezTo>
                  <a:close/>
                </a:path>
              </a:pathLst>
            </a:custGeom>
            <a:solidFill>
              <a:srgbClr val="FFFFFF"/>
            </a:solidFill>
            <a:ln w="19050" cap="sq">
              <a:solidFill>
                <a:srgbClr val="ECEEF7"/>
              </a:solidFill>
              <a:prstDash val="solid"/>
              <a:miter/>
            </a:ln>
          </p:spPr>
        </p:sp>
      </p:grpSp>
      <p:grpSp>
        <p:nvGrpSpPr>
          <p:cNvPr name="Group 26" id="26"/>
          <p:cNvGrpSpPr/>
          <p:nvPr/>
        </p:nvGrpSpPr>
        <p:grpSpPr>
          <a:xfrm rot="0">
            <a:off x="5349240" y="3566160"/>
            <a:ext cx="1508760" cy="548640"/>
            <a:chOff x="0" y="0"/>
            <a:chExt cx="2011680" cy="731520"/>
          </a:xfrm>
        </p:grpSpPr>
        <p:sp>
          <p:nvSpPr>
            <p:cNvPr name="Freeform 27" id="27"/>
            <p:cNvSpPr/>
            <p:nvPr/>
          </p:nvSpPr>
          <p:spPr>
            <a:xfrm flipH="false" flipV="false" rot="0">
              <a:off x="0" y="0"/>
              <a:ext cx="2011680" cy="731520"/>
            </a:xfrm>
            <a:custGeom>
              <a:avLst/>
              <a:gdLst/>
              <a:ahLst/>
              <a:cxnLst/>
              <a:rect r="r" b="b" t="t" l="l"/>
              <a:pathLst>
                <a:path h="731520" w="2011680">
                  <a:moveTo>
                    <a:pt x="0" y="365760"/>
                  </a:moveTo>
                  <a:cubicBezTo>
                    <a:pt x="0" y="163703"/>
                    <a:pt x="163703" y="0"/>
                    <a:pt x="365760" y="0"/>
                  </a:cubicBezTo>
                  <a:lnTo>
                    <a:pt x="1645920" y="0"/>
                  </a:lnTo>
                  <a:cubicBezTo>
                    <a:pt x="1847977" y="0"/>
                    <a:pt x="2011680" y="163703"/>
                    <a:pt x="2011680" y="365760"/>
                  </a:cubicBezTo>
                  <a:cubicBezTo>
                    <a:pt x="2011680" y="567817"/>
                    <a:pt x="1847977" y="731520"/>
                    <a:pt x="1645920" y="731520"/>
                  </a:cubicBezTo>
                  <a:lnTo>
                    <a:pt x="365760" y="731520"/>
                  </a:lnTo>
                  <a:cubicBezTo>
                    <a:pt x="163703" y="731520"/>
                    <a:pt x="0" y="567817"/>
                    <a:pt x="0" y="365760"/>
                  </a:cubicBezTo>
                  <a:close/>
                </a:path>
              </a:pathLst>
            </a:custGeom>
            <a:solidFill>
              <a:srgbClr val="4FB6B0"/>
            </a:solidFill>
          </p:spPr>
        </p:sp>
      </p:grpSp>
      <p:grpSp>
        <p:nvGrpSpPr>
          <p:cNvPr name="Group 28" id="28"/>
          <p:cNvGrpSpPr/>
          <p:nvPr/>
        </p:nvGrpSpPr>
        <p:grpSpPr>
          <a:xfrm rot="0">
            <a:off x="5349240" y="3566160"/>
            <a:ext cx="1508760" cy="548640"/>
            <a:chOff x="0" y="0"/>
            <a:chExt cx="2011680" cy="731520"/>
          </a:xfrm>
        </p:grpSpPr>
        <p:sp>
          <p:nvSpPr>
            <p:cNvPr name="Freeform 29" id="29"/>
            <p:cNvSpPr/>
            <p:nvPr/>
          </p:nvSpPr>
          <p:spPr>
            <a:xfrm flipH="false" flipV="false" rot="0">
              <a:off x="0" y="0"/>
              <a:ext cx="2011680" cy="731520"/>
            </a:xfrm>
            <a:custGeom>
              <a:avLst/>
              <a:gdLst/>
              <a:ahLst/>
              <a:cxnLst/>
              <a:rect r="r" b="b" t="t" l="l"/>
              <a:pathLst>
                <a:path h="731520" w="2011680">
                  <a:moveTo>
                    <a:pt x="0" y="0"/>
                  </a:moveTo>
                  <a:lnTo>
                    <a:pt x="2011680" y="0"/>
                  </a:lnTo>
                  <a:lnTo>
                    <a:pt x="2011680" y="731520"/>
                  </a:lnTo>
                  <a:lnTo>
                    <a:pt x="0" y="731520"/>
                  </a:lnTo>
                  <a:close/>
                </a:path>
              </a:pathLst>
            </a:custGeom>
            <a:blipFill>
              <a:blip r:embed="rId3">
                <a:alphaModFix amt="0"/>
              </a:blip>
              <a:stretch>
                <a:fillRect l="0" t="-3583" r="0" b="-3583"/>
              </a:stretch>
            </a:blipFill>
          </p:spPr>
        </p:sp>
        <p:sp>
          <p:nvSpPr>
            <p:cNvPr name="TextBox 30" id="30"/>
            <p:cNvSpPr txBox="true"/>
            <p:nvPr/>
          </p:nvSpPr>
          <p:spPr>
            <a:xfrm>
              <a:off x="0" y="-9525"/>
              <a:ext cx="2011680" cy="741045"/>
            </a:xfrm>
            <a:prstGeom prst="rect">
              <a:avLst/>
            </a:prstGeom>
          </p:spPr>
          <p:txBody>
            <a:bodyPr anchor="ctr" rtlCol="false" tIns="0" lIns="0" bIns="0" rIns="0"/>
            <a:lstStyle/>
            <a:p>
              <a:pPr algn="ctr">
                <a:lnSpc>
                  <a:spcPts val="2459"/>
                </a:lnSpc>
              </a:pPr>
              <a:r>
                <a:rPr lang="en-US" sz="2049" b="true">
                  <a:solidFill>
                    <a:srgbClr val="1B1F3B"/>
                  </a:solidFill>
                  <a:latin typeface="Courier New Bold"/>
                  <a:ea typeface="Courier New Bold"/>
                  <a:cs typeface="Courier New Bold"/>
                  <a:sym typeface="Courier New Bold"/>
                </a:rPr>
                <a:t>float</a:t>
              </a:r>
            </a:p>
          </p:txBody>
        </p:sp>
      </p:grpSp>
      <p:grpSp>
        <p:nvGrpSpPr>
          <p:cNvPr name="Group 31" id="31"/>
          <p:cNvGrpSpPr/>
          <p:nvPr/>
        </p:nvGrpSpPr>
        <p:grpSpPr>
          <a:xfrm rot="0">
            <a:off x="5349240" y="4224528"/>
            <a:ext cx="3429000" cy="411480"/>
            <a:chOff x="0" y="0"/>
            <a:chExt cx="4572000" cy="548640"/>
          </a:xfrm>
        </p:grpSpPr>
        <p:sp>
          <p:nvSpPr>
            <p:cNvPr name="Freeform 32" id="32"/>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33" id="33"/>
            <p:cNvSpPr txBox="true"/>
            <p:nvPr/>
          </p:nvSpPr>
          <p:spPr>
            <a:xfrm>
              <a:off x="0" y="-38100"/>
              <a:ext cx="4572000" cy="586740"/>
            </a:xfrm>
            <a:prstGeom prst="rect">
              <a:avLst/>
            </a:prstGeom>
          </p:spPr>
          <p:txBody>
            <a:bodyPr anchor="ctr" rtlCol="false" tIns="0" lIns="0" bIns="0" rIns="0"/>
            <a:lstStyle/>
            <a:p>
              <a:pPr algn="l">
                <a:lnSpc>
                  <a:spcPts val="2009"/>
                </a:lnSpc>
              </a:pPr>
              <a:r>
                <a:rPr lang="en-US" sz="1674">
                  <a:solidFill>
                    <a:srgbClr val="000000"/>
                  </a:solidFill>
                  <a:latin typeface="Calibri (MS)"/>
                  <a:ea typeface="Calibri (MS)"/>
                  <a:cs typeface="Calibri (MS)"/>
                  <a:sym typeface="Calibri (MS)"/>
                </a:rPr>
                <a:t>Decimal numbers</a:t>
              </a:r>
            </a:p>
          </p:txBody>
        </p:sp>
      </p:grpSp>
      <p:grpSp>
        <p:nvGrpSpPr>
          <p:cNvPr name="Group 34" id="34"/>
          <p:cNvGrpSpPr/>
          <p:nvPr/>
        </p:nvGrpSpPr>
        <p:grpSpPr>
          <a:xfrm rot="0">
            <a:off x="5280660" y="4690872"/>
            <a:ext cx="3566160" cy="1234440"/>
            <a:chOff x="0" y="0"/>
            <a:chExt cx="4754880" cy="1645920"/>
          </a:xfrm>
        </p:grpSpPr>
        <p:sp>
          <p:nvSpPr>
            <p:cNvPr name="Freeform 35" id="35"/>
            <p:cNvSpPr/>
            <p:nvPr/>
          </p:nvSpPr>
          <p:spPr>
            <a:xfrm flipH="false" flipV="false" rot="0">
              <a:off x="0" y="0"/>
              <a:ext cx="4754880" cy="1645920"/>
            </a:xfrm>
            <a:custGeom>
              <a:avLst/>
              <a:gdLst/>
              <a:ahLst/>
              <a:cxnLst/>
              <a:rect r="r" b="b" t="t" l="l"/>
              <a:pathLst>
                <a:path h="1645920" w="4754880">
                  <a:moveTo>
                    <a:pt x="0" y="146304"/>
                  </a:moveTo>
                  <a:cubicBezTo>
                    <a:pt x="0" y="65532"/>
                    <a:pt x="65532" y="0"/>
                    <a:pt x="146304" y="0"/>
                  </a:cubicBezTo>
                  <a:lnTo>
                    <a:pt x="4608576" y="0"/>
                  </a:lnTo>
                  <a:cubicBezTo>
                    <a:pt x="4689348" y="0"/>
                    <a:pt x="4754880" y="65532"/>
                    <a:pt x="4754880" y="146304"/>
                  </a:cubicBezTo>
                  <a:lnTo>
                    <a:pt x="4754880" y="1499616"/>
                  </a:lnTo>
                  <a:cubicBezTo>
                    <a:pt x="4754880" y="1580388"/>
                    <a:pt x="4689348" y="1645920"/>
                    <a:pt x="4608576" y="1645920"/>
                  </a:cubicBezTo>
                  <a:lnTo>
                    <a:pt x="146304" y="1645920"/>
                  </a:lnTo>
                  <a:cubicBezTo>
                    <a:pt x="65532" y="1645920"/>
                    <a:pt x="0" y="1580388"/>
                    <a:pt x="0" y="1499616"/>
                  </a:cubicBezTo>
                  <a:close/>
                </a:path>
              </a:pathLst>
            </a:custGeom>
            <a:solidFill>
              <a:srgbClr val="1B1F3B"/>
            </a:solidFill>
          </p:spPr>
        </p:sp>
      </p:grpSp>
      <p:sp>
        <p:nvSpPr>
          <p:cNvPr name="TextBox 36" id="36"/>
          <p:cNvSpPr txBox="true"/>
          <p:nvPr/>
        </p:nvSpPr>
        <p:spPr>
          <a:xfrm rot="0">
            <a:off x="5609844" y="4981956"/>
            <a:ext cx="2907792" cy="723900"/>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price = 99.5</a:t>
            </a:r>
          </a:p>
        </p:txBody>
      </p:sp>
      <p:grpSp>
        <p:nvGrpSpPr>
          <p:cNvPr name="Group 37" id="37"/>
          <p:cNvGrpSpPr/>
          <p:nvPr/>
        </p:nvGrpSpPr>
        <p:grpSpPr>
          <a:xfrm rot="0">
            <a:off x="9317355" y="3282315"/>
            <a:ext cx="3996690" cy="2830830"/>
            <a:chOff x="0" y="0"/>
            <a:chExt cx="5328920" cy="3774440"/>
          </a:xfrm>
        </p:grpSpPr>
        <p:sp>
          <p:nvSpPr>
            <p:cNvPr name="Freeform 38" id="38"/>
            <p:cNvSpPr/>
            <p:nvPr/>
          </p:nvSpPr>
          <p:spPr>
            <a:xfrm flipH="false" flipV="false" rot="0">
              <a:off x="0" y="0"/>
              <a:ext cx="5328920" cy="3774440"/>
            </a:xfrm>
            <a:custGeom>
              <a:avLst/>
              <a:gdLst/>
              <a:ahLst/>
              <a:cxnLst/>
              <a:rect r="r" b="b" t="t" l="l"/>
              <a:pathLst>
                <a:path h="3774440" w="5328920">
                  <a:moveTo>
                    <a:pt x="0" y="184150"/>
                  </a:moveTo>
                  <a:cubicBezTo>
                    <a:pt x="0" y="82423"/>
                    <a:pt x="82423" y="0"/>
                    <a:pt x="184150" y="0"/>
                  </a:cubicBezTo>
                  <a:lnTo>
                    <a:pt x="5144770" y="0"/>
                  </a:lnTo>
                  <a:cubicBezTo>
                    <a:pt x="5246497" y="0"/>
                    <a:pt x="5328920" y="82423"/>
                    <a:pt x="5328920" y="184150"/>
                  </a:cubicBezTo>
                  <a:lnTo>
                    <a:pt x="5328920" y="3590290"/>
                  </a:lnTo>
                  <a:cubicBezTo>
                    <a:pt x="5328920" y="3692017"/>
                    <a:pt x="5246497" y="3774440"/>
                    <a:pt x="5144770" y="3774440"/>
                  </a:cubicBezTo>
                  <a:lnTo>
                    <a:pt x="184150" y="3774440"/>
                  </a:lnTo>
                  <a:cubicBezTo>
                    <a:pt x="82423" y="3774440"/>
                    <a:pt x="0" y="3692017"/>
                    <a:pt x="0" y="3590290"/>
                  </a:cubicBezTo>
                  <a:close/>
                </a:path>
              </a:pathLst>
            </a:custGeom>
            <a:solidFill>
              <a:srgbClr val="FFFFFF"/>
            </a:solidFill>
            <a:ln w="19050" cap="sq">
              <a:solidFill>
                <a:srgbClr val="ECEEF7"/>
              </a:solidFill>
              <a:prstDash val="solid"/>
              <a:miter/>
            </a:ln>
          </p:spPr>
        </p:sp>
      </p:grpSp>
      <p:grpSp>
        <p:nvGrpSpPr>
          <p:cNvPr name="Group 39" id="39"/>
          <p:cNvGrpSpPr/>
          <p:nvPr/>
        </p:nvGrpSpPr>
        <p:grpSpPr>
          <a:xfrm rot="0">
            <a:off x="9601200" y="3566160"/>
            <a:ext cx="1508760" cy="548640"/>
            <a:chOff x="0" y="0"/>
            <a:chExt cx="2011680" cy="731520"/>
          </a:xfrm>
        </p:grpSpPr>
        <p:sp>
          <p:nvSpPr>
            <p:cNvPr name="Freeform 40" id="40"/>
            <p:cNvSpPr/>
            <p:nvPr/>
          </p:nvSpPr>
          <p:spPr>
            <a:xfrm flipH="false" flipV="false" rot="0">
              <a:off x="0" y="0"/>
              <a:ext cx="2011680" cy="731520"/>
            </a:xfrm>
            <a:custGeom>
              <a:avLst/>
              <a:gdLst/>
              <a:ahLst/>
              <a:cxnLst/>
              <a:rect r="r" b="b" t="t" l="l"/>
              <a:pathLst>
                <a:path h="731520" w="2011680">
                  <a:moveTo>
                    <a:pt x="0" y="365760"/>
                  </a:moveTo>
                  <a:cubicBezTo>
                    <a:pt x="0" y="163703"/>
                    <a:pt x="163703" y="0"/>
                    <a:pt x="365760" y="0"/>
                  </a:cubicBezTo>
                  <a:lnTo>
                    <a:pt x="1645920" y="0"/>
                  </a:lnTo>
                  <a:cubicBezTo>
                    <a:pt x="1847977" y="0"/>
                    <a:pt x="2011680" y="163703"/>
                    <a:pt x="2011680" y="365760"/>
                  </a:cubicBezTo>
                  <a:cubicBezTo>
                    <a:pt x="2011680" y="567817"/>
                    <a:pt x="1847977" y="731520"/>
                    <a:pt x="1645920" y="731520"/>
                  </a:cubicBezTo>
                  <a:lnTo>
                    <a:pt x="365760" y="731520"/>
                  </a:lnTo>
                  <a:cubicBezTo>
                    <a:pt x="163703" y="731520"/>
                    <a:pt x="0" y="567817"/>
                    <a:pt x="0" y="365760"/>
                  </a:cubicBezTo>
                  <a:close/>
                </a:path>
              </a:pathLst>
            </a:custGeom>
            <a:solidFill>
              <a:srgbClr val="F2665E"/>
            </a:solidFill>
          </p:spPr>
        </p:sp>
      </p:grpSp>
      <p:grpSp>
        <p:nvGrpSpPr>
          <p:cNvPr name="Group 41" id="41"/>
          <p:cNvGrpSpPr/>
          <p:nvPr/>
        </p:nvGrpSpPr>
        <p:grpSpPr>
          <a:xfrm rot="0">
            <a:off x="9601200" y="3566160"/>
            <a:ext cx="1508760" cy="548640"/>
            <a:chOff x="0" y="0"/>
            <a:chExt cx="2011680" cy="731520"/>
          </a:xfrm>
        </p:grpSpPr>
        <p:sp>
          <p:nvSpPr>
            <p:cNvPr name="Freeform 42" id="42"/>
            <p:cNvSpPr/>
            <p:nvPr/>
          </p:nvSpPr>
          <p:spPr>
            <a:xfrm flipH="false" flipV="false" rot="0">
              <a:off x="0" y="0"/>
              <a:ext cx="2011680" cy="731520"/>
            </a:xfrm>
            <a:custGeom>
              <a:avLst/>
              <a:gdLst/>
              <a:ahLst/>
              <a:cxnLst/>
              <a:rect r="r" b="b" t="t" l="l"/>
              <a:pathLst>
                <a:path h="731520" w="2011680">
                  <a:moveTo>
                    <a:pt x="0" y="0"/>
                  </a:moveTo>
                  <a:lnTo>
                    <a:pt x="2011680" y="0"/>
                  </a:lnTo>
                  <a:lnTo>
                    <a:pt x="2011680" y="731520"/>
                  </a:lnTo>
                  <a:lnTo>
                    <a:pt x="0" y="731520"/>
                  </a:lnTo>
                  <a:close/>
                </a:path>
              </a:pathLst>
            </a:custGeom>
            <a:blipFill>
              <a:blip r:embed="rId3">
                <a:alphaModFix amt="0"/>
              </a:blip>
              <a:stretch>
                <a:fillRect l="0" t="-3583" r="0" b="-3583"/>
              </a:stretch>
            </a:blipFill>
          </p:spPr>
        </p:sp>
        <p:sp>
          <p:nvSpPr>
            <p:cNvPr name="TextBox 43" id="43"/>
            <p:cNvSpPr txBox="true"/>
            <p:nvPr/>
          </p:nvSpPr>
          <p:spPr>
            <a:xfrm>
              <a:off x="0" y="-9525"/>
              <a:ext cx="2011680" cy="741045"/>
            </a:xfrm>
            <a:prstGeom prst="rect">
              <a:avLst/>
            </a:prstGeom>
          </p:spPr>
          <p:txBody>
            <a:bodyPr anchor="ctr" rtlCol="false" tIns="0" lIns="0" bIns="0" rIns="0"/>
            <a:lstStyle/>
            <a:p>
              <a:pPr algn="ctr">
                <a:lnSpc>
                  <a:spcPts val="2459"/>
                </a:lnSpc>
              </a:pPr>
              <a:r>
                <a:rPr lang="en-US" sz="2049" b="true">
                  <a:solidFill>
                    <a:srgbClr val="1B1F3B"/>
                  </a:solidFill>
                  <a:latin typeface="Courier New Bold"/>
                  <a:ea typeface="Courier New Bold"/>
                  <a:cs typeface="Courier New Bold"/>
                  <a:sym typeface="Courier New Bold"/>
                </a:rPr>
                <a:t>str</a:t>
              </a:r>
            </a:p>
          </p:txBody>
        </p:sp>
      </p:grpSp>
      <p:grpSp>
        <p:nvGrpSpPr>
          <p:cNvPr name="Group 44" id="44"/>
          <p:cNvGrpSpPr/>
          <p:nvPr/>
        </p:nvGrpSpPr>
        <p:grpSpPr>
          <a:xfrm rot="0">
            <a:off x="9601200" y="4224528"/>
            <a:ext cx="3429000" cy="411480"/>
            <a:chOff x="0" y="0"/>
            <a:chExt cx="4572000" cy="548640"/>
          </a:xfrm>
        </p:grpSpPr>
        <p:sp>
          <p:nvSpPr>
            <p:cNvPr name="Freeform 45" id="45"/>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46" id="46"/>
            <p:cNvSpPr txBox="true"/>
            <p:nvPr/>
          </p:nvSpPr>
          <p:spPr>
            <a:xfrm>
              <a:off x="0" y="-38100"/>
              <a:ext cx="4572000" cy="586740"/>
            </a:xfrm>
            <a:prstGeom prst="rect">
              <a:avLst/>
            </a:prstGeom>
          </p:spPr>
          <p:txBody>
            <a:bodyPr anchor="ctr" rtlCol="false" tIns="0" lIns="0" bIns="0" rIns="0"/>
            <a:lstStyle/>
            <a:p>
              <a:pPr algn="l">
                <a:lnSpc>
                  <a:spcPts val="2009"/>
                </a:lnSpc>
              </a:pPr>
              <a:r>
                <a:rPr lang="en-US" sz="1674">
                  <a:solidFill>
                    <a:srgbClr val="000000"/>
                  </a:solidFill>
                  <a:latin typeface="Calibri (MS)"/>
                  <a:ea typeface="Calibri (MS)"/>
                  <a:cs typeface="Calibri (MS)"/>
                  <a:sym typeface="Calibri (MS)"/>
                </a:rPr>
                <a:t>Text</a:t>
              </a:r>
            </a:p>
          </p:txBody>
        </p:sp>
      </p:grpSp>
      <p:grpSp>
        <p:nvGrpSpPr>
          <p:cNvPr name="Group 47" id="47"/>
          <p:cNvGrpSpPr/>
          <p:nvPr/>
        </p:nvGrpSpPr>
        <p:grpSpPr>
          <a:xfrm rot="0">
            <a:off x="9532620" y="4690872"/>
            <a:ext cx="3566160" cy="1234440"/>
            <a:chOff x="0" y="0"/>
            <a:chExt cx="4754880" cy="1645920"/>
          </a:xfrm>
        </p:grpSpPr>
        <p:sp>
          <p:nvSpPr>
            <p:cNvPr name="Freeform 48" id="48"/>
            <p:cNvSpPr/>
            <p:nvPr/>
          </p:nvSpPr>
          <p:spPr>
            <a:xfrm flipH="false" flipV="false" rot="0">
              <a:off x="0" y="0"/>
              <a:ext cx="4754880" cy="1645920"/>
            </a:xfrm>
            <a:custGeom>
              <a:avLst/>
              <a:gdLst/>
              <a:ahLst/>
              <a:cxnLst/>
              <a:rect r="r" b="b" t="t" l="l"/>
              <a:pathLst>
                <a:path h="1645920" w="4754880">
                  <a:moveTo>
                    <a:pt x="0" y="146304"/>
                  </a:moveTo>
                  <a:cubicBezTo>
                    <a:pt x="0" y="65532"/>
                    <a:pt x="65532" y="0"/>
                    <a:pt x="146304" y="0"/>
                  </a:cubicBezTo>
                  <a:lnTo>
                    <a:pt x="4608576" y="0"/>
                  </a:lnTo>
                  <a:cubicBezTo>
                    <a:pt x="4689348" y="0"/>
                    <a:pt x="4754880" y="65532"/>
                    <a:pt x="4754880" y="146304"/>
                  </a:cubicBezTo>
                  <a:lnTo>
                    <a:pt x="4754880" y="1499616"/>
                  </a:lnTo>
                  <a:cubicBezTo>
                    <a:pt x="4754880" y="1580388"/>
                    <a:pt x="4689348" y="1645920"/>
                    <a:pt x="4608576" y="1645920"/>
                  </a:cubicBezTo>
                  <a:lnTo>
                    <a:pt x="146304" y="1645920"/>
                  </a:lnTo>
                  <a:cubicBezTo>
                    <a:pt x="65532" y="1645920"/>
                    <a:pt x="0" y="1580388"/>
                    <a:pt x="0" y="1499616"/>
                  </a:cubicBezTo>
                  <a:close/>
                </a:path>
              </a:pathLst>
            </a:custGeom>
            <a:solidFill>
              <a:srgbClr val="1B1F3B"/>
            </a:solidFill>
          </p:spPr>
        </p:sp>
      </p:grpSp>
      <p:sp>
        <p:nvSpPr>
          <p:cNvPr name="TextBox 49" id="49"/>
          <p:cNvSpPr txBox="true"/>
          <p:nvPr/>
        </p:nvSpPr>
        <p:spPr>
          <a:xfrm rot="0">
            <a:off x="9861804" y="4981956"/>
            <a:ext cx="2907792" cy="723900"/>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name = “Andrea"</a:t>
            </a:r>
          </a:p>
        </p:txBody>
      </p:sp>
      <p:grpSp>
        <p:nvGrpSpPr>
          <p:cNvPr name="Group 50" id="50"/>
          <p:cNvGrpSpPr/>
          <p:nvPr/>
        </p:nvGrpSpPr>
        <p:grpSpPr>
          <a:xfrm rot="0">
            <a:off x="13569315" y="3282315"/>
            <a:ext cx="3996690" cy="2830830"/>
            <a:chOff x="0" y="0"/>
            <a:chExt cx="5328920" cy="3774440"/>
          </a:xfrm>
        </p:grpSpPr>
        <p:sp>
          <p:nvSpPr>
            <p:cNvPr name="Freeform 51" id="51"/>
            <p:cNvSpPr/>
            <p:nvPr/>
          </p:nvSpPr>
          <p:spPr>
            <a:xfrm flipH="false" flipV="false" rot="0">
              <a:off x="0" y="0"/>
              <a:ext cx="5328920" cy="3774440"/>
            </a:xfrm>
            <a:custGeom>
              <a:avLst/>
              <a:gdLst/>
              <a:ahLst/>
              <a:cxnLst/>
              <a:rect r="r" b="b" t="t" l="l"/>
              <a:pathLst>
                <a:path h="3774440" w="5328920">
                  <a:moveTo>
                    <a:pt x="0" y="184150"/>
                  </a:moveTo>
                  <a:cubicBezTo>
                    <a:pt x="0" y="82423"/>
                    <a:pt x="82423" y="0"/>
                    <a:pt x="184150" y="0"/>
                  </a:cubicBezTo>
                  <a:lnTo>
                    <a:pt x="5144770" y="0"/>
                  </a:lnTo>
                  <a:cubicBezTo>
                    <a:pt x="5246497" y="0"/>
                    <a:pt x="5328920" y="82423"/>
                    <a:pt x="5328920" y="184150"/>
                  </a:cubicBezTo>
                  <a:lnTo>
                    <a:pt x="5328920" y="3590290"/>
                  </a:lnTo>
                  <a:cubicBezTo>
                    <a:pt x="5328920" y="3692017"/>
                    <a:pt x="5246497" y="3774440"/>
                    <a:pt x="5144770" y="3774440"/>
                  </a:cubicBezTo>
                  <a:lnTo>
                    <a:pt x="184150" y="3774440"/>
                  </a:lnTo>
                  <a:cubicBezTo>
                    <a:pt x="82423" y="3774440"/>
                    <a:pt x="0" y="3692017"/>
                    <a:pt x="0" y="3590290"/>
                  </a:cubicBezTo>
                  <a:close/>
                </a:path>
              </a:pathLst>
            </a:custGeom>
            <a:solidFill>
              <a:srgbClr val="FFFFFF"/>
            </a:solidFill>
            <a:ln w="19050" cap="sq">
              <a:solidFill>
                <a:srgbClr val="ECEEF7"/>
              </a:solidFill>
              <a:prstDash val="solid"/>
              <a:miter/>
            </a:ln>
          </p:spPr>
        </p:sp>
      </p:grpSp>
      <p:grpSp>
        <p:nvGrpSpPr>
          <p:cNvPr name="Group 52" id="52"/>
          <p:cNvGrpSpPr/>
          <p:nvPr/>
        </p:nvGrpSpPr>
        <p:grpSpPr>
          <a:xfrm rot="0">
            <a:off x="13853160" y="3566160"/>
            <a:ext cx="1508760" cy="548640"/>
            <a:chOff x="0" y="0"/>
            <a:chExt cx="2011680" cy="731520"/>
          </a:xfrm>
        </p:grpSpPr>
        <p:sp>
          <p:nvSpPr>
            <p:cNvPr name="Freeform 53" id="53"/>
            <p:cNvSpPr/>
            <p:nvPr/>
          </p:nvSpPr>
          <p:spPr>
            <a:xfrm flipH="false" flipV="false" rot="0">
              <a:off x="0" y="0"/>
              <a:ext cx="2011680" cy="731520"/>
            </a:xfrm>
            <a:custGeom>
              <a:avLst/>
              <a:gdLst/>
              <a:ahLst/>
              <a:cxnLst/>
              <a:rect r="r" b="b" t="t" l="l"/>
              <a:pathLst>
                <a:path h="731520" w="2011680">
                  <a:moveTo>
                    <a:pt x="0" y="365760"/>
                  </a:moveTo>
                  <a:cubicBezTo>
                    <a:pt x="0" y="163703"/>
                    <a:pt x="163703" y="0"/>
                    <a:pt x="365760" y="0"/>
                  </a:cubicBezTo>
                  <a:lnTo>
                    <a:pt x="1645920" y="0"/>
                  </a:lnTo>
                  <a:cubicBezTo>
                    <a:pt x="1847977" y="0"/>
                    <a:pt x="2011680" y="163703"/>
                    <a:pt x="2011680" y="365760"/>
                  </a:cubicBezTo>
                  <a:cubicBezTo>
                    <a:pt x="2011680" y="567817"/>
                    <a:pt x="1847977" y="731520"/>
                    <a:pt x="1645920" y="731520"/>
                  </a:cubicBezTo>
                  <a:lnTo>
                    <a:pt x="365760" y="731520"/>
                  </a:lnTo>
                  <a:cubicBezTo>
                    <a:pt x="163703" y="731520"/>
                    <a:pt x="0" y="567817"/>
                    <a:pt x="0" y="365760"/>
                  </a:cubicBezTo>
                  <a:close/>
                </a:path>
              </a:pathLst>
            </a:custGeom>
            <a:solidFill>
              <a:srgbClr val="8FB5E0"/>
            </a:solidFill>
          </p:spPr>
        </p:sp>
      </p:grpSp>
      <p:grpSp>
        <p:nvGrpSpPr>
          <p:cNvPr name="Group 54" id="54"/>
          <p:cNvGrpSpPr/>
          <p:nvPr/>
        </p:nvGrpSpPr>
        <p:grpSpPr>
          <a:xfrm rot="0">
            <a:off x="13853160" y="3566160"/>
            <a:ext cx="1508760" cy="548640"/>
            <a:chOff x="0" y="0"/>
            <a:chExt cx="2011680" cy="731520"/>
          </a:xfrm>
        </p:grpSpPr>
        <p:sp>
          <p:nvSpPr>
            <p:cNvPr name="Freeform 55" id="55"/>
            <p:cNvSpPr/>
            <p:nvPr/>
          </p:nvSpPr>
          <p:spPr>
            <a:xfrm flipH="false" flipV="false" rot="0">
              <a:off x="0" y="0"/>
              <a:ext cx="2011680" cy="731520"/>
            </a:xfrm>
            <a:custGeom>
              <a:avLst/>
              <a:gdLst/>
              <a:ahLst/>
              <a:cxnLst/>
              <a:rect r="r" b="b" t="t" l="l"/>
              <a:pathLst>
                <a:path h="731520" w="2011680">
                  <a:moveTo>
                    <a:pt x="0" y="0"/>
                  </a:moveTo>
                  <a:lnTo>
                    <a:pt x="2011680" y="0"/>
                  </a:lnTo>
                  <a:lnTo>
                    <a:pt x="2011680" y="731520"/>
                  </a:lnTo>
                  <a:lnTo>
                    <a:pt x="0" y="731520"/>
                  </a:lnTo>
                  <a:close/>
                </a:path>
              </a:pathLst>
            </a:custGeom>
            <a:blipFill>
              <a:blip r:embed="rId3">
                <a:alphaModFix amt="0"/>
              </a:blip>
              <a:stretch>
                <a:fillRect l="0" t="-3583" r="0" b="-3583"/>
              </a:stretch>
            </a:blipFill>
          </p:spPr>
        </p:sp>
        <p:sp>
          <p:nvSpPr>
            <p:cNvPr name="TextBox 56" id="56"/>
            <p:cNvSpPr txBox="true"/>
            <p:nvPr/>
          </p:nvSpPr>
          <p:spPr>
            <a:xfrm>
              <a:off x="0" y="-9525"/>
              <a:ext cx="2011680" cy="741045"/>
            </a:xfrm>
            <a:prstGeom prst="rect">
              <a:avLst/>
            </a:prstGeom>
          </p:spPr>
          <p:txBody>
            <a:bodyPr anchor="ctr" rtlCol="false" tIns="0" lIns="0" bIns="0" rIns="0"/>
            <a:lstStyle/>
            <a:p>
              <a:pPr algn="ctr">
                <a:lnSpc>
                  <a:spcPts val="2459"/>
                </a:lnSpc>
              </a:pPr>
              <a:r>
                <a:rPr lang="en-US" sz="2049" b="true">
                  <a:solidFill>
                    <a:srgbClr val="1B1F3B"/>
                  </a:solidFill>
                  <a:latin typeface="Courier New Bold"/>
                  <a:ea typeface="Courier New Bold"/>
                  <a:cs typeface="Courier New Bold"/>
                  <a:sym typeface="Courier New Bold"/>
                </a:rPr>
                <a:t>bool</a:t>
              </a:r>
            </a:p>
          </p:txBody>
        </p:sp>
      </p:grpSp>
      <p:grpSp>
        <p:nvGrpSpPr>
          <p:cNvPr name="Group 57" id="57"/>
          <p:cNvGrpSpPr/>
          <p:nvPr/>
        </p:nvGrpSpPr>
        <p:grpSpPr>
          <a:xfrm rot="0">
            <a:off x="13853160" y="4224528"/>
            <a:ext cx="3429000" cy="411480"/>
            <a:chOff x="0" y="0"/>
            <a:chExt cx="4572000" cy="548640"/>
          </a:xfrm>
        </p:grpSpPr>
        <p:sp>
          <p:nvSpPr>
            <p:cNvPr name="Freeform 58" id="58"/>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59" id="59"/>
            <p:cNvSpPr txBox="true"/>
            <p:nvPr/>
          </p:nvSpPr>
          <p:spPr>
            <a:xfrm>
              <a:off x="0" y="-38100"/>
              <a:ext cx="4572000" cy="586740"/>
            </a:xfrm>
            <a:prstGeom prst="rect">
              <a:avLst/>
            </a:prstGeom>
          </p:spPr>
          <p:txBody>
            <a:bodyPr anchor="ctr" rtlCol="false" tIns="0" lIns="0" bIns="0" rIns="0"/>
            <a:lstStyle/>
            <a:p>
              <a:pPr algn="l">
                <a:lnSpc>
                  <a:spcPts val="2009"/>
                </a:lnSpc>
              </a:pPr>
              <a:r>
                <a:rPr lang="en-US" sz="1674">
                  <a:solidFill>
                    <a:srgbClr val="000000"/>
                  </a:solidFill>
                  <a:latin typeface="Calibri (MS)"/>
                  <a:ea typeface="Calibri (MS)"/>
                  <a:cs typeface="Calibri (MS)"/>
                  <a:sym typeface="Calibri (MS)"/>
                </a:rPr>
                <a:t>True / False</a:t>
              </a:r>
            </a:p>
          </p:txBody>
        </p:sp>
      </p:grpSp>
      <p:grpSp>
        <p:nvGrpSpPr>
          <p:cNvPr name="Group 60" id="60"/>
          <p:cNvGrpSpPr/>
          <p:nvPr/>
        </p:nvGrpSpPr>
        <p:grpSpPr>
          <a:xfrm rot="0">
            <a:off x="13784580" y="4690872"/>
            <a:ext cx="3566160" cy="1234440"/>
            <a:chOff x="0" y="0"/>
            <a:chExt cx="4754880" cy="1645920"/>
          </a:xfrm>
        </p:grpSpPr>
        <p:sp>
          <p:nvSpPr>
            <p:cNvPr name="Freeform 61" id="61"/>
            <p:cNvSpPr/>
            <p:nvPr/>
          </p:nvSpPr>
          <p:spPr>
            <a:xfrm flipH="false" flipV="false" rot="0">
              <a:off x="0" y="0"/>
              <a:ext cx="4754880" cy="1645920"/>
            </a:xfrm>
            <a:custGeom>
              <a:avLst/>
              <a:gdLst/>
              <a:ahLst/>
              <a:cxnLst/>
              <a:rect r="r" b="b" t="t" l="l"/>
              <a:pathLst>
                <a:path h="1645920" w="4754880">
                  <a:moveTo>
                    <a:pt x="0" y="146304"/>
                  </a:moveTo>
                  <a:cubicBezTo>
                    <a:pt x="0" y="65532"/>
                    <a:pt x="65532" y="0"/>
                    <a:pt x="146304" y="0"/>
                  </a:cubicBezTo>
                  <a:lnTo>
                    <a:pt x="4608576" y="0"/>
                  </a:lnTo>
                  <a:cubicBezTo>
                    <a:pt x="4689348" y="0"/>
                    <a:pt x="4754880" y="65532"/>
                    <a:pt x="4754880" y="146304"/>
                  </a:cubicBezTo>
                  <a:lnTo>
                    <a:pt x="4754880" y="1499616"/>
                  </a:lnTo>
                  <a:cubicBezTo>
                    <a:pt x="4754880" y="1580388"/>
                    <a:pt x="4689348" y="1645920"/>
                    <a:pt x="4608576" y="1645920"/>
                  </a:cubicBezTo>
                  <a:lnTo>
                    <a:pt x="146304" y="1645920"/>
                  </a:lnTo>
                  <a:cubicBezTo>
                    <a:pt x="65532" y="1645920"/>
                    <a:pt x="0" y="1580388"/>
                    <a:pt x="0" y="1499616"/>
                  </a:cubicBezTo>
                  <a:close/>
                </a:path>
              </a:pathLst>
            </a:custGeom>
            <a:solidFill>
              <a:srgbClr val="1B1F3B"/>
            </a:solidFill>
          </p:spPr>
        </p:sp>
      </p:grpSp>
      <p:sp>
        <p:nvSpPr>
          <p:cNvPr name="TextBox 62" id="62"/>
          <p:cNvSpPr txBox="true"/>
          <p:nvPr/>
        </p:nvSpPr>
        <p:spPr>
          <a:xfrm rot="0">
            <a:off x="14113764" y="4981956"/>
            <a:ext cx="2907792" cy="723900"/>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is_student = True</a:t>
            </a:r>
          </a:p>
        </p:txBody>
      </p:sp>
      <p:grpSp>
        <p:nvGrpSpPr>
          <p:cNvPr name="Group 63" id="63"/>
          <p:cNvGrpSpPr/>
          <p:nvPr/>
        </p:nvGrpSpPr>
        <p:grpSpPr>
          <a:xfrm rot="0">
            <a:off x="813435" y="6436995"/>
            <a:ext cx="9825990" cy="1527810"/>
            <a:chOff x="0" y="0"/>
            <a:chExt cx="13101320" cy="2037080"/>
          </a:xfrm>
        </p:grpSpPr>
        <p:sp>
          <p:nvSpPr>
            <p:cNvPr name="Freeform 64" id="64"/>
            <p:cNvSpPr/>
            <p:nvPr/>
          </p:nvSpPr>
          <p:spPr>
            <a:xfrm flipH="false" flipV="false" rot="0">
              <a:off x="0" y="0"/>
              <a:ext cx="13101320" cy="2037080"/>
            </a:xfrm>
            <a:custGeom>
              <a:avLst/>
              <a:gdLst/>
              <a:ahLst/>
              <a:cxnLst/>
              <a:rect r="r" b="b" t="t" l="l"/>
              <a:pathLst>
                <a:path h="2037080" w="13101320">
                  <a:moveTo>
                    <a:pt x="0" y="185166"/>
                  </a:moveTo>
                  <a:cubicBezTo>
                    <a:pt x="0" y="82931"/>
                    <a:pt x="82931" y="0"/>
                    <a:pt x="185166" y="0"/>
                  </a:cubicBezTo>
                  <a:lnTo>
                    <a:pt x="12916154" y="0"/>
                  </a:lnTo>
                  <a:cubicBezTo>
                    <a:pt x="13018390" y="0"/>
                    <a:pt x="13101320" y="82931"/>
                    <a:pt x="13101320" y="185166"/>
                  </a:cubicBezTo>
                  <a:lnTo>
                    <a:pt x="13101320" y="1851914"/>
                  </a:lnTo>
                  <a:cubicBezTo>
                    <a:pt x="13101320" y="1954149"/>
                    <a:pt x="13018390" y="2037080"/>
                    <a:pt x="12916154" y="2037080"/>
                  </a:cubicBezTo>
                  <a:lnTo>
                    <a:pt x="185166" y="2037080"/>
                  </a:lnTo>
                  <a:cubicBezTo>
                    <a:pt x="82931" y="2037080"/>
                    <a:pt x="0" y="1954149"/>
                    <a:pt x="0" y="1851914"/>
                  </a:cubicBezTo>
                  <a:close/>
                </a:path>
              </a:pathLst>
            </a:custGeom>
            <a:solidFill>
              <a:srgbClr val="FFFFFF"/>
            </a:solidFill>
            <a:ln w="19050" cap="sq">
              <a:solidFill>
                <a:srgbClr val="ECEEF7"/>
              </a:solidFill>
              <a:prstDash val="solid"/>
              <a:miter/>
            </a:ln>
          </p:spPr>
        </p:sp>
      </p:grpSp>
      <p:sp>
        <p:nvSpPr>
          <p:cNvPr name="TextBox 65" id="65"/>
          <p:cNvSpPr txBox="true"/>
          <p:nvPr/>
        </p:nvSpPr>
        <p:spPr>
          <a:xfrm rot="0">
            <a:off x="1165860" y="6566535"/>
            <a:ext cx="9121140" cy="1251585"/>
          </a:xfrm>
          <a:prstGeom prst="rect">
            <a:avLst/>
          </a:prstGeom>
        </p:spPr>
        <p:txBody>
          <a:bodyPr anchor="t" rtlCol="false" tIns="0" lIns="0" bIns="0" rIns="0">
            <a:spAutoFit/>
          </a:bodyPr>
          <a:lstStyle/>
          <a:p>
            <a:pPr algn="l">
              <a:lnSpc>
                <a:spcPts val="2587"/>
              </a:lnSpc>
            </a:pPr>
            <a:r>
              <a:rPr lang="en-US" sz="1725" b="true">
                <a:solidFill>
                  <a:srgbClr val="FFB84C"/>
                </a:solidFill>
                <a:latin typeface="Calibri (MS) Bold"/>
                <a:ea typeface="Calibri (MS) Bold"/>
                <a:cs typeface="Calibri (MS) Bold"/>
                <a:sym typeface="Calibri (MS) Bold"/>
              </a:rPr>
              <a:t>20</a:t>
            </a:r>
            <a:r>
              <a:rPr lang="en-US" sz="1725">
                <a:solidFill>
                  <a:srgbClr val="1B1F3B"/>
                </a:solidFill>
                <a:latin typeface="Calibri (MS)"/>
                <a:ea typeface="Calibri (MS)"/>
                <a:cs typeface="Calibri (MS)"/>
                <a:sym typeface="Calibri (MS)"/>
              </a:rPr>
              <a:t>  is a number (int) you can do math with.</a:t>
            </a:r>
          </a:p>
          <a:p>
            <a:pPr algn="l">
              <a:lnSpc>
                <a:spcPts val="2587"/>
              </a:lnSpc>
            </a:pPr>
            <a:r>
              <a:rPr lang="en-US" sz="1725" b="true">
                <a:solidFill>
                  <a:srgbClr val="F2665E"/>
                </a:solidFill>
                <a:latin typeface="Calibri (MS) Bold"/>
                <a:ea typeface="Calibri (MS) Bold"/>
                <a:cs typeface="Calibri (MS) Bold"/>
                <a:sym typeface="Calibri (MS) Bold"/>
              </a:rPr>
              <a:t>"20"</a:t>
            </a:r>
            <a:r>
              <a:rPr lang="en-US" sz="1725">
                <a:solidFill>
                  <a:srgbClr val="1B1F3B"/>
                </a:solidFill>
                <a:latin typeface="Calibri (MS)"/>
                <a:ea typeface="Calibri (MS)"/>
                <a:cs typeface="Calibri (MS)"/>
                <a:sym typeface="Calibri (MS)"/>
              </a:rPr>
              <a:t>  is text (str) — it looks similar, but Python treats it very differently.</a:t>
            </a:r>
          </a:p>
        </p:txBody>
      </p:sp>
      <p:grpSp>
        <p:nvGrpSpPr>
          <p:cNvPr name="Group 66" id="66"/>
          <p:cNvGrpSpPr/>
          <p:nvPr/>
        </p:nvGrpSpPr>
        <p:grpSpPr>
          <a:xfrm rot="0">
            <a:off x="10904220" y="6446520"/>
            <a:ext cx="6515100" cy="1508760"/>
            <a:chOff x="0" y="0"/>
            <a:chExt cx="8686800" cy="2011680"/>
          </a:xfrm>
        </p:grpSpPr>
        <p:sp>
          <p:nvSpPr>
            <p:cNvPr name="Freeform 67" id="67"/>
            <p:cNvSpPr/>
            <p:nvPr/>
          </p:nvSpPr>
          <p:spPr>
            <a:xfrm flipH="false" flipV="false" rot="0">
              <a:off x="0" y="0"/>
              <a:ext cx="8686800" cy="2011680"/>
            </a:xfrm>
            <a:custGeom>
              <a:avLst/>
              <a:gdLst/>
              <a:ahLst/>
              <a:cxnLst/>
              <a:rect r="r" b="b" t="t" l="l"/>
              <a:pathLst>
                <a:path h="2011680" w="8686800">
                  <a:moveTo>
                    <a:pt x="0" y="182880"/>
                  </a:moveTo>
                  <a:cubicBezTo>
                    <a:pt x="0" y="81915"/>
                    <a:pt x="81915" y="0"/>
                    <a:pt x="182880" y="0"/>
                  </a:cubicBezTo>
                  <a:lnTo>
                    <a:pt x="8503920" y="0"/>
                  </a:lnTo>
                  <a:cubicBezTo>
                    <a:pt x="8604885" y="0"/>
                    <a:pt x="8686800" y="81915"/>
                    <a:pt x="8686800" y="182880"/>
                  </a:cubicBezTo>
                  <a:lnTo>
                    <a:pt x="8686800" y="1828800"/>
                  </a:lnTo>
                  <a:cubicBezTo>
                    <a:pt x="8686800" y="1929765"/>
                    <a:pt x="8604885" y="2011680"/>
                    <a:pt x="8503920" y="2011680"/>
                  </a:cubicBezTo>
                  <a:lnTo>
                    <a:pt x="182880" y="2011680"/>
                  </a:lnTo>
                  <a:cubicBezTo>
                    <a:pt x="81915" y="2011680"/>
                    <a:pt x="0" y="1929765"/>
                    <a:pt x="0" y="1828800"/>
                  </a:cubicBezTo>
                  <a:close/>
                </a:path>
              </a:pathLst>
            </a:custGeom>
            <a:solidFill>
              <a:srgbClr val="ECEEF7"/>
            </a:solidFill>
          </p:spPr>
        </p:sp>
      </p:grpSp>
      <p:grpSp>
        <p:nvGrpSpPr>
          <p:cNvPr name="Group 68" id="68"/>
          <p:cNvGrpSpPr/>
          <p:nvPr/>
        </p:nvGrpSpPr>
        <p:grpSpPr>
          <a:xfrm rot="0">
            <a:off x="11247120" y="6446520"/>
            <a:ext cx="5829300" cy="1508760"/>
            <a:chOff x="0" y="0"/>
            <a:chExt cx="7772400" cy="2011680"/>
          </a:xfrm>
        </p:grpSpPr>
        <p:sp>
          <p:nvSpPr>
            <p:cNvPr name="Freeform 69" id="69"/>
            <p:cNvSpPr/>
            <p:nvPr/>
          </p:nvSpPr>
          <p:spPr>
            <a:xfrm flipH="false" flipV="false" rot="0">
              <a:off x="0" y="0"/>
              <a:ext cx="7772400" cy="2011680"/>
            </a:xfrm>
            <a:custGeom>
              <a:avLst/>
              <a:gdLst/>
              <a:ahLst/>
              <a:cxnLst/>
              <a:rect r="r" b="b" t="t" l="l"/>
              <a:pathLst>
                <a:path h="2011680" w="7772400">
                  <a:moveTo>
                    <a:pt x="0" y="0"/>
                  </a:moveTo>
                  <a:lnTo>
                    <a:pt x="7772400" y="0"/>
                  </a:lnTo>
                  <a:lnTo>
                    <a:pt x="7772400" y="2011680"/>
                  </a:lnTo>
                  <a:lnTo>
                    <a:pt x="0" y="2011680"/>
                  </a:lnTo>
                  <a:close/>
                </a:path>
              </a:pathLst>
            </a:custGeom>
            <a:blipFill>
              <a:blip r:embed="rId3">
                <a:alphaModFix amt="0"/>
              </a:blip>
              <a:stretch>
                <a:fillRect l="0" t="-25283" r="0" b="-25283"/>
              </a:stretch>
            </a:blipFill>
          </p:spPr>
        </p:sp>
        <p:sp>
          <p:nvSpPr>
            <p:cNvPr name="TextBox 70" id="70"/>
            <p:cNvSpPr txBox="true"/>
            <p:nvPr/>
          </p:nvSpPr>
          <p:spPr>
            <a:xfrm>
              <a:off x="0" y="-76200"/>
              <a:ext cx="7772400" cy="2087880"/>
            </a:xfrm>
            <a:prstGeom prst="rect">
              <a:avLst/>
            </a:prstGeom>
          </p:spPr>
          <p:txBody>
            <a:bodyPr anchor="ctr" rtlCol="false" tIns="0" lIns="0" bIns="0" rIns="0"/>
            <a:lstStyle/>
            <a:p>
              <a:pPr algn="l">
                <a:lnSpc>
                  <a:spcPts val="2484"/>
                </a:lnSpc>
              </a:pPr>
              <a:r>
                <a:rPr lang="en-US" sz="1725" b="true">
                  <a:solidFill>
                    <a:srgbClr val="1B1F3B"/>
                  </a:solidFill>
                  <a:latin typeface="Calibri (MS) Bold"/>
                  <a:ea typeface="Calibri (MS) Bold"/>
                  <a:cs typeface="Calibri (MS) Bold"/>
                  <a:sym typeface="Calibri (MS) Bold"/>
                </a:rPr>
                <a:t>type(20)</a:t>
              </a:r>
              <a:r>
                <a:rPr lang="en-US" sz="1725">
                  <a:solidFill>
                    <a:srgbClr val="1B1F3B"/>
                  </a:solidFill>
                  <a:latin typeface="Calibri (MS)"/>
                  <a:ea typeface="Calibri (MS)"/>
                  <a:cs typeface="Calibri (MS)"/>
                  <a:sym typeface="Calibri (MS)"/>
                </a:rPr>
                <a:t>  tells you a value's data type on the spot.</a:t>
              </a:r>
            </a:p>
          </p:txBody>
        </p:sp>
      </p:grpSp>
      <p:grpSp>
        <p:nvGrpSpPr>
          <p:cNvPr name="Group 71" id="71"/>
          <p:cNvGrpSpPr/>
          <p:nvPr/>
        </p:nvGrpSpPr>
        <p:grpSpPr>
          <a:xfrm rot="0">
            <a:off x="744855" y="8288655"/>
            <a:ext cx="16615410" cy="910590"/>
            <a:chOff x="0" y="0"/>
            <a:chExt cx="22153880" cy="1214120"/>
          </a:xfrm>
        </p:grpSpPr>
        <p:sp>
          <p:nvSpPr>
            <p:cNvPr name="Freeform 72" id="72"/>
            <p:cNvSpPr/>
            <p:nvPr/>
          </p:nvSpPr>
          <p:spPr>
            <a:xfrm flipH="false" flipV="false" rot="0">
              <a:off x="0" y="0"/>
              <a:ext cx="22153880" cy="1214120"/>
            </a:xfrm>
            <a:custGeom>
              <a:avLst/>
              <a:gdLst/>
              <a:ahLst/>
              <a:cxnLst/>
              <a:rect r="r" b="b" t="t" l="l"/>
              <a:pathLst>
                <a:path h="1214120" w="22153880">
                  <a:moveTo>
                    <a:pt x="0" y="149479"/>
                  </a:moveTo>
                  <a:cubicBezTo>
                    <a:pt x="0" y="66929"/>
                    <a:pt x="66929" y="0"/>
                    <a:pt x="149479" y="0"/>
                  </a:cubicBezTo>
                  <a:lnTo>
                    <a:pt x="22004401" y="0"/>
                  </a:lnTo>
                  <a:cubicBezTo>
                    <a:pt x="22086951" y="0"/>
                    <a:pt x="22153880" y="66929"/>
                    <a:pt x="22153880" y="149479"/>
                  </a:cubicBezTo>
                  <a:lnTo>
                    <a:pt x="22153880" y="1064641"/>
                  </a:lnTo>
                  <a:cubicBezTo>
                    <a:pt x="22153880" y="1147191"/>
                    <a:pt x="22086951" y="1214120"/>
                    <a:pt x="22004401" y="1214120"/>
                  </a:cubicBezTo>
                  <a:lnTo>
                    <a:pt x="149479" y="1214120"/>
                  </a:lnTo>
                  <a:cubicBezTo>
                    <a:pt x="66929" y="1214120"/>
                    <a:pt x="0" y="1147191"/>
                    <a:pt x="0" y="1064641"/>
                  </a:cubicBezTo>
                  <a:close/>
                </a:path>
              </a:pathLst>
            </a:custGeom>
            <a:solidFill>
              <a:srgbClr val="FFF3E0"/>
            </a:solidFill>
            <a:ln w="19050" cap="sq">
              <a:solidFill>
                <a:srgbClr val="FFB84C"/>
              </a:solidFill>
              <a:prstDash val="solid"/>
              <a:miter/>
            </a:ln>
          </p:spPr>
        </p:sp>
      </p:grpSp>
      <p:grpSp>
        <p:nvGrpSpPr>
          <p:cNvPr name="Group 73" id="73"/>
          <p:cNvGrpSpPr/>
          <p:nvPr/>
        </p:nvGrpSpPr>
        <p:grpSpPr>
          <a:xfrm rot="0">
            <a:off x="1124712" y="8229600"/>
            <a:ext cx="15992856" cy="891540"/>
            <a:chOff x="0" y="0"/>
            <a:chExt cx="21323808" cy="1188720"/>
          </a:xfrm>
        </p:grpSpPr>
        <p:sp>
          <p:nvSpPr>
            <p:cNvPr name="Freeform 74" id="74"/>
            <p:cNvSpPr/>
            <p:nvPr/>
          </p:nvSpPr>
          <p:spPr>
            <a:xfrm flipH="false" flipV="false" rot="0">
              <a:off x="0" y="0"/>
              <a:ext cx="21323808" cy="1188720"/>
            </a:xfrm>
            <a:custGeom>
              <a:avLst/>
              <a:gdLst/>
              <a:ahLst/>
              <a:cxnLst/>
              <a:rect r="r" b="b" t="t" l="l"/>
              <a:pathLst>
                <a:path h="1188720" w="21323808">
                  <a:moveTo>
                    <a:pt x="0" y="0"/>
                  </a:moveTo>
                  <a:lnTo>
                    <a:pt x="21323808" y="0"/>
                  </a:lnTo>
                  <a:lnTo>
                    <a:pt x="21323808" y="1188720"/>
                  </a:lnTo>
                  <a:lnTo>
                    <a:pt x="0" y="1188720"/>
                  </a:lnTo>
                  <a:close/>
                </a:path>
              </a:pathLst>
            </a:custGeom>
            <a:blipFill>
              <a:blip r:embed="rId3">
                <a:alphaModFix amt="0"/>
              </a:blip>
              <a:stretch>
                <a:fillRect l="0" t="-299531" r="0" b="-299531"/>
              </a:stretch>
            </a:blipFill>
          </p:spPr>
        </p:sp>
        <p:sp>
          <p:nvSpPr>
            <p:cNvPr name="TextBox 75" id="75"/>
            <p:cNvSpPr txBox="true"/>
            <p:nvPr/>
          </p:nvSpPr>
          <p:spPr>
            <a:xfrm>
              <a:off x="0" y="-57150"/>
              <a:ext cx="21323808" cy="1245870"/>
            </a:xfrm>
            <a:prstGeom prst="rect">
              <a:avLst/>
            </a:prstGeom>
          </p:spPr>
          <p:txBody>
            <a:bodyPr anchor="ctr" rtlCol="false" tIns="0" lIns="0" bIns="0" rIns="0"/>
            <a:lstStyle/>
            <a:p>
              <a:pPr algn="l">
                <a:lnSpc>
                  <a:spcPts val="2277"/>
                </a:lnSpc>
              </a:pPr>
              <a:r>
                <a:rPr lang="en-US" sz="1650" b="true">
                  <a:solidFill>
                    <a:srgbClr val="B85C00"/>
                  </a:solidFill>
                  <a:latin typeface="Calibri (MS) Bold"/>
                  <a:ea typeface="Calibri (MS) Bold"/>
                  <a:cs typeface="Calibri (MS) Bold"/>
                  <a:sym typeface="Calibri (MS) Bold"/>
                </a:rPr>
                <a:t>Why this matters for Agentic AI:  </a:t>
              </a:r>
              <a:r>
                <a:rPr lang="en-US" sz="1650" b="true">
                  <a:solidFill>
                    <a:srgbClr val="5A4632"/>
                  </a:solidFill>
                  <a:latin typeface="Calibri (MS) Bold"/>
                  <a:ea typeface="Calibri (MS) Bold"/>
                  <a:cs typeface="Calibri (MS) Bold"/>
                  <a:sym typeface="Calibri (MS) Bold"/>
                </a:rPr>
                <a:t>Recognizing the type of information a program is handling — text, numbers, true/false — is essential once we're processing user input and AI responses.</a:t>
              </a:r>
            </a:p>
          </p:txBody>
        </p:sp>
      </p:grpSp>
      <p:grpSp>
        <p:nvGrpSpPr>
          <p:cNvPr name="Group 76" id="76"/>
          <p:cNvGrpSpPr/>
          <p:nvPr/>
        </p:nvGrpSpPr>
        <p:grpSpPr>
          <a:xfrm rot="0">
            <a:off x="685800" y="9710928"/>
            <a:ext cx="10972800" cy="411480"/>
            <a:chOff x="0" y="0"/>
            <a:chExt cx="14630400" cy="548640"/>
          </a:xfrm>
        </p:grpSpPr>
        <p:sp>
          <p:nvSpPr>
            <p:cNvPr name="Freeform 77" id="7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78" id="7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79" id="79"/>
          <p:cNvGrpSpPr/>
          <p:nvPr/>
        </p:nvGrpSpPr>
        <p:grpSpPr>
          <a:xfrm rot="0">
            <a:off x="16915943" y="9710928"/>
            <a:ext cx="685800" cy="411480"/>
            <a:chOff x="0" y="0"/>
            <a:chExt cx="914400" cy="548640"/>
          </a:xfrm>
        </p:grpSpPr>
        <p:sp>
          <p:nvSpPr>
            <p:cNvPr name="Freeform 80" id="8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81" id="8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WORKING WITH TEXT</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Strings</a:t>
              </a:r>
            </a:p>
          </p:txBody>
        </p:sp>
      </p:grpSp>
      <p:grpSp>
        <p:nvGrpSpPr>
          <p:cNvPr name="Group 8" id="8"/>
          <p:cNvGrpSpPr/>
          <p:nvPr/>
        </p:nvGrpSpPr>
        <p:grpSpPr>
          <a:xfrm rot="0">
            <a:off x="813435" y="2418207"/>
            <a:ext cx="8111490" cy="2967990"/>
            <a:chOff x="0" y="0"/>
            <a:chExt cx="10815320" cy="3957320"/>
          </a:xfrm>
        </p:grpSpPr>
        <p:sp>
          <p:nvSpPr>
            <p:cNvPr name="Freeform 9" id="9"/>
            <p:cNvSpPr/>
            <p:nvPr/>
          </p:nvSpPr>
          <p:spPr>
            <a:xfrm flipH="false" flipV="false" rot="0">
              <a:off x="0" y="0"/>
              <a:ext cx="10815320" cy="3957320"/>
            </a:xfrm>
            <a:custGeom>
              <a:avLst/>
              <a:gdLst/>
              <a:ahLst/>
              <a:cxnLst/>
              <a:rect r="r" b="b" t="t" l="l"/>
              <a:pathLst>
                <a:path h="3957320" w="10815320">
                  <a:moveTo>
                    <a:pt x="0" y="184023"/>
                  </a:moveTo>
                  <a:cubicBezTo>
                    <a:pt x="0" y="82423"/>
                    <a:pt x="82423" y="0"/>
                    <a:pt x="184023" y="0"/>
                  </a:cubicBezTo>
                  <a:lnTo>
                    <a:pt x="10631297" y="0"/>
                  </a:lnTo>
                  <a:cubicBezTo>
                    <a:pt x="10732897" y="0"/>
                    <a:pt x="10815320" y="82423"/>
                    <a:pt x="10815320" y="184023"/>
                  </a:cubicBezTo>
                  <a:lnTo>
                    <a:pt x="10815320" y="3773297"/>
                  </a:lnTo>
                  <a:cubicBezTo>
                    <a:pt x="10815320" y="3874897"/>
                    <a:pt x="10732897" y="3957320"/>
                    <a:pt x="10631297" y="3957320"/>
                  </a:cubicBezTo>
                  <a:lnTo>
                    <a:pt x="184023" y="3957320"/>
                  </a:lnTo>
                  <a:cubicBezTo>
                    <a:pt x="82423" y="3957320"/>
                    <a:pt x="0" y="3874897"/>
                    <a:pt x="0" y="3773297"/>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0604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4FB6B0"/>
            </a:solidFill>
          </p:spPr>
        </p:sp>
      </p:grpSp>
      <p:grpSp>
        <p:nvGrpSpPr>
          <p:cNvPr name="Group 12" id="12"/>
          <p:cNvGrpSpPr/>
          <p:nvPr/>
        </p:nvGrpSpPr>
        <p:grpSpPr>
          <a:xfrm rot="0">
            <a:off x="1124712" y="2825496"/>
            <a:ext cx="7488936" cy="493776"/>
            <a:chOff x="0" y="0"/>
            <a:chExt cx="9985248" cy="658368"/>
          </a:xfrm>
        </p:grpSpPr>
        <p:sp>
          <p:nvSpPr>
            <p:cNvPr name="Freeform 13" id="13"/>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14" id="14"/>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STRING</a:t>
              </a:r>
            </a:p>
          </p:txBody>
        </p:sp>
      </p:grpSp>
      <p:sp>
        <p:nvSpPr>
          <p:cNvPr name="TextBox 15" id="15"/>
          <p:cNvSpPr txBox="true"/>
          <p:nvPr/>
        </p:nvSpPr>
        <p:spPr>
          <a:xfrm rot="0">
            <a:off x="1124712" y="3297936"/>
            <a:ext cx="7488936" cy="1653540"/>
          </a:xfrm>
          <a:prstGeom prst="rect">
            <a:avLst/>
          </a:prstGeom>
        </p:spPr>
        <p:txBody>
          <a:bodyPr anchor="t" rtlCol="false" tIns="0" lIns="0" bIns="0" rIns="0">
            <a:spAutoFit/>
          </a:bodyPr>
          <a:lstStyle/>
          <a:p>
            <a:pPr algn="l">
              <a:lnSpc>
                <a:spcPts val="2822"/>
              </a:lnSpc>
            </a:pPr>
            <a:r>
              <a:rPr lang="en-US" sz="2100" b="true">
                <a:solidFill>
                  <a:srgbClr val="1B1F3B"/>
                </a:solidFill>
                <a:latin typeface="Calibri (MS) Bold"/>
                <a:ea typeface="Calibri (MS) Bold"/>
                <a:cs typeface="Calibri (MS) Bold"/>
                <a:sym typeface="Calibri (MS) Bold"/>
              </a:rPr>
              <a:t>Definition:  </a:t>
            </a:r>
            <a:r>
              <a:rPr lang="en-US" sz="2100">
                <a:solidFill>
                  <a:srgbClr val="1B1F3B"/>
                </a:solidFill>
                <a:latin typeface="Calibri (MS)"/>
                <a:ea typeface="Calibri (MS)"/>
                <a:cs typeface="Calibri (MS)"/>
                <a:sym typeface="Calibri (MS)"/>
              </a:rPr>
              <a:t>A sequence of characters — letters, numbers, symbols, or spaces — used to represent text, written inside quotes.</a:t>
            </a:r>
          </a:p>
        </p:txBody>
      </p:sp>
      <p:sp>
        <p:nvSpPr>
          <p:cNvPr name="TextBox 16" id="16"/>
          <p:cNvSpPr txBox="true"/>
          <p:nvPr/>
        </p:nvSpPr>
        <p:spPr>
          <a:xfrm rot="0">
            <a:off x="993715" y="4289679"/>
            <a:ext cx="7488936" cy="939927"/>
          </a:xfrm>
          <a:prstGeom prst="rect">
            <a:avLst/>
          </a:prstGeom>
        </p:spPr>
        <p:txBody>
          <a:bodyPr anchor="t" rtlCol="false" tIns="0" lIns="0" bIns="0" rIns="0">
            <a:spAutoFit/>
          </a:bodyPr>
          <a:lstStyle/>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Anything you'd put inside quote marks: a name, a sentence, a message.</a:t>
            </a:r>
          </a:p>
        </p:txBody>
      </p:sp>
      <p:grpSp>
        <p:nvGrpSpPr>
          <p:cNvPr name="Group 17" id="17"/>
          <p:cNvGrpSpPr/>
          <p:nvPr/>
        </p:nvGrpSpPr>
        <p:grpSpPr>
          <a:xfrm rot="0">
            <a:off x="993715" y="5476546"/>
            <a:ext cx="8092440" cy="801521"/>
            <a:chOff x="0" y="0"/>
            <a:chExt cx="10789920" cy="1068694"/>
          </a:xfrm>
        </p:grpSpPr>
        <p:sp>
          <p:nvSpPr>
            <p:cNvPr name="Freeform 18" id="18"/>
            <p:cNvSpPr/>
            <p:nvPr/>
          </p:nvSpPr>
          <p:spPr>
            <a:xfrm flipH="false" flipV="false" rot="0">
              <a:off x="0" y="0"/>
              <a:ext cx="10789920" cy="1068694"/>
            </a:xfrm>
            <a:custGeom>
              <a:avLst/>
              <a:gdLst/>
              <a:ahLst/>
              <a:cxnLst/>
              <a:rect r="r" b="b" t="t" l="l"/>
              <a:pathLst>
                <a:path h="1068694" w="10789920">
                  <a:moveTo>
                    <a:pt x="0" y="0"/>
                  </a:moveTo>
                  <a:lnTo>
                    <a:pt x="10789920" y="0"/>
                  </a:lnTo>
                  <a:lnTo>
                    <a:pt x="10789920" y="1068694"/>
                  </a:lnTo>
                  <a:lnTo>
                    <a:pt x="0" y="1068694"/>
                  </a:lnTo>
                  <a:close/>
                </a:path>
              </a:pathLst>
            </a:custGeom>
            <a:blipFill>
              <a:blip r:embed="rId3">
                <a:alphaModFix amt="0"/>
              </a:blip>
              <a:stretch>
                <a:fillRect l="0" t="-153946" r="0" b="-139509"/>
              </a:stretch>
            </a:blipFill>
          </p:spPr>
        </p:sp>
        <p:sp>
          <p:nvSpPr>
            <p:cNvPr name="TextBox 19" id="19"/>
            <p:cNvSpPr txBox="true"/>
            <p:nvPr/>
          </p:nvSpPr>
          <p:spPr>
            <a:xfrm>
              <a:off x="0" y="-95250"/>
              <a:ext cx="10789920" cy="1163944"/>
            </a:xfrm>
            <a:prstGeom prst="rect">
              <a:avLst/>
            </a:prstGeom>
          </p:spPr>
          <p:txBody>
            <a:bodyPr anchor="ctr" rtlCol="false" tIns="0" lIns="0" bIns="0" rIns="0"/>
            <a:lstStyle/>
            <a:p>
              <a:pPr algn="l">
                <a:lnSpc>
                  <a:spcPts val="3024"/>
                </a:lnSpc>
              </a:pPr>
              <a:r>
                <a:rPr lang="en-US" sz="2100" i="true">
                  <a:solidFill>
                    <a:srgbClr val="000000"/>
                  </a:solidFill>
                  <a:latin typeface="Calibri (MS) Italics"/>
                  <a:ea typeface="Calibri (MS) Italics"/>
                  <a:cs typeface="Calibri (MS) Italics"/>
                  <a:sym typeface="Calibri (MS) Italics"/>
                </a:rPr>
                <a:t>We'll spend extra time here — almost everything an AI agent reads or writes is text.</a:t>
              </a:r>
            </a:p>
          </p:txBody>
        </p:sp>
      </p:grpSp>
      <p:grpSp>
        <p:nvGrpSpPr>
          <p:cNvPr name="Group 20" id="20"/>
          <p:cNvGrpSpPr/>
          <p:nvPr/>
        </p:nvGrpSpPr>
        <p:grpSpPr>
          <a:xfrm rot="0">
            <a:off x="9395460" y="2331720"/>
            <a:ext cx="8023860" cy="2606040"/>
            <a:chOff x="0" y="0"/>
            <a:chExt cx="10698480" cy="3474720"/>
          </a:xfrm>
        </p:grpSpPr>
        <p:sp>
          <p:nvSpPr>
            <p:cNvPr name="Freeform 21" id="21"/>
            <p:cNvSpPr/>
            <p:nvPr/>
          </p:nvSpPr>
          <p:spPr>
            <a:xfrm flipH="false" flipV="false" rot="0">
              <a:off x="0" y="0"/>
              <a:ext cx="10698480" cy="3474720"/>
            </a:xfrm>
            <a:custGeom>
              <a:avLst/>
              <a:gdLst/>
              <a:ahLst/>
              <a:cxnLst/>
              <a:rect r="r" b="b" t="t" l="l"/>
              <a:pathLst>
                <a:path h="3474720" w="10698480">
                  <a:moveTo>
                    <a:pt x="0" y="146304"/>
                  </a:moveTo>
                  <a:cubicBezTo>
                    <a:pt x="0" y="65532"/>
                    <a:pt x="65532" y="0"/>
                    <a:pt x="146304" y="0"/>
                  </a:cubicBezTo>
                  <a:lnTo>
                    <a:pt x="10552176" y="0"/>
                  </a:lnTo>
                  <a:cubicBezTo>
                    <a:pt x="10632948" y="0"/>
                    <a:pt x="10698480" y="65532"/>
                    <a:pt x="10698480" y="146304"/>
                  </a:cubicBezTo>
                  <a:lnTo>
                    <a:pt x="10698480" y="3328416"/>
                  </a:lnTo>
                  <a:cubicBezTo>
                    <a:pt x="10698480" y="3409188"/>
                    <a:pt x="10632948" y="3474720"/>
                    <a:pt x="10552176" y="3474720"/>
                  </a:cubicBezTo>
                  <a:lnTo>
                    <a:pt x="146304" y="3474720"/>
                  </a:lnTo>
                  <a:cubicBezTo>
                    <a:pt x="65532" y="3474720"/>
                    <a:pt x="0" y="3409188"/>
                    <a:pt x="0" y="3328416"/>
                  </a:cubicBezTo>
                  <a:close/>
                </a:path>
              </a:pathLst>
            </a:custGeom>
            <a:solidFill>
              <a:srgbClr val="1B1F3B"/>
            </a:solidFill>
          </p:spPr>
        </p:sp>
      </p:grpSp>
      <p:grpSp>
        <p:nvGrpSpPr>
          <p:cNvPr name="Group 22" id="22"/>
          <p:cNvGrpSpPr/>
          <p:nvPr/>
        </p:nvGrpSpPr>
        <p:grpSpPr>
          <a:xfrm rot="0">
            <a:off x="9697212" y="2496312"/>
            <a:ext cx="7338060" cy="356616"/>
            <a:chOff x="0" y="0"/>
            <a:chExt cx="9784080" cy="475488"/>
          </a:xfrm>
        </p:grpSpPr>
        <p:sp>
          <p:nvSpPr>
            <p:cNvPr name="Freeform 23" id="23"/>
            <p:cNvSpPr/>
            <p:nvPr/>
          </p:nvSpPr>
          <p:spPr>
            <a:xfrm flipH="false" flipV="false" rot="0">
              <a:off x="0" y="0"/>
              <a:ext cx="9784080" cy="475488"/>
            </a:xfrm>
            <a:custGeom>
              <a:avLst/>
              <a:gdLst/>
              <a:ahLst/>
              <a:cxnLst/>
              <a:rect r="r" b="b" t="t" l="l"/>
              <a:pathLst>
                <a:path h="475488" w="9784080">
                  <a:moveTo>
                    <a:pt x="0" y="0"/>
                  </a:moveTo>
                  <a:lnTo>
                    <a:pt x="9784080" y="0"/>
                  </a:lnTo>
                  <a:lnTo>
                    <a:pt x="9784080" y="475488"/>
                  </a:lnTo>
                  <a:lnTo>
                    <a:pt x="0" y="475488"/>
                  </a:lnTo>
                  <a:close/>
                </a:path>
              </a:pathLst>
            </a:custGeom>
            <a:blipFill>
              <a:blip r:embed="rId3">
                <a:alphaModFix amt="0"/>
              </a:blip>
              <a:stretch>
                <a:fillRect l="0" t="-350942" r="0" b="-350942"/>
              </a:stretch>
            </a:blipFill>
          </p:spPr>
        </p:sp>
        <p:sp>
          <p:nvSpPr>
            <p:cNvPr name="TextBox 24" id="24"/>
            <p:cNvSpPr txBox="true"/>
            <p:nvPr/>
          </p:nvSpPr>
          <p:spPr>
            <a:xfrm>
              <a:off x="0" y="-38100"/>
              <a:ext cx="978408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WHY STRINGS ≠ NUMBERS</a:t>
              </a:r>
            </a:p>
          </p:txBody>
        </p:sp>
      </p:grpSp>
      <p:sp>
        <p:nvSpPr>
          <p:cNvPr name="TextBox 25" id="25"/>
          <p:cNvSpPr txBox="true"/>
          <p:nvPr/>
        </p:nvSpPr>
        <p:spPr>
          <a:xfrm rot="0">
            <a:off x="9724644" y="2979420"/>
            <a:ext cx="7365492" cy="1738884"/>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age = </a:t>
            </a:r>
            <a:r>
              <a:rPr lang="en-US" sz="1950">
                <a:solidFill>
                  <a:srgbClr val="9AD1FF"/>
                </a:solidFill>
                <a:latin typeface="Courier New"/>
                <a:ea typeface="Courier New"/>
                <a:cs typeface="Courier New"/>
                <a:sym typeface="Courier New"/>
              </a:rPr>
              <a:t>20</a:t>
            </a:r>
            <a:r>
              <a:rPr lang="en-US" sz="1950">
                <a:solidFill>
                  <a:srgbClr val="E9ECF7"/>
                </a:solidFill>
                <a:latin typeface="Courier New"/>
                <a:ea typeface="Courier New"/>
                <a:cs typeface="Courier New"/>
                <a:sym typeface="Courier New"/>
              </a:rPr>
              <a:t>        </a:t>
            </a:r>
            <a:r>
              <a:rPr lang="en-US" sz="1950">
                <a:solidFill>
                  <a:srgbClr val="8A93B8"/>
                </a:solidFill>
                <a:latin typeface="Courier New"/>
                <a:ea typeface="Courier New"/>
                <a:cs typeface="Courier New"/>
                <a:sym typeface="Courier New"/>
              </a:rPr>
              <a:t># int</a:t>
            </a:r>
          </a:p>
          <a:p>
            <a:pPr algn="l">
              <a:lnSpc>
                <a:spcPts val="2690"/>
              </a:lnSpc>
            </a:pPr>
            <a:r>
              <a:rPr lang="en-US" sz="1950">
                <a:solidFill>
                  <a:srgbClr val="E9ECF7"/>
                </a:solidFill>
                <a:latin typeface="Courier New"/>
                <a:ea typeface="Courier New"/>
                <a:cs typeface="Courier New"/>
                <a:sym typeface="Courier New"/>
              </a:rPr>
              <a:t>age_text = </a:t>
            </a:r>
            <a:r>
              <a:rPr lang="en-US" sz="1950">
                <a:solidFill>
                  <a:srgbClr val="8FE3C0"/>
                </a:solidFill>
                <a:latin typeface="Courier New"/>
                <a:ea typeface="Courier New"/>
                <a:cs typeface="Courier New"/>
                <a:sym typeface="Courier New"/>
              </a:rPr>
              <a:t>"20"</a:t>
            </a:r>
            <a:r>
              <a:rPr lang="en-US" sz="1950">
                <a:solidFill>
                  <a:srgbClr val="E9ECF7"/>
                </a:solidFill>
                <a:latin typeface="Courier New"/>
                <a:ea typeface="Courier New"/>
                <a:cs typeface="Courier New"/>
                <a:sym typeface="Courier New"/>
              </a:rPr>
              <a:t>  </a:t>
            </a:r>
            <a:r>
              <a:rPr lang="en-US" sz="1950">
                <a:solidFill>
                  <a:srgbClr val="8A93B8"/>
                </a:solidFill>
                <a:latin typeface="Courier New"/>
                <a:ea typeface="Courier New"/>
                <a:cs typeface="Courier New"/>
                <a:sym typeface="Courier New"/>
              </a:rPr>
              <a:t># str</a:t>
            </a:r>
          </a:p>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(age + </a:t>
            </a:r>
            <a:r>
              <a:rPr lang="en-US" sz="1950">
                <a:solidFill>
                  <a:srgbClr val="9AD1FF"/>
                </a:solidFill>
                <a:latin typeface="Courier New"/>
                <a:ea typeface="Courier New"/>
                <a:cs typeface="Courier New"/>
                <a:sym typeface="Courier New"/>
              </a:rPr>
              <a:t>5</a:t>
            </a:r>
            <a:r>
              <a:rPr lang="en-US" sz="1950">
                <a:solidFill>
                  <a:srgbClr val="E9ECF7"/>
                </a:solidFill>
                <a:latin typeface="Courier New"/>
                <a:ea typeface="Courier New"/>
                <a:cs typeface="Courier New"/>
                <a:sym typeface="Courier New"/>
              </a:rPr>
              <a:t>)    </a:t>
            </a:r>
            <a:r>
              <a:rPr lang="en-US" sz="1950">
                <a:solidFill>
                  <a:srgbClr val="8A93B8"/>
                </a:solidFill>
                <a:latin typeface="Courier New"/>
                <a:ea typeface="Courier New"/>
                <a:cs typeface="Courier New"/>
                <a:sym typeface="Courier New"/>
              </a:rPr>
              <a:t># 25</a:t>
            </a:r>
          </a:p>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(age_text + </a:t>
            </a:r>
            <a:r>
              <a:rPr lang="en-US" sz="1950">
                <a:solidFill>
                  <a:srgbClr val="9AD1FF"/>
                </a:solidFill>
                <a:latin typeface="Courier New"/>
                <a:ea typeface="Courier New"/>
                <a:cs typeface="Courier New"/>
                <a:sym typeface="Courier New"/>
              </a:rPr>
              <a:t>5</a:t>
            </a:r>
            <a:r>
              <a:rPr lang="en-US" sz="1950">
                <a:solidFill>
                  <a:srgbClr val="E9ECF7"/>
                </a:solidFill>
                <a:latin typeface="Courier New"/>
                <a:ea typeface="Courier New"/>
                <a:cs typeface="Courier New"/>
                <a:sym typeface="Courier New"/>
              </a:rPr>
              <a:t>)  </a:t>
            </a:r>
            <a:r>
              <a:rPr lang="en-US" sz="1950">
                <a:solidFill>
                  <a:srgbClr val="8A93B8"/>
                </a:solidFill>
                <a:latin typeface="Courier New"/>
                <a:ea typeface="Courier New"/>
                <a:cs typeface="Courier New"/>
                <a:sym typeface="Courier New"/>
              </a:rPr>
              <a:t># error!</a:t>
            </a:r>
          </a:p>
        </p:txBody>
      </p:sp>
      <p:grpSp>
        <p:nvGrpSpPr>
          <p:cNvPr name="Group 26" id="26"/>
          <p:cNvGrpSpPr/>
          <p:nvPr/>
        </p:nvGrpSpPr>
        <p:grpSpPr>
          <a:xfrm rot="0">
            <a:off x="9395460" y="5143500"/>
            <a:ext cx="8023860" cy="1028700"/>
            <a:chOff x="0" y="0"/>
            <a:chExt cx="10698480" cy="1371600"/>
          </a:xfrm>
        </p:grpSpPr>
        <p:sp>
          <p:nvSpPr>
            <p:cNvPr name="Freeform 27" id="27"/>
            <p:cNvSpPr/>
            <p:nvPr/>
          </p:nvSpPr>
          <p:spPr>
            <a:xfrm flipH="false" flipV="false" rot="0">
              <a:off x="0" y="0"/>
              <a:ext cx="10698480" cy="1371600"/>
            </a:xfrm>
            <a:custGeom>
              <a:avLst/>
              <a:gdLst/>
              <a:ahLst/>
              <a:cxnLst/>
              <a:rect r="r" b="b" t="t" l="l"/>
              <a:pathLst>
                <a:path h="1371600" w="10698480">
                  <a:moveTo>
                    <a:pt x="0" y="0"/>
                  </a:moveTo>
                  <a:lnTo>
                    <a:pt x="10698480" y="0"/>
                  </a:lnTo>
                  <a:lnTo>
                    <a:pt x="10698480" y="1371600"/>
                  </a:lnTo>
                  <a:lnTo>
                    <a:pt x="0" y="1371600"/>
                  </a:lnTo>
                  <a:close/>
                </a:path>
              </a:pathLst>
            </a:custGeom>
            <a:blipFill>
              <a:blip r:embed="rId3">
                <a:alphaModFix amt="0"/>
              </a:blip>
              <a:stretch>
                <a:fillRect l="0" t="-101983" r="0" b="-101983"/>
              </a:stretch>
            </a:blipFill>
          </p:spPr>
        </p:sp>
        <p:sp>
          <p:nvSpPr>
            <p:cNvPr name="TextBox 28" id="28"/>
            <p:cNvSpPr txBox="true"/>
            <p:nvPr/>
          </p:nvSpPr>
          <p:spPr>
            <a:xfrm>
              <a:off x="0" y="-95250"/>
              <a:ext cx="10698480" cy="1466850"/>
            </a:xfrm>
            <a:prstGeom prst="rect">
              <a:avLst/>
            </a:prstGeom>
          </p:spPr>
          <p:txBody>
            <a:bodyPr anchor="ctr" rtlCol="false" tIns="0" lIns="0" bIns="0" rIns="0"/>
            <a:lstStyle/>
            <a:p>
              <a:pPr algn="l">
                <a:lnSpc>
                  <a:spcPts val="3024"/>
                </a:lnSpc>
              </a:pPr>
              <a:r>
                <a:rPr lang="en-US" sz="2100">
                  <a:solidFill>
                    <a:srgbClr val="000000"/>
                  </a:solidFill>
                  <a:latin typeface="Calibri (MS)"/>
                  <a:ea typeface="Calibri (MS)"/>
                  <a:cs typeface="Calibri (MS)"/>
                  <a:sym typeface="Calibri (MS)"/>
                </a:rPr>
                <a:t>Numbers can be added together. Text and numbers can't be mixed the same way — Python needs to know which one it's dealing with.</a:t>
              </a:r>
            </a:p>
          </p:txBody>
        </p:sp>
      </p:grpSp>
      <p:grpSp>
        <p:nvGrpSpPr>
          <p:cNvPr name="Group 29" id="29"/>
          <p:cNvGrpSpPr/>
          <p:nvPr/>
        </p:nvGrpSpPr>
        <p:grpSpPr>
          <a:xfrm rot="0">
            <a:off x="813435" y="6368415"/>
            <a:ext cx="16615410" cy="1047750"/>
            <a:chOff x="0" y="0"/>
            <a:chExt cx="22153880" cy="1397000"/>
          </a:xfrm>
        </p:grpSpPr>
        <p:sp>
          <p:nvSpPr>
            <p:cNvPr name="Freeform 30" id="30"/>
            <p:cNvSpPr/>
            <p:nvPr/>
          </p:nvSpPr>
          <p:spPr>
            <a:xfrm flipH="false" flipV="false" rot="0">
              <a:off x="0" y="0"/>
              <a:ext cx="22153880" cy="1397000"/>
            </a:xfrm>
            <a:custGeom>
              <a:avLst/>
              <a:gdLst/>
              <a:ahLst/>
              <a:cxnLst/>
              <a:rect r="r" b="b" t="t" l="l"/>
              <a:pathLst>
                <a:path h="1397000" w="22153880">
                  <a:moveTo>
                    <a:pt x="0" y="148971"/>
                  </a:moveTo>
                  <a:cubicBezTo>
                    <a:pt x="0" y="66675"/>
                    <a:pt x="66675" y="0"/>
                    <a:pt x="148971" y="0"/>
                  </a:cubicBezTo>
                  <a:lnTo>
                    <a:pt x="22004910" y="0"/>
                  </a:lnTo>
                  <a:cubicBezTo>
                    <a:pt x="22087205" y="0"/>
                    <a:pt x="22153880" y="66675"/>
                    <a:pt x="22153880" y="148971"/>
                  </a:cubicBezTo>
                  <a:lnTo>
                    <a:pt x="22153880" y="1248029"/>
                  </a:lnTo>
                  <a:cubicBezTo>
                    <a:pt x="22153880" y="1330325"/>
                    <a:pt x="22087205" y="1397000"/>
                    <a:pt x="22004910" y="1397000"/>
                  </a:cubicBezTo>
                  <a:lnTo>
                    <a:pt x="148971" y="1397000"/>
                  </a:lnTo>
                  <a:cubicBezTo>
                    <a:pt x="66675" y="1397000"/>
                    <a:pt x="0" y="1330325"/>
                    <a:pt x="0" y="1248029"/>
                  </a:cubicBezTo>
                  <a:close/>
                </a:path>
              </a:pathLst>
            </a:custGeom>
            <a:solidFill>
              <a:srgbClr val="FFF3E0"/>
            </a:solidFill>
            <a:ln w="19050" cap="sq">
              <a:solidFill>
                <a:srgbClr val="FFB84C"/>
              </a:solidFill>
              <a:prstDash val="solid"/>
              <a:miter/>
            </a:ln>
          </p:spPr>
        </p:sp>
      </p:grpSp>
      <p:grpSp>
        <p:nvGrpSpPr>
          <p:cNvPr name="Group 31" id="31"/>
          <p:cNvGrpSpPr/>
          <p:nvPr/>
        </p:nvGrpSpPr>
        <p:grpSpPr>
          <a:xfrm rot="0">
            <a:off x="1124712" y="6377940"/>
            <a:ext cx="15992856" cy="1028700"/>
            <a:chOff x="0" y="0"/>
            <a:chExt cx="21323808" cy="1371600"/>
          </a:xfrm>
        </p:grpSpPr>
        <p:sp>
          <p:nvSpPr>
            <p:cNvPr name="Freeform 32" id="32"/>
            <p:cNvSpPr/>
            <p:nvPr/>
          </p:nvSpPr>
          <p:spPr>
            <a:xfrm flipH="false" flipV="false" rot="0">
              <a:off x="0" y="0"/>
              <a:ext cx="21323808" cy="1371600"/>
            </a:xfrm>
            <a:custGeom>
              <a:avLst/>
              <a:gdLst/>
              <a:ahLst/>
              <a:cxnLst/>
              <a:rect r="r" b="b" t="t" l="l"/>
              <a:pathLst>
                <a:path h="1371600" w="21323808">
                  <a:moveTo>
                    <a:pt x="0" y="0"/>
                  </a:moveTo>
                  <a:lnTo>
                    <a:pt x="21323808" y="0"/>
                  </a:lnTo>
                  <a:lnTo>
                    <a:pt x="21323808" y="1371600"/>
                  </a:lnTo>
                  <a:lnTo>
                    <a:pt x="0" y="1371600"/>
                  </a:lnTo>
                  <a:close/>
                </a:path>
              </a:pathLst>
            </a:custGeom>
            <a:blipFill>
              <a:blip r:embed="rId3">
                <a:alphaModFix amt="0"/>
              </a:blip>
              <a:stretch>
                <a:fillRect l="0" t="-252927" r="0" b="-252927"/>
              </a:stretch>
            </a:blipFill>
          </p:spPr>
        </p:sp>
        <p:sp>
          <p:nvSpPr>
            <p:cNvPr name="TextBox 33" id="33"/>
            <p:cNvSpPr txBox="true"/>
            <p:nvPr/>
          </p:nvSpPr>
          <p:spPr>
            <a:xfrm>
              <a:off x="0" y="-76200"/>
              <a:ext cx="21323808" cy="1447800"/>
            </a:xfrm>
            <a:prstGeom prst="rect">
              <a:avLst/>
            </a:prstGeom>
          </p:spPr>
          <p:txBody>
            <a:bodyPr anchor="ctr" rtlCol="false" tIns="0" lIns="0" bIns="0" rIns="0"/>
            <a:lstStyle/>
            <a:p>
              <a:pPr algn="l">
                <a:lnSpc>
                  <a:spcPts val="2897"/>
                </a:lnSpc>
              </a:pPr>
              <a:r>
                <a:rPr lang="en-US" sz="2100" b="true">
                  <a:solidFill>
                    <a:srgbClr val="B85C00"/>
                  </a:solidFill>
                  <a:latin typeface="Calibri (MS) Bold"/>
                  <a:ea typeface="Calibri (MS) Bold"/>
                  <a:cs typeface="Calibri (MS) Bold"/>
                  <a:sym typeface="Calibri (MS) Bold"/>
                </a:rPr>
                <a:t>Why this matters for Agentic AI:  </a:t>
              </a:r>
              <a:r>
                <a:rPr lang="en-US" sz="2100" b="true">
                  <a:solidFill>
                    <a:srgbClr val="5A4632"/>
                  </a:solidFill>
                  <a:latin typeface="Calibri (MS) Bold"/>
                  <a:ea typeface="Calibri (MS) Bold"/>
                  <a:cs typeface="Calibri (MS) Bold"/>
                  <a:sym typeface="Calibri (MS) Bold"/>
                </a:rPr>
                <a:t>Prompts, chat messages, and model responses are all strings — mastering text handling now pays off directly when we build agents.</a:t>
              </a:r>
            </a:p>
          </p:txBody>
        </p:sp>
      </p:grpSp>
      <p:grpSp>
        <p:nvGrpSpPr>
          <p:cNvPr name="Group 34" id="34"/>
          <p:cNvGrpSpPr/>
          <p:nvPr/>
        </p:nvGrpSpPr>
        <p:grpSpPr>
          <a:xfrm rot="0">
            <a:off x="685800" y="9710928"/>
            <a:ext cx="10972800" cy="411480"/>
            <a:chOff x="0" y="0"/>
            <a:chExt cx="14630400" cy="548640"/>
          </a:xfrm>
        </p:grpSpPr>
        <p:sp>
          <p:nvSpPr>
            <p:cNvPr name="Freeform 35" id="3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36" id="3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37" id="37"/>
          <p:cNvGrpSpPr/>
          <p:nvPr/>
        </p:nvGrpSpPr>
        <p:grpSpPr>
          <a:xfrm rot="0">
            <a:off x="16915943" y="9710928"/>
            <a:ext cx="685800" cy="411480"/>
            <a:chOff x="0" y="0"/>
            <a:chExt cx="914400" cy="548640"/>
          </a:xfrm>
        </p:grpSpPr>
        <p:sp>
          <p:nvSpPr>
            <p:cNvPr name="Freeform 38" id="3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9" id="3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WORKING WITH TEXT</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Basic string operations</a:t>
              </a:r>
            </a:p>
          </p:txBody>
        </p:sp>
      </p:grpSp>
      <p:grpSp>
        <p:nvGrpSpPr>
          <p:cNvPr name="Group 8" id="8"/>
          <p:cNvGrpSpPr/>
          <p:nvPr/>
        </p:nvGrpSpPr>
        <p:grpSpPr>
          <a:xfrm rot="0">
            <a:off x="813435" y="2322195"/>
            <a:ext cx="3996690" cy="2419350"/>
            <a:chOff x="0" y="0"/>
            <a:chExt cx="5328920" cy="3225800"/>
          </a:xfrm>
        </p:grpSpPr>
        <p:sp>
          <p:nvSpPr>
            <p:cNvPr name="Freeform 9" id="9"/>
            <p:cNvSpPr/>
            <p:nvPr/>
          </p:nvSpPr>
          <p:spPr>
            <a:xfrm flipH="false" flipV="false" rot="0">
              <a:off x="0" y="0"/>
              <a:ext cx="5328920" cy="3225800"/>
            </a:xfrm>
            <a:custGeom>
              <a:avLst/>
              <a:gdLst/>
              <a:ahLst/>
              <a:cxnLst/>
              <a:rect r="r" b="b" t="t" l="l"/>
              <a:pathLst>
                <a:path h="3225800" w="5328920">
                  <a:moveTo>
                    <a:pt x="0" y="184277"/>
                  </a:moveTo>
                  <a:cubicBezTo>
                    <a:pt x="0" y="82550"/>
                    <a:pt x="82550" y="0"/>
                    <a:pt x="184277" y="0"/>
                  </a:cubicBezTo>
                  <a:lnTo>
                    <a:pt x="5144643" y="0"/>
                  </a:lnTo>
                  <a:cubicBezTo>
                    <a:pt x="5246497" y="0"/>
                    <a:pt x="5328920" y="82550"/>
                    <a:pt x="5328920" y="184277"/>
                  </a:cubicBezTo>
                  <a:lnTo>
                    <a:pt x="5328920" y="3041523"/>
                  </a:lnTo>
                  <a:cubicBezTo>
                    <a:pt x="5328920" y="3143377"/>
                    <a:pt x="5246370" y="3225800"/>
                    <a:pt x="5144643" y="3225800"/>
                  </a:cubicBezTo>
                  <a:lnTo>
                    <a:pt x="184277" y="3225800"/>
                  </a:lnTo>
                  <a:cubicBezTo>
                    <a:pt x="82550" y="3225800"/>
                    <a:pt x="0" y="3143250"/>
                    <a:pt x="0" y="3041523"/>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069848" y="2537460"/>
            <a:ext cx="3483864" cy="480060"/>
            <a:chOff x="0" y="0"/>
            <a:chExt cx="4645152" cy="640080"/>
          </a:xfrm>
        </p:grpSpPr>
        <p:sp>
          <p:nvSpPr>
            <p:cNvPr name="Freeform 11" id="11"/>
            <p:cNvSpPr/>
            <p:nvPr/>
          </p:nvSpPr>
          <p:spPr>
            <a:xfrm flipH="false" flipV="false" rot="0">
              <a:off x="0" y="0"/>
              <a:ext cx="4645152" cy="640080"/>
            </a:xfrm>
            <a:custGeom>
              <a:avLst/>
              <a:gdLst/>
              <a:ahLst/>
              <a:cxnLst/>
              <a:rect r="r" b="b" t="t" l="l"/>
              <a:pathLst>
                <a:path h="640080" w="4645152">
                  <a:moveTo>
                    <a:pt x="0" y="0"/>
                  </a:moveTo>
                  <a:lnTo>
                    <a:pt x="4645152" y="0"/>
                  </a:lnTo>
                  <a:lnTo>
                    <a:pt x="4645152" y="640080"/>
                  </a:lnTo>
                  <a:lnTo>
                    <a:pt x="0" y="640080"/>
                  </a:lnTo>
                  <a:close/>
                </a:path>
              </a:pathLst>
            </a:custGeom>
            <a:blipFill>
              <a:blip r:embed="rId3">
                <a:alphaModFix amt="0"/>
              </a:blip>
              <a:stretch>
                <a:fillRect l="0" t="-91405" r="0" b="-91405"/>
              </a:stretch>
            </a:blipFill>
          </p:spPr>
        </p:sp>
        <p:sp>
          <p:nvSpPr>
            <p:cNvPr name="TextBox 12" id="12"/>
            <p:cNvSpPr txBox="true"/>
            <p:nvPr/>
          </p:nvSpPr>
          <p:spPr>
            <a:xfrm>
              <a:off x="0" y="-38100"/>
              <a:ext cx="4645152" cy="678180"/>
            </a:xfrm>
            <a:prstGeom prst="rect">
              <a:avLst/>
            </a:prstGeom>
          </p:spPr>
          <p:txBody>
            <a:bodyPr anchor="ctr" rtlCol="false" tIns="0" lIns="0" bIns="0" rIns="0"/>
            <a:lstStyle/>
            <a:p>
              <a:pPr algn="l">
                <a:lnSpc>
                  <a:spcPts val="2189"/>
                </a:lnSpc>
              </a:pPr>
              <a:r>
                <a:rPr lang="en-US" sz="1824" b="true">
                  <a:solidFill>
                    <a:srgbClr val="1B1F3B"/>
                  </a:solidFill>
                  <a:latin typeface="Calibri (MS) Bold"/>
                  <a:ea typeface="Calibri (MS) Bold"/>
                  <a:cs typeface="Calibri (MS) Bold"/>
                  <a:sym typeface="Calibri (MS) Bold"/>
                </a:rPr>
                <a:t>Concatenation</a:t>
              </a:r>
            </a:p>
          </p:txBody>
        </p:sp>
      </p:grpSp>
      <p:grpSp>
        <p:nvGrpSpPr>
          <p:cNvPr name="Group 13" id="13"/>
          <p:cNvGrpSpPr/>
          <p:nvPr/>
        </p:nvGrpSpPr>
        <p:grpSpPr>
          <a:xfrm rot="0">
            <a:off x="1028700" y="3086100"/>
            <a:ext cx="3566160" cy="685800"/>
            <a:chOff x="0" y="0"/>
            <a:chExt cx="4754880" cy="914400"/>
          </a:xfrm>
        </p:grpSpPr>
        <p:sp>
          <p:nvSpPr>
            <p:cNvPr name="Freeform 14" id="14"/>
            <p:cNvSpPr/>
            <p:nvPr/>
          </p:nvSpPr>
          <p:spPr>
            <a:xfrm flipH="false" flipV="false" rot="0">
              <a:off x="0" y="0"/>
              <a:ext cx="4754880" cy="914400"/>
            </a:xfrm>
            <a:custGeom>
              <a:avLst/>
              <a:gdLst/>
              <a:ahLst/>
              <a:cxnLst/>
              <a:rect r="r" b="b" t="t" l="l"/>
              <a:pathLst>
                <a:path h="914400" w="4754880">
                  <a:moveTo>
                    <a:pt x="0" y="109728"/>
                  </a:moveTo>
                  <a:cubicBezTo>
                    <a:pt x="0" y="49149"/>
                    <a:pt x="49149" y="0"/>
                    <a:pt x="109728" y="0"/>
                  </a:cubicBezTo>
                  <a:lnTo>
                    <a:pt x="4645152" y="0"/>
                  </a:lnTo>
                  <a:cubicBezTo>
                    <a:pt x="4705731" y="0"/>
                    <a:pt x="4754880" y="49149"/>
                    <a:pt x="4754880" y="109728"/>
                  </a:cubicBezTo>
                  <a:lnTo>
                    <a:pt x="4754880" y="804672"/>
                  </a:lnTo>
                  <a:cubicBezTo>
                    <a:pt x="4754880" y="865251"/>
                    <a:pt x="4705731" y="914400"/>
                    <a:pt x="4645152" y="914400"/>
                  </a:cubicBezTo>
                  <a:lnTo>
                    <a:pt x="109728" y="914400"/>
                  </a:lnTo>
                  <a:cubicBezTo>
                    <a:pt x="49149" y="914400"/>
                    <a:pt x="0" y="865251"/>
                    <a:pt x="0" y="804672"/>
                  </a:cubicBezTo>
                  <a:close/>
                </a:path>
              </a:pathLst>
            </a:custGeom>
            <a:solidFill>
              <a:srgbClr val="1B1F3B"/>
            </a:solidFill>
          </p:spPr>
        </p:sp>
      </p:grpSp>
      <p:grpSp>
        <p:nvGrpSpPr>
          <p:cNvPr name="Group 15" id="15"/>
          <p:cNvGrpSpPr/>
          <p:nvPr/>
        </p:nvGrpSpPr>
        <p:grpSpPr>
          <a:xfrm rot="0">
            <a:off x="1028700" y="3086100"/>
            <a:ext cx="3566160" cy="685800"/>
            <a:chOff x="0" y="0"/>
            <a:chExt cx="4754880" cy="914400"/>
          </a:xfrm>
        </p:grpSpPr>
        <p:sp>
          <p:nvSpPr>
            <p:cNvPr name="Freeform 16" id="16"/>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3">
                <a:alphaModFix amt="0"/>
              </a:blip>
              <a:stretch>
                <a:fillRect l="0" t="-51322" r="0" b="-51322"/>
              </a:stretch>
            </a:blipFill>
          </p:spPr>
        </p:sp>
        <p:sp>
          <p:nvSpPr>
            <p:cNvPr name="TextBox 17" id="17"/>
            <p:cNvSpPr txBox="true"/>
            <p:nvPr/>
          </p:nvSpPr>
          <p:spPr>
            <a:xfrm>
              <a:off x="0" y="-9525"/>
              <a:ext cx="4754880" cy="923925"/>
            </a:xfrm>
            <a:prstGeom prst="rect">
              <a:avLst/>
            </a:prstGeom>
          </p:spPr>
          <p:txBody>
            <a:bodyPr anchor="ctr" rtlCol="false" tIns="0" lIns="0" bIns="0" rIns="0"/>
            <a:lstStyle/>
            <a:p>
              <a:pPr algn="ctr">
                <a:lnSpc>
                  <a:spcPts val="1889"/>
                </a:lnSpc>
              </a:pPr>
              <a:r>
                <a:rPr lang="en-US" sz="1575">
                  <a:solidFill>
                    <a:srgbClr val="8FE3C0"/>
                  </a:solidFill>
                  <a:latin typeface="Courier New"/>
                  <a:ea typeface="Courier New"/>
                  <a:cs typeface="Courier New"/>
                  <a:sym typeface="Courier New"/>
                </a:rPr>
                <a:t>"Hi " + name</a:t>
              </a:r>
            </a:p>
          </p:txBody>
        </p:sp>
      </p:grpSp>
      <p:grpSp>
        <p:nvGrpSpPr>
          <p:cNvPr name="Group 18" id="18"/>
          <p:cNvGrpSpPr/>
          <p:nvPr/>
        </p:nvGrpSpPr>
        <p:grpSpPr>
          <a:xfrm rot="0">
            <a:off x="1069848" y="3909060"/>
            <a:ext cx="3483864" cy="754380"/>
            <a:chOff x="0" y="0"/>
            <a:chExt cx="4645152" cy="1005840"/>
          </a:xfrm>
        </p:grpSpPr>
        <p:sp>
          <p:nvSpPr>
            <p:cNvPr name="Freeform 19" id="19"/>
            <p:cNvSpPr/>
            <p:nvPr/>
          </p:nvSpPr>
          <p:spPr>
            <a:xfrm flipH="false" flipV="false" rot="0">
              <a:off x="0" y="0"/>
              <a:ext cx="4645152" cy="1005840"/>
            </a:xfrm>
            <a:custGeom>
              <a:avLst/>
              <a:gdLst/>
              <a:ahLst/>
              <a:cxnLst/>
              <a:rect r="r" b="b" t="t" l="l"/>
              <a:pathLst>
                <a:path h="1005840" w="4645152">
                  <a:moveTo>
                    <a:pt x="0" y="0"/>
                  </a:moveTo>
                  <a:lnTo>
                    <a:pt x="4645152" y="0"/>
                  </a:lnTo>
                  <a:lnTo>
                    <a:pt x="4645152" y="1005840"/>
                  </a:lnTo>
                  <a:lnTo>
                    <a:pt x="0" y="1005840"/>
                  </a:lnTo>
                  <a:close/>
                </a:path>
              </a:pathLst>
            </a:custGeom>
            <a:blipFill>
              <a:blip r:embed="rId3">
                <a:alphaModFix amt="0"/>
              </a:blip>
              <a:stretch>
                <a:fillRect l="0" t="-39985" r="0" b="-39985"/>
              </a:stretch>
            </a:blipFill>
          </p:spPr>
        </p:sp>
        <p:sp>
          <p:nvSpPr>
            <p:cNvPr name="TextBox 20" id="20"/>
            <p:cNvSpPr txBox="true"/>
            <p:nvPr/>
          </p:nvSpPr>
          <p:spPr>
            <a:xfrm>
              <a:off x="0" y="-66675"/>
              <a:ext cx="4645152" cy="1072515"/>
            </a:xfrm>
            <a:prstGeom prst="rect">
              <a:avLst/>
            </a:prstGeom>
          </p:spPr>
          <p:txBody>
            <a:bodyPr anchor="ctr" rtlCol="false" tIns="0" lIns="0" bIns="0" rIns="0"/>
            <a:lstStyle/>
            <a:p>
              <a:pPr algn="l">
                <a:lnSpc>
                  <a:spcPts val="2483"/>
                </a:lnSpc>
              </a:pPr>
              <a:r>
                <a:rPr lang="en-US" sz="1799">
                  <a:solidFill>
                    <a:srgbClr val="000000"/>
                  </a:solidFill>
                  <a:latin typeface="Calibri (MS)"/>
                  <a:ea typeface="Calibri (MS)"/>
                  <a:cs typeface="Calibri (MS)"/>
                  <a:sym typeface="Calibri (MS)"/>
                </a:rPr>
                <a:t>Joins strings together</a:t>
              </a:r>
            </a:p>
          </p:txBody>
        </p:sp>
      </p:grpSp>
      <p:grpSp>
        <p:nvGrpSpPr>
          <p:cNvPr name="Group 21" id="21"/>
          <p:cNvGrpSpPr/>
          <p:nvPr/>
        </p:nvGrpSpPr>
        <p:grpSpPr>
          <a:xfrm rot="0">
            <a:off x="5065395" y="2322195"/>
            <a:ext cx="3996690" cy="2419350"/>
            <a:chOff x="0" y="0"/>
            <a:chExt cx="5328920" cy="3225800"/>
          </a:xfrm>
        </p:grpSpPr>
        <p:sp>
          <p:nvSpPr>
            <p:cNvPr name="Freeform 22" id="22"/>
            <p:cNvSpPr/>
            <p:nvPr/>
          </p:nvSpPr>
          <p:spPr>
            <a:xfrm flipH="false" flipV="false" rot="0">
              <a:off x="0" y="0"/>
              <a:ext cx="5328920" cy="3225800"/>
            </a:xfrm>
            <a:custGeom>
              <a:avLst/>
              <a:gdLst/>
              <a:ahLst/>
              <a:cxnLst/>
              <a:rect r="r" b="b" t="t" l="l"/>
              <a:pathLst>
                <a:path h="3225800" w="5328920">
                  <a:moveTo>
                    <a:pt x="0" y="184277"/>
                  </a:moveTo>
                  <a:cubicBezTo>
                    <a:pt x="0" y="82550"/>
                    <a:pt x="82550" y="0"/>
                    <a:pt x="184277" y="0"/>
                  </a:cubicBezTo>
                  <a:lnTo>
                    <a:pt x="5144643" y="0"/>
                  </a:lnTo>
                  <a:cubicBezTo>
                    <a:pt x="5246497" y="0"/>
                    <a:pt x="5328920" y="82550"/>
                    <a:pt x="5328920" y="184277"/>
                  </a:cubicBezTo>
                  <a:lnTo>
                    <a:pt x="5328920" y="3041523"/>
                  </a:lnTo>
                  <a:cubicBezTo>
                    <a:pt x="5328920" y="3143377"/>
                    <a:pt x="5246370" y="3225800"/>
                    <a:pt x="5144643" y="3225800"/>
                  </a:cubicBezTo>
                  <a:lnTo>
                    <a:pt x="184277" y="3225800"/>
                  </a:lnTo>
                  <a:cubicBezTo>
                    <a:pt x="82550" y="3225800"/>
                    <a:pt x="0" y="3143250"/>
                    <a:pt x="0" y="3041523"/>
                  </a:cubicBezTo>
                  <a:close/>
                </a:path>
              </a:pathLst>
            </a:custGeom>
            <a:solidFill>
              <a:srgbClr val="FFFFFF"/>
            </a:solidFill>
            <a:ln w="19050" cap="sq">
              <a:solidFill>
                <a:srgbClr val="ECEEF7"/>
              </a:solidFill>
              <a:prstDash val="solid"/>
              <a:miter/>
            </a:ln>
          </p:spPr>
        </p:sp>
      </p:grpSp>
      <p:grpSp>
        <p:nvGrpSpPr>
          <p:cNvPr name="Group 23" id="23"/>
          <p:cNvGrpSpPr/>
          <p:nvPr/>
        </p:nvGrpSpPr>
        <p:grpSpPr>
          <a:xfrm rot="0">
            <a:off x="5321808" y="2537460"/>
            <a:ext cx="3483864" cy="480060"/>
            <a:chOff x="0" y="0"/>
            <a:chExt cx="4645152" cy="640080"/>
          </a:xfrm>
        </p:grpSpPr>
        <p:sp>
          <p:nvSpPr>
            <p:cNvPr name="Freeform 24" id="24"/>
            <p:cNvSpPr/>
            <p:nvPr/>
          </p:nvSpPr>
          <p:spPr>
            <a:xfrm flipH="false" flipV="false" rot="0">
              <a:off x="0" y="0"/>
              <a:ext cx="4645152" cy="640080"/>
            </a:xfrm>
            <a:custGeom>
              <a:avLst/>
              <a:gdLst/>
              <a:ahLst/>
              <a:cxnLst/>
              <a:rect r="r" b="b" t="t" l="l"/>
              <a:pathLst>
                <a:path h="640080" w="4645152">
                  <a:moveTo>
                    <a:pt x="0" y="0"/>
                  </a:moveTo>
                  <a:lnTo>
                    <a:pt x="4645152" y="0"/>
                  </a:lnTo>
                  <a:lnTo>
                    <a:pt x="4645152" y="640080"/>
                  </a:lnTo>
                  <a:lnTo>
                    <a:pt x="0" y="640080"/>
                  </a:lnTo>
                  <a:close/>
                </a:path>
              </a:pathLst>
            </a:custGeom>
            <a:blipFill>
              <a:blip r:embed="rId3">
                <a:alphaModFix amt="0"/>
              </a:blip>
              <a:stretch>
                <a:fillRect l="0" t="-91405" r="0" b="-91405"/>
              </a:stretch>
            </a:blipFill>
          </p:spPr>
        </p:sp>
        <p:sp>
          <p:nvSpPr>
            <p:cNvPr name="TextBox 25" id="25"/>
            <p:cNvSpPr txBox="true"/>
            <p:nvPr/>
          </p:nvSpPr>
          <p:spPr>
            <a:xfrm>
              <a:off x="0" y="-38100"/>
              <a:ext cx="4645152" cy="678180"/>
            </a:xfrm>
            <a:prstGeom prst="rect">
              <a:avLst/>
            </a:prstGeom>
          </p:spPr>
          <p:txBody>
            <a:bodyPr anchor="ctr" rtlCol="false" tIns="0" lIns="0" bIns="0" rIns="0"/>
            <a:lstStyle/>
            <a:p>
              <a:pPr algn="l">
                <a:lnSpc>
                  <a:spcPts val="2189"/>
                </a:lnSpc>
              </a:pPr>
              <a:r>
                <a:rPr lang="en-US" sz="1824" b="true">
                  <a:solidFill>
                    <a:srgbClr val="1B1F3B"/>
                  </a:solidFill>
                  <a:latin typeface="Calibri (MS) Bold"/>
                  <a:ea typeface="Calibri (MS) Bold"/>
                  <a:cs typeface="Calibri (MS) Bold"/>
                  <a:sym typeface="Calibri (MS) Bold"/>
                </a:rPr>
                <a:t>len()</a:t>
              </a:r>
            </a:p>
          </p:txBody>
        </p:sp>
      </p:grpSp>
      <p:grpSp>
        <p:nvGrpSpPr>
          <p:cNvPr name="Group 26" id="26"/>
          <p:cNvGrpSpPr/>
          <p:nvPr/>
        </p:nvGrpSpPr>
        <p:grpSpPr>
          <a:xfrm rot="0">
            <a:off x="5280660" y="3086100"/>
            <a:ext cx="3566160" cy="685800"/>
            <a:chOff x="0" y="0"/>
            <a:chExt cx="4754880" cy="914400"/>
          </a:xfrm>
        </p:grpSpPr>
        <p:sp>
          <p:nvSpPr>
            <p:cNvPr name="Freeform 27" id="27"/>
            <p:cNvSpPr/>
            <p:nvPr/>
          </p:nvSpPr>
          <p:spPr>
            <a:xfrm flipH="false" flipV="false" rot="0">
              <a:off x="0" y="0"/>
              <a:ext cx="4754880" cy="914400"/>
            </a:xfrm>
            <a:custGeom>
              <a:avLst/>
              <a:gdLst/>
              <a:ahLst/>
              <a:cxnLst/>
              <a:rect r="r" b="b" t="t" l="l"/>
              <a:pathLst>
                <a:path h="914400" w="4754880">
                  <a:moveTo>
                    <a:pt x="0" y="109728"/>
                  </a:moveTo>
                  <a:cubicBezTo>
                    <a:pt x="0" y="49149"/>
                    <a:pt x="49149" y="0"/>
                    <a:pt x="109728" y="0"/>
                  </a:cubicBezTo>
                  <a:lnTo>
                    <a:pt x="4645152" y="0"/>
                  </a:lnTo>
                  <a:cubicBezTo>
                    <a:pt x="4705731" y="0"/>
                    <a:pt x="4754880" y="49149"/>
                    <a:pt x="4754880" y="109728"/>
                  </a:cubicBezTo>
                  <a:lnTo>
                    <a:pt x="4754880" y="804672"/>
                  </a:lnTo>
                  <a:cubicBezTo>
                    <a:pt x="4754880" y="865251"/>
                    <a:pt x="4705731" y="914400"/>
                    <a:pt x="4645152" y="914400"/>
                  </a:cubicBezTo>
                  <a:lnTo>
                    <a:pt x="109728" y="914400"/>
                  </a:lnTo>
                  <a:cubicBezTo>
                    <a:pt x="49149" y="914400"/>
                    <a:pt x="0" y="865251"/>
                    <a:pt x="0" y="804672"/>
                  </a:cubicBezTo>
                  <a:close/>
                </a:path>
              </a:pathLst>
            </a:custGeom>
            <a:solidFill>
              <a:srgbClr val="1B1F3B"/>
            </a:solidFill>
          </p:spPr>
        </p:sp>
      </p:grpSp>
      <p:grpSp>
        <p:nvGrpSpPr>
          <p:cNvPr name="Group 28" id="28"/>
          <p:cNvGrpSpPr/>
          <p:nvPr/>
        </p:nvGrpSpPr>
        <p:grpSpPr>
          <a:xfrm rot="0">
            <a:off x="5280660" y="3086100"/>
            <a:ext cx="3566160" cy="685800"/>
            <a:chOff x="0" y="0"/>
            <a:chExt cx="4754880" cy="914400"/>
          </a:xfrm>
        </p:grpSpPr>
        <p:sp>
          <p:nvSpPr>
            <p:cNvPr name="Freeform 29" id="29"/>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3">
                <a:alphaModFix amt="0"/>
              </a:blip>
              <a:stretch>
                <a:fillRect l="0" t="-51322" r="0" b="-51322"/>
              </a:stretch>
            </a:blipFill>
          </p:spPr>
        </p:sp>
        <p:sp>
          <p:nvSpPr>
            <p:cNvPr name="TextBox 30" id="30"/>
            <p:cNvSpPr txBox="true"/>
            <p:nvPr/>
          </p:nvSpPr>
          <p:spPr>
            <a:xfrm>
              <a:off x="0" y="-9525"/>
              <a:ext cx="4754880" cy="923925"/>
            </a:xfrm>
            <a:prstGeom prst="rect">
              <a:avLst/>
            </a:prstGeom>
          </p:spPr>
          <p:txBody>
            <a:bodyPr anchor="ctr" rtlCol="false" tIns="0" lIns="0" bIns="0" rIns="0"/>
            <a:lstStyle/>
            <a:p>
              <a:pPr algn="ctr">
                <a:lnSpc>
                  <a:spcPts val="1889"/>
                </a:lnSpc>
              </a:pPr>
              <a:r>
                <a:rPr lang="en-US" sz="1575">
                  <a:solidFill>
                    <a:srgbClr val="8FE3C0"/>
                  </a:solidFill>
                  <a:latin typeface="Courier New"/>
                  <a:ea typeface="Courier New"/>
                  <a:cs typeface="Courier New"/>
                  <a:sym typeface="Courier New"/>
                </a:rPr>
                <a:t>len(name)</a:t>
              </a:r>
            </a:p>
          </p:txBody>
        </p:sp>
      </p:grpSp>
      <p:grpSp>
        <p:nvGrpSpPr>
          <p:cNvPr name="Group 31" id="31"/>
          <p:cNvGrpSpPr/>
          <p:nvPr/>
        </p:nvGrpSpPr>
        <p:grpSpPr>
          <a:xfrm rot="0">
            <a:off x="5321808" y="3909060"/>
            <a:ext cx="3483864" cy="754380"/>
            <a:chOff x="0" y="0"/>
            <a:chExt cx="4645152" cy="1005840"/>
          </a:xfrm>
        </p:grpSpPr>
        <p:sp>
          <p:nvSpPr>
            <p:cNvPr name="Freeform 32" id="32"/>
            <p:cNvSpPr/>
            <p:nvPr/>
          </p:nvSpPr>
          <p:spPr>
            <a:xfrm flipH="false" flipV="false" rot="0">
              <a:off x="0" y="0"/>
              <a:ext cx="4645152" cy="1005840"/>
            </a:xfrm>
            <a:custGeom>
              <a:avLst/>
              <a:gdLst/>
              <a:ahLst/>
              <a:cxnLst/>
              <a:rect r="r" b="b" t="t" l="l"/>
              <a:pathLst>
                <a:path h="1005840" w="4645152">
                  <a:moveTo>
                    <a:pt x="0" y="0"/>
                  </a:moveTo>
                  <a:lnTo>
                    <a:pt x="4645152" y="0"/>
                  </a:lnTo>
                  <a:lnTo>
                    <a:pt x="4645152" y="1005840"/>
                  </a:lnTo>
                  <a:lnTo>
                    <a:pt x="0" y="1005840"/>
                  </a:lnTo>
                  <a:close/>
                </a:path>
              </a:pathLst>
            </a:custGeom>
            <a:blipFill>
              <a:blip r:embed="rId3">
                <a:alphaModFix amt="0"/>
              </a:blip>
              <a:stretch>
                <a:fillRect l="0" t="-39985" r="0" b="-39985"/>
              </a:stretch>
            </a:blipFill>
          </p:spPr>
        </p:sp>
        <p:sp>
          <p:nvSpPr>
            <p:cNvPr name="TextBox 33" id="33"/>
            <p:cNvSpPr txBox="true"/>
            <p:nvPr/>
          </p:nvSpPr>
          <p:spPr>
            <a:xfrm>
              <a:off x="0" y="-57150"/>
              <a:ext cx="4645152" cy="1062990"/>
            </a:xfrm>
            <a:prstGeom prst="rect">
              <a:avLst/>
            </a:prstGeom>
          </p:spPr>
          <p:txBody>
            <a:bodyPr anchor="ctr" rtlCol="false" tIns="0" lIns="0" bIns="0" rIns="0"/>
            <a:lstStyle/>
            <a:p>
              <a:pPr algn="l">
                <a:lnSpc>
                  <a:spcPts val="2207"/>
                </a:lnSpc>
              </a:pPr>
              <a:r>
                <a:rPr lang="en-US" sz="1599">
                  <a:solidFill>
                    <a:srgbClr val="000000"/>
                  </a:solidFill>
                  <a:latin typeface="Calibri (MS)"/>
                  <a:ea typeface="Calibri (MS)"/>
                  <a:cs typeface="Calibri (MS)"/>
                  <a:sym typeface="Calibri (MS)"/>
                </a:rPr>
                <a:t>Counts the characters</a:t>
              </a:r>
            </a:p>
          </p:txBody>
        </p:sp>
      </p:grpSp>
      <p:grpSp>
        <p:nvGrpSpPr>
          <p:cNvPr name="Group 34" id="34"/>
          <p:cNvGrpSpPr/>
          <p:nvPr/>
        </p:nvGrpSpPr>
        <p:grpSpPr>
          <a:xfrm rot="0">
            <a:off x="9317355" y="2322195"/>
            <a:ext cx="3996690" cy="2419350"/>
            <a:chOff x="0" y="0"/>
            <a:chExt cx="5328920" cy="3225800"/>
          </a:xfrm>
        </p:grpSpPr>
        <p:sp>
          <p:nvSpPr>
            <p:cNvPr name="Freeform 35" id="35"/>
            <p:cNvSpPr/>
            <p:nvPr/>
          </p:nvSpPr>
          <p:spPr>
            <a:xfrm flipH="false" flipV="false" rot="0">
              <a:off x="0" y="0"/>
              <a:ext cx="5328920" cy="3225800"/>
            </a:xfrm>
            <a:custGeom>
              <a:avLst/>
              <a:gdLst/>
              <a:ahLst/>
              <a:cxnLst/>
              <a:rect r="r" b="b" t="t" l="l"/>
              <a:pathLst>
                <a:path h="3225800" w="5328920">
                  <a:moveTo>
                    <a:pt x="0" y="184277"/>
                  </a:moveTo>
                  <a:cubicBezTo>
                    <a:pt x="0" y="82550"/>
                    <a:pt x="82550" y="0"/>
                    <a:pt x="184277" y="0"/>
                  </a:cubicBezTo>
                  <a:lnTo>
                    <a:pt x="5144643" y="0"/>
                  </a:lnTo>
                  <a:cubicBezTo>
                    <a:pt x="5246497" y="0"/>
                    <a:pt x="5328920" y="82550"/>
                    <a:pt x="5328920" y="184277"/>
                  </a:cubicBezTo>
                  <a:lnTo>
                    <a:pt x="5328920" y="3041523"/>
                  </a:lnTo>
                  <a:cubicBezTo>
                    <a:pt x="5328920" y="3143377"/>
                    <a:pt x="5246370" y="3225800"/>
                    <a:pt x="5144643" y="3225800"/>
                  </a:cubicBezTo>
                  <a:lnTo>
                    <a:pt x="184277" y="3225800"/>
                  </a:lnTo>
                  <a:cubicBezTo>
                    <a:pt x="82550" y="3225800"/>
                    <a:pt x="0" y="3143250"/>
                    <a:pt x="0" y="3041523"/>
                  </a:cubicBezTo>
                  <a:close/>
                </a:path>
              </a:pathLst>
            </a:custGeom>
            <a:solidFill>
              <a:srgbClr val="FFFFFF"/>
            </a:solidFill>
            <a:ln w="19050" cap="sq">
              <a:solidFill>
                <a:srgbClr val="ECEEF7"/>
              </a:solidFill>
              <a:prstDash val="solid"/>
              <a:miter/>
            </a:ln>
          </p:spPr>
        </p:sp>
      </p:grpSp>
      <p:grpSp>
        <p:nvGrpSpPr>
          <p:cNvPr name="Group 36" id="36"/>
          <p:cNvGrpSpPr/>
          <p:nvPr/>
        </p:nvGrpSpPr>
        <p:grpSpPr>
          <a:xfrm rot="0">
            <a:off x="9573768" y="2537460"/>
            <a:ext cx="3483864" cy="480060"/>
            <a:chOff x="0" y="0"/>
            <a:chExt cx="4645152" cy="640080"/>
          </a:xfrm>
        </p:grpSpPr>
        <p:sp>
          <p:nvSpPr>
            <p:cNvPr name="Freeform 37" id="37"/>
            <p:cNvSpPr/>
            <p:nvPr/>
          </p:nvSpPr>
          <p:spPr>
            <a:xfrm flipH="false" flipV="false" rot="0">
              <a:off x="0" y="0"/>
              <a:ext cx="4645152" cy="640080"/>
            </a:xfrm>
            <a:custGeom>
              <a:avLst/>
              <a:gdLst/>
              <a:ahLst/>
              <a:cxnLst/>
              <a:rect r="r" b="b" t="t" l="l"/>
              <a:pathLst>
                <a:path h="640080" w="4645152">
                  <a:moveTo>
                    <a:pt x="0" y="0"/>
                  </a:moveTo>
                  <a:lnTo>
                    <a:pt x="4645152" y="0"/>
                  </a:lnTo>
                  <a:lnTo>
                    <a:pt x="4645152" y="640080"/>
                  </a:lnTo>
                  <a:lnTo>
                    <a:pt x="0" y="640080"/>
                  </a:lnTo>
                  <a:close/>
                </a:path>
              </a:pathLst>
            </a:custGeom>
            <a:blipFill>
              <a:blip r:embed="rId3">
                <a:alphaModFix amt="0"/>
              </a:blip>
              <a:stretch>
                <a:fillRect l="0" t="-91405" r="0" b="-91405"/>
              </a:stretch>
            </a:blipFill>
          </p:spPr>
        </p:sp>
        <p:sp>
          <p:nvSpPr>
            <p:cNvPr name="TextBox 38" id="38"/>
            <p:cNvSpPr txBox="true"/>
            <p:nvPr/>
          </p:nvSpPr>
          <p:spPr>
            <a:xfrm>
              <a:off x="0" y="-38100"/>
              <a:ext cx="4645152" cy="678180"/>
            </a:xfrm>
            <a:prstGeom prst="rect">
              <a:avLst/>
            </a:prstGeom>
          </p:spPr>
          <p:txBody>
            <a:bodyPr anchor="ctr" rtlCol="false" tIns="0" lIns="0" bIns="0" rIns="0"/>
            <a:lstStyle/>
            <a:p>
              <a:pPr algn="l">
                <a:lnSpc>
                  <a:spcPts val="2189"/>
                </a:lnSpc>
              </a:pPr>
              <a:r>
                <a:rPr lang="en-US" sz="1824" b="true">
                  <a:solidFill>
                    <a:srgbClr val="1B1F3B"/>
                  </a:solidFill>
                  <a:latin typeface="Calibri (MS) Bold"/>
                  <a:ea typeface="Calibri (MS) Bold"/>
                  <a:cs typeface="Calibri (MS) Bold"/>
                  <a:sym typeface="Calibri (MS) Bold"/>
                </a:rPr>
                <a:t>upper() / lower()</a:t>
              </a:r>
            </a:p>
          </p:txBody>
        </p:sp>
      </p:grpSp>
      <p:grpSp>
        <p:nvGrpSpPr>
          <p:cNvPr name="Group 39" id="39"/>
          <p:cNvGrpSpPr/>
          <p:nvPr/>
        </p:nvGrpSpPr>
        <p:grpSpPr>
          <a:xfrm rot="0">
            <a:off x="9532620" y="3086100"/>
            <a:ext cx="3566160" cy="685800"/>
            <a:chOff x="0" y="0"/>
            <a:chExt cx="4754880" cy="914400"/>
          </a:xfrm>
        </p:grpSpPr>
        <p:sp>
          <p:nvSpPr>
            <p:cNvPr name="Freeform 40" id="40"/>
            <p:cNvSpPr/>
            <p:nvPr/>
          </p:nvSpPr>
          <p:spPr>
            <a:xfrm flipH="false" flipV="false" rot="0">
              <a:off x="0" y="0"/>
              <a:ext cx="4754880" cy="914400"/>
            </a:xfrm>
            <a:custGeom>
              <a:avLst/>
              <a:gdLst/>
              <a:ahLst/>
              <a:cxnLst/>
              <a:rect r="r" b="b" t="t" l="l"/>
              <a:pathLst>
                <a:path h="914400" w="4754880">
                  <a:moveTo>
                    <a:pt x="0" y="109728"/>
                  </a:moveTo>
                  <a:cubicBezTo>
                    <a:pt x="0" y="49149"/>
                    <a:pt x="49149" y="0"/>
                    <a:pt x="109728" y="0"/>
                  </a:cubicBezTo>
                  <a:lnTo>
                    <a:pt x="4645152" y="0"/>
                  </a:lnTo>
                  <a:cubicBezTo>
                    <a:pt x="4705731" y="0"/>
                    <a:pt x="4754880" y="49149"/>
                    <a:pt x="4754880" y="109728"/>
                  </a:cubicBezTo>
                  <a:lnTo>
                    <a:pt x="4754880" y="804672"/>
                  </a:lnTo>
                  <a:cubicBezTo>
                    <a:pt x="4754880" y="865251"/>
                    <a:pt x="4705731" y="914400"/>
                    <a:pt x="4645152" y="914400"/>
                  </a:cubicBezTo>
                  <a:lnTo>
                    <a:pt x="109728" y="914400"/>
                  </a:lnTo>
                  <a:cubicBezTo>
                    <a:pt x="49149" y="914400"/>
                    <a:pt x="0" y="865251"/>
                    <a:pt x="0" y="804672"/>
                  </a:cubicBezTo>
                  <a:close/>
                </a:path>
              </a:pathLst>
            </a:custGeom>
            <a:solidFill>
              <a:srgbClr val="1B1F3B"/>
            </a:solidFill>
          </p:spPr>
        </p:sp>
      </p:grpSp>
      <p:grpSp>
        <p:nvGrpSpPr>
          <p:cNvPr name="Group 41" id="41"/>
          <p:cNvGrpSpPr/>
          <p:nvPr/>
        </p:nvGrpSpPr>
        <p:grpSpPr>
          <a:xfrm rot="0">
            <a:off x="9532620" y="3086100"/>
            <a:ext cx="3566160" cy="685800"/>
            <a:chOff x="0" y="0"/>
            <a:chExt cx="4754880" cy="914400"/>
          </a:xfrm>
        </p:grpSpPr>
        <p:sp>
          <p:nvSpPr>
            <p:cNvPr name="Freeform 42" id="42"/>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3">
                <a:alphaModFix amt="0"/>
              </a:blip>
              <a:stretch>
                <a:fillRect l="0" t="-51322" r="0" b="-51322"/>
              </a:stretch>
            </a:blipFill>
          </p:spPr>
        </p:sp>
        <p:sp>
          <p:nvSpPr>
            <p:cNvPr name="TextBox 43" id="43"/>
            <p:cNvSpPr txBox="true"/>
            <p:nvPr/>
          </p:nvSpPr>
          <p:spPr>
            <a:xfrm>
              <a:off x="0" y="-9525"/>
              <a:ext cx="4754880" cy="923925"/>
            </a:xfrm>
            <a:prstGeom prst="rect">
              <a:avLst/>
            </a:prstGeom>
          </p:spPr>
          <p:txBody>
            <a:bodyPr anchor="ctr" rtlCol="false" tIns="0" lIns="0" bIns="0" rIns="0"/>
            <a:lstStyle/>
            <a:p>
              <a:pPr algn="ctr">
                <a:lnSpc>
                  <a:spcPts val="1889"/>
                </a:lnSpc>
              </a:pPr>
              <a:r>
                <a:rPr lang="en-US" sz="1575">
                  <a:solidFill>
                    <a:srgbClr val="8FE3C0"/>
                  </a:solidFill>
                  <a:latin typeface="Courier New"/>
                  <a:ea typeface="Courier New"/>
                  <a:cs typeface="Courier New"/>
                  <a:sym typeface="Courier New"/>
                </a:rPr>
                <a:t>name.upper()</a:t>
              </a:r>
            </a:p>
          </p:txBody>
        </p:sp>
      </p:grpSp>
      <p:grpSp>
        <p:nvGrpSpPr>
          <p:cNvPr name="Group 44" id="44"/>
          <p:cNvGrpSpPr/>
          <p:nvPr/>
        </p:nvGrpSpPr>
        <p:grpSpPr>
          <a:xfrm rot="0">
            <a:off x="9573768" y="3909060"/>
            <a:ext cx="3483864" cy="754380"/>
            <a:chOff x="0" y="0"/>
            <a:chExt cx="4645152" cy="1005840"/>
          </a:xfrm>
        </p:grpSpPr>
        <p:sp>
          <p:nvSpPr>
            <p:cNvPr name="Freeform 45" id="45"/>
            <p:cNvSpPr/>
            <p:nvPr/>
          </p:nvSpPr>
          <p:spPr>
            <a:xfrm flipH="false" flipV="false" rot="0">
              <a:off x="0" y="0"/>
              <a:ext cx="4645152" cy="1005840"/>
            </a:xfrm>
            <a:custGeom>
              <a:avLst/>
              <a:gdLst/>
              <a:ahLst/>
              <a:cxnLst/>
              <a:rect r="r" b="b" t="t" l="l"/>
              <a:pathLst>
                <a:path h="1005840" w="4645152">
                  <a:moveTo>
                    <a:pt x="0" y="0"/>
                  </a:moveTo>
                  <a:lnTo>
                    <a:pt x="4645152" y="0"/>
                  </a:lnTo>
                  <a:lnTo>
                    <a:pt x="4645152" y="1005840"/>
                  </a:lnTo>
                  <a:lnTo>
                    <a:pt x="0" y="1005840"/>
                  </a:lnTo>
                  <a:close/>
                </a:path>
              </a:pathLst>
            </a:custGeom>
            <a:blipFill>
              <a:blip r:embed="rId3">
                <a:alphaModFix amt="0"/>
              </a:blip>
              <a:stretch>
                <a:fillRect l="0" t="-39985" r="0" b="-39985"/>
              </a:stretch>
            </a:blipFill>
          </p:spPr>
        </p:sp>
        <p:sp>
          <p:nvSpPr>
            <p:cNvPr name="TextBox 46" id="46"/>
            <p:cNvSpPr txBox="true"/>
            <p:nvPr/>
          </p:nvSpPr>
          <p:spPr>
            <a:xfrm>
              <a:off x="0" y="-66675"/>
              <a:ext cx="4645152" cy="1072515"/>
            </a:xfrm>
            <a:prstGeom prst="rect">
              <a:avLst/>
            </a:prstGeom>
          </p:spPr>
          <p:txBody>
            <a:bodyPr anchor="ctr" rtlCol="false" tIns="0" lIns="0" bIns="0" rIns="0"/>
            <a:lstStyle/>
            <a:p>
              <a:pPr algn="l">
                <a:lnSpc>
                  <a:spcPts val="2483"/>
                </a:lnSpc>
              </a:pPr>
              <a:r>
                <a:rPr lang="en-US" sz="1799">
                  <a:solidFill>
                    <a:srgbClr val="000000"/>
                  </a:solidFill>
                  <a:latin typeface="Calibri (MS)"/>
                  <a:ea typeface="Calibri (MS)"/>
                  <a:cs typeface="Calibri (MS)"/>
                  <a:sym typeface="Calibri (MS)"/>
                </a:rPr>
                <a:t>Changes letter case</a:t>
              </a:r>
            </a:p>
          </p:txBody>
        </p:sp>
      </p:grpSp>
      <p:grpSp>
        <p:nvGrpSpPr>
          <p:cNvPr name="Group 47" id="47"/>
          <p:cNvGrpSpPr/>
          <p:nvPr/>
        </p:nvGrpSpPr>
        <p:grpSpPr>
          <a:xfrm rot="0">
            <a:off x="13569315" y="2322195"/>
            <a:ext cx="3996690" cy="2419350"/>
            <a:chOff x="0" y="0"/>
            <a:chExt cx="5328920" cy="3225800"/>
          </a:xfrm>
        </p:grpSpPr>
        <p:sp>
          <p:nvSpPr>
            <p:cNvPr name="Freeform 48" id="48"/>
            <p:cNvSpPr/>
            <p:nvPr/>
          </p:nvSpPr>
          <p:spPr>
            <a:xfrm flipH="false" flipV="false" rot="0">
              <a:off x="0" y="0"/>
              <a:ext cx="5328920" cy="3225800"/>
            </a:xfrm>
            <a:custGeom>
              <a:avLst/>
              <a:gdLst/>
              <a:ahLst/>
              <a:cxnLst/>
              <a:rect r="r" b="b" t="t" l="l"/>
              <a:pathLst>
                <a:path h="3225800" w="5328920">
                  <a:moveTo>
                    <a:pt x="0" y="184277"/>
                  </a:moveTo>
                  <a:cubicBezTo>
                    <a:pt x="0" y="82550"/>
                    <a:pt x="82550" y="0"/>
                    <a:pt x="184277" y="0"/>
                  </a:cubicBezTo>
                  <a:lnTo>
                    <a:pt x="5144643" y="0"/>
                  </a:lnTo>
                  <a:cubicBezTo>
                    <a:pt x="5246497" y="0"/>
                    <a:pt x="5328920" y="82550"/>
                    <a:pt x="5328920" y="184277"/>
                  </a:cubicBezTo>
                  <a:lnTo>
                    <a:pt x="5328920" y="3041523"/>
                  </a:lnTo>
                  <a:cubicBezTo>
                    <a:pt x="5328920" y="3143377"/>
                    <a:pt x="5246370" y="3225800"/>
                    <a:pt x="5144643" y="3225800"/>
                  </a:cubicBezTo>
                  <a:lnTo>
                    <a:pt x="184277" y="3225800"/>
                  </a:lnTo>
                  <a:cubicBezTo>
                    <a:pt x="82550" y="3225800"/>
                    <a:pt x="0" y="3143250"/>
                    <a:pt x="0" y="3041523"/>
                  </a:cubicBezTo>
                  <a:close/>
                </a:path>
              </a:pathLst>
            </a:custGeom>
            <a:solidFill>
              <a:srgbClr val="FFFFFF"/>
            </a:solidFill>
            <a:ln w="19050" cap="sq">
              <a:solidFill>
                <a:srgbClr val="ECEEF7"/>
              </a:solidFill>
              <a:prstDash val="solid"/>
              <a:miter/>
            </a:ln>
          </p:spPr>
        </p:sp>
      </p:grpSp>
      <p:grpSp>
        <p:nvGrpSpPr>
          <p:cNvPr name="Group 49" id="49"/>
          <p:cNvGrpSpPr/>
          <p:nvPr/>
        </p:nvGrpSpPr>
        <p:grpSpPr>
          <a:xfrm rot="0">
            <a:off x="13825728" y="2537460"/>
            <a:ext cx="3483864" cy="480060"/>
            <a:chOff x="0" y="0"/>
            <a:chExt cx="4645152" cy="640080"/>
          </a:xfrm>
        </p:grpSpPr>
        <p:sp>
          <p:nvSpPr>
            <p:cNvPr name="Freeform 50" id="50"/>
            <p:cNvSpPr/>
            <p:nvPr/>
          </p:nvSpPr>
          <p:spPr>
            <a:xfrm flipH="false" flipV="false" rot="0">
              <a:off x="0" y="0"/>
              <a:ext cx="4645152" cy="640080"/>
            </a:xfrm>
            <a:custGeom>
              <a:avLst/>
              <a:gdLst/>
              <a:ahLst/>
              <a:cxnLst/>
              <a:rect r="r" b="b" t="t" l="l"/>
              <a:pathLst>
                <a:path h="640080" w="4645152">
                  <a:moveTo>
                    <a:pt x="0" y="0"/>
                  </a:moveTo>
                  <a:lnTo>
                    <a:pt x="4645152" y="0"/>
                  </a:lnTo>
                  <a:lnTo>
                    <a:pt x="4645152" y="640080"/>
                  </a:lnTo>
                  <a:lnTo>
                    <a:pt x="0" y="640080"/>
                  </a:lnTo>
                  <a:close/>
                </a:path>
              </a:pathLst>
            </a:custGeom>
            <a:blipFill>
              <a:blip r:embed="rId3">
                <a:alphaModFix amt="0"/>
              </a:blip>
              <a:stretch>
                <a:fillRect l="0" t="-91405" r="0" b="-91405"/>
              </a:stretch>
            </a:blipFill>
          </p:spPr>
        </p:sp>
        <p:sp>
          <p:nvSpPr>
            <p:cNvPr name="TextBox 51" id="51"/>
            <p:cNvSpPr txBox="true"/>
            <p:nvPr/>
          </p:nvSpPr>
          <p:spPr>
            <a:xfrm>
              <a:off x="0" y="-38100"/>
              <a:ext cx="4645152" cy="678180"/>
            </a:xfrm>
            <a:prstGeom prst="rect">
              <a:avLst/>
            </a:prstGeom>
          </p:spPr>
          <p:txBody>
            <a:bodyPr anchor="ctr" rtlCol="false" tIns="0" lIns="0" bIns="0" rIns="0"/>
            <a:lstStyle/>
            <a:p>
              <a:pPr algn="l">
                <a:lnSpc>
                  <a:spcPts val="2189"/>
                </a:lnSpc>
              </a:pPr>
              <a:r>
                <a:rPr lang="en-US" sz="1824" b="true">
                  <a:solidFill>
                    <a:srgbClr val="1B1F3B"/>
                  </a:solidFill>
                  <a:latin typeface="Calibri (MS) Bold"/>
                  <a:ea typeface="Calibri (MS) Bold"/>
                  <a:cs typeface="Calibri (MS) Bold"/>
                  <a:sym typeface="Calibri (MS) Bold"/>
                </a:rPr>
                <a:t>Indexing</a:t>
              </a:r>
            </a:p>
          </p:txBody>
        </p:sp>
      </p:grpSp>
      <p:grpSp>
        <p:nvGrpSpPr>
          <p:cNvPr name="Group 52" id="52"/>
          <p:cNvGrpSpPr/>
          <p:nvPr/>
        </p:nvGrpSpPr>
        <p:grpSpPr>
          <a:xfrm rot="0">
            <a:off x="13784580" y="3086100"/>
            <a:ext cx="3566160" cy="685800"/>
            <a:chOff x="0" y="0"/>
            <a:chExt cx="4754880" cy="914400"/>
          </a:xfrm>
        </p:grpSpPr>
        <p:sp>
          <p:nvSpPr>
            <p:cNvPr name="Freeform 53" id="53"/>
            <p:cNvSpPr/>
            <p:nvPr/>
          </p:nvSpPr>
          <p:spPr>
            <a:xfrm flipH="false" flipV="false" rot="0">
              <a:off x="0" y="0"/>
              <a:ext cx="4754880" cy="914400"/>
            </a:xfrm>
            <a:custGeom>
              <a:avLst/>
              <a:gdLst/>
              <a:ahLst/>
              <a:cxnLst/>
              <a:rect r="r" b="b" t="t" l="l"/>
              <a:pathLst>
                <a:path h="914400" w="4754880">
                  <a:moveTo>
                    <a:pt x="0" y="109728"/>
                  </a:moveTo>
                  <a:cubicBezTo>
                    <a:pt x="0" y="49149"/>
                    <a:pt x="49149" y="0"/>
                    <a:pt x="109728" y="0"/>
                  </a:cubicBezTo>
                  <a:lnTo>
                    <a:pt x="4645152" y="0"/>
                  </a:lnTo>
                  <a:cubicBezTo>
                    <a:pt x="4705731" y="0"/>
                    <a:pt x="4754880" y="49149"/>
                    <a:pt x="4754880" y="109728"/>
                  </a:cubicBezTo>
                  <a:lnTo>
                    <a:pt x="4754880" y="804672"/>
                  </a:lnTo>
                  <a:cubicBezTo>
                    <a:pt x="4754880" y="865251"/>
                    <a:pt x="4705731" y="914400"/>
                    <a:pt x="4645152" y="914400"/>
                  </a:cubicBezTo>
                  <a:lnTo>
                    <a:pt x="109728" y="914400"/>
                  </a:lnTo>
                  <a:cubicBezTo>
                    <a:pt x="49149" y="914400"/>
                    <a:pt x="0" y="865251"/>
                    <a:pt x="0" y="804672"/>
                  </a:cubicBezTo>
                  <a:close/>
                </a:path>
              </a:pathLst>
            </a:custGeom>
            <a:solidFill>
              <a:srgbClr val="1B1F3B"/>
            </a:solidFill>
          </p:spPr>
        </p:sp>
      </p:grpSp>
      <p:grpSp>
        <p:nvGrpSpPr>
          <p:cNvPr name="Group 54" id="54"/>
          <p:cNvGrpSpPr/>
          <p:nvPr/>
        </p:nvGrpSpPr>
        <p:grpSpPr>
          <a:xfrm rot="0">
            <a:off x="13784580" y="3086100"/>
            <a:ext cx="3566160" cy="685800"/>
            <a:chOff x="0" y="0"/>
            <a:chExt cx="4754880" cy="914400"/>
          </a:xfrm>
        </p:grpSpPr>
        <p:sp>
          <p:nvSpPr>
            <p:cNvPr name="Freeform 55" id="55"/>
            <p:cNvSpPr/>
            <p:nvPr/>
          </p:nvSpPr>
          <p:spPr>
            <a:xfrm flipH="false" flipV="false" rot="0">
              <a:off x="0" y="0"/>
              <a:ext cx="4754880" cy="914400"/>
            </a:xfrm>
            <a:custGeom>
              <a:avLst/>
              <a:gdLst/>
              <a:ahLst/>
              <a:cxnLst/>
              <a:rect r="r" b="b" t="t" l="l"/>
              <a:pathLst>
                <a:path h="914400" w="4754880">
                  <a:moveTo>
                    <a:pt x="0" y="0"/>
                  </a:moveTo>
                  <a:lnTo>
                    <a:pt x="4754880" y="0"/>
                  </a:lnTo>
                  <a:lnTo>
                    <a:pt x="4754880" y="914400"/>
                  </a:lnTo>
                  <a:lnTo>
                    <a:pt x="0" y="914400"/>
                  </a:lnTo>
                  <a:close/>
                </a:path>
              </a:pathLst>
            </a:custGeom>
            <a:blipFill>
              <a:blip r:embed="rId3">
                <a:alphaModFix amt="0"/>
              </a:blip>
              <a:stretch>
                <a:fillRect l="0" t="-51322" r="0" b="-51322"/>
              </a:stretch>
            </a:blipFill>
          </p:spPr>
        </p:sp>
        <p:sp>
          <p:nvSpPr>
            <p:cNvPr name="TextBox 56" id="56"/>
            <p:cNvSpPr txBox="true"/>
            <p:nvPr/>
          </p:nvSpPr>
          <p:spPr>
            <a:xfrm>
              <a:off x="0" y="-9525"/>
              <a:ext cx="4754880" cy="923925"/>
            </a:xfrm>
            <a:prstGeom prst="rect">
              <a:avLst/>
            </a:prstGeom>
          </p:spPr>
          <p:txBody>
            <a:bodyPr anchor="ctr" rtlCol="false" tIns="0" lIns="0" bIns="0" rIns="0"/>
            <a:lstStyle/>
            <a:p>
              <a:pPr algn="ctr">
                <a:lnSpc>
                  <a:spcPts val="1889"/>
                </a:lnSpc>
              </a:pPr>
              <a:r>
                <a:rPr lang="en-US" sz="1575">
                  <a:solidFill>
                    <a:srgbClr val="8FE3C0"/>
                  </a:solidFill>
                  <a:latin typeface="Courier New"/>
                  <a:ea typeface="Courier New"/>
                  <a:cs typeface="Courier New"/>
                  <a:sym typeface="Courier New"/>
                </a:rPr>
                <a:t>name[0]</a:t>
              </a:r>
            </a:p>
          </p:txBody>
        </p:sp>
      </p:grpSp>
      <p:grpSp>
        <p:nvGrpSpPr>
          <p:cNvPr name="Group 57" id="57"/>
          <p:cNvGrpSpPr/>
          <p:nvPr/>
        </p:nvGrpSpPr>
        <p:grpSpPr>
          <a:xfrm rot="0">
            <a:off x="13825728" y="3909060"/>
            <a:ext cx="3483864" cy="754380"/>
            <a:chOff x="0" y="0"/>
            <a:chExt cx="4645152" cy="1005840"/>
          </a:xfrm>
        </p:grpSpPr>
        <p:sp>
          <p:nvSpPr>
            <p:cNvPr name="Freeform 58" id="58"/>
            <p:cNvSpPr/>
            <p:nvPr/>
          </p:nvSpPr>
          <p:spPr>
            <a:xfrm flipH="false" flipV="false" rot="0">
              <a:off x="0" y="0"/>
              <a:ext cx="4645152" cy="1005840"/>
            </a:xfrm>
            <a:custGeom>
              <a:avLst/>
              <a:gdLst/>
              <a:ahLst/>
              <a:cxnLst/>
              <a:rect r="r" b="b" t="t" l="l"/>
              <a:pathLst>
                <a:path h="1005840" w="4645152">
                  <a:moveTo>
                    <a:pt x="0" y="0"/>
                  </a:moveTo>
                  <a:lnTo>
                    <a:pt x="4645152" y="0"/>
                  </a:lnTo>
                  <a:lnTo>
                    <a:pt x="4645152" y="1005840"/>
                  </a:lnTo>
                  <a:lnTo>
                    <a:pt x="0" y="1005840"/>
                  </a:lnTo>
                  <a:close/>
                </a:path>
              </a:pathLst>
            </a:custGeom>
            <a:blipFill>
              <a:blip r:embed="rId3">
                <a:alphaModFix amt="0"/>
              </a:blip>
              <a:stretch>
                <a:fillRect l="0" t="-39985" r="0" b="-39985"/>
              </a:stretch>
            </a:blipFill>
          </p:spPr>
        </p:sp>
        <p:sp>
          <p:nvSpPr>
            <p:cNvPr name="TextBox 59" id="59"/>
            <p:cNvSpPr txBox="true"/>
            <p:nvPr/>
          </p:nvSpPr>
          <p:spPr>
            <a:xfrm>
              <a:off x="0" y="-66675"/>
              <a:ext cx="4645152" cy="1072515"/>
            </a:xfrm>
            <a:prstGeom prst="rect">
              <a:avLst/>
            </a:prstGeom>
          </p:spPr>
          <p:txBody>
            <a:bodyPr anchor="ctr" rtlCol="false" tIns="0" lIns="0" bIns="0" rIns="0"/>
            <a:lstStyle/>
            <a:p>
              <a:pPr algn="l">
                <a:lnSpc>
                  <a:spcPts val="2483"/>
                </a:lnSpc>
              </a:pPr>
              <a:r>
                <a:rPr lang="en-US" sz="1799">
                  <a:solidFill>
                    <a:srgbClr val="000000"/>
                  </a:solidFill>
                  <a:latin typeface="Calibri (MS)"/>
                  <a:ea typeface="Calibri (MS)"/>
                  <a:cs typeface="Calibri (MS)"/>
                  <a:sym typeface="Calibri (MS)"/>
                </a:rPr>
                <a:t>Grabs one character by position</a:t>
              </a:r>
            </a:p>
          </p:txBody>
        </p:sp>
      </p:grpSp>
      <p:grpSp>
        <p:nvGrpSpPr>
          <p:cNvPr name="Group 60" id="60"/>
          <p:cNvGrpSpPr/>
          <p:nvPr/>
        </p:nvGrpSpPr>
        <p:grpSpPr>
          <a:xfrm rot="0">
            <a:off x="822960" y="5143500"/>
            <a:ext cx="8092440" cy="2880360"/>
            <a:chOff x="0" y="0"/>
            <a:chExt cx="10789920" cy="3840480"/>
          </a:xfrm>
        </p:grpSpPr>
        <p:sp>
          <p:nvSpPr>
            <p:cNvPr name="Freeform 61" id="61"/>
            <p:cNvSpPr/>
            <p:nvPr/>
          </p:nvSpPr>
          <p:spPr>
            <a:xfrm flipH="false" flipV="false" rot="0">
              <a:off x="0" y="0"/>
              <a:ext cx="10789920" cy="3840480"/>
            </a:xfrm>
            <a:custGeom>
              <a:avLst/>
              <a:gdLst/>
              <a:ahLst/>
              <a:cxnLst/>
              <a:rect r="r" b="b" t="t" l="l"/>
              <a:pathLst>
                <a:path h="3840480" w="10789920">
                  <a:moveTo>
                    <a:pt x="0" y="146304"/>
                  </a:moveTo>
                  <a:cubicBezTo>
                    <a:pt x="0" y="65532"/>
                    <a:pt x="65532" y="0"/>
                    <a:pt x="146304" y="0"/>
                  </a:cubicBezTo>
                  <a:lnTo>
                    <a:pt x="10643616" y="0"/>
                  </a:lnTo>
                  <a:cubicBezTo>
                    <a:pt x="10724388" y="0"/>
                    <a:pt x="10789920" y="65532"/>
                    <a:pt x="10789920" y="146304"/>
                  </a:cubicBezTo>
                  <a:lnTo>
                    <a:pt x="10789920" y="3694176"/>
                  </a:lnTo>
                  <a:cubicBezTo>
                    <a:pt x="10789920" y="3774948"/>
                    <a:pt x="10724388" y="3840480"/>
                    <a:pt x="10643616" y="3840480"/>
                  </a:cubicBezTo>
                  <a:lnTo>
                    <a:pt x="146304" y="3840480"/>
                  </a:lnTo>
                  <a:cubicBezTo>
                    <a:pt x="65532" y="3840480"/>
                    <a:pt x="0" y="3774948"/>
                    <a:pt x="0" y="3694176"/>
                  </a:cubicBezTo>
                  <a:close/>
                </a:path>
              </a:pathLst>
            </a:custGeom>
            <a:solidFill>
              <a:srgbClr val="1B1F3B"/>
            </a:solidFill>
          </p:spPr>
        </p:sp>
      </p:grpSp>
      <p:grpSp>
        <p:nvGrpSpPr>
          <p:cNvPr name="Group 62" id="62"/>
          <p:cNvGrpSpPr/>
          <p:nvPr/>
        </p:nvGrpSpPr>
        <p:grpSpPr>
          <a:xfrm rot="0">
            <a:off x="1124712" y="5308092"/>
            <a:ext cx="7406640" cy="356616"/>
            <a:chOff x="0" y="0"/>
            <a:chExt cx="9875520" cy="475488"/>
          </a:xfrm>
        </p:grpSpPr>
        <p:sp>
          <p:nvSpPr>
            <p:cNvPr name="Freeform 63" id="63"/>
            <p:cNvSpPr/>
            <p:nvPr/>
          </p:nvSpPr>
          <p:spPr>
            <a:xfrm flipH="false" flipV="false" rot="0">
              <a:off x="0" y="0"/>
              <a:ext cx="9875520" cy="475488"/>
            </a:xfrm>
            <a:custGeom>
              <a:avLst/>
              <a:gdLst/>
              <a:ahLst/>
              <a:cxnLst/>
              <a:rect r="r" b="b" t="t" l="l"/>
              <a:pathLst>
                <a:path h="475488" w="9875520">
                  <a:moveTo>
                    <a:pt x="0" y="0"/>
                  </a:moveTo>
                  <a:lnTo>
                    <a:pt x="9875520" y="0"/>
                  </a:lnTo>
                  <a:lnTo>
                    <a:pt x="9875520" y="475488"/>
                  </a:lnTo>
                  <a:lnTo>
                    <a:pt x="0" y="475488"/>
                  </a:lnTo>
                  <a:close/>
                </a:path>
              </a:pathLst>
            </a:custGeom>
            <a:blipFill>
              <a:blip r:embed="rId3">
                <a:alphaModFix amt="0"/>
              </a:blip>
              <a:stretch>
                <a:fillRect l="0" t="-354689" r="0" b="-354689"/>
              </a:stretch>
            </a:blipFill>
          </p:spPr>
        </p:sp>
        <p:sp>
          <p:nvSpPr>
            <p:cNvPr name="TextBox 64" id="64"/>
            <p:cNvSpPr txBox="true"/>
            <p:nvPr/>
          </p:nvSpPr>
          <p:spPr>
            <a:xfrm>
              <a:off x="0" y="-38100"/>
              <a:ext cx="987552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F-STRINGS — FORMATTING TEXT</a:t>
              </a:r>
            </a:p>
          </p:txBody>
        </p:sp>
      </p:grpSp>
      <p:sp>
        <p:nvSpPr>
          <p:cNvPr name="TextBox 65" id="65"/>
          <p:cNvSpPr txBox="true"/>
          <p:nvPr/>
        </p:nvSpPr>
        <p:spPr>
          <a:xfrm rot="0">
            <a:off x="1152144" y="5791200"/>
            <a:ext cx="7434072" cy="2013204"/>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name = </a:t>
            </a:r>
            <a:r>
              <a:rPr lang="en-US" sz="1950">
                <a:solidFill>
                  <a:srgbClr val="8FE3C0"/>
                </a:solidFill>
                <a:latin typeface="Courier New"/>
                <a:ea typeface="Courier New"/>
                <a:cs typeface="Courier New"/>
                <a:sym typeface="Courier New"/>
              </a:rPr>
              <a:t>“Alex"</a:t>
            </a:r>
          </a:p>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(f</a:t>
            </a:r>
            <a:r>
              <a:rPr lang="en-US" sz="1950">
                <a:solidFill>
                  <a:srgbClr val="8FE3C0"/>
                </a:solidFill>
                <a:latin typeface="Courier New"/>
                <a:ea typeface="Courier New"/>
                <a:cs typeface="Courier New"/>
                <a:sym typeface="Courier New"/>
              </a:rPr>
              <a:t>"Welcome, {name}!"</a:t>
            </a:r>
            <a:r>
              <a:rPr lang="en-US" sz="1950">
                <a:solidFill>
                  <a:srgbClr val="E9ECF7"/>
                </a:solidFill>
                <a:latin typeface="Courier New"/>
                <a:ea typeface="Courier New"/>
                <a:cs typeface="Courier New"/>
                <a:sym typeface="Courier New"/>
              </a:rPr>
              <a:t>)</a:t>
            </a:r>
          </a:p>
          <a:p>
            <a:pPr algn="l">
              <a:lnSpc>
                <a:spcPts val="2690"/>
              </a:lnSpc>
            </a:pPr>
          </a:p>
          <a:p>
            <a:pPr algn="l">
              <a:lnSpc>
                <a:spcPts val="2690"/>
              </a:lnSpc>
            </a:pPr>
            <a:r>
              <a:rPr lang="en-US" sz="1950">
                <a:solidFill>
                  <a:srgbClr val="8A93B8"/>
                </a:solidFill>
                <a:latin typeface="Courier New"/>
                <a:ea typeface="Courier New"/>
                <a:cs typeface="Courier New"/>
                <a:sym typeface="Courier New"/>
              </a:rPr>
              <a:t># Output:</a:t>
            </a:r>
          </a:p>
          <a:p>
            <a:pPr algn="l">
              <a:lnSpc>
                <a:spcPts val="2690"/>
              </a:lnSpc>
            </a:pPr>
            <a:r>
              <a:rPr lang="en-US" sz="1950">
                <a:solidFill>
                  <a:srgbClr val="8A93B8"/>
                </a:solidFill>
                <a:latin typeface="Courier New"/>
                <a:ea typeface="Courier New"/>
                <a:cs typeface="Courier New"/>
                <a:sym typeface="Courier New"/>
              </a:rPr>
              <a:t># Welcome, Alex!</a:t>
            </a:r>
          </a:p>
        </p:txBody>
      </p:sp>
      <p:grpSp>
        <p:nvGrpSpPr>
          <p:cNvPr name="Group 66" id="66"/>
          <p:cNvGrpSpPr/>
          <p:nvPr/>
        </p:nvGrpSpPr>
        <p:grpSpPr>
          <a:xfrm rot="0">
            <a:off x="9385935" y="5133975"/>
            <a:ext cx="8042910" cy="2899410"/>
            <a:chOff x="0" y="0"/>
            <a:chExt cx="10723880" cy="3865880"/>
          </a:xfrm>
        </p:grpSpPr>
        <p:sp>
          <p:nvSpPr>
            <p:cNvPr name="Freeform 67" id="67"/>
            <p:cNvSpPr/>
            <p:nvPr/>
          </p:nvSpPr>
          <p:spPr>
            <a:xfrm flipH="false" flipV="false" rot="0">
              <a:off x="0" y="0"/>
              <a:ext cx="10723880" cy="3865880"/>
            </a:xfrm>
            <a:custGeom>
              <a:avLst/>
              <a:gdLst/>
              <a:ahLst/>
              <a:cxnLst/>
              <a:rect r="r" b="b" t="t" l="l"/>
              <a:pathLst>
                <a:path h="3865880" w="10723880">
                  <a:moveTo>
                    <a:pt x="0" y="184150"/>
                  </a:moveTo>
                  <a:cubicBezTo>
                    <a:pt x="0" y="82423"/>
                    <a:pt x="82423" y="0"/>
                    <a:pt x="184150" y="0"/>
                  </a:cubicBezTo>
                  <a:lnTo>
                    <a:pt x="10539730" y="0"/>
                  </a:lnTo>
                  <a:cubicBezTo>
                    <a:pt x="10641457" y="0"/>
                    <a:pt x="10723880" y="82423"/>
                    <a:pt x="10723880" y="184150"/>
                  </a:cubicBezTo>
                  <a:lnTo>
                    <a:pt x="10723880" y="3681730"/>
                  </a:lnTo>
                  <a:cubicBezTo>
                    <a:pt x="10723880" y="3783457"/>
                    <a:pt x="10641457" y="3865880"/>
                    <a:pt x="10539730" y="3865880"/>
                  </a:cubicBezTo>
                  <a:lnTo>
                    <a:pt x="184150" y="3865880"/>
                  </a:lnTo>
                  <a:cubicBezTo>
                    <a:pt x="82423" y="3865880"/>
                    <a:pt x="0" y="3783457"/>
                    <a:pt x="0" y="3681730"/>
                  </a:cubicBezTo>
                  <a:close/>
                </a:path>
              </a:pathLst>
            </a:custGeom>
            <a:solidFill>
              <a:srgbClr val="FFFFFF"/>
            </a:solidFill>
            <a:ln w="19050" cap="sq">
              <a:solidFill>
                <a:srgbClr val="ECEEF7"/>
              </a:solidFill>
              <a:prstDash val="solid"/>
              <a:miter/>
            </a:ln>
          </p:spPr>
        </p:sp>
      </p:grpSp>
      <p:grpSp>
        <p:nvGrpSpPr>
          <p:cNvPr name="Group 68" id="68"/>
          <p:cNvGrpSpPr/>
          <p:nvPr/>
        </p:nvGrpSpPr>
        <p:grpSpPr>
          <a:xfrm rot="0">
            <a:off x="9738360" y="5376672"/>
            <a:ext cx="7269480" cy="411480"/>
            <a:chOff x="0" y="0"/>
            <a:chExt cx="9692640" cy="548640"/>
          </a:xfrm>
        </p:grpSpPr>
        <p:sp>
          <p:nvSpPr>
            <p:cNvPr name="Freeform 69" id="69"/>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70" id="70"/>
            <p:cNvSpPr txBox="true"/>
            <p:nvPr/>
          </p:nvSpPr>
          <p:spPr>
            <a:xfrm>
              <a:off x="0" y="-38100"/>
              <a:ext cx="9692640" cy="586740"/>
            </a:xfrm>
            <a:prstGeom prst="rect">
              <a:avLst/>
            </a:prstGeom>
          </p:spPr>
          <p:txBody>
            <a:bodyPr anchor="ctr" rtlCol="false" tIns="0" lIns="0" bIns="0" rIns="0"/>
            <a:lstStyle/>
            <a:p>
              <a:pPr algn="l">
                <a:lnSpc>
                  <a:spcPts val="2160"/>
                </a:lnSpc>
              </a:pPr>
              <a:r>
                <a:rPr lang="en-US" sz="1800" b="true">
                  <a:solidFill>
                    <a:srgbClr val="1B1F3B"/>
                  </a:solidFill>
                  <a:latin typeface="Calibri (MS) Bold"/>
                  <a:ea typeface="Calibri (MS) Bold"/>
                  <a:cs typeface="Calibri (MS) Bold"/>
                  <a:sym typeface="Calibri (MS) Bold"/>
                </a:rPr>
                <a:t>Everyday examples</a:t>
              </a:r>
            </a:p>
          </p:txBody>
        </p:sp>
      </p:grpSp>
      <p:sp>
        <p:nvSpPr>
          <p:cNvPr name="TextBox 71" id="71"/>
          <p:cNvSpPr txBox="true"/>
          <p:nvPr/>
        </p:nvSpPr>
        <p:spPr>
          <a:xfrm rot="0">
            <a:off x="9738360" y="5821680"/>
            <a:ext cx="7690485" cy="1377114"/>
          </a:xfrm>
          <a:prstGeom prst="rect">
            <a:avLst/>
          </a:prstGeom>
        </p:spPr>
        <p:txBody>
          <a:bodyPr anchor="t" rtlCol="false" tIns="0" lIns="0" bIns="0" rIns="0">
            <a:spAutoFit/>
          </a:bodyPr>
          <a:lstStyle/>
          <a:p>
            <a:pPr algn="l" marL="336657" indent="-168329" lvl="1">
              <a:lnSpc>
                <a:spcPts val="2678"/>
              </a:lnSpc>
              <a:buFont typeface="Arial"/>
              <a:buChar char="•"/>
            </a:pPr>
            <a:r>
              <a:rPr lang="en-US" sz="1860">
                <a:solidFill>
                  <a:srgbClr val="1B1F3B"/>
                </a:solidFill>
                <a:latin typeface="Calibri (MS)"/>
                <a:ea typeface="Calibri (MS)"/>
                <a:cs typeface="Calibri (MS)"/>
                <a:sym typeface="Calibri (MS)"/>
              </a:rPr>
              <a:t>Building a personalized notification:</a:t>
            </a:r>
          </a:p>
          <a:p>
            <a:pPr algn="l" marL="336657" indent="-168329" lvl="1">
              <a:lnSpc>
                <a:spcPts val="2678"/>
              </a:lnSpc>
            </a:pPr>
            <a:r>
              <a:rPr lang="en-US" b="true" sz="1860">
                <a:solidFill>
                  <a:srgbClr val="4FB6B0"/>
                </a:solidFill>
                <a:latin typeface="Courier New Bold"/>
                <a:ea typeface="Courier New Bold"/>
                <a:cs typeface="Courier New Bold"/>
                <a:sym typeface="Courier New Bold"/>
              </a:rPr>
              <a:t>f"{user} liked your post"</a:t>
            </a:r>
          </a:p>
          <a:p>
            <a:pPr algn="l" marL="336657" indent="-168329" lvl="1">
              <a:lnSpc>
                <a:spcPts val="2678"/>
              </a:lnSpc>
              <a:buFont typeface="Arial"/>
              <a:buChar char="•"/>
            </a:pPr>
            <a:r>
              <a:rPr lang="en-US" sz="1860">
                <a:solidFill>
                  <a:srgbClr val="1B1F3B"/>
                </a:solidFill>
                <a:latin typeface="Calibri (MS)"/>
                <a:ea typeface="Calibri (MS)"/>
                <a:cs typeface="Calibri (MS)"/>
                <a:sym typeface="Calibri (MS)"/>
              </a:rPr>
              <a:t>Checking a username's length before allowing signup</a:t>
            </a:r>
          </a:p>
          <a:p>
            <a:pPr algn="l" marL="336657" indent="-168329" lvl="1">
              <a:lnSpc>
                <a:spcPts val="2678"/>
              </a:lnSpc>
              <a:buFont typeface="Arial"/>
              <a:buChar char="•"/>
            </a:pPr>
            <a:r>
              <a:rPr lang="en-US" sz="1860">
                <a:solidFill>
                  <a:srgbClr val="1B1F3B"/>
                </a:solidFill>
                <a:latin typeface="Calibri (MS)"/>
                <a:ea typeface="Calibri (MS)"/>
                <a:cs typeface="Calibri (MS)"/>
                <a:sym typeface="Calibri (MS)"/>
              </a:rPr>
              <a:t>Formatting a chatbot's reply before showing it on screen</a:t>
            </a:r>
          </a:p>
        </p:txBody>
      </p:sp>
      <p:grpSp>
        <p:nvGrpSpPr>
          <p:cNvPr name="Group 72" id="72"/>
          <p:cNvGrpSpPr/>
          <p:nvPr/>
        </p:nvGrpSpPr>
        <p:grpSpPr>
          <a:xfrm rot="0">
            <a:off x="822960" y="8229600"/>
            <a:ext cx="16596360" cy="1165860"/>
            <a:chOff x="0" y="0"/>
            <a:chExt cx="22128480" cy="1554480"/>
          </a:xfrm>
        </p:grpSpPr>
        <p:sp>
          <p:nvSpPr>
            <p:cNvPr name="Freeform 73" id="73"/>
            <p:cNvSpPr/>
            <p:nvPr/>
          </p:nvSpPr>
          <p:spPr>
            <a:xfrm flipH="false" flipV="false" rot="0">
              <a:off x="0" y="0"/>
              <a:ext cx="22128480" cy="1554480"/>
            </a:xfrm>
            <a:custGeom>
              <a:avLst/>
              <a:gdLst/>
              <a:ahLst/>
              <a:cxnLst/>
              <a:rect r="r" b="b" t="t" l="l"/>
              <a:pathLst>
                <a:path h="1554480" w="22128480">
                  <a:moveTo>
                    <a:pt x="0" y="182880"/>
                  </a:moveTo>
                  <a:cubicBezTo>
                    <a:pt x="0" y="81915"/>
                    <a:pt x="81915" y="0"/>
                    <a:pt x="182880" y="0"/>
                  </a:cubicBezTo>
                  <a:lnTo>
                    <a:pt x="21945600" y="0"/>
                  </a:lnTo>
                  <a:cubicBezTo>
                    <a:pt x="22046564" y="0"/>
                    <a:pt x="22128480" y="81915"/>
                    <a:pt x="22128480" y="182880"/>
                  </a:cubicBezTo>
                  <a:lnTo>
                    <a:pt x="22128480" y="1371600"/>
                  </a:lnTo>
                  <a:cubicBezTo>
                    <a:pt x="22128480" y="1472565"/>
                    <a:pt x="22046564" y="1554480"/>
                    <a:pt x="21945600" y="1554480"/>
                  </a:cubicBezTo>
                  <a:lnTo>
                    <a:pt x="182880" y="1554480"/>
                  </a:lnTo>
                  <a:cubicBezTo>
                    <a:pt x="81915" y="1554480"/>
                    <a:pt x="0" y="1472565"/>
                    <a:pt x="0" y="1371600"/>
                  </a:cubicBezTo>
                  <a:close/>
                </a:path>
              </a:pathLst>
            </a:custGeom>
            <a:solidFill>
              <a:srgbClr val="1B1F3B"/>
            </a:solidFill>
          </p:spPr>
        </p:sp>
      </p:grpSp>
      <p:grpSp>
        <p:nvGrpSpPr>
          <p:cNvPr name="Group 74" id="74"/>
          <p:cNvGrpSpPr/>
          <p:nvPr/>
        </p:nvGrpSpPr>
        <p:grpSpPr>
          <a:xfrm rot="0">
            <a:off x="1207008" y="8449056"/>
            <a:ext cx="15828264" cy="411480"/>
            <a:chOff x="0" y="0"/>
            <a:chExt cx="21104352" cy="548640"/>
          </a:xfrm>
        </p:grpSpPr>
        <p:sp>
          <p:nvSpPr>
            <p:cNvPr name="Freeform 75" id="75"/>
            <p:cNvSpPr/>
            <p:nvPr/>
          </p:nvSpPr>
          <p:spPr>
            <a:xfrm flipH="false" flipV="false" rot="0">
              <a:off x="0" y="0"/>
              <a:ext cx="21104352" cy="548640"/>
            </a:xfrm>
            <a:custGeom>
              <a:avLst/>
              <a:gdLst/>
              <a:ahLst/>
              <a:cxnLst/>
              <a:rect r="r" b="b" t="t" l="l"/>
              <a:pathLst>
                <a:path h="548640" w="21104352">
                  <a:moveTo>
                    <a:pt x="0" y="0"/>
                  </a:moveTo>
                  <a:lnTo>
                    <a:pt x="21104352" y="0"/>
                  </a:lnTo>
                  <a:lnTo>
                    <a:pt x="21104352" y="548640"/>
                  </a:lnTo>
                  <a:lnTo>
                    <a:pt x="0" y="548640"/>
                  </a:lnTo>
                  <a:close/>
                </a:path>
              </a:pathLst>
            </a:custGeom>
            <a:blipFill>
              <a:blip r:embed="rId3">
                <a:alphaModFix amt="0"/>
              </a:blip>
              <a:stretch>
                <a:fillRect l="0" t="-699524" r="0" b="-699524"/>
              </a:stretch>
            </a:blipFill>
          </p:spPr>
        </p:sp>
        <p:sp>
          <p:nvSpPr>
            <p:cNvPr name="TextBox 76" id="76"/>
            <p:cNvSpPr txBox="true"/>
            <p:nvPr/>
          </p:nvSpPr>
          <p:spPr>
            <a:xfrm>
              <a:off x="0" y="-28575"/>
              <a:ext cx="21104352" cy="577215"/>
            </a:xfrm>
            <a:prstGeom prst="rect">
              <a:avLst/>
            </a:prstGeom>
          </p:spPr>
          <p:txBody>
            <a:bodyPr anchor="ctr" rtlCol="false" tIns="0" lIns="0" bIns="0" rIns="0"/>
            <a:lstStyle/>
            <a:p>
              <a:pPr algn="l">
                <a:lnSpc>
                  <a:spcPts val="1980"/>
                </a:lnSpc>
              </a:pPr>
              <a:r>
                <a:rPr lang="en-US" b="true" sz="1650" spc="225">
                  <a:solidFill>
                    <a:srgbClr val="FFB84C"/>
                  </a:solidFill>
                  <a:latin typeface="Calibri (MS) Bold"/>
                  <a:ea typeface="Calibri (MS) Bold"/>
                  <a:cs typeface="Calibri (MS) Bold"/>
                  <a:sym typeface="Calibri (MS) Bold"/>
                </a:rPr>
                <a:t>SPOT THE PATTERN</a:t>
              </a:r>
            </a:p>
          </p:txBody>
        </p:sp>
      </p:grpSp>
      <p:sp>
        <p:nvSpPr>
          <p:cNvPr name="TextBox 77" id="77"/>
          <p:cNvSpPr txBox="true"/>
          <p:nvPr/>
        </p:nvSpPr>
        <p:spPr>
          <a:xfrm rot="0">
            <a:off x="1207008" y="8829675"/>
            <a:ext cx="15828264" cy="318897"/>
          </a:xfrm>
          <a:prstGeom prst="rect">
            <a:avLst/>
          </a:prstGeom>
        </p:spPr>
        <p:txBody>
          <a:bodyPr anchor="t" rtlCol="false" tIns="0" lIns="0" bIns="0" rIns="0">
            <a:spAutoFit/>
          </a:bodyPr>
          <a:lstStyle/>
          <a:p>
            <a:pPr algn="l">
              <a:lnSpc>
                <a:spcPts val="2916"/>
              </a:lnSpc>
            </a:pPr>
            <a:r>
              <a:rPr lang="en-US" sz="2025">
                <a:solidFill>
                  <a:srgbClr val="FFFFFF"/>
                </a:solidFill>
                <a:latin typeface="Calibri (MS)"/>
                <a:ea typeface="Calibri (MS)"/>
                <a:cs typeface="Calibri (MS)"/>
                <a:sym typeface="Calibri (MS)"/>
              </a:rPr>
              <a:t>If name = “alex", what does name.upper() give you? What does len(name) give you?</a:t>
            </a:r>
          </a:p>
        </p:txBody>
      </p:sp>
      <p:grpSp>
        <p:nvGrpSpPr>
          <p:cNvPr name="Group 78" id="78"/>
          <p:cNvGrpSpPr/>
          <p:nvPr/>
        </p:nvGrpSpPr>
        <p:grpSpPr>
          <a:xfrm rot="0">
            <a:off x="685800" y="9710928"/>
            <a:ext cx="10972800" cy="411480"/>
            <a:chOff x="0" y="0"/>
            <a:chExt cx="14630400" cy="548640"/>
          </a:xfrm>
        </p:grpSpPr>
        <p:sp>
          <p:nvSpPr>
            <p:cNvPr name="Freeform 79" id="79"/>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80" id="80"/>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81" id="81"/>
          <p:cNvGrpSpPr/>
          <p:nvPr/>
        </p:nvGrpSpPr>
        <p:grpSpPr>
          <a:xfrm rot="0">
            <a:off x="16915943" y="9710928"/>
            <a:ext cx="685800" cy="411480"/>
            <a:chOff x="0" y="0"/>
            <a:chExt cx="914400" cy="548640"/>
          </a:xfrm>
        </p:grpSpPr>
        <p:sp>
          <p:nvSpPr>
            <p:cNvPr name="Freeform 82" id="82"/>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83" id="83"/>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CHANGING DATA TYPES</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Type conversion</a:t>
              </a:r>
            </a:p>
          </p:txBody>
        </p:sp>
      </p:grpSp>
      <p:grpSp>
        <p:nvGrpSpPr>
          <p:cNvPr name="Group 8" id="8"/>
          <p:cNvGrpSpPr/>
          <p:nvPr/>
        </p:nvGrpSpPr>
        <p:grpSpPr>
          <a:xfrm rot="0">
            <a:off x="552269" y="2459355"/>
            <a:ext cx="8111490" cy="2556510"/>
            <a:chOff x="0" y="0"/>
            <a:chExt cx="10815320" cy="3408680"/>
          </a:xfrm>
        </p:grpSpPr>
        <p:sp>
          <p:nvSpPr>
            <p:cNvPr name="Freeform 9" id="9"/>
            <p:cNvSpPr/>
            <p:nvPr/>
          </p:nvSpPr>
          <p:spPr>
            <a:xfrm flipH="false" flipV="false" rot="0">
              <a:off x="0" y="0"/>
              <a:ext cx="10815320" cy="3408680"/>
            </a:xfrm>
            <a:custGeom>
              <a:avLst/>
              <a:gdLst/>
              <a:ahLst/>
              <a:cxnLst/>
              <a:rect r="r" b="b" t="t" l="l"/>
              <a:pathLst>
                <a:path h="3408680" w="10815320">
                  <a:moveTo>
                    <a:pt x="0" y="184277"/>
                  </a:moveTo>
                  <a:cubicBezTo>
                    <a:pt x="0" y="82550"/>
                    <a:pt x="82550" y="0"/>
                    <a:pt x="184277" y="0"/>
                  </a:cubicBezTo>
                  <a:lnTo>
                    <a:pt x="10631043" y="0"/>
                  </a:lnTo>
                  <a:cubicBezTo>
                    <a:pt x="10732770" y="0"/>
                    <a:pt x="10815320" y="82550"/>
                    <a:pt x="10815320" y="184277"/>
                  </a:cubicBezTo>
                  <a:lnTo>
                    <a:pt x="10815320" y="3224403"/>
                  </a:lnTo>
                  <a:cubicBezTo>
                    <a:pt x="10815320" y="3326130"/>
                    <a:pt x="10732770" y="3408680"/>
                    <a:pt x="10631043" y="3408680"/>
                  </a:cubicBezTo>
                  <a:lnTo>
                    <a:pt x="184277" y="3408680"/>
                  </a:lnTo>
                  <a:cubicBezTo>
                    <a:pt x="82550" y="3408680"/>
                    <a:pt x="0" y="3326130"/>
                    <a:pt x="0" y="3224403"/>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124712" y="2606040"/>
            <a:ext cx="685800" cy="192024"/>
            <a:chOff x="0" y="0"/>
            <a:chExt cx="914400" cy="256032"/>
          </a:xfrm>
        </p:grpSpPr>
        <p:sp>
          <p:nvSpPr>
            <p:cNvPr name="Freeform 11" id="11"/>
            <p:cNvSpPr/>
            <p:nvPr/>
          </p:nvSpPr>
          <p:spPr>
            <a:xfrm flipH="false" flipV="false" rot="0">
              <a:off x="0" y="0"/>
              <a:ext cx="914400" cy="256032"/>
            </a:xfrm>
            <a:custGeom>
              <a:avLst/>
              <a:gdLst/>
              <a:ahLst/>
              <a:cxnLst/>
              <a:rect r="r" b="b" t="t" l="l"/>
              <a:pathLst>
                <a:path h="256032" w="914400">
                  <a:moveTo>
                    <a:pt x="0" y="128016"/>
                  </a:moveTo>
                  <a:cubicBezTo>
                    <a:pt x="0" y="57277"/>
                    <a:pt x="57277" y="0"/>
                    <a:pt x="128016" y="0"/>
                  </a:cubicBezTo>
                  <a:lnTo>
                    <a:pt x="786384" y="0"/>
                  </a:lnTo>
                  <a:cubicBezTo>
                    <a:pt x="857123" y="0"/>
                    <a:pt x="914400" y="57277"/>
                    <a:pt x="914400" y="128016"/>
                  </a:cubicBezTo>
                  <a:cubicBezTo>
                    <a:pt x="914400" y="198755"/>
                    <a:pt x="857123" y="256032"/>
                    <a:pt x="786384" y="256032"/>
                  </a:cubicBezTo>
                  <a:lnTo>
                    <a:pt x="128016" y="256032"/>
                  </a:lnTo>
                  <a:cubicBezTo>
                    <a:pt x="57277" y="256032"/>
                    <a:pt x="0" y="198755"/>
                    <a:pt x="0" y="128016"/>
                  </a:cubicBezTo>
                  <a:close/>
                </a:path>
              </a:pathLst>
            </a:custGeom>
            <a:solidFill>
              <a:srgbClr val="FFB84C"/>
            </a:solidFill>
          </p:spPr>
        </p:sp>
      </p:grpSp>
      <p:grpSp>
        <p:nvGrpSpPr>
          <p:cNvPr name="Group 12" id="12"/>
          <p:cNvGrpSpPr/>
          <p:nvPr/>
        </p:nvGrpSpPr>
        <p:grpSpPr>
          <a:xfrm rot="0">
            <a:off x="1124712" y="2825496"/>
            <a:ext cx="7488936" cy="493776"/>
            <a:chOff x="0" y="0"/>
            <a:chExt cx="9985248" cy="658368"/>
          </a:xfrm>
        </p:grpSpPr>
        <p:sp>
          <p:nvSpPr>
            <p:cNvPr name="Freeform 13" id="13"/>
            <p:cNvSpPr/>
            <p:nvPr/>
          </p:nvSpPr>
          <p:spPr>
            <a:xfrm flipH="false" flipV="false" rot="0">
              <a:off x="0" y="0"/>
              <a:ext cx="9985248" cy="658368"/>
            </a:xfrm>
            <a:custGeom>
              <a:avLst/>
              <a:gdLst/>
              <a:ahLst/>
              <a:cxnLst/>
              <a:rect r="r" b="b" t="t" l="l"/>
              <a:pathLst>
                <a:path h="658368" w="9985248">
                  <a:moveTo>
                    <a:pt x="0" y="0"/>
                  </a:moveTo>
                  <a:lnTo>
                    <a:pt x="9985248" y="0"/>
                  </a:lnTo>
                  <a:lnTo>
                    <a:pt x="9985248" y="658368"/>
                  </a:lnTo>
                  <a:lnTo>
                    <a:pt x="0" y="658368"/>
                  </a:lnTo>
                  <a:close/>
                </a:path>
              </a:pathLst>
            </a:custGeom>
            <a:blipFill>
              <a:blip r:embed="rId3">
                <a:alphaModFix amt="0"/>
              </a:blip>
              <a:stretch>
                <a:fillRect l="0" t="-245523" r="0" b="-245523"/>
              </a:stretch>
            </a:blipFill>
          </p:spPr>
        </p:sp>
        <p:sp>
          <p:nvSpPr>
            <p:cNvPr name="TextBox 14" id="14"/>
            <p:cNvSpPr txBox="true"/>
            <p:nvPr/>
          </p:nvSpPr>
          <p:spPr>
            <a:xfrm>
              <a:off x="0" y="-57150"/>
              <a:ext cx="9985248" cy="715518"/>
            </a:xfrm>
            <a:prstGeom prst="rect">
              <a:avLst/>
            </a:prstGeom>
          </p:spPr>
          <p:txBody>
            <a:bodyPr anchor="ctr" rtlCol="false" tIns="0" lIns="0" bIns="0" rIns="0"/>
            <a:lstStyle/>
            <a:p>
              <a:pPr algn="l">
                <a:lnSpc>
                  <a:spcPts val="2700"/>
                </a:lnSpc>
              </a:pPr>
              <a:r>
                <a:rPr lang="en-US" b="true" sz="2250" spc="150">
                  <a:solidFill>
                    <a:srgbClr val="1B1F3B"/>
                  </a:solidFill>
                  <a:latin typeface="Calibri (MS) Bold"/>
                  <a:ea typeface="Calibri (MS) Bold"/>
                  <a:cs typeface="Calibri (MS) Bold"/>
                  <a:sym typeface="Calibri (MS) Bold"/>
                </a:rPr>
                <a:t>TYPE CONVERSION</a:t>
              </a:r>
            </a:p>
          </p:txBody>
        </p:sp>
      </p:grpSp>
      <p:sp>
        <p:nvSpPr>
          <p:cNvPr name="TextBox 15" id="15"/>
          <p:cNvSpPr txBox="true"/>
          <p:nvPr/>
        </p:nvSpPr>
        <p:spPr>
          <a:xfrm rot="0">
            <a:off x="1124712" y="3297936"/>
            <a:ext cx="7488936" cy="1596238"/>
          </a:xfrm>
          <a:prstGeom prst="rect">
            <a:avLst/>
          </a:prstGeom>
        </p:spPr>
        <p:txBody>
          <a:bodyPr anchor="t" rtlCol="false" tIns="0" lIns="0" bIns="0" rIns="0">
            <a:spAutoFit/>
          </a:bodyPr>
          <a:lstStyle/>
          <a:p>
            <a:pPr algn="l">
              <a:lnSpc>
                <a:spcPts val="3091"/>
              </a:lnSpc>
            </a:pPr>
            <a:r>
              <a:rPr lang="en-US" sz="2299" b="true">
                <a:solidFill>
                  <a:srgbClr val="1B1F3B"/>
                </a:solidFill>
                <a:latin typeface="Calibri (MS) Bold"/>
                <a:ea typeface="Calibri (MS) Bold"/>
                <a:cs typeface="Calibri (MS) Bold"/>
                <a:sym typeface="Calibri (MS) Bold"/>
              </a:rPr>
              <a:t>Definition:  </a:t>
            </a:r>
            <a:r>
              <a:rPr lang="en-US" sz="2299">
                <a:solidFill>
                  <a:srgbClr val="1B1F3B"/>
                </a:solidFill>
                <a:latin typeface="Calibri (MS)"/>
                <a:ea typeface="Calibri (MS)"/>
                <a:cs typeface="Calibri (MS)"/>
                <a:sym typeface="Calibri (MS)"/>
              </a:rPr>
              <a:t>Changing a value from one data type to another, using functions like int(), float(), str(), and bool().</a:t>
            </a:r>
          </a:p>
          <a:p>
            <a:pPr algn="l">
              <a:lnSpc>
                <a:spcPts val="3091"/>
              </a:lnSpc>
            </a:pPr>
          </a:p>
          <a:p>
            <a:pPr algn="l">
              <a:lnSpc>
                <a:spcPts val="3091"/>
              </a:lnSpc>
            </a:pPr>
          </a:p>
        </p:txBody>
      </p:sp>
      <p:sp>
        <p:nvSpPr>
          <p:cNvPr name="TextBox 16" id="16"/>
          <p:cNvSpPr txBox="true"/>
          <p:nvPr/>
        </p:nvSpPr>
        <p:spPr>
          <a:xfrm rot="0">
            <a:off x="1124712" y="3552063"/>
            <a:ext cx="7790688" cy="1387602"/>
          </a:xfrm>
          <a:prstGeom prst="rect">
            <a:avLst/>
          </a:prstGeom>
        </p:spPr>
        <p:txBody>
          <a:bodyPr anchor="t" rtlCol="false" tIns="0" lIns="0" bIns="0" rIns="0">
            <a:spAutoFit/>
          </a:bodyPr>
          <a:lstStyle/>
          <a:p>
            <a:pPr algn="l">
              <a:lnSpc>
                <a:spcPts val="3564"/>
              </a:lnSpc>
            </a:pPr>
          </a:p>
          <a:p>
            <a:pPr algn="l">
              <a:lnSpc>
                <a:spcPts val="3564"/>
              </a:lnSpc>
            </a:pPr>
            <a:r>
              <a:rPr lang="en-US" b="true" sz="2700" i="true">
                <a:solidFill>
                  <a:srgbClr val="4FB6B0"/>
                </a:solidFill>
                <a:latin typeface="Calibri (MS) Bold Italics"/>
                <a:ea typeface="Calibri (MS) Bold Italics"/>
                <a:cs typeface="Calibri (MS) Bold Italics"/>
                <a:sym typeface="Calibri (MS) Bold Italics"/>
              </a:rPr>
              <a:t>In plain words:  </a:t>
            </a:r>
            <a:r>
              <a:rPr lang="en-US" sz="2700" i="true">
                <a:solidFill>
                  <a:srgbClr val="000000"/>
                </a:solidFill>
                <a:latin typeface="Calibri (MS) Italics"/>
                <a:ea typeface="Calibri (MS) Italics"/>
                <a:cs typeface="Calibri (MS) Italics"/>
                <a:sym typeface="Calibri (MS) Italics"/>
              </a:rPr>
              <a:t>Relabeling a value so Python treats it the way you need.</a:t>
            </a:r>
          </a:p>
        </p:txBody>
      </p:sp>
      <p:grpSp>
        <p:nvGrpSpPr>
          <p:cNvPr name="Group 17" id="17"/>
          <p:cNvGrpSpPr/>
          <p:nvPr/>
        </p:nvGrpSpPr>
        <p:grpSpPr>
          <a:xfrm rot="0">
            <a:off x="1028700" y="4992624"/>
            <a:ext cx="8577058" cy="754380"/>
            <a:chOff x="0" y="0"/>
            <a:chExt cx="11436077" cy="1005840"/>
          </a:xfrm>
        </p:grpSpPr>
        <p:sp>
          <p:nvSpPr>
            <p:cNvPr name="Freeform 18" id="18"/>
            <p:cNvSpPr/>
            <p:nvPr/>
          </p:nvSpPr>
          <p:spPr>
            <a:xfrm flipH="false" flipV="false" rot="0">
              <a:off x="0" y="0"/>
              <a:ext cx="11436077" cy="1005840"/>
            </a:xfrm>
            <a:custGeom>
              <a:avLst/>
              <a:gdLst/>
              <a:ahLst/>
              <a:cxnLst/>
              <a:rect r="r" b="b" t="t" l="l"/>
              <a:pathLst>
                <a:path h="1005840" w="11436077">
                  <a:moveTo>
                    <a:pt x="0" y="0"/>
                  </a:moveTo>
                  <a:lnTo>
                    <a:pt x="11436077" y="0"/>
                  </a:lnTo>
                  <a:lnTo>
                    <a:pt x="11436077" y="1005840"/>
                  </a:lnTo>
                  <a:lnTo>
                    <a:pt x="0" y="1005840"/>
                  </a:lnTo>
                  <a:close/>
                </a:path>
              </a:pathLst>
            </a:custGeom>
            <a:blipFill>
              <a:blip r:embed="rId3">
                <a:alphaModFix amt="0"/>
              </a:blip>
              <a:stretch>
                <a:fillRect l="0" t="-159021" r="5650" b="-159021"/>
              </a:stretch>
            </a:blipFill>
          </p:spPr>
        </p:sp>
        <p:sp>
          <p:nvSpPr>
            <p:cNvPr name="TextBox 19" id="19"/>
            <p:cNvSpPr txBox="true"/>
            <p:nvPr/>
          </p:nvSpPr>
          <p:spPr>
            <a:xfrm>
              <a:off x="0" y="-85725"/>
              <a:ext cx="11436077" cy="1091565"/>
            </a:xfrm>
            <a:prstGeom prst="rect">
              <a:avLst/>
            </a:prstGeom>
          </p:spPr>
          <p:txBody>
            <a:bodyPr anchor="ctr" rtlCol="false" tIns="0" lIns="0" bIns="0" rIns="0"/>
            <a:lstStyle/>
            <a:p>
              <a:pPr algn="l">
                <a:lnSpc>
                  <a:spcPts val="2771"/>
                </a:lnSpc>
              </a:pPr>
              <a:r>
                <a:rPr lang="en-US" b="true" sz="1924">
                  <a:solidFill>
                    <a:srgbClr val="000000"/>
                  </a:solidFill>
                  <a:latin typeface="Calibri (MS) Bold"/>
                  <a:ea typeface="Calibri (MS) Bold"/>
                  <a:cs typeface="Calibri (MS) Bold"/>
                  <a:sym typeface="Calibri (MS) Bold"/>
                </a:rPr>
                <a:t>Why we need it</a:t>
              </a:r>
              <a:r>
                <a:rPr lang="en-US" sz="1924">
                  <a:solidFill>
                    <a:srgbClr val="000000"/>
                  </a:solidFill>
                  <a:latin typeface="Calibri (MS)"/>
                  <a:ea typeface="Calibri (MS)"/>
                  <a:cs typeface="Calibri (MS)"/>
                  <a:sym typeface="Calibri (MS)"/>
                </a:rPr>
                <a:t>: input() always gives back text, even if the user types a number.</a:t>
              </a:r>
            </a:p>
          </p:txBody>
        </p:sp>
      </p:grpSp>
      <p:grpSp>
        <p:nvGrpSpPr>
          <p:cNvPr name="Group 20" id="20"/>
          <p:cNvGrpSpPr/>
          <p:nvPr/>
        </p:nvGrpSpPr>
        <p:grpSpPr>
          <a:xfrm rot="0">
            <a:off x="822960" y="5829300"/>
            <a:ext cx="1851660" cy="685800"/>
            <a:chOff x="0" y="0"/>
            <a:chExt cx="2468880" cy="914400"/>
          </a:xfrm>
        </p:grpSpPr>
        <p:sp>
          <p:nvSpPr>
            <p:cNvPr name="Freeform 21" id="21"/>
            <p:cNvSpPr/>
            <p:nvPr/>
          </p:nvSpPr>
          <p:spPr>
            <a:xfrm flipH="false" flipV="false" rot="0">
              <a:off x="0" y="0"/>
              <a:ext cx="2468880" cy="914400"/>
            </a:xfrm>
            <a:custGeom>
              <a:avLst/>
              <a:gdLst/>
              <a:ahLst/>
              <a:cxnLst/>
              <a:rect r="r" b="b" t="t" l="l"/>
              <a:pathLst>
                <a:path h="914400" w="2468880">
                  <a:moveTo>
                    <a:pt x="0" y="146304"/>
                  </a:moveTo>
                  <a:cubicBezTo>
                    <a:pt x="0" y="65532"/>
                    <a:pt x="65532" y="0"/>
                    <a:pt x="146304" y="0"/>
                  </a:cubicBezTo>
                  <a:lnTo>
                    <a:pt x="2322576" y="0"/>
                  </a:lnTo>
                  <a:cubicBezTo>
                    <a:pt x="2403348" y="0"/>
                    <a:pt x="2468880" y="65532"/>
                    <a:pt x="2468880" y="146304"/>
                  </a:cubicBezTo>
                  <a:lnTo>
                    <a:pt x="2468880" y="768096"/>
                  </a:lnTo>
                  <a:cubicBezTo>
                    <a:pt x="2468880" y="848868"/>
                    <a:pt x="2403348" y="914400"/>
                    <a:pt x="2322576" y="914400"/>
                  </a:cubicBezTo>
                  <a:lnTo>
                    <a:pt x="146304" y="914400"/>
                  </a:lnTo>
                  <a:cubicBezTo>
                    <a:pt x="65532" y="914400"/>
                    <a:pt x="0" y="848868"/>
                    <a:pt x="0" y="768096"/>
                  </a:cubicBezTo>
                  <a:close/>
                </a:path>
              </a:pathLst>
            </a:custGeom>
            <a:solidFill>
              <a:srgbClr val="1B1F3B"/>
            </a:solidFill>
          </p:spPr>
        </p:sp>
      </p:grpSp>
      <p:grpSp>
        <p:nvGrpSpPr>
          <p:cNvPr name="Group 22" id="22"/>
          <p:cNvGrpSpPr/>
          <p:nvPr/>
        </p:nvGrpSpPr>
        <p:grpSpPr>
          <a:xfrm rot="0">
            <a:off x="822960" y="5829300"/>
            <a:ext cx="1851660" cy="685800"/>
            <a:chOff x="0" y="0"/>
            <a:chExt cx="2468880" cy="914400"/>
          </a:xfrm>
        </p:grpSpPr>
        <p:sp>
          <p:nvSpPr>
            <p:cNvPr name="Freeform 23" id="23"/>
            <p:cNvSpPr/>
            <p:nvPr/>
          </p:nvSpPr>
          <p:spPr>
            <a:xfrm flipH="false" flipV="false" rot="0">
              <a:off x="0" y="0"/>
              <a:ext cx="2468880" cy="914400"/>
            </a:xfrm>
            <a:custGeom>
              <a:avLst/>
              <a:gdLst/>
              <a:ahLst/>
              <a:cxnLst/>
              <a:rect r="r" b="b" t="t" l="l"/>
              <a:pathLst>
                <a:path h="914400" w="2468880">
                  <a:moveTo>
                    <a:pt x="0" y="0"/>
                  </a:moveTo>
                  <a:lnTo>
                    <a:pt x="2468880" y="0"/>
                  </a:lnTo>
                  <a:lnTo>
                    <a:pt x="2468880" y="914400"/>
                  </a:lnTo>
                  <a:lnTo>
                    <a:pt x="0" y="914400"/>
                  </a:lnTo>
                  <a:close/>
                </a:path>
              </a:pathLst>
            </a:custGeom>
            <a:blipFill>
              <a:blip r:embed="rId3">
                <a:alphaModFix amt="0"/>
              </a:blip>
              <a:stretch>
                <a:fillRect l="0" t="-2609" r="0" b="-2609"/>
              </a:stretch>
            </a:blipFill>
          </p:spPr>
        </p:sp>
        <p:sp>
          <p:nvSpPr>
            <p:cNvPr name="TextBox 24" id="24"/>
            <p:cNvSpPr txBox="true"/>
            <p:nvPr/>
          </p:nvSpPr>
          <p:spPr>
            <a:xfrm>
              <a:off x="0" y="-9525"/>
              <a:ext cx="2468880" cy="923925"/>
            </a:xfrm>
            <a:prstGeom prst="rect">
              <a:avLst/>
            </a:prstGeom>
          </p:spPr>
          <p:txBody>
            <a:bodyPr anchor="ctr" rtlCol="false" tIns="0" lIns="0" bIns="0" rIns="0"/>
            <a:lstStyle/>
            <a:p>
              <a:pPr algn="ctr">
                <a:lnSpc>
                  <a:spcPts val="2160"/>
                </a:lnSpc>
              </a:pPr>
              <a:r>
                <a:rPr lang="en-US" sz="1800" b="true">
                  <a:solidFill>
                    <a:srgbClr val="8FE3C0"/>
                  </a:solidFill>
                  <a:latin typeface="Courier New Bold"/>
                  <a:ea typeface="Courier New Bold"/>
                  <a:cs typeface="Courier New Bold"/>
                  <a:sym typeface="Courier New Bold"/>
                </a:rPr>
                <a:t>int()</a:t>
              </a:r>
            </a:p>
          </p:txBody>
        </p:sp>
      </p:grpSp>
      <p:grpSp>
        <p:nvGrpSpPr>
          <p:cNvPr name="Group 25" id="25"/>
          <p:cNvGrpSpPr/>
          <p:nvPr/>
        </p:nvGrpSpPr>
        <p:grpSpPr>
          <a:xfrm rot="0">
            <a:off x="2880360" y="5829300"/>
            <a:ext cx="1851660" cy="685800"/>
            <a:chOff x="0" y="0"/>
            <a:chExt cx="2468880" cy="914400"/>
          </a:xfrm>
        </p:grpSpPr>
        <p:sp>
          <p:nvSpPr>
            <p:cNvPr name="Freeform 26" id="26"/>
            <p:cNvSpPr/>
            <p:nvPr/>
          </p:nvSpPr>
          <p:spPr>
            <a:xfrm flipH="false" flipV="false" rot="0">
              <a:off x="0" y="0"/>
              <a:ext cx="2468880" cy="914400"/>
            </a:xfrm>
            <a:custGeom>
              <a:avLst/>
              <a:gdLst/>
              <a:ahLst/>
              <a:cxnLst/>
              <a:rect r="r" b="b" t="t" l="l"/>
              <a:pathLst>
                <a:path h="914400" w="2468880">
                  <a:moveTo>
                    <a:pt x="0" y="146304"/>
                  </a:moveTo>
                  <a:cubicBezTo>
                    <a:pt x="0" y="65532"/>
                    <a:pt x="65532" y="0"/>
                    <a:pt x="146304" y="0"/>
                  </a:cubicBezTo>
                  <a:lnTo>
                    <a:pt x="2322576" y="0"/>
                  </a:lnTo>
                  <a:cubicBezTo>
                    <a:pt x="2403348" y="0"/>
                    <a:pt x="2468880" y="65532"/>
                    <a:pt x="2468880" y="146304"/>
                  </a:cubicBezTo>
                  <a:lnTo>
                    <a:pt x="2468880" y="768096"/>
                  </a:lnTo>
                  <a:cubicBezTo>
                    <a:pt x="2468880" y="848868"/>
                    <a:pt x="2403348" y="914400"/>
                    <a:pt x="2322576" y="914400"/>
                  </a:cubicBezTo>
                  <a:lnTo>
                    <a:pt x="146304" y="914400"/>
                  </a:lnTo>
                  <a:cubicBezTo>
                    <a:pt x="65532" y="914400"/>
                    <a:pt x="0" y="848868"/>
                    <a:pt x="0" y="768096"/>
                  </a:cubicBezTo>
                  <a:close/>
                </a:path>
              </a:pathLst>
            </a:custGeom>
            <a:solidFill>
              <a:srgbClr val="1B1F3B"/>
            </a:solidFill>
          </p:spPr>
        </p:sp>
      </p:grpSp>
      <p:grpSp>
        <p:nvGrpSpPr>
          <p:cNvPr name="Group 27" id="27"/>
          <p:cNvGrpSpPr/>
          <p:nvPr/>
        </p:nvGrpSpPr>
        <p:grpSpPr>
          <a:xfrm rot="0">
            <a:off x="2880360" y="5829300"/>
            <a:ext cx="1851660" cy="685800"/>
            <a:chOff x="0" y="0"/>
            <a:chExt cx="2468880" cy="914400"/>
          </a:xfrm>
        </p:grpSpPr>
        <p:sp>
          <p:nvSpPr>
            <p:cNvPr name="Freeform 28" id="28"/>
            <p:cNvSpPr/>
            <p:nvPr/>
          </p:nvSpPr>
          <p:spPr>
            <a:xfrm flipH="false" flipV="false" rot="0">
              <a:off x="0" y="0"/>
              <a:ext cx="2468880" cy="914400"/>
            </a:xfrm>
            <a:custGeom>
              <a:avLst/>
              <a:gdLst/>
              <a:ahLst/>
              <a:cxnLst/>
              <a:rect r="r" b="b" t="t" l="l"/>
              <a:pathLst>
                <a:path h="914400" w="2468880">
                  <a:moveTo>
                    <a:pt x="0" y="0"/>
                  </a:moveTo>
                  <a:lnTo>
                    <a:pt x="2468880" y="0"/>
                  </a:lnTo>
                  <a:lnTo>
                    <a:pt x="2468880" y="914400"/>
                  </a:lnTo>
                  <a:lnTo>
                    <a:pt x="0" y="914400"/>
                  </a:lnTo>
                  <a:close/>
                </a:path>
              </a:pathLst>
            </a:custGeom>
            <a:blipFill>
              <a:blip r:embed="rId3">
                <a:alphaModFix amt="0"/>
              </a:blip>
              <a:stretch>
                <a:fillRect l="0" t="-2609" r="0" b="-2609"/>
              </a:stretch>
            </a:blipFill>
          </p:spPr>
        </p:sp>
        <p:sp>
          <p:nvSpPr>
            <p:cNvPr name="TextBox 29" id="29"/>
            <p:cNvSpPr txBox="true"/>
            <p:nvPr/>
          </p:nvSpPr>
          <p:spPr>
            <a:xfrm>
              <a:off x="0" y="-9525"/>
              <a:ext cx="2468880" cy="923925"/>
            </a:xfrm>
            <a:prstGeom prst="rect">
              <a:avLst/>
            </a:prstGeom>
          </p:spPr>
          <p:txBody>
            <a:bodyPr anchor="ctr" rtlCol="false" tIns="0" lIns="0" bIns="0" rIns="0"/>
            <a:lstStyle/>
            <a:p>
              <a:pPr algn="ctr">
                <a:lnSpc>
                  <a:spcPts val="2160"/>
                </a:lnSpc>
              </a:pPr>
              <a:r>
                <a:rPr lang="en-US" sz="1800" b="true">
                  <a:solidFill>
                    <a:srgbClr val="8FE3C0"/>
                  </a:solidFill>
                  <a:latin typeface="Courier New Bold"/>
                  <a:ea typeface="Courier New Bold"/>
                  <a:cs typeface="Courier New Bold"/>
                  <a:sym typeface="Courier New Bold"/>
                </a:rPr>
                <a:t>float()</a:t>
              </a:r>
            </a:p>
          </p:txBody>
        </p:sp>
      </p:grpSp>
      <p:grpSp>
        <p:nvGrpSpPr>
          <p:cNvPr name="Group 30" id="30"/>
          <p:cNvGrpSpPr/>
          <p:nvPr/>
        </p:nvGrpSpPr>
        <p:grpSpPr>
          <a:xfrm rot="0">
            <a:off x="4937760" y="5829300"/>
            <a:ext cx="1851660" cy="685800"/>
            <a:chOff x="0" y="0"/>
            <a:chExt cx="2468880" cy="914400"/>
          </a:xfrm>
        </p:grpSpPr>
        <p:sp>
          <p:nvSpPr>
            <p:cNvPr name="Freeform 31" id="31"/>
            <p:cNvSpPr/>
            <p:nvPr/>
          </p:nvSpPr>
          <p:spPr>
            <a:xfrm flipH="false" flipV="false" rot="0">
              <a:off x="0" y="0"/>
              <a:ext cx="2468880" cy="914400"/>
            </a:xfrm>
            <a:custGeom>
              <a:avLst/>
              <a:gdLst/>
              <a:ahLst/>
              <a:cxnLst/>
              <a:rect r="r" b="b" t="t" l="l"/>
              <a:pathLst>
                <a:path h="914400" w="2468880">
                  <a:moveTo>
                    <a:pt x="0" y="146304"/>
                  </a:moveTo>
                  <a:cubicBezTo>
                    <a:pt x="0" y="65532"/>
                    <a:pt x="65532" y="0"/>
                    <a:pt x="146304" y="0"/>
                  </a:cubicBezTo>
                  <a:lnTo>
                    <a:pt x="2322576" y="0"/>
                  </a:lnTo>
                  <a:cubicBezTo>
                    <a:pt x="2403348" y="0"/>
                    <a:pt x="2468880" y="65532"/>
                    <a:pt x="2468880" y="146304"/>
                  </a:cubicBezTo>
                  <a:lnTo>
                    <a:pt x="2468880" y="768096"/>
                  </a:lnTo>
                  <a:cubicBezTo>
                    <a:pt x="2468880" y="848868"/>
                    <a:pt x="2403348" y="914400"/>
                    <a:pt x="2322576" y="914400"/>
                  </a:cubicBezTo>
                  <a:lnTo>
                    <a:pt x="146304" y="914400"/>
                  </a:lnTo>
                  <a:cubicBezTo>
                    <a:pt x="65532" y="914400"/>
                    <a:pt x="0" y="848868"/>
                    <a:pt x="0" y="768096"/>
                  </a:cubicBezTo>
                  <a:close/>
                </a:path>
              </a:pathLst>
            </a:custGeom>
            <a:solidFill>
              <a:srgbClr val="1B1F3B"/>
            </a:solidFill>
          </p:spPr>
        </p:sp>
      </p:grpSp>
      <p:grpSp>
        <p:nvGrpSpPr>
          <p:cNvPr name="Group 32" id="32"/>
          <p:cNvGrpSpPr/>
          <p:nvPr/>
        </p:nvGrpSpPr>
        <p:grpSpPr>
          <a:xfrm rot="0">
            <a:off x="4937760" y="5829300"/>
            <a:ext cx="1851660" cy="685800"/>
            <a:chOff x="0" y="0"/>
            <a:chExt cx="2468880" cy="914400"/>
          </a:xfrm>
        </p:grpSpPr>
        <p:sp>
          <p:nvSpPr>
            <p:cNvPr name="Freeform 33" id="33"/>
            <p:cNvSpPr/>
            <p:nvPr/>
          </p:nvSpPr>
          <p:spPr>
            <a:xfrm flipH="false" flipV="false" rot="0">
              <a:off x="0" y="0"/>
              <a:ext cx="2468880" cy="914400"/>
            </a:xfrm>
            <a:custGeom>
              <a:avLst/>
              <a:gdLst/>
              <a:ahLst/>
              <a:cxnLst/>
              <a:rect r="r" b="b" t="t" l="l"/>
              <a:pathLst>
                <a:path h="914400" w="2468880">
                  <a:moveTo>
                    <a:pt x="0" y="0"/>
                  </a:moveTo>
                  <a:lnTo>
                    <a:pt x="2468880" y="0"/>
                  </a:lnTo>
                  <a:lnTo>
                    <a:pt x="2468880" y="914400"/>
                  </a:lnTo>
                  <a:lnTo>
                    <a:pt x="0" y="914400"/>
                  </a:lnTo>
                  <a:close/>
                </a:path>
              </a:pathLst>
            </a:custGeom>
            <a:blipFill>
              <a:blip r:embed="rId3">
                <a:alphaModFix amt="0"/>
              </a:blip>
              <a:stretch>
                <a:fillRect l="0" t="-2609" r="0" b="-2609"/>
              </a:stretch>
            </a:blipFill>
          </p:spPr>
        </p:sp>
        <p:sp>
          <p:nvSpPr>
            <p:cNvPr name="TextBox 34" id="34"/>
            <p:cNvSpPr txBox="true"/>
            <p:nvPr/>
          </p:nvSpPr>
          <p:spPr>
            <a:xfrm>
              <a:off x="0" y="-9525"/>
              <a:ext cx="2468880" cy="923925"/>
            </a:xfrm>
            <a:prstGeom prst="rect">
              <a:avLst/>
            </a:prstGeom>
          </p:spPr>
          <p:txBody>
            <a:bodyPr anchor="ctr" rtlCol="false" tIns="0" lIns="0" bIns="0" rIns="0"/>
            <a:lstStyle/>
            <a:p>
              <a:pPr algn="ctr">
                <a:lnSpc>
                  <a:spcPts val="2160"/>
                </a:lnSpc>
              </a:pPr>
              <a:r>
                <a:rPr lang="en-US" sz="1800" b="true">
                  <a:solidFill>
                    <a:srgbClr val="8FE3C0"/>
                  </a:solidFill>
                  <a:latin typeface="Courier New Bold"/>
                  <a:ea typeface="Courier New Bold"/>
                  <a:cs typeface="Courier New Bold"/>
                  <a:sym typeface="Courier New Bold"/>
                </a:rPr>
                <a:t>str()</a:t>
              </a:r>
            </a:p>
          </p:txBody>
        </p:sp>
      </p:grpSp>
      <p:grpSp>
        <p:nvGrpSpPr>
          <p:cNvPr name="Group 35" id="35"/>
          <p:cNvGrpSpPr/>
          <p:nvPr/>
        </p:nvGrpSpPr>
        <p:grpSpPr>
          <a:xfrm rot="0">
            <a:off x="6995160" y="5829300"/>
            <a:ext cx="1851660" cy="685800"/>
            <a:chOff x="0" y="0"/>
            <a:chExt cx="2468880" cy="914400"/>
          </a:xfrm>
        </p:grpSpPr>
        <p:sp>
          <p:nvSpPr>
            <p:cNvPr name="Freeform 36" id="36"/>
            <p:cNvSpPr/>
            <p:nvPr/>
          </p:nvSpPr>
          <p:spPr>
            <a:xfrm flipH="false" flipV="false" rot="0">
              <a:off x="0" y="0"/>
              <a:ext cx="2468880" cy="914400"/>
            </a:xfrm>
            <a:custGeom>
              <a:avLst/>
              <a:gdLst/>
              <a:ahLst/>
              <a:cxnLst/>
              <a:rect r="r" b="b" t="t" l="l"/>
              <a:pathLst>
                <a:path h="914400" w="2468880">
                  <a:moveTo>
                    <a:pt x="0" y="146304"/>
                  </a:moveTo>
                  <a:cubicBezTo>
                    <a:pt x="0" y="65532"/>
                    <a:pt x="65532" y="0"/>
                    <a:pt x="146304" y="0"/>
                  </a:cubicBezTo>
                  <a:lnTo>
                    <a:pt x="2322576" y="0"/>
                  </a:lnTo>
                  <a:cubicBezTo>
                    <a:pt x="2403348" y="0"/>
                    <a:pt x="2468880" y="65532"/>
                    <a:pt x="2468880" y="146304"/>
                  </a:cubicBezTo>
                  <a:lnTo>
                    <a:pt x="2468880" y="768096"/>
                  </a:lnTo>
                  <a:cubicBezTo>
                    <a:pt x="2468880" y="848868"/>
                    <a:pt x="2403348" y="914400"/>
                    <a:pt x="2322576" y="914400"/>
                  </a:cubicBezTo>
                  <a:lnTo>
                    <a:pt x="146304" y="914400"/>
                  </a:lnTo>
                  <a:cubicBezTo>
                    <a:pt x="65532" y="914400"/>
                    <a:pt x="0" y="848868"/>
                    <a:pt x="0" y="768096"/>
                  </a:cubicBezTo>
                  <a:close/>
                </a:path>
              </a:pathLst>
            </a:custGeom>
            <a:solidFill>
              <a:srgbClr val="1B1F3B"/>
            </a:solidFill>
          </p:spPr>
        </p:sp>
      </p:grpSp>
      <p:grpSp>
        <p:nvGrpSpPr>
          <p:cNvPr name="Group 37" id="37"/>
          <p:cNvGrpSpPr/>
          <p:nvPr/>
        </p:nvGrpSpPr>
        <p:grpSpPr>
          <a:xfrm rot="0">
            <a:off x="6995160" y="5829300"/>
            <a:ext cx="1851660" cy="685800"/>
            <a:chOff x="0" y="0"/>
            <a:chExt cx="2468880" cy="914400"/>
          </a:xfrm>
        </p:grpSpPr>
        <p:sp>
          <p:nvSpPr>
            <p:cNvPr name="Freeform 38" id="38"/>
            <p:cNvSpPr/>
            <p:nvPr/>
          </p:nvSpPr>
          <p:spPr>
            <a:xfrm flipH="false" flipV="false" rot="0">
              <a:off x="0" y="0"/>
              <a:ext cx="2468880" cy="914400"/>
            </a:xfrm>
            <a:custGeom>
              <a:avLst/>
              <a:gdLst/>
              <a:ahLst/>
              <a:cxnLst/>
              <a:rect r="r" b="b" t="t" l="l"/>
              <a:pathLst>
                <a:path h="914400" w="2468880">
                  <a:moveTo>
                    <a:pt x="0" y="0"/>
                  </a:moveTo>
                  <a:lnTo>
                    <a:pt x="2468880" y="0"/>
                  </a:lnTo>
                  <a:lnTo>
                    <a:pt x="2468880" y="914400"/>
                  </a:lnTo>
                  <a:lnTo>
                    <a:pt x="0" y="914400"/>
                  </a:lnTo>
                  <a:close/>
                </a:path>
              </a:pathLst>
            </a:custGeom>
            <a:blipFill>
              <a:blip r:embed="rId3">
                <a:alphaModFix amt="0"/>
              </a:blip>
              <a:stretch>
                <a:fillRect l="0" t="-2609" r="0" b="-2609"/>
              </a:stretch>
            </a:blipFill>
          </p:spPr>
        </p:sp>
        <p:sp>
          <p:nvSpPr>
            <p:cNvPr name="TextBox 39" id="39"/>
            <p:cNvSpPr txBox="true"/>
            <p:nvPr/>
          </p:nvSpPr>
          <p:spPr>
            <a:xfrm>
              <a:off x="0" y="-9525"/>
              <a:ext cx="2468880" cy="923925"/>
            </a:xfrm>
            <a:prstGeom prst="rect">
              <a:avLst/>
            </a:prstGeom>
          </p:spPr>
          <p:txBody>
            <a:bodyPr anchor="ctr" rtlCol="false" tIns="0" lIns="0" bIns="0" rIns="0"/>
            <a:lstStyle/>
            <a:p>
              <a:pPr algn="ctr">
                <a:lnSpc>
                  <a:spcPts val="2160"/>
                </a:lnSpc>
              </a:pPr>
              <a:r>
                <a:rPr lang="en-US" sz="1800" b="true">
                  <a:solidFill>
                    <a:srgbClr val="8FE3C0"/>
                  </a:solidFill>
                  <a:latin typeface="Courier New Bold"/>
                  <a:ea typeface="Courier New Bold"/>
                  <a:cs typeface="Courier New Bold"/>
                  <a:sym typeface="Courier New Bold"/>
                </a:rPr>
                <a:t>bool()</a:t>
              </a:r>
            </a:p>
          </p:txBody>
        </p:sp>
      </p:grpSp>
      <p:grpSp>
        <p:nvGrpSpPr>
          <p:cNvPr name="Group 40" id="40"/>
          <p:cNvGrpSpPr/>
          <p:nvPr/>
        </p:nvGrpSpPr>
        <p:grpSpPr>
          <a:xfrm rot="0">
            <a:off x="9395460" y="2331720"/>
            <a:ext cx="8023860" cy="3634740"/>
            <a:chOff x="0" y="0"/>
            <a:chExt cx="10698480" cy="4846320"/>
          </a:xfrm>
        </p:grpSpPr>
        <p:sp>
          <p:nvSpPr>
            <p:cNvPr name="Freeform 41" id="41"/>
            <p:cNvSpPr/>
            <p:nvPr/>
          </p:nvSpPr>
          <p:spPr>
            <a:xfrm flipH="false" flipV="false" rot="0">
              <a:off x="0" y="0"/>
              <a:ext cx="10698480" cy="4846320"/>
            </a:xfrm>
            <a:custGeom>
              <a:avLst/>
              <a:gdLst/>
              <a:ahLst/>
              <a:cxnLst/>
              <a:rect r="r" b="b" t="t" l="l"/>
              <a:pathLst>
                <a:path h="4846320" w="10698480">
                  <a:moveTo>
                    <a:pt x="0" y="146304"/>
                  </a:moveTo>
                  <a:cubicBezTo>
                    <a:pt x="0" y="65532"/>
                    <a:pt x="65532" y="0"/>
                    <a:pt x="146304" y="0"/>
                  </a:cubicBezTo>
                  <a:lnTo>
                    <a:pt x="10552176" y="0"/>
                  </a:lnTo>
                  <a:cubicBezTo>
                    <a:pt x="10632948" y="0"/>
                    <a:pt x="10698480" y="65532"/>
                    <a:pt x="10698480" y="146304"/>
                  </a:cubicBezTo>
                  <a:lnTo>
                    <a:pt x="10698480" y="4700016"/>
                  </a:lnTo>
                  <a:cubicBezTo>
                    <a:pt x="10698480" y="4780788"/>
                    <a:pt x="10632948" y="4846320"/>
                    <a:pt x="10552176" y="4846320"/>
                  </a:cubicBezTo>
                  <a:lnTo>
                    <a:pt x="146304" y="4846320"/>
                  </a:lnTo>
                  <a:cubicBezTo>
                    <a:pt x="65532" y="4846320"/>
                    <a:pt x="0" y="4780788"/>
                    <a:pt x="0" y="4700016"/>
                  </a:cubicBezTo>
                  <a:close/>
                </a:path>
              </a:pathLst>
            </a:custGeom>
            <a:solidFill>
              <a:srgbClr val="1B1F3B"/>
            </a:solidFill>
          </p:spPr>
        </p:sp>
      </p:grpSp>
      <p:grpSp>
        <p:nvGrpSpPr>
          <p:cNvPr name="Group 42" id="42"/>
          <p:cNvGrpSpPr/>
          <p:nvPr/>
        </p:nvGrpSpPr>
        <p:grpSpPr>
          <a:xfrm rot="0">
            <a:off x="9697212" y="2496312"/>
            <a:ext cx="7338060" cy="356616"/>
            <a:chOff x="0" y="0"/>
            <a:chExt cx="9784080" cy="475488"/>
          </a:xfrm>
        </p:grpSpPr>
        <p:sp>
          <p:nvSpPr>
            <p:cNvPr name="Freeform 43" id="43"/>
            <p:cNvSpPr/>
            <p:nvPr/>
          </p:nvSpPr>
          <p:spPr>
            <a:xfrm flipH="false" flipV="false" rot="0">
              <a:off x="0" y="0"/>
              <a:ext cx="9784080" cy="475488"/>
            </a:xfrm>
            <a:custGeom>
              <a:avLst/>
              <a:gdLst/>
              <a:ahLst/>
              <a:cxnLst/>
              <a:rect r="r" b="b" t="t" l="l"/>
              <a:pathLst>
                <a:path h="475488" w="9784080">
                  <a:moveTo>
                    <a:pt x="0" y="0"/>
                  </a:moveTo>
                  <a:lnTo>
                    <a:pt x="9784080" y="0"/>
                  </a:lnTo>
                  <a:lnTo>
                    <a:pt x="9784080" y="475488"/>
                  </a:lnTo>
                  <a:lnTo>
                    <a:pt x="0" y="475488"/>
                  </a:lnTo>
                  <a:close/>
                </a:path>
              </a:pathLst>
            </a:custGeom>
            <a:blipFill>
              <a:blip r:embed="rId3">
                <a:alphaModFix amt="0"/>
              </a:blip>
              <a:stretch>
                <a:fillRect l="0" t="-350942" r="0" b="-350942"/>
              </a:stretch>
            </a:blipFill>
          </p:spPr>
        </p:sp>
        <p:sp>
          <p:nvSpPr>
            <p:cNvPr name="TextBox 44" id="44"/>
            <p:cNvSpPr txBox="true"/>
            <p:nvPr/>
          </p:nvSpPr>
          <p:spPr>
            <a:xfrm>
              <a:off x="0" y="-38100"/>
              <a:ext cx="9784080" cy="513588"/>
            </a:xfrm>
            <a:prstGeom prst="rect">
              <a:avLst/>
            </a:prstGeom>
          </p:spPr>
          <p:txBody>
            <a:bodyPr anchor="ctr" rtlCol="false" tIns="0" lIns="0" bIns="0" rIns="0"/>
            <a:lstStyle/>
            <a:p>
              <a:pPr algn="l">
                <a:lnSpc>
                  <a:spcPts val="1709"/>
                </a:lnSpc>
              </a:pPr>
              <a:r>
                <a:rPr lang="en-US" b="true" sz="1425" spc="225">
                  <a:solidFill>
                    <a:srgbClr val="4FB6B0"/>
                  </a:solidFill>
                  <a:latin typeface="Calibri (MS) Bold"/>
                  <a:ea typeface="Calibri (MS) Bold"/>
                  <a:cs typeface="Calibri (MS) Bold"/>
                  <a:sym typeface="Calibri (MS) Bold"/>
                </a:rPr>
                <a:t>INPUT() + INT()</a:t>
              </a:r>
            </a:p>
          </p:txBody>
        </p:sp>
      </p:grpSp>
      <p:sp>
        <p:nvSpPr>
          <p:cNvPr name="TextBox 45" id="45"/>
          <p:cNvSpPr txBox="true"/>
          <p:nvPr/>
        </p:nvSpPr>
        <p:spPr>
          <a:xfrm rot="0">
            <a:off x="9724644" y="2979420"/>
            <a:ext cx="7365492" cy="2767584"/>
          </a:xfrm>
          <a:prstGeom prst="rect">
            <a:avLst/>
          </a:prstGeom>
        </p:spPr>
        <p:txBody>
          <a:bodyPr anchor="t" rtlCol="false" tIns="0" lIns="0" bIns="0" rIns="0">
            <a:spAutoFit/>
          </a:bodyPr>
          <a:lstStyle/>
          <a:p>
            <a:pPr algn="l">
              <a:lnSpc>
                <a:spcPts val="2690"/>
              </a:lnSpc>
            </a:pPr>
            <a:r>
              <a:rPr lang="en-US" sz="1950">
                <a:solidFill>
                  <a:srgbClr val="E9ECF7"/>
                </a:solidFill>
                <a:latin typeface="Courier New"/>
                <a:ea typeface="Courier New"/>
                <a:cs typeface="Courier New"/>
                <a:sym typeface="Courier New"/>
              </a:rPr>
              <a:t>age = </a:t>
            </a:r>
            <a:r>
              <a:rPr lang="en-US" sz="1950">
                <a:solidFill>
                  <a:srgbClr val="FFE08A"/>
                </a:solidFill>
                <a:latin typeface="Courier New"/>
                <a:ea typeface="Courier New"/>
                <a:cs typeface="Courier New"/>
                <a:sym typeface="Courier New"/>
              </a:rPr>
              <a:t>input</a:t>
            </a:r>
            <a:r>
              <a:rPr lang="en-US" sz="1950">
                <a:solidFill>
                  <a:srgbClr val="E9ECF7"/>
                </a:solidFill>
                <a:latin typeface="Courier New"/>
                <a:ea typeface="Courier New"/>
                <a:cs typeface="Courier New"/>
                <a:sym typeface="Courier New"/>
              </a:rPr>
              <a:t>("Enter your age: ")</a:t>
            </a:r>
          </a:p>
          <a:p>
            <a:pPr algn="l">
              <a:lnSpc>
                <a:spcPts val="2690"/>
              </a:lnSpc>
            </a:pPr>
            <a:r>
              <a:rPr lang="en-US" sz="1950">
                <a:solidFill>
                  <a:srgbClr val="8A93B8"/>
                </a:solidFill>
                <a:latin typeface="Courier New"/>
                <a:ea typeface="Courier New"/>
                <a:cs typeface="Courier New"/>
                <a:sym typeface="Courier New"/>
              </a:rPr>
              <a:t># age is a string here, e.g. </a:t>
            </a:r>
            <a:r>
              <a:rPr lang="en-US" sz="1950">
                <a:solidFill>
                  <a:srgbClr val="8FE3C0"/>
                </a:solidFill>
                <a:latin typeface="Courier New"/>
                <a:ea typeface="Courier New"/>
                <a:cs typeface="Courier New"/>
                <a:sym typeface="Courier New"/>
              </a:rPr>
              <a:t>"20"</a:t>
            </a:r>
          </a:p>
          <a:p>
            <a:pPr algn="l">
              <a:lnSpc>
                <a:spcPts val="2690"/>
              </a:lnSpc>
            </a:pPr>
          </a:p>
          <a:p>
            <a:pPr algn="l">
              <a:lnSpc>
                <a:spcPts val="2690"/>
              </a:lnSpc>
            </a:pPr>
            <a:r>
              <a:rPr lang="en-US" sz="1950">
                <a:solidFill>
                  <a:srgbClr val="E9ECF7"/>
                </a:solidFill>
                <a:latin typeface="Courier New"/>
                <a:ea typeface="Courier New"/>
                <a:cs typeface="Courier New"/>
                <a:sym typeface="Courier New"/>
              </a:rPr>
              <a:t>age = </a:t>
            </a:r>
            <a:r>
              <a:rPr lang="en-US" sz="1950">
                <a:solidFill>
                  <a:srgbClr val="FFE08A"/>
                </a:solidFill>
                <a:latin typeface="Courier New"/>
                <a:ea typeface="Courier New"/>
                <a:cs typeface="Courier New"/>
                <a:sym typeface="Courier New"/>
              </a:rPr>
              <a:t>int</a:t>
            </a:r>
            <a:r>
              <a:rPr lang="en-US" sz="1950">
                <a:solidFill>
                  <a:srgbClr val="E9ECF7"/>
                </a:solidFill>
                <a:latin typeface="Courier New"/>
                <a:ea typeface="Courier New"/>
                <a:cs typeface="Courier New"/>
                <a:sym typeface="Courier New"/>
              </a:rPr>
              <a:t>(age)</a:t>
            </a:r>
          </a:p>
          <a:p>
            <a:pPr algn="l">
              <a:lnSpc>
                <a:spcPts val="2690"/>
              </a:lnSpc>
            </a:pPr>
            <a:r>
              <a:rPr lang="en-US" sz="1950">
                <a:solidFill>
                  <a:srgbClr val="8A93B8"/>
                </a:solidFill>
                <a:latin typeface="Courier New"/>
                <a:ea typeface="Courier New"/>
                <a:cs typeface="Courier New"/>
                <a:sym typeface="Courier New"/>
              </a:rPr>
              <a:t># now age is a number: </a:t>
            </a:r>
            <a:r>
              <a:rPr lang="en-US" sz="1950">
                <a:solidFill>
                  <a:srgbClr val="9AD1FF"/>
                </a:solidFill>
                <a:latin typeface="Courier New"/>
                <a:ea typeface="Courier New"/>
                <a:cs typeface="Courier New"/>
                <a:sym typeface="Courier New"/>
              </a:rPr>
              <a:t>20</a:t>
            </a:r>
          </a:p>
          <a:p>
            <a:pPr algn="l">
              <a:lnSpc>
                <a:spcPts val="2690"/>
              </a:lnSpc>
            </a:pPr>
          </a:p>
          <a:p>
            <a:pPr algn="l">
              <a:lnSpc>
                <a:spcPts val="2690"/>
              </a:lnSpc>
            </a:pPr>
            <a:r>
              <a:rPr lang="en-US" sz="1950">
                <a:solidFill>
                  <a:srgbClr val="FFE08A"/>
                </a:solidFill>
                <a:latin typeface="Courier New"/>
                <a:ea typeface="Courier New"/>
                <a:cs typeface="Courier New"/>
                <a:sym typeface="Courier New"/>
              </a:rPr>
              <a:t>print</a:t>
            </a:r>
            <a:r>
              <a:rPr lang="en-US" sz="1950">
                <a:solidFill>
                  <a:srgbClr val="E9ECF7"/>
                </a:solidFill>
                <a:latin typeface="Courier New"/>
                <a:ea typeface="Courier New"/>
                <a:cs typeface="Courier New"/>
                <a:sym typeface="Courier New"/>
              </a:rPr>
              <a:t>(age + </a:t>
            </a:r>
            <a:r>
              <a:rPr lang="en-US" sz="1950">
                <a:solidFill>
                  <a:srgbClr val="9AD1FF"/>
                </a:solidFill>
                <a:latin typeface="Courier New"/>
                <a:ea typeface="Courier New"/>
                <a:cs typeface="Courier New"/>
                <a:sym typeface="Courier New"/>
              </a:rPr>
              <a:t>1</a:t>
            </a:r>
            <a:r>
              <a:rPr lang="en-US" sz="1950">
                <a:solidFill>
                  <a:srgbClr val="E9ECF7"/>
                </a:solidFill>
                <a:latin typeface="Courier New"/>
                <a:ea typeface="Courier New"/>
                <a:cs typeface="Courier New"/>
                <a:sym typeface="Courier New"/>
              </a:rPr>
              <a:t>)  </a:t>
            </a:r>
            <a:r>
              <a:rPr lang="en-US" sz="1950">
                <a:solidFill>
                  <a:srgbClr val="8A93B8"/>
                </a:solidFill>
                <a:latin typeface="Courier New"/>
                <a:ea typeface="Courier New"/>
                <a:cs typeface="Courier New"/>
                <a:sym typeface="Courier New"/>
              </a:rPr>
              <a:t># 21</a:t>
            </a:r>
          </a:p>
        </p:txBody>
      </p:sp>
      <p:grpSp>
        <p:nvGrpSpPr>
          <p:cNvPr name="Group 46" id="46"/>
          <p:cNvGrpSpPr/>
          <p:nvPr/>
        </p:nvGrpSpPr>
        <p:grpSpPr>
          <a:xfrm rot="0">
            <a:off x="822960" y="6583680"/>
            <a:ext cx="8092440" cy="1371600"/>
            <a:chOff x="0" y="0"/>
            <a:chExt cx="10789920" cy="1828800"/>
          </a:xfrm>
        </p:grpSpPr>
        <p:sp>
          <p:nvSpPr>
            <p:cNvPr name="Freeform 47" id="47"/>
            <p:cNvSpPr/>
            <p:nvPr/>
          </p:nvSpPr>
          <p:spPr>
            <a:xfrm flipH="false" flipV="false" rot="0">
              <a:off x="0" y="0"/>
              <a:ext cx="10789920" cy="1828800"/>
            </a:xfrm>
            <a:custGeom>
              <a:avLst/>
              <a:gdLst/>
              <a:ahLst/>
              <a:cxnLst/>
              <a:rect r="r" b="b" t="t" l="l"/>
              <a:pathLst>
                <a:path h="1828800" w="10789920">
                  <a:moveTo>
                    <a:pt x="0" y="182880"/>
                  </a:moveTo>
                  <a:cubicBezTo>
                    <a:pt x="0" y="81915"/>
                    <a:pt x="81915" y="0"/>
                    <a:pt x="182880" y="0"/>
                  </a:cubicBezTo>
                  <a:lnTo>
                    <a:pt x="10607040" y="0"/>
                  </a:lnTo>
                  <a:cubicBezTo>
                    <a:pt x="10708005" y="0"/>
                    <a:pt x="10789920" y="81915"/>
                    <a:pt x="10789920" y="182880"/>
                  </a:cubicBezTo>
                  <a:lnTo>
                    <a:pt x="10789920" y="1645920"/>
                  </a:lnTo>
                  <a:cubicBezTo>
                    <a:pt x="10789920" y="1746885"/>
                    <a:pt x="10708005" y="1828800"/>
                    <a:pt x="10607040" y="1828800"/>
                  </a:cubicBezTo>
                  <a:lnTo>
                    <a:pt x="182880" y="1828800"/>
                  </a:lnTo>
                  <a:cubicBezTo>
                    <a:pt x="81915" y="1828800"/>
                    <a:pt x="0" y="1746885"/>
                    <a:pt x="0" y="1645920"/>
                  </a:cubicBezTo>
                  <a:close/>
                </a:path>
              </a:pathLst>
            </a:custGeom>
            <a:solidFill>
              <a:srgbClr val="ECEEF7"/>
            </a:solidFill>
          </p:spPr>
        </p:sp>
      </p:grpSp>
      <p:grpSp>
        <p:nvGrpSpPr>
          <p:cNvPr name="Group 48" id="48"/>
          <p:cNvGrpSpPr/>
          <p:nvPr/>
        </p:nvGrpSpPr>
        <p:grpSpPr>
          <a:xfrm rot="0">
            <a:off x="1165860" y="6583680"/>
            <a:ext cx="7406640" cy="1371600"/>
            <a:chOff x="0" y="0"/>
            <a:chExt cx="9875520" cy="1828800"/>
          </a:xfrm>
        </p:grpSpPr>
        <p:sp>
          <p:nvSpPr>
            <p:cNvPr name="Freeform 49" id="49"/>
            <p:cNvSpPr/>
            <p:nvPr/>
          </p:nvSpPr>
          <p:spPr>
            <a:xfrm flipH="false" flipV="false" rot="0">
              <a:off x="0" y="0"/>
              <a:ext cx="9875520" cy="1828800"/>
            </a:xfrm>
            <a:custGeom>
              <a:avLst/>
              <a:gdLst/>
              <a:ahLst/>
              <a:cxnLst/>
              <a:rect r="r" b="b" t="t" l="l"/>
              <a:pathLst>
                <a:path h="1828800" w="9875520">
                  <a:moveTo>
                    <a:pt x="0" y="0"/>
                  </a:moveTo>
                  <a:lnTo>
                    <a:pt x="9875520" y="0"/>
                  </a:lnTo>
                  <a:lnTo>
                    <a:pt x="9875520" y="1828800"/>
                  </a:lnTo>
                  <a:lnTo>
                    <a:pt x="0" y="1828800"/>
                  </a:lnTo>
                  <a:close/>
                </a:path>
              </a:pathLst>
            </a:custGeom>
            <a:blipFill>
              <a:blip r:embed="rId3">
                <a:alphaModFix amt="0"/>
              </a:blip>
              <a:stretch>
                <a:fillRect l="0" t="-55219" r="0" b="-55219"/>
              </a:stretch>
            </a:blipFill>
          </p:spPr>
        </p:sp>
        <p:sp>
          <p:nvSpPr>
            <p:cNvPr name="TextBox 50" id="50"/>
            <p:cNvSpPr txBox="true"/>
            <p:nvPr/>
          </p:nvSpPr>
          <p:spPr>
            <a:xfrm>
              <a:off x="0" y="-66675"/>
              <a:ext cx="9875520" cy="1895475"/>
            </a:xfrm>
            <a:prstGeom prst="rect">
              <a:avLst/>
            </a:prstGeom>
          </p:spPr>
          <p:txBody>
            <a:bodyPr anchor="ctr" rtlCol="false" tIns="0" lIns="0" bIns="0" rIns="0"/>
            <a:lstStyle/>
            <a:p>
              <a:pPr algn="l">
                <a:lnSpc>
                  <a:spcPts val="2376"/>
                </a:lnSpc>
              </a:pPr>
              <a:r>
                <a:rPr lang="en-US" sz="1650" b="true">
                  <a:solidFill>
                    <a:srgbClr val="1B1F3B"/>
                  </a:solidFill>
                  <a:latin typeface="Calibri (MS) Bold"/>
                  <a:ea typeface="Calibri (MS) Bold"/>
                  <a:cs typeface="Calibri (MS) Bold"/>
                  <a:sym typeface="Calibri (MS) Bold"/>
                </a:rPr>
                <a:t>Without converting first, Python can't add a number to text — the conversion is what makes the calculation possible.</a:t>
              </a:r>
            </a:p>
          </p:txBody>
        </p:sp>
      </p:grpSp>
      <p:grpSp>
        <p:nvGrpSpPr>
          <p:cNvPr name="Group 51" id="51"/>
          <p:cNvGrpSpPr/>
          <p:nvPr/>
        </p:nvGrpSpPr>
        <p:grpSpPr>
          <a:xfrm rot="0">
            <a:off x="813435" y="8220075"/>
            <a:ext cx="16615410" cy="910590"/>
            <a:chOff x="0" y="0"/>
            <a:chExt cx="22153880" cy="1214120"/>
          </a:xfrm>
        </p:grpSpPr>
        <p:sp>
          <p:nvSpPr>
            <p:cNvPr name="Freeform 52" id="52"/>
            <p:cNvSpPr/>
            <p:nvPr/>
          </p:nvSpPr>
          <p:spPr>
            <a:xfrm flipH="false" flipV="false" rot="0">
              <a:off x="0" y="0"/>
              <a:ext cx="22153880" cy="1214120"/>
            </a:xfrm>
            <a:custGeom>
              <a:avLst/>
              <a:gdLst/>
              <a:ahLst/>
              <a:cxnLst/>
              <a:rect r="r" b="b" t="t" l="l"/>
              <a:pathLst>
                <a:path h="1214120" w="22153880">
                  <a:moveTo>
                    <a:pt x="0" y="149479"/>
                  </a:moveTo>
                  <a:cubicBezTo>
                    <a:pt x="0" y="66929"/>
                    <a:pt x="66929" y="0"/>
                    <a:pt x="149479" y="0"/>
                  </a:cubicBezTo>
                  <a:lnTo>
                    <a:pt x="22004401" y="0"/>
                  </a:lnTo>
                  <a:cubicBezTo>
                    <a:pt x="22086951" y="0"/>
                    <a:pt x="22153880" y="66929"/>
                    <a:pt x="22153880" y="149479"/>
                  </a:cubicBezTo>
                  <a:lnTo>
                    <a:pt x="22153880" y="1064641"/>
                  </a:lnTo>
                  <a:cubicBezTo>
                    <a:pt x="22153880" y="1147191"/>
                    <a:pt x="22086951" y="1214120"/>
                    <a:pt x="22004401" y="1214120"/>
                  </a:cubicBezTo>
                  <a:lnTo>
                    <a:pt x="149479" y="1214120"/>
                  </a:lnTo>
                  <a:cubicBezTo>
                    <a:pt x="66929" y="1214120"/>
                    <a:pt x="0" y="1147191"/>
                    <a:pt x="0" y="1064641"/>
                  </a:cubicBezTo>
                  <a:close/>
                </a:path>
              </a:pathLst>
            </a:custGeom>
            <a:solidFill>
              <a:srgbClr val="FFF3E0"/>
            </a:solidFill>
            <a:ln w="19050" cap="sq">
              <a:solidFill>
                <a:srgbClr val="FFB84C"/>
              </a:solidFill>
              <a:prstDash val="solid"/>
              <a:miter/>
            </a:ln>
          </p:spPr>
        </p:sp>
      </p:grpSp>
      <p:grpSp>
        <p:nvGrpSpPr>
          <p:cNvPr name="Group 53" id="53"/>
          <p:cNvGrpSpPr/>
          <p:nvPr/>
        </p:nvGrpSpPr>
        <p:grpSpPr>
          <a:xfrm rot="0">
            <a:off x="1124712" y="8229600"/>
            <a:ext cx="15992856" cy="891540"/>
            <a:chOff x="0" y="0"/>
            <a:chExt cx="21323808" cy="1188720"/>
          </a:xfrm>
        </p:grpSpPr>
        <p:sp>
          <p:nvSpPr>
            <p:cNvPr name="Freeform 54" id="54"/>
            <p:cNvSpPr/>
            <p:nvPr/>
          </p:nvSpPr>
          <p:spPr>
            <a:xfrm flipH="false" flipV="false" rot="0">
              <a:off x="0" y="0"/>
              <a:ext cx="21323808" cy="1188720"/>
            </a:xfrm>
            <a:custGeom>
              <a:avLst/>
              <a:gdLst/>
              <a:ahLst/>
              <a:cxnLst/>
              <a:rect r="r" b="b" t="t" l="l"/>
              <a:pathLst>
                <a:path h="1188720" w="21323808">
                  <a:moveTo>
                    <a:pt x="0" y="0"/>
                  </a:moveTo>
                  <a:lnTo>
                    <a:pt x="21323808" y="0"/>
                  </a:lnTo>
                  <a:lnTo>
                    <a:pt x="21323808" y="1188720"/>
                  </a:lnTo>
                  <a:lnTo>
                    <a:pt x="0" y="1188720"/>
                  </a:lnTo>
                  <a:close/>
                </a:path>
              </a:pathLst>
            </a:custGeom>
            <a:blipFill>
              <a:blip r:embed="rId3">
                <a:alphaModFix amt="0"/>
              </a:blip>
              <a:stretch>
                <a:fillRect l="0" t="-299531" r="0" b="-299531"/>
              </a:stretch>
            </a:blipFill>
          </p:spPr>
        </p:sp>
        <p:sp>
          <p:nvSpPr>
            <p:cNvPr name="TextBox 55" id="55"/>
            <p:cNvSpPr txBox="true"/>
            <p:nvPr/>
          </p:nvSpPr>
          <p:spPr>
            <a:xfrm>
              <a:off x="0" y="-57150"/>
              <a:ext cx="21323808" cy="1245870"/>
            </a:xfrm>
            <a:prstGeom prst="rect">
              <a:avLst/>
            </a:prstGeom>
          </p:spPr>
          <p:txBody>
            <a:bodyPr anchor="ctr" rtlCol="false" tIns="0" lIns="0" bIns="0" rIns="0"/>
            <a:lstStyle/>
            <a:p>
              <a:pPr algn="l">
                <a:lnSpc>
                  <a:spcPts val="2277"/>
                </a:lnSpc>
              </a:pPr>
              <a:r>
                <a:rPr lang="en-US" sz="1650" b="true">
                  <a:solidFill>
                    <a:srgbClr val="B85C00"/>
                  </a:solidFill>
                  <a:latin typeface="Calibri (MS) Bold"/>
                  <a:ea typeface="Calibri (MS) Bold"/>
                  <a:cs typeface="Calibri (MS) Bold"/>
                  <a:sym typeface="Calibri (MS) Bold"/>
                </a:rPr>
                <a:t>Why this matters for Agentic AI:  </a:t>
              </a:r>
              <a:r>
                <a:rPr lang="en-US" sz="1650" b="true">
                  <a:solidFill>
                    <a:srgbClr val="5A4632"/>
                  </a:solidFill>
                  <a:latin typeface="Calibri (MS) Bold"/>
                  <a:ea typeface="Calibri (MS) Bold"/>
                  <a:cs typeface="Calibri (MS) Bold"/>
                  <a:sym typeface="Calibri (MS) Bold"/>
                </a:rPr>
                <a:t>Cleaning and converting raw input is a constant task when building agents that read user or API data.</a:t>
              </a:r>
            </a:p>
          </p:txBody>
        </p:sp>
      </p:grpSp>
      <p:grpSp>
        <p:nvGrpSpPr>
          <p:cNvPr name="Group 56" id="56"/>
          <p:cNvGrpSpPr/>
          <p:nvPr/>
        </p:nvGrpSpPr>
        <p:grpSpPr>
          <a:xfrm rot="0">
            <a:off x="685800" y="9710928"/>
            <a:ext cx="10972800" cy="411480"/>
            <a:chOff x="0" y="0"/>
            <a:chExt cx="14630400" cy="548640"/>
          </a:xfrm>
        </p:grpSpPr>
        <p:sp>
          <p:nvSpPr>
            <p:cNvPr name="Freeform 57" id="5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58" id="5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59" id="59"/>
          <p:cNvGrpSpPr/>
          <p:nvPr/>
        </p:nvGrpSpPr>
        <p:grpSpPr>
          <a:xfrm rot="0">
            <a:off x="16915943" y="9710928"/>
            <a:ext cx="685800" cy="411480"/>
            <a:chOff x="0" y="0"/>
            <a:chExt cx="914400" cy="548640"/>
          </a:xfrm>
        </p:grpSpPr>
        <p:sp>
          <p:nvSpPr>
            <p:cNvPr name="Freeform 60" id="6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1" id="6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14</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1F3B"/>
        </a:solidFill>
      </p:bgPr>
    </p:bg>
    <p:spTree>
      <p:nvGrpSpPr>
        <p:cNvPr id="1" name=""/>
        <p:cNvGrpSpPr/>
        <p:nvPr/>
      </p:nvGrpSpPr>
      <p:grpSpPr>
        <a:xfrm>
          <a:off x="0" y="0"/>
          <a:ext cx="0" cy="0"/>
          <a:chOff x="0" y="0"/>
          <a:chExt cx="0" cy="0"/>
        </a:xfrm>
      </p:grpSpPr>
      <p:grpSp>
        <p:nvGrpSpPr>
          <p:cNvPr name="Group 2" id="2"/>
          <p:cNvGrpSpPr/>
          <p:nvPr/>
        </p:nvGrpSpPr>
        <p:grpSpPr>
          <a:xfrm rot="0">
            <a:off x="15361920" y="-1783080"/>
            <a:ext cx="4937760" cy="4937760"/>
            <a:chOff x="0" y="0"/>
            <a:chExt cx="6583680" cy="6583680"/>
          </a:xfrm>
        </p:grpSpPr>
        <p:sp>
          <p:nvSpPr>
            <p:cNvPr name="Freeform 3" id="3"/>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2A3163"/>
            </a:solidFill>
          </p:spPr>
        </p:sp>
      </p:grpSp>
      <p:grpSp>
        <p:nvGrpSpPr>
          <p:cNvPr name="Group 4" id="4"/>
          <p:cNvGrpSpPr/>
          <p:nvPr/>
        </p:nvGrpSpPr>
        <p:grpSpPr>
          <a:xfrm rot="0">
            <a:off x="822960" y="576072"/>
            <a:ext cx="10972800" cy="480060"/>
            <a:chOff x="0" y="0"/>
            <a:chExt cx="14630400" cy="640080"/>
          </a:xfrm>
        </p:grpSpPr>
        <p:sp>
          <p:nvSpPr>
            <p:cNvPr name="Freeform 5" id="5"/>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6" id="6"/>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PUT IT ALL TOGETHER</a:t>
              </a:r>
            </a:p>
          </p:txBody>
        </p:sp>
      </p:grpSp>
      <p:grpSp>
        <p:nvGrpSpPr>
          <p:cNvPr name="Group 7" id="7"/>
          <p:cNvGrpSpPr/>
          <p:nvPr/>
        </p:nvGrpSpPr>
        <p:grpSpPr>
          <a:xfrm rot="0">
            <a:off x="822960" y="987552"/>
            <a:ext cx="16184880" cy="1234440"/>
            <a:chOff x="0" y="0"/>
            <a:chExt cx="21579840" cy="1645920"/>
          </a:xfrm>
        </p:grpSpPr>
        <p:sp>
          <p:nvSpPr>
            <p:cNvPr name="Freeform 8" id="8"/>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9" id="9"/>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Challenge: Build a Food Order Generator</a:t>
              </a:r>
            </a:p>
          </p:txBody>
        </p:sp>
      </p:grpSp>
      <p:grpSp>
        <p:nvGrpSpPr>
          <p:cNvPr name="Group 10" id="10"/>
          <p:cNvGrpSpPr/>
          <p:nvPr/>
        </p:nvGrpSpPr>
        <p:grpSpPr>
          <a:xfrm rot="0">
            <a:off x="822960" y="2125980"/>
            <a:ext cx="15087600" cy="548640"/>
            <a:chOff x="0" y="0"/>
            <a:chExt cx="20116800" cy="731520"/>
          </a:xfrm>
        </p:grpSpPr>
        <p:sp>
          <p:nvSpPr>
            <p:cNvPr name="Freeform 11" id="11"/>
            <p:cNvSpPr/>
            <p:nvPr/>
          </p:nvSpPr>
          <p:spPr>
            <a:xfrm flipH="false" flipV="false" rot="0">
              <a:off x="0" y="0"/>
              <a:ext cx="20116800" cy="731520"/>
            </a:xfrm>
            <a:custGeom>
              <a:avLst/>
              <a:gdLst/>
              <a:ahLst/>
              <a:cxnLst/>
              <a:rect r="r" b="b" t="t" l="l"/>
              <a:pathLst>
                <a:path h="731520" w="20116800">
                  <a:moveTo>
                    <a:pt x="0" y="0"/>
                  </a:moveTo>
                  <a:lnTo>
                    <a:pt x="20116800" y="0"/>
                  </a:lnTo>
                  <a:lnTo>
                    <a:pt x="20116800" y="731520"/>
                  </a:lnTo>
                  <a:lnTo>
                    <a:pt x="0" y="731520"/>
                  </a:lnTo>
                  <a:close/>
                </a:path>
              </a:pathLst>
            </a:custGeom>
            <a:blipFill>
              <a:blip r:embed="rId3">
                <a:alphaModFix amt="0"/>
              </a:blip>
              <a:stretch>
                <a:fillRect l="0" t="-485838" r="0" b="-485838"/>
              </a:stretch>
            </a:blipFill>
          </p:spPr>
        </p:sp>
        <p:sp>
          <p:nvSpPr>
            <p:cNvPr name="TextBox 12" id="12"/>
            <p:cNvSpPr txBox="true"/>
            <p:nvPr/>
          </p:nvSpPr>
          <p:spPr>
            <a:xfrm>
              <a:off x="0" y="-38100"/>
              <a:ext cx="20116800" cy="769620"/>
            </a:xfrm>
            <a:prstGeom prst="rect">
              <a:avLst/>
            </a:prstGeom>
          </p:spPr>
          <p:txBody>
            <a:bodyPr anchor="ctr" rtlCol="false" tIns="0" lIns="0" bIns="0" rIns="0"/>
            <a:lstStyle/>
            <a:p>
              <a:pPr algn="l">
                <a:lnSpc>
                  <a:spcPts val="2459"/>
                </a:lnSpc>
              </a:pPr>
              <a:r>
                <a:rPr lang="en-US" sz="2049" i="true">
                  <a:solidFill>
                    <a:srgbClr val="C7CCEA"/>
                  </a:solidFill>
                  <a:latin typeface="Calibri (MS) Italics"/>
                  <a:ea typeface="Calibri (MS) Italics"/>
                  <a:cs typeface="Calibri (MS) Italics"/>
                  <a:sym typeface="Calibri (MS) Italics"/>
                </a:rPr>
                <a:t>A small, complete program you can try on your own right after this session.</a:t>
              </a:r>
            </a:p>
          </p:txBody>
        </p:sp>
      </p:grpSp>
      <p:grpSp>
        <p:nvGrpSpPr>
          <p:cNvPr name="Group 13" id="13"/>
          <p:cNvGrpSpPr/>
          <p:nvPr/>
        </p:nvGrpSpPr>
        <p:grpSpPr>
          <a:xfrm rot="0">
            <a:off x="822960" y="2948940"/>
            <a:ext cx="8092440" cy="4114800"/>
            <a:chOff x="0" y="0"/>
            <a:chExt cx="10789920" cy="5486400"/>
          </a:xfrm>
        </p:grpSpPr>
        <p:sp>
          <p:nvSpPr>
            <p:cNvPr name="Freeform 14" id="14"/>
            <p:cNvSpPr/>
            <p:nvPr/>
          </p:nvSpPr>
          <p:spPr>
            <a:xfrm flipH="false" flipV="false" rot="0">
              <a:off x="0" y="0"/>
              <a:ext cx="10789920" cy="5486400"/>
            </a:xfrm>
            <a:custGeom>
              <a:avLst/>
              <a:gdLst/>
              <a:ahLst/>
              <a:cxnLst/>
              <a:rect r="r" b="b" t="t" l="l"/>
              <a:pathLst>
                <a:path h="5486400" w="10789920">
                  <a:moveTo>
                    <a:pt x="0" y="182880"/>
                  </a:moveTo>
                  <a:cubicBezTo>
                    <a:pt x="0" y="81915"/>
                    <a:pt x="81915" y="0"/>
                    <a:pt x="182880" y="0"/>
                  </a:cubicBezTo>
                  <a:lnTo>
                    <a:pt x="10607040" y="0"/>
                  </a:lnTo>
                  <a:cubicBezTo>
                    <a:pt x="10708005" y="0"/>
                    <a:pt x="10789920" y="81915"/>
                    <a:pt x="10789920" y="182880"/>
                  </a:cubicBezTo>
                  <a:lnTo>
                    <a:pt x="10789920" y="5303520"/>
                  </a:lnTo>
                  <a:cubicBezTo>
                    <a:pt x="10789920" y="5404485"/>
                    <a:pt x="10708005" y="5486400"/>
                    <a:pt x="10607040" y="5486400"/>
                  </a:cubicBezTo>
                  <a:lnTo>
                    <a:pt x="182880" y="5486400"/>
                  </a:lnTo>
                  <a:cubicBezTo>
                    <a:pt x="81915" y="5486400"/>
                    <a:pt x="0" y="5404485"/>
                    <a:pt x="0" y="5303520"/>
                  </a:cubicBezTo>
                  <a:close/>
                </a:path>
              </a:pathLst>
            </a:custGeom>
            <a:solidFill>
              <a:srgbClr val="232860"/>
            </a:solidFill>
          </p:spPr>
        </p:sp>
      </p:grpSp>
      <p:grpSp>
        <p:nvGrpSpPr>
          <p:cNvPr name="Group 15" id="15"/>
          <p:cNvGrpSpPr/>
          <p:nvPr/>
        </p:nvGrpSpPr>
        <p:grpSpPr>
          <a:xfrm rot="0">
            <a:off x="1165860" y="3223260"/>
            <a:ext cx="7406640" cy="411480"/>
            <a:chOff x="0" y="0"/>
            <a:chExt cx="9875520" cy="548640"/>
          </a:xfrm>
        </p:grpSpPr>
        <p:sp>
          <p:nvSpPr>
            <p:cNvPr name="Freeform 16" id="16"/>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3">
                <a:alphaModFix amt="0"/>
              </a:blip>
              <a:stretch>
                <a:fillRect l="0" t="-300730" r="0" b="-300730"/>
              </a:stretch>
            </a:blipFill>
          </p:spPr>
        </p:sp>
        <p:sp>
          <p:nvSpPr>
            <p:cNvPr name="TextBox 17" id="17"/>
            <p:cNvSpPr txBox="true"/>
            <p:nvPr/>
          </p:nvSpPr>
          <p:spPr>
            <a:xfrm>
              <a:off x="0" y="-47625"/>
              <a:ext cx="9875520" cy="596265"/>
            </a:xfrm>
            <a:prstGeom prst="rect">
              <a:avLst/>
            </a:prstGeom>
          </p:spPr>
          <p:txBody>
            <a:bodyPr anchor="ctr" rtlCol="false" tIns="0" lIns="0" bIns="0" rIns="0"/>
            <a:lstStyle/>
            <a:p>
              <a:pPr algn="l">
                <a:lnSpc>
                  <a:spcPts val="2340"/>
                </a:lnSpc>
              </a:pPr>
              <a:r>
                <a:rPr lang="en-US" sz="1950" b="true">
                  <a:solidFill>
                    <a:srgbClr val="FFB84C"/>
                  </a:solidFill>
                  <a:latin typeface="Calibri (MS) Bold"/>
                  <a:ea typeface="Calibri (MS) Bold"/>
                  <a:cs typeface="Calibri (MS) Bold"/>
                  <a:sym typeface="Calibri (MS) Bold"/>
                </a:rPr>
                <a:t>Your program should store:</a:t>
              </a:r>
            </a:p>
          </p:txBody>
        </p:sp>
      </p:grpSp>
      <p:grpSp>
        <p:nvGrpSpPr>
          <p:cNvPr name="Group 18" id="18"/>
          <p:cNvGrpSpPr/>
          <p:nvPr/>
        </p:nvGrpSpPr>
        <p:grpSpPr>
          <a:xfrm rot="0">
            <a:off x="1165860" y="3771900"/>
            <a:ext cx="411480" cy="411480"/>
            <a:chOff x="0" y="0"/>
            <a:chExt cx="548640" cy="548640"/>
          </a:xfrm>
        </p:grpSpPr>
        <p:sp>
          <p:nvSpPr>
            <p:cNvPr name="Freeform 19" id="19"/>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4FB6B0"/>
            </a:solidFill>
          </p:spPr>
        </p:sp>
      </p:grpSp>
      <p:grpSp>
        <p:nvGrpSpPr>
          <p:cNvPr name="Group 20" id="20"/>
          <p:cNvGrpSpPr/>
          <p:nvPr/>
        </p:nvGrpSpPr>
        <p:grpSpPr>
          <a:xfrm rot="0">
            <a:off x="1165860" y="3771900"/>
            <a:ext cx="411480" cy="411480"/>
            <a:chOff x="0" y="0"/>
            <a:chExt cx="548640" cy="548640"/>
          </a:xfrm>
        </p:grpSpPr>
        <p:sp>
          <p:nvSpPr>
            <p:cNvPr name="Freeform 21" id="21"/>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22" id="22"/>
            <p:cNvSpPr txBox="true"/>
            <p:nvPr/>
          </p:nvSpPr>
          <p:spPr>
            <a:xfrm>
              <a:off x="0" y="-19050"/>
              <a:ext cx="548640" cy="567690"/>
            </a:xfrm>
            <a:prstGeom prst="rect">
              <a:avLst/>
            </a:prstGeom>
          </p:spPr>
          <p:txBody>
            <a:bodyPr anchor="ctr" rtlCol="false" tIns="0" lIns="0" bIns="0" rIns="0"/>
            <a:lstStyle/>
            <a:p>
              <a:pPr algn="ctr">
                <a:lnSpc>
                  <a:spcPts val="1404"/>
                </a:lnSpc>
              </a:pPr>
              <a:r>
                <a:rPr lang="en-US" sz="1170" b="true">
                  <a:solidFill>
                    <a:srgbClr val="1B1F3B"/>
                  </a:solidFill>
                  <a:latin typeface="Calibri (MS) Bold"/>
                  <a:ea typeface="Calibri (MS) Bold"/>
                  <a:cs typeface="Calibri (MS) Bold"/>
                  <a:sym typeface="Calibri (MS) Bold"/>
                </a:rPr>
                <a:t>1</a:t>
              </a:r>
            </a:p>
          </p:txBody>
        </p:sp>
      </p:grpSp>
      <p:grpSp>
        <p:nvGrpSpPr>
          <p:cNvPr name="Group 23" id="23"/>
          <p:cNvGrpSpPr/>
          <p:nvPr/>
        </p:nvGrpSpPr>
        <p:grpSpPr>
          <a:xfrm rot="0">
            <a:off x="1714500" y="3771900"/>
            <a:ext cx="6720840" cy="411480"/>
            <a:chOff x="0" y="0"/>
            <a:chExt cx="8961120" cy="548640"/>
          </a:xfrm>
        </p:grpSpPr>
        <p:sp>
          <p:nvSpPr>
            <p:cNvPr name="Freeform 24" id="24"/>
            <p:cNvSpPr/>
            <p:nvPr/>
          </p:nvSpPr>
          <p:spPr>
            <a:xfrm flipH="false" flipV="false" rot="0">
              <a:off x="0" y="0"/>
              <a:ext cx="8961120" cy="548640"/>
            </a:xfrm>
            <a:custGeom>
              <a:avLst/>
              <a:gdLst/>
              <a:ahLst/>
              <a:cxnLst/>
              <a:rect r="r" b="b" t="t" l="l"/>
              <a:pathLst>
                <a:path h="548640" w="8961120">
                  <a:moveTo>
                    <a:pt x="0" y="0"/>
                  </a:moveTo>
                  <a:lnTo>
                    <a:pt x="8961120" y="0"/>
                  </a:lnTo>
                  <a:lnTo>
                    <a:pt x="8961120" y="548640"/>
                  </a:lnTo>
                  <a:lnTo>
                    <a:pt x="0" y="548640"/>
                  </a:lnTo>
                  <a:close/>
                </a:path>
              </a:pathLst>
            </a:custGeom>
            <a:blipFill>
              <a:blip r:embed="rId3">
                <a:alphaModFix amt="0"/>
              </a:blip>
              <a:stretch>
                <a:fillRect l="0" t="-268255" r="0" b="-268255"/>
              </a:stretch>
            </a:blipFill>
          </p:spPr>
        </p:sp>
        <p:sp>
          <p:nvSpPr>
            <p:cNvPr name="TextBox 25" id="25"/>
            <p:cNvSpPr txBox="true"/>
            <p:nvPr/>
          </p:nvSpPr>
          <p:spPr>
            <a:xfrm>
              <a:off x="0" y="-38100"/>
              <a:ext cx="8961120" cy="58674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Customer name</a:t>
              </a:r>
            </a:p>
          </p:txBody>
        </p:sp>
      </p:grpSp>
      <p:grpSp>
        <p:nvGrpSpPr>
          <p:cNvPr name="Group 26" id="26"/>
          <p:cNvGrpSpPr/>
          <p:nvPr/>
        </p:nvGrpSpPr>
        <p:grpSpPr>
          <a:xfrm rot="0">
            <a:off x="1165860" y="4347972"/>
            <a:ext cx="411480" cy="411480"/>
            <a:chOff x="0" y="0"/>
            <a:chExt cx="548640" cy="548640"/>
          </a:xfrm>
        </p:grpSpPr>
        <p:sp>
          <p:nvSpPr>
            <p:cNvPr name="Freeform 27" id="27"/>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4FB6B0"/>
            </a:solidFill>
          </p:spPr>
        </p:sp>
      </p:grpSp>
      <p:grpSp>
        <p:nvGrpSpPr>
          <p:cNvPr name="Group 28" id="28"/>
          <p:cNvGrpSpPr/>
          <p:nvPr/>
        </p:nvGrpSpPr>
        <p:grpSpPr>
          <a:xfrm rot="0">
            <a:off x="1165860" y="4347972"/>
            <a:ext cx="411480" cy="411480"/>
            <a:chOff x="0" y="0"/>
            <a:chExt cx="548640" cy="548640"/>
          </a:xfrm>
        </p:grpSpPr>
        <p:sp>
          <p:nvSpPr>
            <p:cNvPr name="Freeform 29" id="29"/>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30" id="30"/>
            <p:cNvSpPr txBox="true"/>
            <p:nvPr/>
          </p:nvSpPr>
          <p:spPr>
            <a:xfrm>
              <a:off x="0" y="-19050"/>
              <a:ext cx="548640" cy="567690"/>
            </a:xfrm>
            <a:prstGeom prst="rect">
              <a:avLst/>
            </a:prstGeom>
          </p:spPr>
          <p:txBody>
            <a:bodyPr anchor="ctr" rtlCol="false" tIns="0" lIns="0" bIns="0" rIns="0"/>
            <a:lstStyle/>
            <a:p>
              <a:pPr algn="ctr">
                <a:lnSpc>
                  <a:spcPts val="1404"/>
                </a:lnSpc>
              </a:pPr>
              <a:r>
                <a:rPr lang="en-US" sz="1170" b="true">
                  <a:solidFill>
                    <a:srgbClr val="1B1F3B"/>
                  </a:solidFill>
                  <a:latin typeface="Calibri (MS) Bold"/>
                  <a:ea typeface="Calibri (MS) Bold"/>
                  <a:cs typeface="Calibri (MS) Bold"/>
                  <a:sym typeface="Calibri (MS) Bold"/>
                </a:rPr>
                <a:t>2</a:t>
              </a:r>
            </a:p>
          </p:txBody>
        </p:sp>
      </p:grpSp>
      <p:grpSp>
        <p:nvGrpSpPr>
          <p:cNvPr name="Group 31" id="31"/>
          <p:cNvGrpSpPr/>
          <p:nvPr/>
        </p:nvGrpSpPr>
        <p:grpSpPr>
          <a:xfrm rot="0">
            <a:off x="1714500" y="4347972"/>
            <a:ext cx="6720840" cy="411480"/>
            <a:chOff x="0" y="0"/>
            <a:chExt cx="8961120" cy="548640"/>
          </a:xfrm>
        </p:grpSpPr>
        <p:sp>
          <p:nvSpPr>
            <p:cNvPr name="Freeform 32" id="32"/>
            <p:cNvSpPr/>
            <p:nvPr/>
          </p:nvSpPr>
          <p:spPr>
            <a:xfrm flipH="false" flipV="false" rot="0">
              <a:off x="0" y="0"/>
              <a:ext cx="8961120" cy="548640"/>
            </a:xfrm>
            <a:custGeom>
              <a:avLst/>
              <a:gdLst/>
              <a:ahLst/>
              <a:cxnLst/>
              <a:rect r="r" b="b" t="t" l="l"/>
              <a:pathLst>
                <a:path h="548640" w="8961120">
                  <a:moveTo>
                    <a:pt x="0" y="0"/>
                  </a:moveTo>
                  <a:lnTo>
                    <a:pt x="8961120" y="0"/>
                  </a:lnTo>
                  <a:lnTo>
                    <a:pt x="8961120" y="548640"/>
                  </a:lnTo>
                  <a:lnTo>
                    <a:pt x="0" y="548640"/>
                  </a:lnTo>
                  <a:close/>
                </a:path>
              </a:pathLst>
            </a:custGeom>
            <a:blipFill>
              <a:blip r:embed="rId3">
                <a:alphaModFix amt="0"/>
              </a:blip>
              <a:stretch>
                <a:fillRect l="0" t="-268255" r="0" b="-268255"/>
              </a:stretch>
            </a:blipFill>
          </p:spPr>
        </p:sp>
        <p:sp>
          <p:nvSpPr>
            <p:cNvPr name="TextBox 33" id="33"/>
            <p:cNvSpPr txBox="true"/>
            <p:nvPr/>
          </p:nvSpPr>
          <p:spPr>
            <a:xfrm>
              <a:off x="0" y="-38100"/>
              <a:ext cx="8961120" cy="58674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Food item</a:t>
              </a:r>
            </a:p>
          </p:txBody>
        </p:sp>
      </p:grpSp>
      <p:grpSp>
        <p:nvGrpSpPr>
          <p:cNvPr name="Group 34" id="34"/>
          <p:cNvGrpSpPr/>
          <p:nvPr/>
        </p:nvGrpSpPr>
        <p:grpSpPr>
          <a:xfrm rot="0">
            <a:off x="1165860" y="4924044"/>
            <a:ext cx="411480" cy="411480"/>
            <a:chOff x="0" y="0"/>
            <a:chExt cx="548640" cy="548640"/>
          </a:xfrm>
        </p:grpSpPr>
        <p:sp>
          <p:nvSpPr>
            <p:cNvPr name="Freeform 35" id="35"/>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4FB6B0"/>
            </a:solidFill>
          </p:spPr>
        </p:sp>
      </p:grpSp>
      <p:grpSp>
        <p:nvGrpSpPr>
          <p:cNvPr name="Group 36" id="36"/>
          <p:cNvGrpSpPr/>
          <p:nvPr/>
        </p:nvGrpSpPr>
        <p:grpSpPr>
          <a:xfrm rot="0">
            <a:off x="1165860" y="4924044"/>
            <a:ext cx="411480" cy="411480"/>
            <a:chOff x="0" y="0"/>
            <a:chExt cx="548640" cy="548640"/>
          </a:xfrm>
        </p:grpSpPr>
        <p:sp>
          <p:nvSpPr>
            <p:cNvPr name="Freeform 37" id="37"/>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38" id="38"/>
            <p:cNvSpPr txBox="true"/>
            <p:nvPr/>
          </p:nvSpPr>
          <p:spPr>
            <a:xfrm>
              <a:off x="0" y="-19050"/>
              <a:ext cx="548640" cy="567690"/>
            </a:xfrm>
            <a:prstGeom prst="rect">
              <a:avLst/>
            </a:prstGeom>
          </p:spPr>
          <p:txBody>
            <a:bodyPr anchor="ctr" rtlCol="false" tIns="0" lIns="0" bIns="0" rIns="0"/>
            <a:lstStyle/>
            <a:p>
              <a:pPr algn="ctr">
                <a:lnSpc>
                  <a:spcPts val="1404"/>
                </a:lnSpc>
              </a:pPr>
              <a:r>
                <a:rPr lang="en-US" sz="1170" b="true">
                  <a:solidFill>
                    <a:srgbClr val="1B1F3B"/>
                  </a:solidFill>
                  <a:latin typeface="Calibri (MS) Bold"/>
                  <a:ea typeface="Calibri (MS) Bold"/>
                  <a:cs typeface="Calibri (MS) Bold"/>
                  <a:sym typeface="Calibri (MS) Bold"/>
                </a:rPr>
                <a:t>3</a:t>
              </a:r>
            </a:p>
          </p:txBody>
        </p:sp>
      </p:grpSp>
      <p:grpSp>
        <p:nvGrpSpPr>
          <p:cNvPr name="Group 39" id="39"/>
          <p:cNvGrpSpPr/>
          <p:nvPr/>
        </p:nvGrpSpPr>
        <p:grpSpPr>
          <a:xfrm rot="0">
            <a:off x="1714500" y="4924044"/>
            <a:ext cx="6720840" cy="411480"/>
            <a:chOff x="0" y="0"/>
            <a:chExt cx="8961120" cy="548640"/>
          </a:xfrm>
        </p:grpSpPr>
        <p:sp>
          <p:nvSpPr>
            <p:cNvPr name="Freeform 40" id="40"/>
            <p:cNvSpPr/>
            <p:nvPr/>
          </p:nvSpPr>
          <p:spPr>
            <a:xfrm flipH="false" flipV="false" rot="0">
              <a:off x="0" y="0"/>
              <a:ext cx="8961120" cy="548640"/>
            </a:xfrm>
            <a:custGeom>
              <a:avLst/>
              <a:gdLst/>
              <a:ahLst/>
              <a:cxnLst/>
              <a:rect r="r" b="b" t="t" l="l"/>
              <a:pathLst>
                <a:path h="548640" w="8961120">
                  <a:moveTo>
                    <a:pt x="0" y="0"/>
                  </a:moveTo>
                  <a:lnTo>
                    <a:pt x="8961120" y="0"/>
                  </a:lnTo>
                  <a:lnTo>
                    <a:pt x="8961120" y="548640"/>
                  </a:lnTo>
                  <a:lnTo>
                    <a:pt x="0" y="548640"/>
                  </a:lnTo>
                  <a:close/>
                </a:path>
              </a:pathLst>
            </a:custGeom>
            <a:blipFill>
              <a:blip r:embed="rId3">
                <a:alphaModFix amt="0"/>
              </a:blip>
              <a:stretch>
                <a:fillRect l="0" t="-268255" r="0" b="-268255"/>
              </a:stretch>
            </a:blipFill>
          </p:spPr>
        </p:sp>
        <p:sp>
          <p:nvSpPr>
            <p:cNvPr name="TextBox 41" id="41"/>
            <p:cNvSpPr txBox="true"/>
            <p:nvPr/>
          </p:nvSpPr>
          <p:spPr>
            <a:xfrm>
              <a:off x="0" y="-38100"/>
              <a:ext cx="8961120" cy="58674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Quantity</a:t>
              </a:r>
            </a:p>
          </p:txBody>
        </p:sp>
      </p:grpSp>
      <p:grpSp>
        <p:nvGrpSpPr>
          <p:cNvPr name="Group 42" id="42"/>
          <p:cNvGrpSpPr/>
          <p:nvPr/>
        </p:nvGrpSpPr>
        <p:grpSpPr>
          <a:xfrm rot="0">
            <a:off x="1165860" y="5500116"/>
            <a:ext cx="411480" cy="411480"/>
            <a:chOff x="0" y="0"/>
            <a:chExt cx="548640" cy="548640"/>
          </a:xfrm>
        </p:grpSpPr>
        <p:sp>
          <p:nvSpPr>
            <p:cNvPr name="Freeform 43" id="43"/>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4FB6B0"/>
            </a:solidFill>
          </p:spPr>
        </p:sp>
      </p:grpSp>
      <p:grpSp>
        <p:nvGrpSpPr>
          <p:cNvPr name="Group 44" id="44"/>
          <p:cNvGrpSpPr/>
          <p:nvPr/>
        </p:nvGrpSpPr>
        <p:grpSpPr>
          <a:xfrm rot="0">
            <a:off x="1165860" y="5500116"/>
            <a:ext cx="411480" cy="411480"/>
            <a:chOff x="0" y="0"/>
            <a:chExt cx="548640" cy="548640"/>
          </a:xfrm>
        </p:grpSpPr>
        <p:sp>
          <p:nvSpPr>
            <p:cNvPr name="Freeform 45" id="45"/>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46" id="46"/>
            <p:cNvSpPr txBox="true"/>
            <p:nvPr/>
          </p:nvSpPr>
          <p:spPr>
            <a:xfrm>
              <a:off x="0" y="-19050"/>
              <a:ext cx="548640" cy="567690"/>
            </a:xfrm>
            <a:prstGeom prst="rect">
              <a:avLst/>
            </a:prstGeom>
          </p:spPr>
          <p:txBody>
            <a:bodyPr anchor="ctr" rtlCol="false" tIns="0" lIns="0" bIns="0" rIns="0"/>
            <a:lstStyle/>
            <a:p>
              <a:pPr algn="ctr">
                <a:lnSpc>
                  <a:spcPts val="1404"/>
                </a:lnSpc>
              </a:pPr>
              <a:r>
                <a:rPr lang="en-US" sz="1170" b="true">
                  <a:solidFill>
                    <a:srgbClr val="1B1F3B"/>
                  </a:solidFill>
                  <a:latin typeface="Calibri (MS) Bold"/>
                  <a:ea typeface="Calibri (MS) Bold"/>
                  <a:cs typeface="Calibri (MS) Bold"/>
                  <a:sym typeface="Calibri (MS) Bold"/>
                </a:rPr>
                <a:t>4</a:t>
              </a:r>
            </a:p>
          </p:txBody>
        </p:sp>
      </p:grpSp>
      <p:grpSp>
        <p:nvGrpSpPr>
          <p:cNvPr name="Group 47" id="47"/>
          <p:cNvGrpSpPr/>
          <p:nvPr/>
        </p:nvGrpSpPr>
        <p:grpSpPr>
          <a:xfrm rot="0">
            <a:off x="1714500" y="5500116"/>
            <a:ext cx="6720840" cy="411480"/>
            <a:chOff x="0" y="0"/>
            <a:chExt cx="8961120" cy="548640"/>
          </a:xfrm>
        </p:grpSpPr>
        <p:sp>
          <p:nvSpPr>
            <p:cNvPr name="Freeform 48" id="48"/>
            <p:cNvSpPr/>
            <p:nvPr/>
          </p:nvSpPr>
          <p:spPr>
            <a:xfrm flipH="false" flipV="false" rot="0">
              <a:off x="0" y="0"/>
              <a:ext cx="8961120" cy="548640"/>
            </a:xfrm>
            <a:custGeom>
              <a:avLst/>
              <a:gdLst/>
              <a:ahLst/>
              <a:cxnLst/>
              <a:rect r="r" b="b" t="t" l="l"/>
              <a:pathLst>
                <a:path h="548640" w="8961120">
                  <a:moveTo>
                    <a:pt x="0" y="0"/>
                  </a:moveTo>
                  <a:lnTo>
                    <a:pt x="8961120" y="0"/>
                  </a:lnTo>
                  <a:lnTo>
                    <a:pt x="8961120" y="548640"/>
                  </a:lnTo>
                  <a:lnTo>
                    <a:pt x="0" y="548640"/>
                  </a:lnTo>
                  <a:close/>
                </a:path>
              </a:pathLst>
            </a:custGeom>
            <a:blipFill>
              <a:blip r:embed="rId3">
                <a:alphaModFix amt="0"/>
              </a:blip>
              <a:stretch>
                <a:fillRect l="0" t="-268255" r="0" b="-268255"/>
              </a:stretch>
            </a:blipFill>
          </p:spPr>
        </p:sp>
        <p:sp>
          <p:nvSpPr>
            <p:cNvPr name="TextBox 49" id="49"/>
            <p:cNvSpPr txBox="true"/>
            <p:nvPr/>
          </p:nvSpPr>
          <p:spPr>
            <a:xfrm>
              <a:off x="0" y="-38100"/>
              <a:ext cx="8961120" cy="58674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Price</a:t>
              </a:r>
            </a:p>
          </p:txBody>
        </p:sp>
      </p:grpSp>
      <p:grpSp>
        <p:nvGrpSpPr>
          <p:cNvPr name="Group 50" id="50"/>
          <p:cNvGrpSpPr/>
          <p:nvPr/>
        </p:nvGrpSpPr>
        <p:grpSpPr>
          <a:xfrm rot="0">
            <a:off x="1165860" y="6172200"/>
            <a:ext cx="7406640" cy="754380"/>
            <a:chOff x="0" y="0"/>
            <a:chExt cx="9875520" cy="1005840"/>
          </a:xfrm>
        </p:grpSpPr>
        <p:sp>
          <p:nvSpPr>
            <p:cNvPr name="Freeform 51" id="51"/>
            <p:cNvSpPr/>
            <p:nvPr/>
          </p:nvSpPr>
          <p:spPr>
            <a:xfrm flipH="false" flipV="false" rot="0">
              <a:off x="0" y="0"/>
              <a:ext cx="9875520" cy="1005840"/>
            </a:xfrm>
            <a:custGeom>
              <a:avLst/>
              <a:gdLst/>
              <a:ahLst/>
              <a:cxnLst/>
              <a:rect r="r" b="b" t="t" l="l"/>
              <a:pathLst>
                <a:path h="1005840" w="9875520">
                  <a:moveTo>
                    <a:pt x="0" y="0"/>
                  </a:moveTo>
                  <a:lnTo>
                    <a:pt x="9875520" y="0"/>
                  </a:lnTo>
                  <a:lnTo>
                    <a:pt x="9875520" y="1005840"/>
                  </a:lnTo>
                  <a:lnTo>
                    <a:pt x="0" y="1005840"/>
                  </a:lnTo>
                  <a:close/>
                </a:path>
              </a:pathLst>
            </a:custGeom>
            <a:blipFill>
              <a:blip r:embed="rId3">
                <a:alphaModFix amt="0"/>
              </a:blip>
              <a:stretch>
                <a:fillRect l="0" t="-141307" r="0" b="-141307"/>
              </a:stretch>
            </a:blipFill>
          </p:spPr>
        </p:sp>
        <p:sp>
          <p:nvSpPr>
            <p:cNvPr name="TextBox 52" id="52"/>
            <p:cNvSpPr txBox="true"/>
            <p:nvPr/>
          </p:nvSpPr>
          <p:spPr>
            <a:xfrm>
              <a:off x="0" y="-85725"/>
              <a:ext cx="9875520" cy="1091565"/>
            </a:xfrm>
            <a:prstGeom prst="rect">
              <a:avLst/>
            </a:prstGeom>
          </p:spPr>
          <p:txBody>
            <a:bodyPr anchor="ctr" rtlCol="false" tIns="0" lIns="0" bIns="0" rIns="0"/>
            <a:lstStyle/>
            <a:p>
              <a:pPr algn="l">
                <a:lnSpc>
                  <a:spcPts val="2663"/>
                </a:lnSpc>
              </a:pPr>
              <a:r>
                <a:rPr lang="en-US" sz="1849" i="true">
                  <a:solidFill>
                    <a:srgbClr val="C7CCEA"/>
                  </a:solidFill>
                  <a:latin typeface="Calibri (MS) Italics"/>
                  <a:ea typeface="Calibri (MS) Italics"/>
                  <a:cs typeface="Calibri (MS) Italics"/>
                  <a:sym typeface="Calibri (MS) Italics"/>
                </a:rPr>
                <a:t>Then print a personalized order summary with the customer name, item, quantity, and total price.</a:t>
              </a:r>
            </a:p>
          </p:txBody>
        </p:sp>
      </p:grpSp>
      <p:grpSp>
        <p:nvGrpSpPr>
          <p:cNvPr name="Group 53" id="53"/>
          <p:cNvGrpSpPr/>
          <p:nvPr/>
        </p:nvGrpSpPr>
        <p:grpSpPr>
          <a:xfrm rot="0">
            <a:off x="9395460" y="2948940"/>
            <a:ext cx="8023860" cy="4114800"/>
            <a:chOff x="0" y="0"/>
            <a:chExt cx="10698480" cy="5486400"/>
          </a:xfrm>
        </p:grpSpPr>
        <p:sp>
          <p:nvSpPr>
            <p:cNvPr name="Freeform 54" id="54"/>
            <p:cNvSpPr/>
            <p:nvPr/>
          </p:nvSpPr>
          <p:spPr>
            <a:xfrm flipH="false" flipV="false" rot="0">
              <a:off x="0" y="0"/>
              <a:ext cx="10698480" cy="5486400"/>
            </a:xfrm>
            <a:custGeom>
              <a:avLst/>
              <a:gdLst/>
              <a:ahLst/>
              <a:cxnLst/>
              <a:rect r="r" b="b" t="t" l="l"/>
              <a:pathLst>
                <a:path h="5486400" w="10698480">
                  <a:moveTo>
                    <a:pt x="0" y="182880"/>
                  </a:moveTo>
                  <a:cubicBezTo>
                    <a:pt x="0" y="81915"/>
                    <a:pt x="81915" y="0"/>
                    <a:pt x="182880" y="0"/>
                  </a:cubicBezTo>
                  <a:lnTo>
                    <a:pt x="10515600" y="0"/>
                  </a:lnTo>
                  <a:cubicBezTo>
                    <a:pt x="10616565" y="0"/>
                    <a:pt x="10698480" y="81915"/>
                    <a:pt x="10698480" y="182880"/>
                  </a:cubicBezTo>
                  <a:lnTo>
                    <a:pt x="10698480" y="5303520"/>
                  </a:lnTo>
                  <a:cubicBezTo>
                    <a:pt x="10698480" y="5404485"/>
                    <a:pt x="10616565" y="5486400"/>
                    <a:pt x="10515600" y="5486400"/>
                  </a:cubicBezTo>
                  <a:lnTo>
                    <a:pt x="182880" y="5486400"/>
                  </a:lnTo>
                  <a:cubicBezTo>
                    <a:pt x="81915" y="5486400"/>
                    <a:pt x="0" y="5404485"/>
                    <a:pt x="0" y="5303520"/>
                  </a:cubicBezTo>
                  <a:close/>
                </a:path>
              </a:pathLst>
            </a:custGeom>
            <a:solidFill>
              <a:srgbClr val="0F1128"/>
            </a:solidFill>
          </p:spPr>
        </p:sp>
      </p:grpSp>
      <p:grpSp>
        <p:nvGrpSpPr>
          <p:cNvPr name="Group 55" id="55"/>
          <p:cNvGrpSpPr/>
          <p:nvPr/>
        </p:nvGrpSpPr>
        <p:grpSpPr>
          <a:xfrm rot="0">
            <a:off x="9738360" y="3182112"/>
            <a:ext cx="7269480" cy="342900"/>
            <a:chOff x="0" y="0"/>
            <a:chExt cx="9692640" cy="457200"/>
          </a:xfrm>
        </p:grpSpPr>
        <p:sp>
          <p:nvSpPr>
            <p:cNvPr name="Freeform 56" id="56"/>
            <p:cNvSpPr/>
            <p:nvPr/>
          </p:nvSpPr>
          <p:spPr>
            <a:xfrm flipH="false" flipV="false" rot="0">
              <a:off x="0" y="0"/>
              <a:ext cx="9692640" cy="457200"/>
            </a:xfrm>
            <a:custGeom>
              <a:avLst/>
              <a:gdLst/>
              <a:ahLst/>
              <a:cxnLst/>
              <a:rect r="r" b="b" t="t" l="l"/>
              <a:pathLst>
                <a:path h="457200" w="9692640">
                  <a:moveTo>
                    <a:pt x="0" y="0"/>
                  </a:moveTo>
                  <a:lnTo>
                    <a:pt x="9692640" y="0"/>
                  </a:lnTo>
                  <a:lnTo>
                    <a:pt x="9692640" y="457200"/>
                  </a:lnTo>
                  <a:lnTo>
                    <a:pt x="0" y="457200"/>
                  </a:lnTo>
                  <a:close/>
                </a:path>
              </a:pathLst>
            </a:custGeom>
            <a:blipFill>
              <a:blip r:embed="rId3">
                <a:alphaModFix amt="0"/>
              </a:blip>
              <a:stretch>
                <a:fillRect l="0" t="-363082" r="0" b="-363082"/>
              </a:stretch>
            </a:blipFill>
          </p:spPr>
        </p:sp>
        <p:sp>
          <p:nvSpPr>
            <p:cNvPr name="TextBox 57" id="57"/>
            <p:cNvSpPr txBox="true"/>
            <p:nvPr/>
          </p:nvSpPr>
          <p:spPr>
            <a:xfrm>
              <a:off x="0" y="-38100"/>
              <a:ext cx="9692640" cy="495300"/>
            </a:xfrm>
            <a:prstGeom prst="rect">
              <a:avLst/>
            </a:prstGeom>
          </p:spPr>
          <p:txBody>
            <a:bodyPr anchor="ctr" rtlCol="false" tIns="0" lIns="0" bIns="0" rIns="0"/>
            <a:lstStyle/>
            <a:p>
              <a:pPr algn="l">
                <a:lnSpc>
                  <a:spcPts val="1829"/>
                </a:lnSpc>
              </a:pPr>
              <a:r>
                <a:rPr lang="en-US" b="true" sz="1524" spc="240">
                  <a:solidFill>
                    <a:srgbClr val="4FB6B0"/>
                  </a:solidFill>
                  <a:latin typeface="Calibri (MS) Bold"/>
                  <a:ea typeface="Calibri (MS) Bold"/>
                  <a:cs typeface="Calibri (MS) Bold"/>
                  <a:sym typeface="Calibri (MS) Bold"/>
                </a:rPr>
                <a:t>SAMPLE OUTPUT</a:t>
              </a:r>
            </a:p>
          </p:txBody>
        </p:sp>
      </p:grpSp>
      <p:sp>
        <p:nvSpPr>
          <p:cNvPr name="TextBox 58" id="58"/>
          <p:cNvSpPr txBox="true"/>
          <p:nvPr/>
        </p:nvSpPr>
        <p:spPr>
          <a:xfrm rot="0">
            <a:off x="9738360" y="3517392"/>
            <a:ext cx="7269480" cy="3368040"/>
          </a:xfrm>
          <a:prstGeom prst="rect">
            <a:avLst/>
          </a:prstGeom>
        </p:spPr>
        <p:txBody>
          <a:bodyPr anchor="t" rtlCol="false" tIns="0" lIns="0" bIns="0" rIns="0">
            <a:spAutoFit/>
          </a:bodyPr>
          <a:lstStyle/>
          <a:p>
            <a:pPr algn="l">
              <a:lnSpc>
                <a:spcPts val="2808"/>
              </a:lnSpc>
            </a:pPr>
            <a:r>
              <a:rPr lang="en-US" sz="1800">
                <a:solidFill>
                  <a:srgbClr val="E9ECF7"/>
                </a:solidFill>
                <a:latin typeface="Courier New"/>
                <a:ea typeface="Courier New"/>
                <a:cs typeface="Courier New"/>
                <a:sym typeface="Courier New"/>
              </a:rPr>
              <a:t>Order Summary</a:t>
            </a:r>
          </a:p>
          <a:p>
            <a:pPr algn="l">
              <a:lnSpc>
                <a:spcPts val="2808"/>
              </a:lnSpc>
            </a:pPr>
            <a:r>
              <a:rPr lang="en-US" sz="1800">
                <a:solidFill>
                  <a:srgbClr val="E9ECF7"/>
                </a:solidFill>
                <a:latin typeface="Courier New"/>
                <a:ea typeface="Courier New"/>
                <a:cs typeface="Courier New"/>
                <a:sym typeface="Courier New"/>
              </a:rPr>
              <a:t>---------------</a:t>
            </a:r>
          </a:p>
          <a:p>
            <a:pPr algn="l">
              <a:lnSpc>
                <a:spcPts val="2808"/>
              </a:lnSpc>
            </a:pPr>
            <a:r>
              <a:rPr lang="en-US" sz="1800">
                <a:solidFill>
                  <a:srgbClr val="E9ECF7"/>
                </a:solidFill>
                <a:latin typeface="Courier New"/>
                <a:ea typeface="Courier New"/>
                <a:cs typeface="Courier New"/>
                <a:sym typeface="Courier New"/>
              </a:rPr>
              <a:t>Customer: Sara</a:t>
            </a:r>
          </a:p>
          <a:p>
            <a:pPr algn="l">
              <a:lnSpc>
                <a:spcPts val="2808"/>
              </a:lnSpc>
            </a:pPr>
            <a:r>
              <a:rPr lang="en-US" sz="1800">
                <a:solidFill>
                  <a:srgbClr val="E9ECF7"/>
                </a:solidFill>
                <a:latin typeface="Courier New"/>
                <a:ea typeface="Courier New"/>
                <a:cs typeface="Courier New"/>
                <a:sym typeface="Courier New"/>
              </a:rPr>
              <a:t>Item: Veg Burger</a:t>
            </a:r>
          </a:p>
          <a:p>
            <a:pPr algn="l">
              <a:lnSpc>
                <a:spcPts val="2808"/>
              </a:lnSpc>
            </a:pPr>
            <a:r>
              <a:rPr lang="en-US" sz="1800">
                <a:solidFill>
                  <a:srgbClr val="E9ECF7"/>
                </a:solidFill>
                <a:latin typeface="Courier New"/>
                <a:ea typeface="Courier New"/>
                <a:cs typeface="Courier New"/>
                <a:sym typeface="Courier New"/>
              </a:rPr>
              <a:t>Quantity: 2</a:t>
            </a:r>
          </a:p>
          <a:p>
            <a:pPr algn="l">
              <a:lnSpc>
                <a:spcPts val="2808"/>
              </a:lnSpc>
            </a:pPr>
            <a:r>
              <a:rPr lang="en-US" sz="1800">
                <a:solidFill>
                  <a:srgbClr val="E9ECF7"/>
                </a:solidFill>
                <a:latin typeface="Courier New"/>
                <a:ea typeface="Courier New"/>
                <a:cs typeface="Courier New"/>
                <a:sym typeface="Courier New"/>
              </a:rPr>
              <a:t>Total: Rs. 240.0</a:t>
            </a:r>
          </a:p>
          <a:p>
            <a:pPr algn="l">
              <a:lnSpc>
                <a:spcPts val="2808"/>
              </a:lnSpc>
            </a:pPr>
          </a:p>
          <a:p>
            <a:pPr algn="l">
              <a:lnSpc>
                <a:spcPts val="2808"/>
              </a:lnSpc>
            </a:pPr>
            <a:r>
              <a:rPr lang="en-US" sz="1800">
                <a:solidFill>
                  <a:srgbClr val="E9ECF7"/>
                </a:solidFill>
                <a:latin typeface="Courier New"/>
                <a:ea typeface="Courier New"/>
                <a:cs typeface="Courier New"/>
                <a:sym typeface="Courier New"/>
              </a:rPr>
              <a:t>Thanks for your order, Sara!</a:t>
            </a:r>
          </a:p>
        </p:txBody>
      </p:sp>
      <p:grpSp>
        <p:nvGrpSpPr>
          <p:cNvPr name="Group 59" id="59"/>
          <p:cNvGrpSpPr/>
          <p:nvPr/>
        </p:nvGrpSpPr>
        <p:grpSpPr>
          <a:xfrm rot="0">
            <a:off x="822960" y="7338060"/>
            <a:ext cx="5486400" cy="411480"/>
            <a:chOff x="0" y="0"/>
            <a:chExt cx="7315200" cy="548640"/>
          </a:xfrm>
        </p:grpSpPr>
        <p:sp>
          <p:nvSpPr>
            <p:cNvPr name="Freeform 60" id="60"/>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61" id="61"/>
            <p:cNvSpPr txBox="true"/>
            <p:nvPr/>
          </p:nvSpPr>
          <p:spPr>
            <a:xfrm>
              <a:off x="0" y="-38100"/>
              <a:ext cx="7315200" cy="586740"/>
            </a:xfrm>
            <a:prstGeom prst="rect">
              <a:avLst/>
            </a:prstGeom>
          </p:spPr>
          <p:txBody>
            <a:bodyPr anchor="ctr" rtlCol="false" tIns="0" lIns="0" bIns="0" rIns="0"/>
            <a:lstStyle/>
            <a:p>
              <a:pPr algn="l">
                <a:lnSpc>
                  <a:spcPts val="2189"/>
                </a:lnSpc>
              </a:pPr>
              <a:r>
                <a:rPr lang="en-US" sz="1824" b="true">
                  <a:solidFill>
                    <a:srgbClr val="C7CCEA"/>
                  </a:solidFill>
                  <a:latin typeface="Calibri (MS) Bold"/>
                  <a:ea typeface="Calibri (MS) Bold"/>
                  <a:cs typeface="Calibri (MS) Bold"/>
                  <a:sym typeface="Calibri (MS) Bold"/>
                </a:rPr>
                <a:t>Concepts this reinforces:</a:t>
              </a:r>
            </a:p>
          </p:txBody>
        </p:sp>
      </p:grpSp>
      <p:grpSp>
        <p:nvGrpSpPr>
          <p:cNvPr name="Group 62" id="62"/>
          <p:cNvGrpSpPr/>
          <p:nvPr/>
        </p:nvGrpSpPr>
        <p:grpSpPr>
          <a:xfrm rot="0">
            <a:off x="813435" y="7808595"/>
            <a:ext cx="1815846" cy="595122"/>
            <a:chOff x="0" y="0"/>
            <a:chExt cx="2421128" cy="793496"/>
          </a:xfrm>
        </p:grpSpPr>
        <p:sp>
          <p:nvSpPr>
            <p:cNvPr name="Freeform 63" id="63"/>
            <p:cNvSpPr/>
            <p:nvPr/>
          </p:nvSpPr>
          <p:spPr>
            <a:xfrm flipH="false" flipV="false" rot="0">
              <a:off x="0" y="0"/>
              <a:ext cx="2421128" cy="793496"/>
            </a:xfrm>
            <a:custGeom>
              <a:avLst/>
              <a:gdLst/>
              <a:ahLst/>
              <a:cxnLst/>
              <a:rect r="r" b="b" t="t" l="l"/>
              <a:pathLst>
                <a:path h="793496" w="2421128">
                  <a:moveTo>
                    <a:pt x="0" y="396748"/>
                  </a:moveTo>
                  <a:cubicBezTo>
                    <a:pt x="0" y="177673"/>
                    <a:pt x="177673" y="0"/>
                    <a:pt x="396748" y="0"/>
                  </a:cubicBezTo>
                  <a:lnTo>
                    <a:pt x="2024380" y="0"/>
                  </a:lnTo>
                  <a:cubicBezTo>
                    <a:pt x="2243455" y="0"/>
                    <a:pt x="2421128" y="177673"/>
                    <a:pt x="2421128" y="396748"/>
                  </a:cubicBezTo>
                  <a:cubicBezTo>
                    <a:pt x="2421128" y="615823"/>
                    <a:pt x="2243455" y="793496"/>
                    <a:pt x="2024380" y="793496"/>
                  </a:cubicBezTo>
                  <a:lnTo>
                    <a:pt x="396748" y="793496"/>
                  </a:lnTo>
                  <a:cubicBezTo>
                    <a:pt x="177673" y="793496"/>
                    <a:pt x="0" y="615823"/>
                    <a:pt x="0" y="396748"/>
                  </a:cubicBezTo>
                  <a:close/>
                </a:path>
              </a:pathLst>
            </a:custGeom>
            <a:solidFill>
              <a:srgbClr val="2A3163"/>
            </a:solidFill>
            <a:ln w="19050" cap="sq">
              <a:solidFill>
                <a:srgbClr val="3D4680"/>
              </a:solidFill>
              <a:prstDash val="solid"/>
              <a:miter/>
            </a:ln>
          </p:spPr>
        </p:sp>
      </p:grpSp>
      <p:grpSp>
        <p:nvGrpSpPr>
          <p:cNvPr name="Group 64" id="64"/>
          <p:cNvGrpSpPr/>
          <p:nvPr/>
        </p:nvGrpSpPr>
        <p:grpSpPr>
          <a:xfrm rot="0">
            <a:off x="822960" y="7818120"/>
            <a:ext cx="1796796" cy="576072"/>
            <a:chOff x="0" y="0"/>
            <a:chExt cx="2395728" cy="768096"/>
          </a:xfrm>
        </p:grpSpPr>
        <p:sp>
          <p:nvSpPr>
            <p:cNvPr name="Freeform 65" id="65"/>
            <p:cNvSpPr/>
            <p:nvPr/>
          </p:nvSpPr>
          <p:spPr>
            <a:xfrm flipH="false" flipV="false" rot="0">
              <a:off x="0" y="0"/>
              <a:ext cx="2395728" cy="768096"/>
            </a:xfrm>
            <a:custGeom>
              <a:avLst/>
              <a:gdLst/>
              <a:ahLst/>
              <a:cxnLst/>
              <a:rect r="r" b="b" t="t" l="l"/>
              <a:pathLst>
                <a:path h="768096" w="2395728">
                  <a:moveTo>
                    <a:pt x="0" y="0"/>
                  </a:moveTo>
                  <a:lnTo>
                    <a:pt x="2395728" y="0"/>
                  </a:lnTo>
                  <a:lnTo>
                    <a:pt x="2395728" y="768096"/>
                  </a:lnTo>
                  <a:lnTo>
                    <a:pt x="0" y="768096"/>
                  </a:lnTo>
                  <a:close/>
                </a:path>
              </a:pathLst>
            </a:custGeom>
            <a:blipFill>
              <a:blip r:embed="rId3">
                <a:alphaModFix amt="0"/>
              </a:blip>
              <a:stretch>
                <a:fillRect l="0" t="-10774" r="0" b="-10774"/>
              </a:stretch>
            </a:blipFill>
          </p:spPr>
        </p:sp>
        <p:sp>
          <p:nvSpPr>
            <p:cNvPr name="TextBox 66" id="66"/>
            <p:cNvSpPr txBox="true"/>
            <p:nvPr/>
          </p:nvSpPr>
          <p:spPr>
            <a:xfrm>
              <a:off x="0" y="-38100"/>
              <a:ext cx="2395728" cy="806196"/>
            </a:xfrm>
            <a:prstGeom prst="rect">
              <a:avLst/>
            </a:prstGeom>
          </p:spPr>
          <p:txBody>
            <a:bodyPr anchor="ctr" rtlCol="false" tIns="0" lIns="0" bIns="0" rIns="0"/>
            <a:lstStyle/>
            <a:p>
              <a:pPr algn="ctr">
                <a:lnSpc>
                  <a:spcPts val="2009"/>
                </a:lnSpc>
              </a:pPr>
              <a:r>
                <a:rPr lang="en-US" sz="1674" b="true">
                  <a:solidFill>
                    <a:srgbClr val="FFB84C"/>
                  </a:solidFill>
                  <a:latin typeface="Calibri (MS) Bold"/>
                  <a:ea typeface="Calibri (MS) Bold"/>
                  <a:cs typeface="Calibri (MS) Bold"/>
                  <a:sym typeface="Calibri (MS) Bold"/>
                </a:rPr>
                <a:t>Variables</a:t>
              </a:r>
            </a:p>
          </p:txBody>
        </p:sp>
      </p:grpSp>
      <p:grpSp>
        <p:nvGrpSpPr>
          <p:cNvPr name="Group 67" id="67"/>
          <p:cNvGrpSpPr/>
          <p:nvPr/>
        </p:nvGrpSpPr>
        <p:grpSpPr>
          <a:xfrm rot="0">
            <a:off x="2857119" y="7808595"/>
            <a:ext cx="1939290" cy="595122"/>
            <a:chOff x="0" y="0"/>
            <a:chExt cx="2585720" cy="793496"/>
          </a:xfrm>
        </p:grpSpPr>
        <p:sp>
          <p:nvSpPr>
            <p:cNvPr name="Freeform 68" id="68"/>
            <p:cNvSpPr/>
            <p:nvPr/>
          </p:nvSpPr>
          <p:spPr>
            <a:xfrm flipH="false" flipV="false" rot="0">
              <a:off x="0" y="0"/>
              <a:ext cx="2585720" cy="793496"/>
            </a:xfrm>
            <a:custGeom>
              <a:avLst/>
              <a:gdLst/>
              <a:ahLst/>
              <a:cxnLst/>
              <a:rect r="r" b="b" t="t" l="l"/>
              <a:pathLst>
                <a:path h="793496" w="2585720">
                  <a:moveTo>
                    <a:pt x="0" y="396748"/>
                  </a:moveTo>
                  <a:cubicBezTo>
                    <a:pt x="0" y="177673"/>
                    <a:pt x="177673" y="0"/>
                    <a:pt x="396748" y="0"/>
                  </a:cubicBezTo>
                  <a:lnTo>
                    <a:pt x="2188972" y="0"/>
                  </a:lnTo>
                  <a:cubicBezTo>
                    <a:pt x="2408047" y="0"/>
                    <a:pt x="2585720" y="177673"/>
                    <a:pt x="2585720" y="396748"/>
                  </a:cubicBezTo>
                  <a:cubicBezTo>
                    <a:pt x="2585720" y="615823"/>
                    <a:pt x="2408047" y="793496"/>
                    <a:pt x="2188972" y="793496"/>
                  </a:cubicBezTo>
                  <a:lnTo>
                    <a:pt x="396748" y="793496"/>
                  </a:lnTo>
                  <a:cubicBezTo>
                    <a:pt x="177673" y="793496"/>
                    <a:pt x="0" y="615823"/>
                    <a:pt x="0" y="396748"/>
                  </a:cubicBezTo>
                  <a:close/>
                </a:path>
              </a:pathLst>
            </a:custGeom>
            <a:solidFill>
              <a:srgbClr val="2A3163"/>
            </a:solidFill>
            <a:ln w="19050" cap="sq">
              <a:solidFill>
                <a:srgbClr val="3D4680"/>
              </a:solidFill>
              <a:prstDash val="solid"/>
              <a:miter/>
            </a:ln>
          </p:spPr>
        </p:sp>
      </p:grpSp>
      <p:grpSp>
        <p:nvGrpSpPr>
          <p:cNvPr name="Group 69" id="69"/>
          <p:cNvGrpSpPr/>
          <p:nvPr/>
        </p:nvGrpSpPr>
        <p:grpSpPr>
          <a:xfrm rot="0">
            <a:off x="2866644" y="7818120"/>
            <a:ext cx="1920240" cy="576072"/>
            <a:chOff x="0" y="0"/>
            <a:chExt cx="2560320" cy="768096"/>
          </a:xfrm>
        </p:grpSpPr>
        <p:sp>
          <p:nvSpPr>
            <p:cNvPr name="Freeform 70" id="70"/>
            <p:cNvSpPr/>
            <p:nvPr/>
          </p:nvSpPr>
          <p:spPr>
            <a:xfrm flipH="false" flipV="false" rot="0">
              <a:off x="0" y="0"/>
              <a:ext cx="2560320" cy="768096"/>
            </a:xfrm>
            <a:custGeom>
              <a:avLst/>
              <a:gdLst/>
              <a:ahLst/>
              <a:cxnLst/>
              <a:rect r="r" b="b" t="t" l="l"/>
              <a:pathLst>
                <a:path h="768096" w="2560320">
                  <a:moveTo>
                    <a:pt x="0" y="0"/>
                  </a:moveTo>
                  <a:lnTo>
                    <a:pt x="2560320" y="0"/>
                  </a:lnTo>
                  <a:lnTo>
                    <a:pt x="2560320" y="768096"/>
                  </a:lnTo>
                  <a:lnTo>
                    <a:pt x="0" y="768096"/>
                  </a:lnTo>
                  <a:close/>
                </a:path>
              </a:pathLst>
            </a:custGeom>
            <a:blipFill>
              <a:blip r:embed="rId3">
                <a:alphaModFix amt="0"/>
              </a:blip>
              <a:stretch>
                <a:fillRect l="0" t="-14950" r="0" b="-14950"/>
              </a:stretch>
            </a:blipFill>
          </p:spPr>
        </p:sp>
        <p:sp>
          <p:nvSpPr>
            <p:cNvPr name="TextBox 71" id="71"/>
            <p:cNvSpPr txBox="true"/>
            <p:nvPr/>
          </p:nvSpPr>
          <p:spPr>
            <a:xfrm>
              <a:off x="0" y="-38100"/>
              <a:ext cx="2560320" cy="806196"/>
            </a:xfrm>
            <a:prstGeom prst="rect">
              <a:avLst/>
            </a:prstGeom>
          </p:spPr>
          <p:txBody>
            <a:bodyPr anchor="ctr" rtlCol="false" tIns="0" lIns="0" bIns="0" rIns="0"/>
            <a:lstStyle/>
            <a:p>
              <a:pPr algn="ctr">
                <a:lnSpc>
                  <a:spcPts val="2009"/>
                </a:lnSpc>
              </a:pPr>
              <a:r>
                <a:rPr lang="en-US" sz="1674" b="true">
                  <a:solidFill>
                    <a:srgbClr val="FFB84C"/>
                  </a:solidFill>
                  <a:latin typeface="Calibri (MS) Bold"/>
                  <a:ea typeface="Calibri (MS) Bold"/>
                  <a:cs typeface="Calibri (MS) Bold"/>
                  <a:sym typeface="Calibri (MS) Bold"/>
                </a:rPr>
                <a:t>Data Types</a:t>
              </a:r>
            </a:p>
          </p:txBody>
        </p:sp>
      </p:grpSp>
      <p:grpSp>
        <p:nvGrpSpPr>
          <p:cNvPr name="Group 72" id="72"/>
          <p:cNvGrpSpPr/>
          <p:nvPr/>
        </p:nvGrpSpPr>
        <p:grpSpPr>
          <a:xfrm rot="0">
            <a:off x="5024247" y="7808595"/>
            <a:ext cx="1568958" cy="595122"/>
            <a:chOff x="0" y="0"/>
            <a:chExt cx="2091944" cy="793496"/>
          </a:xfrm>
        </p:grpSpPr>
        <p:sp>
          <p:nvSpPr>
            <p:cNvPr name="Freeform 73" id="73"/>
            <p:cNvSpPr/>
            <p:nvPr/>
          </p:nvSpPr>
          <p:spPr>
            <a:xfrm flipH="false" flipV="false" rot="0">
              <a:off x="0" y="0"/>
              <a:ext cx="2091944" cy="793496"/>
            </a:xfrm>
            <a:custGeom>
              <a:avLst/>
              <a:gdLst/>
              <a:ahLst/>
              <a:cxnLst/>
              <a:rect r="r" b="b" t="t" l="l"/>
              <a:pathLst>
                <a:path h="793496" w="2091944">
                  <a:moveTo>
                    <a:pt x="0" y="396748"/>
                  </a:moveTo>
                  <a:cubicBezTo>
                    <a:pt x="0" y="177673"/>
                    <a:pt x="177673" y="0"/>
                    <a:pt x="396748" y="0"/>
                  </a:cubicBezTo>
                  <a:lnTo>
                    <a:pt x="1695196" y="0"/>
                  </a:lnTo>
                  <a:cubicBezTo>
                    <a:pt x="1914271" y="0"/>
                    <a:pt x="2091944" y="177673"/>
                    <a:pt x="2091944" y="396748"/>
                  </a:cubicBezTo>
                  <a:cubicBezTo>
                    <a:pt x="2091944" y="615823"/>
                    <a:pt x="1914271" y="793496"/>
                    <a:pt x="1695196" y="793496"/>
                  </a:cubicBezTo>
                  <a:lnTo>
                    <a:pt x="396748" y="793496"/>
                  </a:lnTo>
                  <a:cubicBezTo>
                    <a:pt x="177673" y="793496"/>
                    <a:pt x="0" y="615823"/>
                    <a:pt x="0" y="396748"/>
                  </a:cubicBezTo>
                  <a:close/>
                </a:path>
              </a:pathLst>
            </a:custGeom>
            <a:solidFill>
              <a:srgbClr val="2A3163"/>
            </a:solidFill>
            <a:ln w="19050" cap="sq">
              <a:solidFill>
                <a:srgbClr val="3D4680"/>
              </a:solidFill>
              <a:prstDash val="solid"/>
              <a:miter/>
            </a:ln>
          </p:spPr>
        </p:sp>
      </p:grpSp>
      <p:grpSp>
        <p:nvGrpSpPr>
          <p:cNvPr name="Group 74" id="74"/>
          <p:cNvGrpSpPr/>
          <p:nvPr/>
        </p:nvGrpSpPr>
        <p:grpSpPr>
          <a:xfrm rot="0">
            <a:off x="5033772" y="7818120"/>
            <a:ext cx="1549908" cy="576072"/>
            <a:chOff x="0" y="0"/>
            <a:chExt cx="2066544" cy="768096"/>
          </a:xfrm>
        </p:grpSpPr>
        <p:sp>
          <p:nvSpPr>
            <p:cNvPr name="Freeform 75" id="75"/>
            <p:cNvSpPr/>
            <p:nvPr/>
          </p:nvSpPr>
          <p:spPr>
            <a:xfrm flipH="false" flipV="false" rot="0">
              <a:off x="0" y="0"/>
              <a:ext cx="2066544" cy="768096"/>
            </a:xfrm>
            <a:custGeom>
              <a:avLst/>
              <a:gdLst/>
              <a:ahLst/>
              <a:cxnLst/>
              <a:rect r="r" b="b" t="t" l="l"/>
              <a:pathLst>
                <a:path h="768096" w="2066544">
                  <a:moveTo>
                    <a:pt x="0" y="0"/>
                  </a:moveTo>
                  <a:lnTo>
                    <a:pt x="2066544" y="0"/>
                  </a:lnTo>
                  <a:lnTo>
                    <a:pt x="2066544" y="768096"/>
                  </a:lnTo>
                  <a:lnTo>
                    <a:pt x="0" y="768096"/>
                  </a:lnTo>
                  <a:close/>
                </a:path>
              </a:pathLst>
            </a:custGeom>
            <a:blipFill>
              <a:blip r:embed="rId3">
                <a:alphaModFix amt="0"/>
              </a:blip>
              <a:stretch>
                <a:fillRect l="0" t="-2424" r="0" b="-2424"/>
              </a:stretch>
            </a:blipFill>
          </p:spPr>
        </p:sp>
        <p:sp>
          <p:nvSpPr>
            <p:cNvPr name="TextBox 76" id="76"/>
            <p:cNvSpPr txBox="true"/>
            <p:nvPr/>
          </p:nvSpPr>
          <p:spPr>
            <a:xfrm>
              <a:off x="0" y="-38100"/>
              <a:ext cx="2066544" cy="806196"/>
            </a:xfrm>
            <a:prstGeom prst="rect">
              <a:avLst/>
            </a:prstGeom>
          </p:spPr>
          <p:txBody>
            <a:bodyPr anchor="ctr" rtlCol="false" tIns="0" lIns="0" bIns="0" rIns="0"/>
            <a:lstStyle/>
            <a:p>
              <a:pPr algn="ctr">
                <a:lnSpc>
                  <a:spcPts val="2009"/>
                </a:lnSpc>
              </a:pPr>
              <a:r>
                <a:rPr lang="en-US" sz="1674" b="true">
                  <a:solidFill>
                    <a:srgbClr val="FFB84C"/>
                  </a:solidFill>
                  <a:latin typeface="Calibri (MS) Bold"/>
                  <a:ea typeface="Calibri (MS) Bold"/>
                  <a:cs typeface="Calibri (MS) Bold"/>
                  <a:sym typeface="Calibri (MS) Bold"/>
                </a:rPr>
                <a:t>Strings</a:t>
              </a:r>
            </a:p>
          </p:txBody>
        </p:sp>
      </p:grpSp>
      <p:grpSp>
        <p:nvGrpSpPr>
          <p:cNvPr name="Group 77" id="77"/>
          <p:cNvGrpSpPr/>
          <p:nvPr/>
        </p:nvGrpSpPr>
        <p:grpSpPr>
          <a:xfrm rot="0">
            <a:off x="6821043" y="7808595"/>
            <a:ext cx="1568958" cy="595122"/>
            <a:chOff x="0" y="0"/>
            <a:chExt cx="2091944" cy="793496"/>
          </a:xfrm>
        </p:grpSpPr>
        <p:sp>
          <p:nvSpPr>
            <p:cNvPr name="Freeform 78" id="78"/>
            <p:cNvSpPr/>
            <p:nvPr/>
          </p:nvSpPr>
          <p:spPr>
            <a:xfrm flipH="false" flipV="false" rot="0">
              <a:off x="0" y="0"/>
              <a:ext cx="2091944" cy="793496"/>
            </a:xfrm>
            <a:custGeom>
              <a:avLst/>
              <a:gdLst/>
              <a:ahLst/>
              <a:cxnLst/>
              <a:rect r="r" b="b" t="t" l="l"/>
              <a:pathLst>
                <a:path h="793496" w="2091944">
                  <a:moveTo>
                    <a:pt x="0" y="396748"/>
                  </a:moveTo>
                  <a:cubicBezTo>
                    <a:pt x="0" y="177673"/>
                    <a:pt x="177673" y="0"/>
                    <a:pt x="396748" y="0"/>
                  </a:cubicBezTo>
                  <a:lnTo>
                    <a:pt x="1695196" y="0"/>
                  </a:lnTo>
                  <a:cubicBezTo>
                    <a:pt x="1914271" y="0"/>
                    <a:pt x="2091944" y="177673"/>
                    <a:pt x="2091944" y="396748"/>
                  </a:cubicBezTo>
                  <a:cubicBezTo>
                    <a:pt x="2091944" y="615823"/>
                    <a:pt x="1914271" y="793496"/>
                    <a:pt x="1695196" y="793496"/>
                  </a:cubicBezTo>
                  <a:lnTo>
                    <a:pt x="396748" y="793496"/>
                  </a:lnTo>
                  <a:cubicBezTo>
                    <a:pt x="177673" y="793496"/>
                    <a:pt x="0" y="615823"/>
                    <a:pt x="0" y="396748"/>
                  </a:cubicBezTo>
                  <a:close/>
                </a:path>
              </a:pathLst>
            </a:custGeom>
            <a:solidFill>
              <a:srgbClr val="2A3163"/>
            </a:solidFill>
            <a:ln w="19050" cap="sq">
              <a:solidFill>
                <a:srgbClr val="3D4680"/>
              </a:solidFill>
              <a:prstDash val="solid"/>
              <a:miter/>
            </a:ln>
          </p:spPr>
        </p:sp>
      </p:grpSp>
      <p:grpSp>
        <p:nvGrpSpPr>
          <p:cNvPr name="Group 79" id="79"/>
          <p:cNvGrpSpPr/>
          <p:nvPr/>
        </p:nvGrpSpPr>
        <p:grpSpPr>
          <a:xfrm rot="0">
            <a:off x="6830568" y="7818120"/>
            <a:ext cx="1549908" cy="576072"/>
            <a:chOff x="0" y="0"/>
            <a:chExt cx="2066544" cy="768096"/>
          </a:xfrm>
        </p:grpSpPr>
        <p:sp>
          <p:nvSpPr>
            <p:cNvPr name="Freeform 80" id="80"/>
            <p:cNvSpPr/>
            <p:nvPr/>
          </p:nvSpPr>
          <p:spPr>
            <a:xfrm flipH="false" flipV="false" rot="0">
              <a:off x="0" y="0"/>
              <a:ext cx="2066544" cy="768096"/>
            </a:xfrm>
            <a:custGeom>
              <a:avLst/>
              <a:gdLst/>
              <a:ahLst/>
              <a:cxnLst/>
              <a:rect r="r" b="b" t="t" l="l"/>
              <a:pathLst>
                <a:path h="768096" w="2066544">
                  <a:moveTo>
                    <a:pt x="0" y="0"/>
                  </a:moveTo>
                  <a:lnTo>
                    <a:pt x="2066544" y="0"/>
                  </a:lnTo>
                  <a:lnTo>
                    <a:pt x="2066544" y="768096"/>
                  </a:lnTo>
                  <a:lnTo>
                    <a:pt x="0" y="768096"/>
                  </a:lnTo>
                  <a:close/>
                </a:path>
              </a:pathLst>
            </a:custGeom>
            <a:blipFill>
              <a:blip r:embed="rId3">
                <a:alphaModFix amt="0"/>
              </a:blip>
              <a:stretch>
                <a:fillRect l="0" t="-2424" r="0" b="-2424"/>
              </a:stretch>
            </a:blipFill>
          </p:spPr>
        </p:sp>
        <p:sp>
          <p:nvSpPr>
            <p:cNvPr name="TextBox 81" id="81"/>
            <p:cNvSpPr txBox="true"/>
            <p:nvPr/>
          </p:nvSpPr>
          <p:spPr>
            <a:xfrm>
              <a:off x="0" y="-38100"/>
              <a:ext cx="2066544" cy="806196"/>
            </a:xfrm>
            <a:prstGeom prst="rect">
              <a:avLst/>
            </a:prstGeom>
          </p:spPr>
          <p:txBody>
            <a:bodyPr anchor="ctr" rtlCol="false" tIns="0" lIns="0" bIns="0" rIns="0"/>
            <a:lstStyle/>
            <a:p>
              <a:pPr algn="ctr">
                <a:lnSpc>
                  <a:spcPts val="2009"/>
                </a:lnSpc>
              </a:pPr>
              <a:r>
                <a:rPr lang="en-US" sz="1674" b="true">
                  <a:solidFill>
                    <a:srgbClr val="FFB84C"/>
                  </a:solidFill>
                  <a:latin typeface="Calibri (MS) Bold"/>
                  <a:ea typeface="Calibri (MS) Bold"/>
                  <a:cs typeface="Calibri (MS) Bold"/>
                  <a:sym typeface="Calibri (MS) Bold"/>
                </a:rPr>
                <a:t>print()</a:t>
              </a:r>
            </a:p>
          </p:txBody>
        </p:sp>
      </p:grpSp>
      <p:grpSp>
        <p:nvGrpSpPr>
          <p:cNvPr name="Group 82" id="82"/>
          <p:cNvGrpSpPr/>
          <p:nvPr/>
        </p:nvGrpSpPr>
        <p:grpSpPr>
          <a:xfrm rot="0">
            <a:off x="8617839" y="7808595"/>
            <a:ext cx="1939290" cy="595122"/>
            <a:chOff x="0" y="0"/>
            <a:chExt cx="2585720" cy="793496"/>
          </a:xfrm>
        </p:grpSpPr>
        <p:sp>
          <p:nvSpPr>
            <p:cNvPr name="Freeform 83" id="83"/>
            <p:cNvSpPr/>
            <p:nvPr/>
          </p:nvSpPr>
          <p:spPr>
            <a:xfrm flipH="false" flipV="false" rot="0">
              <a:off x="0" y="0"/>
              <a:ext cx="2585720" cy="793496"/>
            </a:xfrm>
            <a:custGeom>
              <a:avLst/>
              <a:gdLst/>
              <a:ahLst/>
              <a:cxnLst/>
              <a:rect r="r" b="b" t="t" l="l"/>
              <a:pathLst>
                <a:path h="793496" w="2585720">
                  <a:moveTo>
                    <a:pt x="0" y="396748"/>
                  </a:moveTo>
                  <a:cubicBezTo>
                    <a:pt x="0" y="177673"/>
                    <a:pt x="177673" y="0"/>
                    <a:pt x="396748" y="0"/>
                  </a:cubicBezTo>
                  <a:lnTo>
                    <a:pt x="2188972" y="0"/>
                  </a:lnTo>
                  <a:cubicBezTo>
                    <a:pt x="2408047" y="0"/>
                    <a:pt x="2585720" y="177673"/>
                    <a:pt x="2585720" y="396748"/>
                  </a:cubicBezTo>
                  <a:cubicBezTo>
                    <a:pt x="2585720" y="615823"/>
                    <a:pt x="2408047" y="793496"/>
                    <a:pt x="2188972" y="793496"/>
                  </a:cubicBezTo>
                  <a:lnTo>
                    <a:pt x="396748" y="793496"/>
                  </a:lnTo>
                  <a:cubicBezTo>
                    <a:pt x="177673" y="793496"/>
                    <a:pt x="0" y="615823"/>
                    <a:pt x="0" y="396748"/>
                  </a:cubicBezTo>
                  <a:close/>
                </a:path>
              </a:pathLst>
            </a:custGeom>
            <a:solidFill>
              <a:srgbClr val="2A3163"/>
            </a:solidFill>
            <a:ln w="19050" cap="sq">
              <a:solidFill>
                <a:srgbClr val="3D4680"/>
              </a:solidFill>
              <a:prstDash val="solid"/>
              <a:miter/>
            </a:ln>
          </p:spPr>
        </p:sp>
      </p:grpSp>
      <p:grpSp>
        <p:nvGrpSpPr>
          <p:cNvPr name="Group 84" id="84"/>
          <p:cNvGrpSpPr/>
          <p:nvPr/>
        </p:nvGrpSpPr>
        <p:grpSpPr>
          <a:xfrm rot="0">
            <a:off x="8627364" y="7818120"/>
            <a:ext cx="1920240" cy="576072"/>
            <a:chOff x="0" y="0"/>
            <a:chExt cx="2560320" cy="768096"/>
          </a:xfrm>
        </p:grpSpPr>
        <p:sp>
          <p:nvSpPr>
            <p:cNvPr name="Freeform 85" id="85"/>
            <p:cNvSpPr/>
            <p:nvPr/>
          </p:nvSpPr>
          <p:spPr>
            <a:xfrm flipH="false" flipV="false" rot="0">
              <a:off x="0" y="0"/>
              <a:ext cx="2560320" cy="768096"/>
            </a:xfrm>
            <a:custGeom>
              <a:avLst/>
              <a:gdLst/>
              <a:ahLst/>
              <a:cxnLst/>
              <a:rect r="r" b="b" t="t" l="l"/>
              <a:pathLst>
                <a:path h="768096" w="2560320">
                  <a:moveTo>
                    <a:pt x="0" y="0"/>
                  </a:moveTo>
                  <a:lnTo>
                    <a:pt x="2560320" y="0"/>
                  </a:lnTo>
                  <a:lnTo>
                    <a:pt x="2560320" y="768096"/>
                  </a:lnTo>
                  <a:lnTo>
                    <a:pt x="0" y="768096"/>
                  </a:lnTo>
                  <a:close/>
                </a:path>
              </a:pathLst>
            </a:custGeom>
            <a:blipFill>
              <a:blip r:embed="rId3">
                <a:alphaModFix amt="0"/>
              </a:blip>
              <a:stretch>
                <a:fillRect l="0" t="-14950" r="0" b="-14950"/>
              </a:stretch>
            </a:blipFill>
          </p:spPr>
        </p:sp>
        <p:sp>
          <p:nvSpPr>
            <p:cNvPr name="TextBox 86" id="86"/>
            <p:cNvSpPr txBox="true"/>
            <p:nvPr/>
          </p:nvSpPr>
          <p:spPr>
            <a:xfrm>
              <a:off x="0" y="-38100"/>
              <a:ext cx="2560320" cy="806196"/>
            </a:xfrm>
            <a:prstGeom prst="rect">
              <a:avLst/>
            </a:prstGeom>
          </p:spPr>
          <p:txBody>
            <a:bodyPr anchor="ctr" rtlCol="false" tIns="0" lIns="0" bIns="0" rIns="0"/>
            <a:lstStyle/>
            <a:p>
              <a:pPr algn="ctr">
                <a:lnSpc>
                  <a:spcPts val="2009"/>
                </a:lnSpc>
              </a:pPr>
              <a:r>
                <a:rPr lang="en-US" sz="1674" b="true">
                  <a:solidFill>
                    <a:srgbClr val="FFB84C"/>
                  </a:solidFill>
                  <a:latin typeface="Calibri (MS) Bold"/>
                  <a:ea typeface="Calibri (MS) Bold"/>
                  <a:cs typeface="Calibri (MS) Bold"/>
                  <a:sym typeface="Calibri (MS) Bold"/>
                </a:rPr>
                <a:t>Formatting</a:t>
              </a:r>
            </a:p>
          </p:txBody>
        </p:sp>
      </p:grpSp>
      <p:grpSp>
        <p:nvGrpSpPr>
          <p:cNvPr name="Group 87" id="87"/>
          <p:cNvGrpSpPr/>
          <p:nvPr/>
        </p:nvGrpSpPr>
        <p:grpSpPr>
          <a:xfrm rot="0">
            <a:off x="10784967" y="7808595"/>
            <a:ext cx="2556510" cy="595122"/>
            <a:chOff x="0" y="0"/>
            <a:chExt cx="3408680" cy="793496"/>
          </a:xfrm>
        </p:grpSpPr>
        <p:sp>
          <p:nvSpPr>
            <p:cNvPr name="Freeform 88" id="88"/>
            <p:cNvSpPr/>
            <p:nvPr/>
          </p:nvSpPr>
          <p:spPr>
            <a:xfrm flipH="false" flipV="false" rot="0">
              <a:off x="0" y="0"/>
              <a:ext cx="3408680" cy="793496"/>
            </a:xfrm>
            <a:custGeom>
              <a:avLst/>
              <a:gdLst/>
              <a:ahLst/>
              <a:cxnLst/>
              <a:rect r="r" b="b" t="t" l="l"/>
              <a:pathLst>
                <a:path h="793496" w="3408680">
                  <a:moveTo>
                    <a:pt x="0" y="396748"/>
                  </a:moveTo>
                  <a:cubicBezTo>
                    <a:pt x="0" y="177673"/>
                    <a:pt x="177673" y="0"/>
                    <a:pt x="396748" y="0"/>
                  </a:cubicBezTo>
                  <a:lnTo>
                    <a:pt x="3011932" y="0"/>
                  </a:lnTo>
                  <a:cubicBezTo>
                    <a:pt x="3231007" y="0"/>
                    <a:pt x="3408680" y="177673"/>
                    <a:pt x="3408680" y="396748"/>
                  </a:cubicBezTo>
                  <a:cubicBezTo>
                    <a:pt x="3408680" y="615823"/>
                    <a:pt x="3231007" y="793496"/>
                    <a:pt x="3011932" y="793496"/>
                  </a:cubicBezTo>
                  <a:lnTo>
                    <a:pt x="396748" y="793496"/>
                  </a:lnTo>
                  <a:cubicBezTo>
                    <a:pt x="177673" y="793496"/>
                    <a:pt x="0" y="615823"/>
                    <a:pt x="0" y="396748"/>
                  </a:cubicBezTo>
                  <a:close/>
                </a:path>
              </a:pathLst>
            </a:custGeom>
            <a:solidFill>
              <a:srgbClr val="2A3163"/>
            </a:solidFill>
            <a:ln w="19050" cap="sq">
              <a:solidFill>
                <a:srgbClr val="3D4680"/>
              </a:solidFill>
              <a:prstDash val="solid"/>
              <a:miter/>
            </a:ln>
          </p:spPr>
        </p:sp>
      </p:grpSp>
      <p:grpSp>
        <p:nvGrpSpPr>
          <p:cNvPr name="Group 89" id="89"/>
          <p:cNvGrpSpPr/>
          <p:nvPr/>
        </p:nvGrpSpPr>
        <p:grpSpPr>
          <a:xfrm rot="0">
            <a:off x="10794492" y="7818120"/>
            <a:ext cx="2537460" cy="576072"/>
            <a:chOff x="0" y="0"/>
            <a:chExt cx="3383280" cy="768096"/>
          </a:xfrm>
        </p:grpSpPr>
        <p:sp>
          <p:nvSpPr>
            <p:cNvPr name="Freeform 90" id="90"/>
            <p:cNvSpPr/>
            <p:nvPr/>
          </p:nvSpPr>
          <p:spPr>
            <a:xfrm flipH="false" flipV="false" rot="0">
              <a:off x="0" y="0"/>
              <a:ext cx="3383280" cy="768096"/>
            </a:xfrm>
            <a:custGeom>
              <a:avLst/>
              <a:gdLst/>
              <a:ahLst/>
              <a:cxnLst/>
              <a:rect r="r" b="b" t="t" l="l"/>
              <a:pathLst>
                <a:path h="768096" w="3383280">
                  <a:moveTo>
                    <a:pt x="0" y="0"/>
                  </a:moveTo>
                  <a:lnTo>
                    <a:pt x="3383280" y="0"/>
                  </a:lnTo>
                  <a:lnTo>
                    <a:pt x="3383280" y="768096"/>
                  </a:lnTo>
                  <a:lnTo>
                    <a:pt x="0" y="768096"/>
                  </a:lnTo>
                  <a:close/>
                </a:path>
              </a:pathLst>
            </a:custGeom>
            <a:blipFill>
              <a:blip r:embed="rId3">
                <a:alphaModFix amt="0"/>
              </a:blip>
              <a:stretch>
                <a:fillRect l="0" t="-35826" r="0" b="-35826"/>
              </a:stretch>
            </a:blipFill>
          </p:spPr>
        </p:sp>
        <p:sp>
          <p:nvSpPr>
            <p:cNvPr name="TextBox 91" id="91"/>
            <p:cNvSpPr txBox="true"/>
            <p:nvPr/>
          </p:nvSpPr>
          <p:spPr>
            <a:xfrm>
              <a:off x="0" y="-38100"/>
              <a:ext cx="3383280" cy="806196"/>
            </a:xfrm>
            <a:prstGeom prst="rect">
              <a:avLst/>
            </a:prstGeom>
          </p:spPr>
          <p:txBody>
            <a:bodyPr anchor="ctr" rtlCol="false" tIns="0" lIns="0" bIns="0" rIns="0"/>
            <a:lstStyle/>
            <a:p>
              <a:pPr algn="ctr">
                <a:lnSpc>
                  <a:spcPts val="2009"/>
                </a:lnSpc>
              </a:pPr>
              <a:r>
                <a:rPr lang="en-US" sz="1674" b="true">
                  <a:solidFill>
                    <a:srgbClr val="FFB84C"/>
                  </a:solidFill>
                  <a:latin typeface="Calibri (MS) Bold"/>
                  <a:ea typeface="Calibri (MS) Bold"/>
                  <a:cs typeface="Calibri (MS) Bold"/>
                  <a:sym typeface="Calibri (MS) Bold"/>
                </a:rPr>
                <a:t>Type Conversion</a:t>
              </a:r>
            </a:p>
          </p:txBody>
        </p:sp>
      </p:grpSp>
      <p:grpSp>
        <p:nvGrpSpPr>
          <p:cNvPr name="Group 92" id="92"/>
          <p:cNvGrpSpPr/>
          <p:nvPr/>
        </p:nvGrpSpPr>
        <p:grpSpPr>
          <a:xfrm rot="0">
            <a:off x="822960" y="8709660"/>
            <a:ext cx="15773400" cy="548640"/>
            <a:chOff x="0" y="0"/>
            <a:chExt cx="21031200" cy="731520"/>
          </a:xfrm>
        </p:grpSpPr>
        <p:sp>
          <p:nvSpPr>
            <p:cNvPr name="Freeform 93" id="93"/>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94" id="94"/>
            <p:cNvSpPr txBox="true"/>
            <p:nvPr/>
          </p:nvSpPr>
          <p:spPr>
            <a:xfrm>
              <a:off x="0" y="-38100"/>
              <a:ext cx="21031200" cy="769620"/>
            </a:xfrm>
            <a:prstGeom prst="rect">
              <a:avLst/>
            </a:prstGeom>
          </p:spPr>
          <p:txBody>
            <a:bodyPr anchor="ctr" rtlCol="false" tIns="0" lIns="0" bIns="0" rIns="0"/>
            <a:lstStyle/>
            <a:p>
              <a:pPr algn="l">
                <a:lnSpc>
                  <a:spcPts val="2009"/>
                </a:lnSpc>
              </a:pPr>
              <a:r>
                <a:rPr lang="en-US" sz="1674" i="true">
                  <a:solidFill>
                    <a:srgbClr val="9AA1CC"/>
                  </a:solidFill>
                  <a:latin typeface="Calibri (MS) Italics"/>
                  <a:ea typeface="Calibri (MS) Italics"/>
                  <a:cs typeface="Calibri (MS) Italics"/>
                  <a:sym typeface="Calibri (MS) Italics"/>
                </a:rPr>
                <a:t>Keep it simple — this is meant to be doable independently, right after today's session.</a:t>
              </a:r>
            </a:p>
          </p:txBody>
        </p:sp>
      </p:grpSp>
      <p:grpSp>
        <p:nvGrpSpPr>
          <p:cNvPr name="Group 95" id="95"/>
          <p:cNvGrpSpPr/>
          <p:nvPr/>
        </p:nvGrpSpPr>
        <p:grpSpPr>
          <a:xfrm rot="0">
            <a:off x="685800" y="9315450"/>
            <a:ext cx="10972800" cy="806958"/>
            <a:chOff x="0" y="0"/>
            <a:chExt cx="14630400" cy="1075944"/>
          </a:xfrm>
        </p:grpSpPr>
        <p:sp>
          <p:nvSpPr>
            <p:cNvPr name="Freeform 96" id="96"/>
            <p:cNvSpPr/>
            <p:nvPr/>
          </p:nvSpPr>
          <p:spPr>
            <a:xfrm flipH="false" flipV="false" rot="0">
              <a:off x="0" y="0"/>
              <a:ext cx="14630400" cy="1075944"/>
            </a:xfrm>
            <a:custGeom>
              <a:avLst/>
              <a:gdLst/>
              <a:ahLst/>
              <a:cxnLst/>
              <a:rect r="r" b="b" t="t" l="l"/>
              <a:pathLst>
                <a:path h="1075944" w="14630400">
                  <a:moveTo>
                    <a:pt x="0" y="0"/>
                  </a:moveTo>
                  <a:lnTo>
                    <a:pt x="14630400" y="0"/>
                  </a:lnTo>
                  <a:lnTo>
                    <a:pt x="14630400" y="1075944"/>
                  </a:lnTo>
                  <a:lnTo>
                    <a:pt x="0" y="1075944"/>
                  </a:lnTo>
                  <a:close/>
                </a:path>
              </a:pathLst>
            </a:custGeom>
            <a:blipFill>
              <a:blip r:embed="rId3">
                <a:alphaModFix amt="0"/>
              </a:blip>
              <a:stretch>
                <a:fillRect l="0" t="-239456" r="0" b="-190448"/>
              </a:stretch>
            </a:blipFill>
          </p:spPr>
        </p:sp>
        <p:sp>
          <p:nvSpPr>
            <p:cNvPr name="TextBox 97" id="97"/>
            <p:cNvSpPr txBox="true"/>
            <p:nvPr/>
          </p:nvSpPr>
          <p:spPr>
            <a:xfrm>
              <a:off x="0" y="-28575"/>
              <a:ext cx="14630400" cy="1104519"/>
            </a:xfrm>
            <a:prstGeom prst="rect">
              <a:avLst/>
            </a:prstGeom>
          </p:spPr>
          <p:txBody>
            <a:bodyPr anchor="ctr" rtlCol="false" tIns="0" lIns="0" bIns="0" rIns="0"/>
            <a:lstStyle/>
            <a:p>
              <a:pPr algn="l">
                <a:lnSpc>
                  <a:spcPts val="1620"/>
                </a:lnSpc>
              </a:pPr>
              <a:r>
                <a:rPr lang="en-US" sz="1350">
                  <a:solidFill>
                    <a:srgbClr val="FFFFFF"/>
                  </a:solidFill>
                  <a:latin typeface="Calibri (MS)"/>
                  <a:ea typeface="Calibri (MS)"/>
                  <a:cs typeface="Calibri (MS)"/>
                  <a:sym typeface="Calibri (MS)"/>
                </a:rPr>
                <a:t>ARROWDEV Study Group  •  Python Foundations</a:t>
              </a:r>
            </a:p>
          </p:txBody>
        </p:sp>
      </p:grpSp>
      <p:grpSp>
        <p:nvGrpSpPr>
          <p:cNvPr name="Group 98" id="98"/>
          <p:cNvGrpSpPr/>
          <p:nvPr/>
        </p:nvGrpSpPr>
        <p:grpSpPr>
          <a:xfrm rot="0">
            <a:off x="16915943" y="9710928"/>
            <a:ext cx="685800" cy="411480"/>
            <a:chOff x="0" y="0"/>
            <a:chExt cx="914400" cy="548640"/>
          </a:xfrm>
        </p:grpSpPr>
        <p:sp>
          <p:nvSpPr>
            <p:cNvPr name="Freeform 99" id="9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00" id="10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15</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8FC"/>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250"/>
                </a:lnSpc>
              </a:pPr>
              <a:r>
                <a:rPr lang="en-US" b="true" sz="1875" spc="300">
                  <a:solidFill>
                    <a:srgbClr val="FFB84C"/>
                  </a:solidFill>
                  <a:latin typeface="Calibri (MS) Bold"/>
                  <a:ea typeface="Calibri (MS) Bold"/>
                  <a:cs typeface="Calibri (MS) Bold"/>
                  <a:sym typeface="Calibri (MS) Bold"/>
                </a:rPr>
                <a:t>SESSION RECAP</a:t>
              </a:r>
            </a:p>
          </p:txBody>
        </p:sp>
      </p:grpSp>
      <p:grpSp>
        <p:nvGrpSpPr>
          <p:cNvPr name="Group 5" id="5"/>
          <p:cNvGrpSpPr/>
          <p:nvPr/>
        </p:nvGrpSpPr>
        <p:grpSpPr>
          <a:xfrm rot="0">
            <a:off x="822960" y="987552"/>
            <a:ext cx="16184880" cy="1234440"/>
            <a:chOff x="0" y="0"/>
            <a:chExt cx="21579840" cy="1645920"/>
          </a:xfrm>
        </p:grpSpPr>
        <p:sp>
          <p:nvSpPr>
            <p:cNvPr name="Freeform 6" id="6"/>
            <p:cNvSpPr/>
            <p:nvPr/>
          </p:nvSpPr>
          <p:spPr>
            <a:xfrm flipH="false" flipV="false" rot="0">
              <a:off x="0" y="0"/>
              <a:ext cx="21579839" cy="1645920"/>
            </a:xfrm>
            <a:custGeom>
              <a:avLst/>
              <a:gdLst/>
              <a:ahLst/>
              <a:cxnLst/>
              <a:rect r="r" b="b" t="t" l="l"/>
              <a:pathLst>
                <a:path h="1645920" w="21579839">
                  <a:moveTo>
                    <a:pt x="0" y="0"/>
                  </a:moveTo>
                  <a:lnTo>
                    <a:pt x="21579839" y="0"/>
                  </a:lnTo>
                  <a:lnTo>
                    <a:pt x="21579839" y="1645920"/>
                  </a:lnTo>
                  <a:lnTo>
                    <a:pt x="0" y="1645920"/>
                  </a:lnTo>
                  <a:close/>
                </a:path>
              </a:pathLst>
            </a:custGeom>
            <a:blipFill>
              <a:blip r:embed="rId3">
                <a:alphaModFix amt="0"/>
              </a:blip>
              <a:stretch>
                <a:fillRect l="0" t="-205470" r="0" b="-205470"/>
              </a:stretch>
            </a:blipFill>
          </p:spPr>
        </p:sp>
        <p:sp>
          <p:nvSpPr>
            <p:cNvPr name="TextBox 7" id="7"/>
            <p:cNvSpPr txBox="true"/>
            <p:nvPr/>
          </p:nvSpPr>
          <p:spPr>
            <a:xfrm>
              <a:off x="0" y="-9525"/>
              <a:ext cx="21579840" cy="1655445"/>
            </a:xfrm>
            <a:prstGeom prst="rect">
              <a:avLst/>
            </a:prstGeom>
          </p:spPr>
          <p:txBody>
            <a:bodyPr anchor="ctr" rtlCol="false" tIns="0" lIns="0" bIns="0" rIns="0"/>
            <a:lstStyle/>
            <a:p>
              <a:pPr algn="l">
                <a:lnSpc>
                  <a:spcPts val="5759"/>
                </a:lnSpc>
              </a:pPr>
              <a:r>
                <a:rPr lang="en-US" sz="4800" b="true">
                  <a:solidFill>
                    <a:srgbClr val="1B1F3B"/>
                  </a:solidFill>
                  <a:latin typeface="Cambria Bold"/>
                  <a:ea typeface="Cambria Bold"/>
                  <a:cs typeface="Cambria Bold"/>
                  <a:sym typeface="Cambria Bold"/>
                </a:rPr>
                <a:t>What we covered — and what's next</a:t>
              </a:r>
            </a:p>
          </p:txBody>
        </p:sp>
      </p:grpSp>
      <p:grpSp>
        <p:nvGrpSpPr>
          <p:cNvPr name="Group 8" id="8"/>
          <p:cNvGrpSpPr/>
          <p:nvPr/>
        </p:nvGrpSpPr>
        <p:grpSpPr>
          <a:xfrm rot="0">
            <a:off x="813435" y="2322195"/>
            <a:ext cx="3996690" cy="869442"/>
            <a:chOff x="0" y="0"/>
            <a:chExt cx="5328920" cy="1159256"/>
          </a:xfrm>
        </p:grpSpPr>
        <p:sp>
          <p:nvSpPr>
            <p:cNvPr name="Freeform 9" id="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10" id="10"/>
          <p:cNvGrpSpPr/>
          <p:nvPr/>
        </p:nvGrpSpPr>
        <p:grpSpPr>
          <a:xfrm rot="0">
            <a:off x="1014984" y="2523744"/>
            <a:ext cx="466344" cy="466344"/>
            <a:chOff x="0" y="0"/>
            <a:chExt cx="621792" cy="621792"/>
          </a:xfrm>
        </p:grpSpPr>
        <p:sp>
          <p:nvSpPr>
            <p:cNvPr name="Freeform 11" id="1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12" id="12"/>
          <p:cNvGrpSpPr/>
          <p:nvPr/>
        </p:nvGrpSpPr>
        <p:grpSpPr>
          <a:xfrm rot="0">
            <a:off x="1014984" y="2523744"/>
            <a:ext cx="466344" cy="466344"/>
            <a:chOff x="0" y="0"/>
            <a:chExt cx="621792" cy="621792"/>
          </a:xfrm>
        </p:grpSpPr>
        <p:sp>
          <p:nvSpPr>
            <p:cNvPr name="Freeform 13" id="1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14" id="1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15" id="15"/>
          <p:cNvGrpSpPr/>
          <p:nvPr/>
        </p:nvGrpSpPr>
        <p:grpSpPr>
          <a:xfrm rot="0">
            <a:off x="1618488" y="2331720"/>
            <a:ext cx="2990088" cy="850392"/>
            <a:chOff x="0" y="0"/>
            <a:chExt cx="3986784" cy="1133856"/>
          </a:xfrm>
        </p:grpSpPr>
        <p:sp>
          <p:nvSpPr>
            <p:cNvPr name="Freeform 16" id="1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17" id="1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Programming languages &amp; coding</a:t>
              </a:r>
            </a:p>
          </p:txBody>
        </p:sp>
      </p:grpSp>
      <p:grpSp>
        <p:nvGrpSpPr>
          <p:cNvPr name="Group 18" id="18"/>
          <p:cNvGrpSpPr/>
          <p:nvPr/>
        </p:nvGrpSpPr>
        <p:grpSpPr>
          <a:xfrm rot="0">
            <a:off x="5037963" y="2322195"/>
            <a:ext cx="3996690" cy="869442"/>
            <a:chOff x="0" y="0"/>
            <a:chExt cx="5328920" cy="1159256"/>
          </a:xfrm>
        </p:grpSpPr>
        <p:sp>
          <p:nvSpPr>
            <p:cNvPr name="Freeform 19" id="1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20" id="20"/>
          <p:cNvGrpSpPr/>
          <p:nvPr/>
        </p:nvGrpSpPr>
        <p:grpSpPr>
          <a:xfrm rot="0">
            <a:off x="5239512" y="2523744"/>
            <a:ext cx="466344" cy="466344"/>
            <a:chOff x="0" y="0"/>
            <a:chExt cx="621792" cy="621792"/>
          </a:xfrm>
        </p:grpSpPr>
        <p:sp>
          <p:nvSpPr>
            <p:cNvPr name="Freeform 21" id="2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22" id="22"/>
          <p:cNvGrpSpPr/>
          <p:nvPr/>
        </p:nvGrpSpPr>
        <p:grpSpPr>
          <a:xfrm rot="0">
            <a:off x="5239512" y="2523744"/>
            <a:ext cx="466344" cy="466344"/>
            <a:chOff x="0" y="0"/>
            <a:chExt cx="621792" cy="621792"/>
          </a:xfrm>
        </p:grpSpPr>
        <p:sp>
          <p:nvSpPr>
            <p:cNvPr name="Freeform 23" id="2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24" id="2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25" id="25"/>
          <p:cNvGrpSpPr/>
          <p:nvPr/>
        </p:nvGrpSpPr>
        <p:grpSpPr>
          <a:xfrm rot="0">
            <a:off x="5843016" y="2331720"/>
            <a:ext cx="2990088" cy="850392"/>
            <a:chOff x="0" y="0"/>
            <a:chExt cx="3986784" cy="1133856"/>
          </a:xfrm>
        </p:grpSpPr>
        <p:sp>
          <p:nvSpPr>
            <p:cNvPr name="Freeform 26" id="2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27" id="2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Low-level vs. high-level languages</a:t>
              </a:r>
            </a:p>
          </p:txBody>
        </p:sp>
      </p:grpSp>
      <p:grpSp>
        <p:nvGrpSpPr>
          <p:cNvPr name="Group 28" id="28"/>
          <p:cNvGrpSpPr/>
          <p:nvPr/>
        </p:nvGrpSpPr>
        <p:grpSpPr>
          <a:xfrm rot="0">
            <a:off x="9262491" y="2322195"/>
            <a:ext cx="3996690" cy="869442"/>
            <a:chOff x="0" y="0"/>
            <a:chExt cx="5328920" cy="1159256"/>
          </a:xfrm>
        </p:grpSpPr>
        <p:sp>
          <p:nvSpPr>
            <p:cNvPr name="Freeform 29" id="2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30" id="30"/>
          <p:cNvGrpSpPr/>
          <p:nvPr/>
        </p:nvGrpSpPr>
        <p:grpSpPr>
          <a:xfrm rot="0">
            <a:off x="9464040" y="2523744"/>
            <a:ext cx="466344" cy="466344"/>
            <a:chOff x="0" y="0"/>
            <a:chExt cx="621792" cy="621792"/>
          </a:xfrm>
        </p:grpSpPr>
        <p:sp>
          <p:nvSpPr>
            <p:cNvPr name="Freeform 31" id="3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32" id="32"/>
          <p:cNvGrpSpPr/>
          <p:nvPr/>
        </p:nvGrpSpPr>
        <p:grpSpPr>
          <a:xfrm rot="0">
            <a:off x="9464040" y="2523744"/>
            <a:ext cx="466344" cy="466344"/>
            <a:chOff x="0" y="0"/>
            <a:chExt cx="621792" cy="621792"/>
          </a:xfrm>
        </p:grpSpPr>
        <p:sp>
          <p:nvSpPr>
            <p:cNvPr name="Freeform 33" id="3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34" id="3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35" id="35"/>
          <p:cNvGrpSpPr/>
          <p:nvPr/>
        </p:nvGrpSpPr>
        <p:grpSpPr>
          <a:xfrm rot="0">
            <a:off x="10067544" y="2331720"/>
            <a:ext cx="2990088" cy="850392"/>
            <a:chOff x="0" y="0"/>
            <a:chExt cx="3986784" cy="1133856"/>
          </a:xfrm>
        </p:grpSpPr>
        <p:sp>
          <p:nvSpPr>
            <p:cNvPr name="Freeform 36" id="3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37" id="3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Compiler vs. interpreter</a:t>
              </a:r>
            </a:p>
          </p:txBody>
        </p:sp>
      </p:grpSp>
      <p:grpSp>
        <p:nvGrpSpPr>
          <p:cNvPr name="Group 38" id="38"/>
          <p:cNvGrpSpPr/>
          <p:nvPr/>
        </p:nvGrpSpPr>
        <p:grpSpPr>
          <a:xfrm rot="0">
            <a:off x="13487019" y="2322195"/>
            <a:ext cx="3996690" cy="869442"/>
            <a:chOff x="0" y="0"/>
            <a:chExt cx="5328920" cy="1159256"/>
          </a:xfrm>
        </p:grpSpPr>
        <p:sp>
          <p:nvSpPr>
            <p:cNvPr name="Freeform 39" id="3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40" id="40"/>
          <p:cNvGrpSpPr/>
          <p:nvPr/>
        </p:nvGrpSpPr>
        <p:grpSpPr>
          <a:xfrm rot="0">
            <a:off x="13688568" y="2523744"/>
            <a:ext cx="466344" cy="466344"/>
            <a:chOff x="0" y="0"/>
            <a:chExt cx="621792" cy="621792"/>
          </a:xfrm>
        </p:grpSpPr>
        <p:sp>
          <p:nvSpPr>
            <p:cNvPr name="Freeform 41" id="4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42" id="42"/>
          <p:cNvGrpSpPr/>
          <p:nvPr/>
        </p:nvGrpSpPr>
        <p:grpSpPr>
          <a:xfrm rot="0">
            <a:off x="13688568" y="2523744"/>
            <a:ext cx="466344" cy="466344"/>
            <a:chOff x="0" y="0"/>
            <a:chExt cx="621792" cy="621792"/>
          </a:xfrm>
        </p:grpSpPr>
        <p:sp>
          <p:nvSpPr>
            <p:cNvPr name="Freeform 43" id="4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44" id="4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45" id="45"/>
          <p:cNvGrpSpPr/>
          <p:nvPr/>
        </p:nvGrpSpPr>
        <p:grpSpPr>
          <a:xfrm rot="0">
            <a:off x="14292072" y="2331720"/>
            <a:ext cx="2990088" cy="850392"/>
            <a:chOff x="0" y="0"/>
            <a:chExt cx="3986784" cy="1133856"/>
          </a:xfrm>
        </p:grpSpPr>
        <p:sp>
          <p:nvSpPr>
            <p:cNvPr name="Freeform 46" id="4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47" id="4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IDEs &amp; VS Code</a:t>
              </a:r>
            </a:p>
          </p:txBody>
        </p:sp>
      </p:grpSp>
      <p:grpSp>
        <p:nvGrpSpPr>
          <p:cNvPr name="Group 48" id="48"/>
          <p:cNvGrpSpPr/>
          <p:nvPr/>
        </p:nvGrpSpPr>
        <p:grpSpPr>
          <a:xfrm rot="0">
            <a:off x="804291" y="3404359"/>
            <a:ext cx="3996690" cy="869442"/>
            <a:chOff x="0" y="0"/>
            <a:chExt cx="5328920" cy="1159256"/>
          </a:xfrm>
        </p:grpSpPr>
        <p:sp>
          <p:nvSpPr>
            <p:cNvPr name="Freeform 49" id="4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50" id="50"/>
          <p:cNvGrpSpPr/>
          <p:nvPr/>
        </p:nvGrpSpPr>
        <p:grpSpPr>
          <a:xfrm rot="0">
            <a:off x="1014984" y="3579876"/>
            <a:ext cx="466344" cy="466344"/>
            <a:chOff x="0" y="0"/>
            <a:chExt cx="621792" cy="621792"/>
          </a:xfrm>
        </p:grpSpPr>
        <p:sp>
          <p:nvSpPr>
            <p:cNvPr name="Freeform 51" id="5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52" id="52"/>
          <p:cNvGrpSpPr/>
          <p:nvPr/>
        </p:nvGrpSpPr>
        <p:grpSpPr>
          <a:xfrm rot="0">
            <a:off x="1014984" y="3579876"/>
            <a:ext cx="466344" cy="466344"/>
            <a:chOff x="0" y="0"/>
            <a:chExt cx="621792" cy="621792"/>
          </a:xfrm>
        </p:grpSpPr>
        <p:sp>
          <p:nvSpPr>
            <p:cNvPr name="Freeform 53" id="5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54" id="5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55" id="55"/>
          <p:cNvGrpSpPr/>
          <p:nvPr/>
        </p:nvGrpSpPr>
        <p:grpSpPr>
          <a:xfrm rot="0">
            <a:off x="1618488" y="3387852"/>
            <a:ext cx="2990088" cy="850392"/>
            <a:chOff x="0" y="0"/>
            <a:chExt cx="3986784" cy="1133856"/>
          </a:xfrm>
        </p:grpSpPr>
        <p:sp>
          <p:nvSpPr>
            <p:cNvPr name="Freeform 56" id="5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57" id="57"/>
            <p:cNvSpPr txBox="true"/>
            <p:nvPr/>
          </p:nvSpPr>
          <p:spPr>
            <a:xfrm>
              <a:off x="0" y="-47625"/>
              <a:ext cx="3986784" cy="1181481"/>
            </a:xfrm>
            <a:prstGeom prst="rect">
              <a:avLst/>
            </a:prstGeom>
          </p:spPr>
          <p:txBody>
            <a:bodyPr anchor="ctr" rtlCol="false" tIns="0" lIns="0" bIns="0" rIns="0"/>
            <a:lstStyle/>
            <a:p>
              <a:pPr algn="l">
                <a:lnSpc>
                  <a:spcPts val="2110"/>
                </a:lnSpc>
              </a:pPr>
              <a:r>
                <a:rPr lang="en-US" sz="1674" b="true">
                  <a:solidFill>
                    <a:srgbClr val="1B1F3B"/>
                  </a:solidFill>
                  <a:latin typeface="Calibri (MS) Bold"/>
                  <a:ea typeface="Calibri (MS) Bold"/>
                  <a:cs typeface="Calibri (MS) Bold"/>
                  <a:sym typeface="Calibri (MS) Bold"/>
                </a:rPr>
                <a:t>Python &amp; why it matters for AI</a:t>
              </a:r>
            </a:p>
          </p:txBody>
        </p:sp>
      </p:grpSp>
      <p:grpSp>
        <p:nvGrpSpPr>
          <p:cNvPr name="Group 58" id="58"/>
          <p:cNvGrpSpPr/>
          <p:nvPr/>
        </p:nvGrpSpPr>
        <p:grpSpPr>
          <a:xfrm rot="0">
            <a:off x="5037963" y="3378327"/>
            <a:ext cx="3996690" cy="869442"/>
            <a:chOff x="0" y="0"/>
            <a:chExt cx="5328920" cy="1159256"/>
          </a:xfrm>
        </p:grpSpPr>
        <p:sp>
          <p:nvSpPr>
            <p:cNvPr name="Freeform 59" id="5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60" id="60"/>
          <p:cNvGrpSpPr/>
          <p:nvPr/>
        </p:nvGrpSpPr>
        <p:grpSpPr>
          <a:xfrm rot="0">
            <a:off x="5239512" y="3579876"/>
            <a:ext cx="466344" cy="466344"/>
            <a:chOff x="0" y="0"/>
            <a:chExt cx="621792" cy="621792"/>
          </a:xfrm>
        </p:grpSpPr>
        <p:sp>
          <p:nvSpPr>
            <p:cNvPr name="Freeform 61" id="6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62" id="62"/>
          <p:cNvGrpSpPr/>
          <p:nvPr/>
        </p:nvGrpSpPr>
        <p:grpSpPr>
          <a:xfrm rot="0">
            <a:off x="5239512" y="3579876"/>
            <a:ext cx="466344" cy="466344"/>
            <a:chOff x="0" y="0"/>
            <a:chExt cx="621792" cy="621792"/>
          </a:xfrm>
        </p:grpSpPr>
        <p:sp>
          <p:nvSpPr>
            <p:cNvPr name="Freeform 63" id="6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64" id="6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65" id="65"/>
          <p:cNvGrpSpPr/>
          <p:nvPr/>
        </p:nvGrpSpPr>
        <p:grpSpPr>
          <a:xfrm rot="0">
            <a:off x="5843016" y="3387852"/>
            <a:ext cx="2990088" cy="850392"/>
            <a:chOff x="0" y="0"/>
            <a:chExt cx="3986784" cy="1133856"/>
          </a:xfrm>
        </p:grpSpPr>
        <p:sp>
          <p:nvSpPr>
            <p:cNvPr name="Freeform 66" id="6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67" id="6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print(), variables &amp; data types</a:t>
              </a:r>
            </a:p>
          </p:txBody>
        </p:sp>
      </p:grpSp>
      <p:grpSp>
        <p:nvGrpSpPr>
          <p:cNvPr name="Group 68" id="68"/>
          <p:cNvGrpSpPr/>
          <p:nvPr/>
        </p:nvGrpSpPr>
        <p:grpSpPr>
          <a:xfrm rot="0">
            <a:off x="9262491" y="3378327"/>
            <a:ext cx="3996690" cy="869442"/>
            <a:chOff x="0" y="0"/>
            <a:chExt cx="5328920" cy="1159256"/>
          </a:xfrm>
        </p:grpSpPr>
        <p:sp>
          <p:nvSpPr>
            <p:cNvPr name="Freeform 69" id="6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70" id="70"/>
          <p:cNvGrpSpPr/>
          <p:nvPr/>
        </p:nvGrpSpPr>
        <p:grpSpPr>
          <a:xfrm rot="0">
            <a:off x="9464040" y="3579876"/>
            <a:ext cx="466344" cy="466344"/>
            <a:chOff x="0" y="0"/>
            <a:chExt cx="621792" cy="621792"/>
          </a:xfrm>
        </p:grpSpPr>
        <p:sp>
          <p:nvSpPr>
            <p:cNvPr name="Freeform 71" id="7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72" id="72"/>
          <p:cNvGrpSpPr/>
          <p:nvPr/>
        </p:nvGrpSpPr>
        <p:grpSpPr>
          <a:xfrm rot="0">
            <a:off x="9464040" y="3579876"/>
            <a:ext cx="466344" cy="466344"/>
            <a:chOff x="0" y="0"/>
            <a:chExt cx="621792" cy="621792"/>
          </a:xfrm>
        </p:grpSpPr>
        <p:sp>
          <p:nvSpPr>
            <p:cNvPr name="Freeform 73" id="7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74" id="7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75" id="75"/>
          <p:cNvGrpSpPr/>
          <p:nvPr/>
        </p:nvGrpSpPr>
        <p:grpSpPr>
          <a:xfrm rot="0">
            <a:off x="10067544" y="3387852"/>
            <a:ext cx="2990088" cy="850392"/>
            <a:chOff x="0" y="0"/>
            <a:chExt cx="3986784" cy="1133856"/>
          </a:xfrm>
        </p:grpSpPr>
        <p:sp>
          <p:nvSpPr>
            <p:cNvPr name="Freeform 76" id="7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77" id="7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Strings &amp; string operations</a:t>
              </a:r>
            </a:p>
          </p:txBody>
        </p:sp>
      </p:grpSp>
      <p:grpSp>
        <p:nvGrpSpPr>
          <p:cNvPr name="Group 78" id="78"/>
          <p:cNvGrpSpPr/>
          <p:nvPr/>
        </p:nvGrpSpPr>
        <p:grpSpPr>
          <a:xfrm rot="0">
            <a:off x="13487019" y="3378327"/>
            <a:ext cx="3996690" cy="869442"/>
            <a:chOff x="0" y="0"/>
            <a:chExt cx="5328920" cy="1159256"/>
          </a:xfrm>
        </p:grpSpPr>
        <p:sp>
          <p:nvSpPr>
            <p:cNvPr name="Freeform 79" id="79"/>
            <p:cNvSpPr/>
            <p:nvPr/>
          </p:nvSpPr>
          <p:spPr>
            <a:xfrm flipH="false" flipV="false" rot="0">
              <a:off x="0" y="0"/>
              <a:ext cx="5328920" cy="1159256"/>
            </a:xfrm>
            <a:custGeom>
              <a:avLst/>
              <a:gdLst/>
              <a:ahLst/>
              <a:cxnLst/>
              <a:rect r="r" b="b" t="t" l="l"/>
              <a:pathLst>
                <a:path h="1159256" w="5328920">
                  <a:moveTo>
                    <a:pt x="0" y="168275"/>
                  </a:moveTo>
                  <a:cubicBezTo>
                    <a:pt x="0" y="75311"/>
                    <a:pt x="75311" y="0"/>
                    <a:pt x="168275" y="0"/>
                  </a:cubicBezTo>
                  <a:lnTo>
                    <a:pt x="5160645" y="0"/>
                  </a:lnTo>
                  <a:cubicBezTo>
                    <a:pt x="5253609" y="0"/>
                    <a:pt x="5328920" y="75311"/>
                    <a:pt x="5328920" y="168275"/>
                  </a:cubicBezTo>
                  <a:lnTo>
                    <a:pt x="5328920" y="990981"/>
                  </a:lnTo>
                  <a:cubicBezTo>
                    <a:pt x="5328920" y="1083945"/>
                    <a:pt x="5253609" y="1159256"/>
                    <a:pt x="5160645" y="1159256"/>
                  </a:cubicBezTo>
                  <a:lnTo>
                    <a:pt x="168275" y="1159256"/>
                  </a:lnTo>
                  <a:cubicBezTo>
                    <a:pt x="75311" y="1159256"/>
                    <a:pt x="0" y="1083945"/>
                    <a:pt x="0" y="990981"/>
                  </a:cubicBezTo>
                  <a:close/>
                </a:path>
              </a:pathLst>
            </a:custGeom>
            <a:solidFill>
              <a:srgbClr val="FFFFFF"/>
            </a:solidFill>
            <a:ln w="19050" cap="sq">
              <a:solidFill>
                <a:srgbClr val="ECEEF7"/>
              </a:solidFill>
              <a:prstDash val="solid"/>
              <a:miter/>
            </a:ln>
          </p:spPr>
        </p:sp>
      </p:grpSp>
      <p:grpSp>
        <p:nvGrpSpPr>
          <p:cNvPr name="Group 80" id="80"/>
          <p:cNvGrpSpPr/>
          <p:nvPr/>
        </p:nvGrpSpPr>
        <p:grpSpPr>
          <a:xfrm rot="0">
            <a:off x="13688568" y="3579876"/>
            <a:ext cx="466344" cy="466344"/>
            <a:chOff x="0" y="0"/>
            <a:chExt cx="621792" cy="621792"/>
          </a:xfrm>
        </p:grpSpPr>
        <p:sp>
          <p:nvSpPr>
            <p:cNvPr name="Freeform 81" id="8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4FB6B0"/>
            </a:solidFill>
          </p:spPr>
        </p:sp>
      </p:grpSp>
      <p:grpSp>
        <p:nvGrpSpPr>
          <p:cNvPr name="Group 82" id="82"/>
          <p:cNvGrpSpPr/>
          <p:nvPr/>
        </p:nvGrpSpPr>
        <p:grpSpPr>
          <a:xfrm rot="0">
            <a:off x="13688568" y="3579876"/>
            <a:ext cx="466344" cy="466344"/>
            <a:chOff x="0" y="0"/>
            <a:chExt cx="621792" cy="621792"/>
          </a:xfrm>
        </p:grpSpPr>
        <p:sp>
          <p:nvSpPr>
            <p:cNvPr name="Freeform 83" id="83"/>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close/>
                </a:path>
              </a:pathLst>
            </a:custGeom>
            <a:blipFill>
              <a:blip r:embed="rId3">
                <a:alphaModFix amt="0"/>
              </a:blip>
              <a:stretch>
                <a:fillRect l="-78303" t="0" r="-78303" b="0"/>
              </a:stretch>
            </a:blipFill>
          </p:spPr>
        </p:sp>
        <p:sp>
          <p:nvSpPr>
            <p:cNvPr name="TextBox 84" id="84"/>
            <p:cNvSpPr txBox="true"/>
            <p:nvPr/>
          </p:nvSpPr>
          <p:spPr>
            <a:xfrm>
              <a:off x="0" y="-47625"/>
              <a:ext cx="621792" cy="66941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a:t>
              </a:r>
            </a:p>
          </p:txBody>
        </p:sp>
      </p:grpSp>
      <p:grpSp>
        <p:nvGrpSpPr>
          <p:cNvPr name="Group 85" id="85"/>
          <p:cNvGrpSpPr/>
          <p:nvPr/>
        </p:nvGrpSpPr>
        <p:grpSpPr>
          <a:xfrm rot="0">
            <a:off x="14292072" y="3387852"/>
            <a:ext cx="2990088" cy="850392"/>
            <a:chOff x="0" y="0"/>
            <a:chExt cx="3986784" cy="1133856"/>
          </a:xfrm>
        </p:grpSpPr>
        <p:sp>
          <p:nvSpPr>
            <p:cNvPr name="Freeform 86" id="86"/>
            <p:cNvSpPr/>
            <p:nvPr/>
          </p:nvSpPr>
          <p:spPr>
            <a:xfrm flipH="false" flipV="false" rot="0">
              <a:off x="0" y="0"/>
              <a:ext cx="3986784" cy="1133856"/>
            </a:xfrm>
            <a:custGeom>
              <a:avLst/>
              <a:gdLst/>
              <a:ahLst/>
              <a:cxnLst/>
              <a:rect r="r" b="b" t="t" l="l"/>
              <a:pathLst>
                <a:path h="1133856" w="3986784">
                  <a:moveTo>
                    <a:pt x="0" y="0"/>
                  </a:moveTo>
                  <a:lnTo>
                    <a:pt x="3986784" y="0"/>
                  </a:lnTo>
                  <a:lnTo>
                    <a:pt x="3986784" y="1133856"/>
                  </a:lnTo>
                  <a:lnTo>
                    <a:pt x="0" y="1133856"/>
                  </a:lnTo>
                  <a:close/>
                </a:path>
              </a:pathLst>
            </a:custGeom>
            <a:blipFill>
              <a:blip r:embed="rId3">
                <a:alphaModFix amt="0"/>
              </a:blip>
              <a:stretch>
                <a:fillRect l="0" t="-18511" r="0" b="-18511"/>
              </a:stretch>
            </a:blipFill>
          </p:spPr>
        </p:sp>
        <p:sp>
          <p:nvSpPr>
            <p:cNvPr name="TextBox 87" id="87"/>
            <p:cNvSpPr txBox="true"/>
            <p:nvPr/>
          </p:nvSpPr>
          <p:spPr>
            <a:xfrm>
              <a:off x="0" y="-28575"/>
              <a:ext cx="3986784" cy="1162431"/>
            </a:xfrm>
            <a:prstGeom prst="rect">
              <a:avLst/>
            </a:prstGeom>
          </p:spPr>
          <p:txBody>
            <a:bodyPr anchor="ctr" rtlCol="false" tIns="0" lIns="0" bIns="0" rIns="0"/>
            <a:lstStyle/>
            <a:p>
              <a:pPr algn="l">
                <a:lnSpc>
                  <a:spcPts val="1984"/>
                </a:lnSpc>
              </a:pPr>
              <a:r>
                <a:rPr lang="en-US" sz="1575" b="true">
                  <a:solidFill>
                    <a:srgbClr val="1B1F3B"/>
                  </a:solidFill>
                  <a:latin typeface="Calibri (MS) Bold"/>
                  <a:ea typeface="Calibri (MS) Bold"/>
                  <a:cs typeface="Calibri (MS) Bold"/>
                  <a:sym typeface="Calibri (MS) Bold"/>
                </a:rPr>
                <a:t>Type conversion</a:t>
              </a:r>
            </a:p>
          </p:txBody>
        </p:sp>
      </p:grpSp>
      <p:grpSp>
        <p:nvGrpSpPr>
          <p:cNvPr name="Group 88" id="88"/>
          <p:cNvGrpSpPr/>
          <p:nvPr/>
        </p:nvGrpSpPr>
        <p:grpSpPr>
          <a:xfrm rot="0">
            <a:off x="822960" y="5966460"/>
            <a:ext cx="16596360" cy="2537460"/>
            <a:chOff x="0" y="0"/>
            <a:chExt cx="22128480" cy="3383280"/>
          </a:xfrm>
        </p:grpSpPr>
        <p:sp>
          <p:nvSpPr>
            <p:cNvPr name="Freeform 89" id="89"/>
            <p:cNvSpPr/>
            <p:nvPr/>
          </p:nvSpPr>
          <p:spPr>
            <a:xfrm flipH="false" flipV="false" rot="0">
              <a:off x="0" y="0"/>
              <a:ext cx="22128480" cy="3383280"/>
            </a:xfrm>
            <a:custGeom>
              <a:avLst/>
              <a:gdLst/>
              <a:ahLst/>
              <a:cxnLst/>
              <a:rect r="r" b="b" t="t" l="l"/>
              <a:pathLst>
                <a:path h="3383280" w="22128480">
                  <a:moveTo>
                    <a:pt x="0" y="219456"/>
                  </a:moveTo>
                  <a:cubicBezTo>
                    <a:pt x="0" y="98298"/>
                    <a:pt x="98298" y="0"/>
                    <a:pt x="219456" y="0"/>
                  </a:cubicBezTo>
                  <a:lnTo>
                    <a:pt x="21909024" y="0"/>
                  </a:lnTo>
                  <a:cubicBezTo>
                    <a:pt x="22030182" y="0"/>
                    <a:pt x="22128480" y="98298"/>
                    <a:pt x="22128480" y="219456"/>
                  </a:cubicBezTo>
                  <a:lnTo>
                    <a:pt x="22128480" y="3163824"/>
                  </a:lnTo>
                  <a:cubicBezTo>
                    <a:pt x="22128480" y="3284982"/>
                    <a:pt x="22030182" y="3383280"/>
                    <a:pt x="21909024" y="3383280"/>
                  </a:cubicBezTo>
                  <a:lnTo>
                    <a:pt x="219456" y="3383280"/>
                  </a:lnTo>
                  <a:cubicBezTo>
                    <a:pt x="98298" y="3383280"/>
                    <a:pt x="0" y="3284982"/>
                    <a:pt x="0" y="3163824"/>
                  </a:cubicBezTo>
                  <a:close/>
                </a:path>
              </a:pathLst>
            </a:custGeom>
            <a:solidFill>
              <a:srgbClr val="1B1F3B"/>
            </a:solidFill>
          </p:spPr>
        </p:sp>
      </p:grpSp>
      <p:grpSp>
        <p:nvGrpSpPr>
          <p:cNvPr name="Group 90" id="90"/>
          <p:cNvGrpSpPr/>
          <p:nvPr/>
        </p:nvGrpSpPr>
        <p:grpSpPr>
          <a:xfrm rot="0">
            <a:off x="1234440" y="6240780"/>
            <a:ext cx="8229600" cy="480060"/>
            <a:chOff x="0" y="0"/>
            <a:chExt cx="10972800" cy="640080"/>
          </a:xfrm>
        </p:grpSpPr>
        <p:sp>
          <p:nvSpPr>
            <p:cNvPr name="Freeform 91" id="91"/>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92" id="92"/>
            <p:cNvSpPr txBox="true"/>
            <p:nvPr/>
          </p:nvSpPr>
          <p:spPr>
            <a:xfrm>
              <a:off x="0" y="-47625"/>
              <a:ext cx="10972800" cy="687705"/>
            </a:xfrm>
            <a:prstGeom prst="rect">
              <a:avLst/>
            </a:prstGeom>
          </p:spPr>
          <p:txBody>
            <a:bodyPr anchor="ctr" rtlCol="false" tIns="0" lIns="0" bIns="0" rIns="0"/>
            <a:lstStyle/>
            <a:p>
              <a:pPr algn="l">
                <a:lnSpc>
                  <a:spcPts val="2520"/>
                </a:lnSpc>
              </a:pPr>
              <a:r>
                <a:rPr lang="en-US" sz="2100" b="true">
                  <a:solidFill>
                    <a:srgbClr val="FFB84C"/>
                  </a:solidFill>
                  <a:latin typeface="Calibri (MS) Bold"/>
                  <a:ea typeface="Calibri (MS) Bold"/>
                  <a:cs typeface="Calibri (MS) Bold"/>
                  <a:sym typeface="Calibri (MS) Bold"/>
                </a:rPr>
                <a:t>Coming up next</a:t>
              </a:r>
            </a:p>
          </p:txBody>
        </p:sp>
      </p:grpSp>
      <p:grpSp>
        <p:nvGrpSpPr>
          <p:cNvPr name="Group 93" id="93"/>
          <p:cNvGrpSpPr/>
          <p:nvPr/>
        </p:nvGrpSpPr>
        <p:grpSpPr>
          <a:xfrm rot="0">
            <a:off x="1234440" y="6789420"/>
            <a:ext cx="15773400" cy="1371600"/>
            <a:chOff x="0" y="0"/>
            <a:chExt cx="21031200" cy="1828800"/>
          </a:xfrm>
        </p:grpSpPr>
        <p:sp>
          <p:nvSpPr>
            <p:cNvPr name="Freeform 94" id="94"/>
            <p:cNvSpPr/>
            <p:nvPr/>
          </p:nvSpPr>
          <p:spPr>
            <a:xfrm flipH="false" flipV="false" rot="0">
              <a:off x="0" y="0"/>
              <a:ext cx="21031200" cy="1828800"/>
            </a:xfrm>
            <a:custGeom>
              <a:avLst/>
              <a:gdLst/>
              <a:ahLst/>
              <a:cxnLst/>
              <a:rect r="r" b="b" t="t" l="l"/>
              <a:pathLst>
                <a:path h="1828800" w="21031200">
                  <a:moveTo>
                    <a:pt x="0" y="0"/>
                  </a:moveTo>
                  <a:lnTo>
                    <a:pt x="21031200" y="0"/>
                  </a:lnTo>
                  <a:lnTo>
                    <a:pt x="21031200" y="1828800"/>
                  </a:lnTo>
                  <a:lnTo>
                    <a:pt x="0" y="1828800"/>
                  </a:lnTo>
                  <a:close/>
                </a:path>
              </a:pathLst>
            </a:custGeom>
            <a:blipFill>
              <a:blip r:embed="rId3">
                <a:alphaModFix amt="0"/>
              </a:blip>
              <a:stretch>
                <a:fillRect l="0" t="-174077" r="0" b="-174077"/>
              </a:stretch>
            </a:blipFill>
          </p:spPr>
        </p:sp>
        <p:sp>
          <p:nvSpPr>
            <p:cNvPr name="TextBox 95" id="95"/>
            <p:cNvSpPr txBox="true"/>
            <p:nvPr/>
          </p:nvSpPr>
          <p:spPr>
            <a:xfrm>
              <a:off x="0" y="-104775"/>
              <a:ext cx="21031200" cy="1933575"/>
            </a:xfrm>
            <a:prstGeom prst="rect">
              <a:avLst/>
            </a:prstGeom>
          </p:spPr>
          <p:txBody>
            <a:bodyPr anchor="ctr" rtlCol="false" tIns="0" lIns="0" bIns="0" rIns="0"/>
            <a:lstStyle/>
            <a:p>
              <a:pPr algn="l">
                <a:lnSpc>
                  <a:spcPts val="2925"/>
                </a:lnSpc>
              </a:pPr>
              <a:r>
                <a:rPr lang="en-US" sz="1875">
                  <a:solidFill>
                    <a:srgbClr val="E4E7F5"/>
                  </a:solidFill>
                  <a:latin typeface="Calibri (MS)"/>
                  <a:ea typeface="Calibri (MS)"/>
                  <a:cs typeface="Calibri (MS)"/>
                  <a:sym typeface="Calibri (MS)"/>
                </a:rPr>
                <a:t>We'll build on these fundamentals with functions, logic, and structure — the pieces that let us start giving programs decision-making behavior, a key step on the road to building AI agents.</a:t>
              </a:r>
            </a:p>
          </p:txBody>
        </p:sp>
      </p:grpSp>
      <p:grpSp>
        <p:nvGrpSpPr>
          <p:cNvPr name="Group 96" id="96"/>
          <p:cNvGrpSpPr/>
          <p:nvPr/>
        </p:nvGrpSpPr>
        <p:grpSpPr>
          <a:xfrm rot="0">
            <a:off x="822960" y="8846820"/>
            <a:ext cx="16596360" cy="548640"/>
            <a:chOff x="0" y="0"/>
            <a:chExt cx="22128480" cy="731520"/>
          </a:xfrm>
        </p:grpSpPr>
        <p:sp>
          <p:nvSpPr>
            <p:cNvPr name="Freeform 97" id="97"/>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3">
                <a:alphaModFix amt="0"/>
              </a:blip>
              <a:stretch>
                <a:fillRect l="0" t="-539422" r="0" b="-539422"/>
              </a:stretch>
            </a:blipFill>
          </p:spPr>
        </p:sp>
        <p:sp>
          <p:nvSpPr>
            <p:cNvPr name="TextBox 98" id="98"/>
            <p:cNvSpPr txBox="true"/>
            <p:nvPr/>
          </p:nvSpPr>
          <p:spPr>
            <a:xfrm>
              <a:off x="0" y="-38100"/>
              <a:ext cx="22128480" cy="769620"/>
            </a:xfrm>
            <a:prstGeom prst="rect">
              <a:avLst/>
            </a:prstGeom>
          </p:spPr>
          <p:txBody>
            <a:bodyPr anchor="ctr" rtlCol="false" tIns="0" lIns="0" bIns="0" rIns="0"/>
            <a:lstStyle/>
            <a:p>
              <a:pPr algn="ctr">
                <a:lnSpc>
                  <a:spcPts val="2189"/>
                </a:lnSpc>
              </a:pPr>
              <a:r>
                <a:rPr lang="en-US" b="true" sz="1824" i="true">
                  <a:solidFill>
                    <a:srgbClr val="000000"/>
                  </a:solidFill>
                  <a:latin typeface="Calibri (MS) Bold Italics"/>
                  <a:ea typeface="Calibri (MS) Bold Italics"/>
                  <a:cs typeface="Calibri (MS) Bold Italics"/>
                  <a:sym typeface="Calibri (MS) Bold Italics"/>
                </a:rPr>
                <a:t>You can already explain what code is, write basic Python, and build a small working program. That's real progress.</a:t>
              </a:r>
            </a:p>
          </p:txBody>
        </p:sp>
      </p:grpSp>
      <p:grpSp>
        <p:nvGrpSpPr>
          <p:cNvPr name="Group 99" id="99"/>
          <p:cNvGrpSpPr/>
          <p:nvPr/>
        </p:nvGrpSpPr>
        <p:grpSpPr>
          <a:xfrm rot="0">
            <a:off x="685800" y="9710928"/>
            <a:ext cx="10972800" cy="411480"/>
            <a:chOff x="0" y="0"/>
            <a:chExt cx="14630400" cy="548640"/>
          </a:xfrm>
        </p:grpSpPr>
        <p:sp>
          <p:nvSpPr>
            <p:cNvPr name="Freeform 100" id="10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101" id="101"/>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ARROWDEV Study Group  •  Python Foundations</a:t>
              </a:r>
            </a:p>
          </p:txBody>
        </p:sp>
      </p:grpSp>
      <p:grpSp>
        <p:nvGrpSpPr>
          <p:cNvPr name="Group 102" id="102"/>
          <p:cNvGrpSpPr/>
          <p:nvPr/>
        </p:nvGrpSpPr>
        <p:grpSpPr>
          <a:xfrm rot="0">
            <a:off x="16915943" y="9710928"/>
            <a:ext cx="685800" cy="411480"/>
            <a:chOff x="0" y="0"/>
            <a:chExt cx="914400" cy="548640"/>
          </a:xfrm>
        </p:grpSpPr>
        <p:sp>
          <p:nvSpPr>
            <p:cNvPr name="Freeform 103" id="10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04" id="10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000000"/>
                  </a:solidFill>
                  <a:latin typeface="Calibri (MS)"/>
                  <a:ea typeface="Calibri (MS)"/>
                  <a:cs typeface="Calibri (MS)"/>
                  <a:sym typeface="Calibri (MS)"/>
                </a:rPr>
                <a:t>16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DAHT-BNauCo</dc:identifier>
  <dcterms:modified xsi:type="dcterms:W3CDTF">2011-08-01T06:04:30Z</dcterms:modified>
  <cp:revision>1</cp:revision>
  <dc:title>Python_Foundations-Agentic_AI.pptx</dc:title>
</cp:coreProperties>
</file>