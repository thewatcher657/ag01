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Shape 0"/>
          <p:cNvSpPr/>
          <p:nvPr/>
        </p:nvSpPr>
        <p:spPr>
          <a:xfrm>
            <a:off x="9509760" y="-1645920"/>
            <a:ext cx="5029200" cy="5029200"/>
          </a:xfrm>
          <a:prstGeom prst="ellipse">
            <a:avLst/>
          </a:prstGeom>
          <a:solidFill>
            <a:srgbClr val="262C52"/>
          </a:solidFill>
          <a:ln/>
        </p:spPr>
      </p:sp>
      <p:sp>
        <p:nvSpPr>
          <p:cNvPr id="3" name="Shape 1"/>
          <p:cNvSpPr/>
          <p:nvPr/>
        </p:nvSpPr>
        <p:spPr>
          <a:xfrm>
            <a:off x="10607040" y="4206240"/>
            <a:ext cx="3108960" cy="3108960"/>
          </a:xfrm>
          <a:prstGeom prst="ellipse">
            <a:avLst/>
          </a:prstGeom>
          <a:solidFill>
            <a:srgbClr val="262C52"/>
          </a:solidFill>
          <a:ln/>
        </p:spPr>
      </p:sp>
      <p:sp>
        <p:nvSpPr>
          <p:cNvPr id="4" name="Shape 2"/>
          <p:cNvSpPr/>
          <p:nvPr/>
        </p:nvSpPr>
        <p:spPr>
          <a:xfrm>
            <a:off x="822960" y="1417320"/>
            <a:ext cx="960120" cy="960120"/>
          </a:xfrm>
          <a:prstGeom prst="ellipse">
            <a:avLst/>
          </a:prstGeom>
          <a:solidFill>
            <a:srgbClr val="6C5CE7"/>
          </a:solidFill>
          <a:ln/>
        </p:spPr>
      </p:sp>
      <p:pic>
        <p:nvPicPr>
          <p:cNvPr id="5" name="Image 0" descr="/home/claude/ai-git-deck/icons/brain.png">    </p:cNvPr>
          <p:cNvPicPr>
            <a:picLocks noChangeAspect="1"/>
          </p:cNvPicPr>
          <p:nvPr/>
        </p:nvPicPr>
        <p:blipFill>
          <a:blip r:embed="rId1"/>
          <a:stretch>
            <a:fillRect/>
          </a:stretch>
        </p:blipFill>
        <p:spPr>
          <a:xfrm>
            <a:off x="947776" y="1542136"/>
            <a:ext cx="710489" cy="710489"/>
          </a:xfrm>
          <a:prstGeom prst="rect">
            <a:avLst/>
          </a:prstGeom>
        </p:spPr>
      </p:pic>
      <p:sp>
        <p:nvSpPr>
          <p:cNvPr id="6" name="Text 3"/>
          <p:cNvSpPr txBox="1"/>
          <p:nvPr/>
        </p:nvSpPr>
        <p:spPr>
          <a:xfrm>
            <a:off x="822960" y="2606040"/>
            <a:ext cx="7315200" cy="365760"/>
          </a:xfrm>
          <a:prstGeom prst="rect">
            <a:avLst/>
          </a:prstGeom>
          <a:noFill/>
          <a:ln/>
        </p:spPr>
        <p:txBody>
          <a:bodyPr wrap="square" lIns="0" tIns="0" rIns="0" bIns="0" rtlCol="0" anchor="ctr"/>
          <a:lstStyle/>
          <a:p>
            <a:pPr indent="0" marL="0">
              <a:buNone/>
            </a:pPr>
            <a:r>
              <a:rPr lang="en-US" sz="1400" b="1" spc="300" kern="0" dirty="0">
                <a:solidFill>
                  <a:srgbClr val="6C5CE7"/>
                </a:solidFill>
                <a:latin typeface="Calibri" pitchFamily="34" charset="0"/>
                <a:ea typeface="Calibri" pitchFamily="34" charset="-122"/>
                <a:cs typeface="Calibri" pitchFamily="34" charset="-120"/>
              </a:rPr>
              <a:t>STUDY SESSION</a:t>
            </a:r>
            <a:endParaRPr lang="en-US" sz="1400" dirty="0"/>
          </a:p>
        </p:txBody>
      </p:sp>
      <p:sp>
        <p:nvSpPr>
          <p:cNvPr id="7" name="Text 4"/>
          <p:cNvSpPr txBox="1"/>
          <p:nvPr/>
        </p:nvSpPr>
        <p:spPr>
          <a:xfrm>
            <a:off x="777240" y="2926080"/>
            <a:ext cx="9601200" cy="182880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AI Foundations &amp; Dev</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Environment Setup</a:t>
            </a:r>
            <a:endParaRPr lang="en-US" sz="4600" dirty="0"/>
          </a:p>
        </p:txBody>
      </p:sp>
      <p:sp>
        <p:nvSpPr>
          <p:cNvPr id="8" name="Text 5"/>
          <p:cNvSpPr txBox="1"/>
          <p:nvPr/>
        </p:nvSpPr>
        <p:spPr>
          <a:xfrm>
            <a:off x="822960" y="4892040"/>
            <a:ext cx="8686800" cy="548640"/>
          </a:xfrm>
          <a:prstGeom prst="rect">
            <a:avLst/>
          </a:prstGeom>
          <a:noFill/>
          <a:ln/>
        </p:spPr>
        <p:txBody>
          <a:bodyPr wrap="square" lIns="0" tIns="0" rIns="0" bIns="0" rtlCol="0" anchor="ctr"/>
          <a:lstStyle/>
          <a:p>
            <a:pPr indent="0" marL="0">
              <a:buNone/>
            </a:pPr>
            <a:r>
              <a:rPr lang="en-US" sz="1600" dirty="0">
                <a:solidFill>
                  <a:srgbClr val="B7BBD6"/>
                </a:solidFill>
                <a:latin typeface="Calibri" pitchFamily="34" charset="0"/>
                <a:ea typeface="Calibri" pitchFamily="34" charset="-122"/>
                <a:cs typeface="Calibri" pitchFamily="34" charset="-120"/>
              </a:rPr>
              <a:t>From the history of Artificial Intelligence to a working Python, VS Code, and Git/GitHub workflow</a:t>
            </a:r>
            <a:endParaRPr lang="en-US" sz="1600" dirty="0"/>
          </a:p>
        </p:txBody>
      </p:sp>
      <p:sp>
        <p:nvSpPr>
          <p:cNvPr id="9" name="Text 6"/>
          <p:cNvSpPr txBox="1"/>
          <p:nvPr/>
        </p:nvSpPr>
        <p:spPr>
          <a:xfrm>
            <a:off x="822960" y="5989320"/>
            <a:ext cx="2926080" cy="365760"/>
          </a:xfrm>
          <a:prstGeom prst="rect">
            <a:avLst/>
          </a:prstGeom>
          <a:noFill/>
          <a:ln/>
        </p:spPr>
        <p:txBody>
          <a:bodyPr wrap="square" lIns="0" tIns="0" rIns="0" bIns="0" rtlCol="0" anchor="ctr"/>
          <a:lstStyle/>
          <a:p>
            <a:pPr indent="0" marL="0">
              <a:buNone/>
            </a:pPr>
            <a:r>
              <a:rPr lang="en-US" sz="1200" b="1" dirty="0">
                <a:solidFill>
                  <a:srgbClr val="6C5CE7"/>
                </a:solidFill>
                <a:latin typeface="Calibri" pitchFamily="34" charset="0"/>
                <a:ea typeface="Calibri" pitchFamily="34" charset="-122"/>
                <a:cs typeface="Calibri" pitchFamily="34" charset="-120"/>
              </a:rPr>
              <a:t>PHASE 1 · AI &amp; History</a:t>
            </a:r>
            <a:endParaRPr lang="en-US" sz="1200" dirty="0"/>
          </a:p>
        </p:txBody>
      </p:sp>
      <p:sp>
        <p:nvSpPr>
          <p:cNvPr id="10" name="Text 7"/>
          <p:cNvSpPr txBox="1"/>
          <p:nvPr/>
        </p:nvSpPr>
        <p:spPr>
          <a:xfrm>
            <a:off x="3931920" y="5989320"/>
            <a:ext cx="3657600" cy="365760"/>
          </a:xfrm>
          <a:prstGeom prst="rect">
            <a:avLst/>
          </a:prstGeom>
          <a:noFill/>
          <a:ln/>
        </p:spPr>
        <p:txBody>
          <a:bodyPr wrap="square" lIns="0" tIns="0" rIns="0" bIns="0" rtlCol="0" anchor="ctr"/>
          <a:lstStyle/>
          <a:p>
            <a:pPr indent="0" marL="0">
              <a:buNone/>
            </a:pPr>
            <a:r>
              <a:rPr lang="en-US" sz="1200" b="1" dirty="0">
                <a:solidFill>
                  <a:srgbClr val="00B4C6"/>
                </a:solidFill>
                <a:latin typeface="Calibri" pitchFamily="34" charset="0"/>
                <a:ea typeface="Calibri" pitchFamily="34" charset="-122"/>
                <a:cs typeface="Calibri" pitchFamily="34" charset="-120"/>
              </a:rPr>
              <a:t>PHASE 2 · Dev Environment &amp; Git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6C5CE7"/>
                </a:solidFill>
                <a:latin typeface="Calibri" pitchFamily="34" charset="0"/>
                <a:ea typeface="Calibri" pitchFamily="34" charset="-122"/>
                <a:cs typeface="Calibri" pitchFamily="34" charset="-120"/>
              </a:rPr>
              <a:t>TODAY'S SESSION</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Agenda</a:t>
            </a:r>
            <a:endParaRPr lang="en-US" sz="3400" dirty="0"/>
          </a:p>
        </p:txBody>
      </p:sp>
      <p:sp>
        <p:nvSpPr>
          <p:cNvPr id="4" name="Shape 2"/>
          <p:cNvSpPr/>
          <p:nvPr/>
        </p:nvSpPr>
        <p:spPr>
          <a:xfrm>
            <a:off x="548640" y="1737360"/>
            <a:ext cx="5318608" cy="4297680"/>
          </a:xfrm>
          <a:prstGeom prst="roundRect">
            <a:avLst>
              <a:gd name="adj" fmla="val 2553"/>
            </a:avLst>
          </a:prstGeom>
          <a:solidFill>
            <a:srgbClr val="FFFFFF"/>
          </a:solidFill>
          <a:ln/>
          <a:effectLst>
            <a:outerShdw sx="100000" sy="100000" kx="0" ky="0" algn="bl" rotWithShape="0" blurRad="127000" dist="38100" dir="5400000">
              <a:srgbClr val="1B1F3B">
                <a:alpha val="12000"/>
              </a:srgbClr>
            </a:outerShdw>
          </a:effectLst>
        </p:spPr>
      </p:sp>
      <p:sp>
        <p:nvSpPr>
          <p:cNvPr id="5" name="Shape 3"/>
          <p:cNvSpPr/>
          <p:nvPr/>
        </p:nvSpPr>
        <p:spPr>
          <a:xfrm>
            <a:off x="868680" y="2103120"/>
            <a:ext cx="731520" cy="731520"/>
          </a:xfrm>
          <a:prstGeom prst="ellipse">
            <a:avLst/>
          </a:prstGeom>
          <a:solidFill>
            <a:srgbClr val="6C5CE7"/>
          </a:solidFill>
          <a:ln/>
        </p:spPr>
      </p:sp>
      <p:pic>
        <p:nvPicPr>
          <p:cNvPr id="6" name="Image 0" descr="/home/claude/ai-git-deck/icons/brain.png">    </p:cNvPr>
          <p:cNvPicPr>
            <a:picLocks noChangeAspect="1"/>
          </p:cNvPicPr>
          <p:nvPr/>
        </p:nvPicPr>
        <p:blipFill>
          <a:blip r:embed="rId1"/>
          <a:stretch>
            <a:fillRect/>
          </a:stretch>
        </p:blipFill>
        <p:spPr>
          <a:xfrm>
            <a:off x="963778" y="2198218"/>
            <a:ext cx="541325" cy="541325"/>
          </a:xfrm>
          <a:prstGeom prst="rect">
            <a:avLst/>
          </a:prstGeom>
        </p:spPr>
      </p:pic>
      <p:sp>
        <p:nvSpPr>
          <p:cNvPr id="7" name="Text 4"/>
          <p:cNvSpPr txBox="1"/>
          <p:nvPr/>
        </p:nvSpPr>
        <p:spPr>
          <a:xfrm>
            <a:off x="1783080" y="2148840"/>
            <a:ext cx="3657600" cy="320040"/>
          </a:xfrm>
          <a:prstGeom prst="rect">
            <a:avLst/>
          </a:prstGeom>
          <a:noFill/>
          <a:ln/>
        </p:spPr>
        <p:txBody>
          <a:bodyPr wrap="square" lIns="0" tIns="0" rIns="0" bIns="0" rtlCol="0" anchor="ctr"/>
          <a:lstStyle/>
          <a:p>
            <a:pPr indent="0" marL="0">
              <a:buNone/>
            </a:pPr>
            <a:r>
              <a:rPr lang="en-US" sz="1200" b="1" spc="200" kern="0" dirty="0">
                <a:solidFill>
                  <a:srgbClr val="6C5CE7"/>
                </a:solidFill>
                <a:latin typeface="Calibri" pitchFamily="34" charset="0"/>
                <a:ea typeface="Calibri" pitchFamily="34" charset="-122"/>
                <a:cs typeface="Calibri" pitchFamily="34" charset="-120"/>
              </a:rPr>
              <a:t>PHASE 1</a:t>
            </a:r>
            <a:endParaRPr lang="en-US" sz="1200" dirty="0"/>
          </a:p>
        </p:txBody>
      </p:sp>
      <p:sp>
        <p:nvSpPr>
          <p:cNvPr id="8" name="Text 5"/>
          <p:cNvSpPr txBox="1"/>
          <p:nvPr/>
        </p:nvSpPr>
        <p:spPr>
          <a:xfrm>
            <a:off x="1783080" y="2450592"/>
            <a:ext cx="3947008" cy="548640"/>
          </a:xfrm>
          <a:prstGeom prst="rect">
            <a:avLst/>
          </a:prstGeom>
          <a:noFill/>
          <a:ln/>
        </p:spPr>
        <p:txBody>
          <a:bodyPr wrap="square" lIns="0" tIns="0" rIns="0" bIns="0" rtlCol="0" anchor="ctr"/>
          <a:lstStyle/>
          <a:p>
            <a:pPr indent="0" marL="0">
              <a:buNone/>
            </a:pPr>
            <a:r>
              <a:rPr lang="en-US" sz="2000" b="1" dirty="0">
                <a:solidFill>
                  <a:srgbClr val="22263F"/>
                </a:solidFill>
                <a:latin typeface="Cambria" pitchFamily="34" charset="0"/>
                <a:ea typeface="Cambria" pitchFamily="34" charset="-122"/>
                <a:cs typeface="Cambria" pitchFamily="34" charset="-120"/>
              </a:rPr>
              <a:t>What is AI + History of AI</a:t>
            </a:r>
            <a:endParaRPr lang="en-US" sz="2000" dirty="0"/>
          </a:p>
        </p:txBody>
      </p:sp>
      <p:sp>
        <p:nvSpPr>
          <p:cNvPr id="9" name="Shape 6"/>
          <p:cNvSpPr/>
          <p:nvPr/>
        </p:nvSpPr>
        <p:spPr>
          <a:xfrm>
            <a:off x="868680" y="3264408"/>
            <a:ext cx="91440" cy="91440"/>
          </a:xfrm>
          <a:prstGeom prst="ellipse">
            <a:avLst/>
          </a:prstGeom>
          <a:solidFill>
            <a:srgbClr val="6C5CE7"/>
          </a:solidFill>
          <a:ln/>
        </p:spPr>
      </p:sp>
      <p:sp>
        <p:nvSpPr>
          <p:cNvPr id="10" name="Text 7"/>
          <p:cNvSpPr txBox="1"/>
          <p:nvPr/>
        </p:nvSpPr>
        <p:spPr>
          <a:xfrm>
            <a:off x="1097280" y="3200400"/>
            <a:ext cx="4678528" cy="502920"/>
          </a:xfrm>
          <a:prstGeom prst="rect">
            <a:avLst/>
          </a:prstGeom>
          <a:noFill/>
          <a:ln/>
        </p:spPr>
        <p:txBody>
          <a:bodyPr wrap="square" lIns="0" tIns="0" rIns="0" bIns="0" rtlCol="0" anchor="t"/>
          <a:lstStyle/>
          <a:p>
            <a:pPr indent="0" marL="0">
              <a:buNone/>
            </a:pPr>
            <a:r>
              <a:rPr lang="en-US" sz="1350" dirty="0">
                <a:solidFill>
                  <a:srgbClr val="22263F"/>
                </a:solidFill>
                <a:latin typeface="Calibri" pitchFamily="34" charset="0"/>
                <a:ea typeface="Calibri" pitchFamily="34" charset="-122"/>
                <a:cs typeface="Calibri" pitchFamily="34" charset="-120"/>
              </a:rPr>
              <a:t>Defining artificial intelligence &amp; how it relates to ML and deep learning</a:t>
            </a:r>
            <a:endParaRPr lang="en-US" sz="1350" dirty="0"/>
          </a:p>
        </p:txBody>
      </p:sp>
      <p:sp>
        <p:nvSpPr>
          <p:cNvPr id="11" name="Shape 8"/>
          <p:cNvSpPr/>
          <p:nvPr/>
        </p:nvSpPr>
        <p:spPr>
          <a:xfrm>
            <a:off x="868680" y="3840480"/>
            <a:ext cx="91440" cy="91440"/>
          </a:xfrm>
          <a:prstGeom prst="ellipse">
            <a:avLst/>
          </a:prstGeom>
          <a:solidFill>
            <a:srgbClr val="6C5CE7"/>
          </a:solidFill>
          <a:ln/>
        </p:spPr>
      </p:sp>
      <p:sp>
        <p:nvSpPr>
          <p:cNvPr id="12" name="Text 9"/>
          <p:cNvSpPr txBox="1"/>
          <p:nvPr/>
        </p:nvSpPr>
        <p:spPr>
          <a:xfrm>
            <a:off x="1097280" y="3776472"/>
            <a:ext cx="4678528" cy="502920"/>
          </a:xfrm>
          <a:prstGeom prst="rect">
            <a:avLst/>
          </a:prstGeom>
          <a:noFill/>
          <a:ln/>
        </p:spPr>
        <p:txBody>
          <a:bodyPr wrap="square" lIns="0" tIns="0" rIns="0" bIns="0" rtlCol="0" anchor="t"/>
          <a:lstStyle/>
          <a:p>
            <a:pPr indent="0" marL="0">
              <a:buNone/>
            </a:pPr>
            <a:r>
              <a:rPr lang="en-US" sz="1350" dirty="0">
                <a:solidFill>
                  <a:srgbClr val="22263F"/>
                </a:solidFill>
                <a:latin typeface="Calibri" pitchFamily="34" charset="0"/>
                <a:ea typeface="Calibri" pitchFamily="34" charset="-122"/>
                <a:cs typeface="Calibri" pitchFamily="34" charset="-120"/>
              </a:rPr>
              <a:t>1950s — Turing Test &amp; the Dartmouth Conference</a:t>
            </a:r>
            <a:endParaRPr lang="en-US" sz="1350" dirty="0"/>
          </a:p>
        </p:txBody>
      </p:sp>
      <p:sp>
        <p:nvSpPr>
          <p:cNvPr id="13" name="Shape 10"/>
          <p:cNvSpPr/>
          <p:nvPr/>
        </p:nvSpPr>
        <p:spPr>
          <a:xfrm>
            <a:off x="868680" y="4416552"/>
            <a:ext cx="91440" cy="91440"/>
          </a:xfrm>
          <a:prstGeom prst="ellipse">
            <a:avLst/>
          </a:prstGeom>
          <a:solidFill>
            <a:srgbClr val="6C5CE7"/>
          </a:solidFill>
          <a:ln/>
        </p:spPr>
      </p:sp>
      <p:sp>
        <p:nvSpPr>
          <p:cNvPr id="14" name="Text 11"/>
          <p:cNvSpPr txBox="1"/>
          <p:nvPr/>
        </p:nvSpPr>
        <p:spPr>
          <a:xfrm>
            <a:off x="1097280" y="4352544"/>
            <a:ext cx="4678528" cy="502920"/>
          </a:xfrm>
          <a:prstGeom prst="rect">
            <a:avLst/>
          </a:prstGeom>
          <a:noFill/>
          <a:ln/>
        </p:spPr>
        <p:txBody>
          <a:bodyPr wrap="square" lIns="0" tIns="0" rIns="0" bIns="0" rtlCol="0" anchor="t"/>
          <a:lstStyle/>
          <a:p>
            <a:pPr indent="0" marL="0">
              <a:buNone/>
            </a:pPr>
            <a:r>
              <a:rPr lang="en-US" sz="1350" dirty="0">
                <a:solidFill>
                  <a:srgbClr val="22263F"/>
                </a:solidFill>
                <a:latin typeface="Calibri" pitchFamily="34" charset="0"/>
                <a:ea typeface="Calibri" pitchFamily="34" charset="-122"/>
                <a:cs typeface="Calibri" pitchFamily="34" charset="-120"/>
              </a:rPr>
              <a:t>1960s–1990s — The AI Winter and Deep Blue's comeback</a:t>
            </a:r>
            <a:endParaRPr lang="en-US" sz="1350" dirty="0"/>
          </a:p>
        </p:txBody>
      </p:sp>
      <p:sp>
        <p:nvSpPr>
          <p:cNvPr id="15" name="Shape 12"/>
          <p:cNvSpPr/>
          <p:nvPr/>
        </p:nvSpPr>
        <p:spPr>
          <a:xfrm>
            <a:off x="868680" y="4992624"/>
            <a:ext cx="91440" cy="91440"/>
          </a:xfrm>
          <a:prstGeom prst="ellipse">
            <a:avLst/>
          </a:prstGeom>
          <a:solidFill>
            <a:srgbClr val="6C5CE7"/>
          </a:solidFill>
          <a:ln/>
        </p:spPr>
      </p:sp>
      <p:sp>
        <p:nvSpPr>
          <p:cNvPr id="16" name="Text 13"/>
          <p:cNvSpPr txBox="1"/>
          <p:nvPr/>
        </p:nvSpPr>
        <p:spPr>
          <a:xfrm>
            <a:off x="1097280" y="4928616"/>
            <a:ext cx="4678528" cy="502920"/>
          </a:xfrm>
          <a:prstGeom prst="rect">
            <a:avLst/>
          </a:prstGeom>
          <a:noFill/>
          <a:ln/>
        </p:spPr>
        <p:txBody>
          <a:bodyPr wrap="square" lIns="0" tIns="0" rIns="0" bIns="0" rtlCol="0" anchor="t"/>
          <a:lstStyle/>
          <a:p>
            <a:pPr indent="0" marL="0">
              <a:buNone/>
            </a:pPr>
            <a:r>
              <a:rPr lang="en-US" sz="1350" dirty="0">
                <a:solidFill>
                  <a:srgbClr val="22263F"/>
                </a:solidFill>
                <a:latin typeface="Calibri" pitchFamily="34" charset="0"/>
                <a:ea typeface="Calibri" pitchFamily="34" charset="-122"/>
                <a:cs typeface="Calibri" pitchFamily="34" charset="-120"/>
              </a:rPr>
              <a:t>2000s–2017 — Deep learning, Watson, and image recognition</a:t>
            </a:r>
            <a:endParaRPr lang="en-US" sz="1350" dirty="0"/>
          </a:p>
        </p:txBody>
      </p:sp>
      <p:sp>
        <p:nvSpPr>
          <p:cNvPr id="17" name="Shape 14"/>
          <p:cNvSpPr/>
          <p:nvPr/>
        </p:nvSpPr>
        <p:spPr>
          <a:xfrm>
            <a:off x="868680" y="5568696"/>
            <a:ext cx="91440" cy="91440"/>
          </a:xfrm>
          <a:prstGeom prst="ellipse">
            <a:avLst/>
          </a:prstGeom>
          <a:solidFill>
            <a:srgbClr val="6C5CE7"/>
          </a:solidFill>
          <a:ln/>
        </p:spPr>
      </p:sp>
      <p:sp>
        <p:nvSpPr>
          <p:cNvPr id="18" name="Text 15"/>
          <p:cNvSpPr txBox="1"/>
          <p:nvPr/>
        </p:nvSpPr>
        <p:spPr>
          <a:xfrm>
            <a:off x="1097280" y="5504688"/>
            <a:ext cx="4678528" cy="502920"/>
          </a:xfrm>
          <a:prstGeom prst="rect">
            <a:avLst/>
          </a:prstGeom>
          <a:noFill/>
          <a:ln/>
        </p:spPr>
        <p:txBody>
          <a:bodyPr wrap="square" lIns="0" tIns="0" rIns="0" bIns="0" rtlCol="0" anchor="t"/>
          <a:lstStyle/>
          <a:p>
            <a:pPr indent="0" marL="0">
              <a:buNone/>
            </a:pPr>
            <a:r>
              <a:rPr lang="en-US" sz="1350" dirty="0">
                <a:solidFill>
                  <a:srgbClr val="22263F"/>
                </a:solidFill>
                <a:latin typeface="Calibri" pitchFamily="34" charset="0"/>
                <a:ea typeface="Calibri" pitchFamily="34" charset="-122"/>
                <a:cs typeface="Calibri" pitchFamily="34" charset="-120"/>
              </a:rPr>
              <a:t>2017–Present — Transformers, GPT, and ChatGPT</a:t>
            </a:r>
            <a:endParaRPr lang="en-US" sz="1350" dirty="0"/>
          </a:p>
        </p:txBody>
      </p:sp>
      <p:sp>
        <p:nvSpPr>
          <p:cNvPr id="19" name="Shape 16"/>
          <p:cNvSpPr/>
          <p:nvPr/>
        </p:nvSpPr>
        <p:spPr>
          <a:xfrm>
            <a:off x="6324448" y="1737360"/>
            <a:ext cx="5318608" cy="4297680"/>
          </a:xfrm>
          <a:prstGeom prst="roundRect">
            <a:avLst>
              <a:gd name="adj" fmla="val 2553"/>
            </a:avLst>
          </a:prstGeom>
          <a:solidFill>
            <a:srgbClr val="FFFFFF"/>
          </a:solidFill>
          <a:ln/>
          <a:effectLst>
            <a:outerShdw sx="100000" sy="100000" kx="0" ky="0" algn="bl" rotWithShape="0" blurRad="127000" dist="38100" dir="5400000">
              <a:srgbClr val="1B1F3B">
                <a:alpha val="12000"/>
              </a:srgbClr>
            </a:outerShdw>
          </a:effectLst>
        </p:spPr>
      </p:sp>
      <p:sp>
        <p:nvSpPr>
          <p:cNvPr id="20" name="Shape 17"/>
          <p:cNvSpPr/>
          <p:nvPr/>
        </p:nvSpPr>
        <p:spPr>
          <a:xfrm>
            <a:off x="6644488" y="2103120"/>
            <a:ext cx="731520" cy="731520"/>
          </a:xfrm>
          <a:prstGeom prst="ellipse">
            <a:avLst/>
          </a:prstGeom>
          <a:solidFill>
            <a:srgbClr val="00B4C6"/>
          </a:solidFill>
          <a:ln/>
        </p:spPr>
      </p:sp>
      <p:pic>
        <p:nvPicPr>
          <p:cNvPr id="21" name="Image 1" descr="/home/claude/ai-git-deck/icons/code.png">    </p:cNvPr>
          <p:cNvPicPr>
            <a:picLocks noChangeAspect="1"/>
          </p:cNvPicPr>
          <p:nvPr/>
        </p:nvPicPr>
        <p:blipFill>
          <a:blip r:embed="rId2"/>
          <a:stretch>
            <a:fillRect/>
          </a:stretch>
        </p:blipFill>
        <p:spPr>
          <a:xfrm>
            <a:off x="6739585" y="2198218"/>
            <a:ext cx="541325" cy="541325"/>
          </a:xfrm>
          <a:prstGeom prst="rect">
            <a:avLst/>
          </a:prstGeom>
        </p:spPr>
      </p:pic>
      <p:sp>
        <p:nvSpPr>
          <p:cNvPr id="22" name="Text 18"/>
          <p:cNvSpPr txBox="1"/>
          <p:nvPr/>
        </p:nvSpPr>
        <p:spPr>
          <a:xfrm>
            <a:off x="7558888" y="2148840"/>
            <a:ext cx="3657600" cy="320040"/>
          </a:xfrm>
          <a:prstGeom prst="rect">
            <a:avLst/>
          </a:prstGeom>
          <a:noFill/>
          <a:ln/>
        </p:spPr>
        <p:txBody>
          <a:bodyPr wrap="square" lIns="0" tIns="0" rIns="0" bIns="0" rtlCol="0" anchor="ctr"/>
          <a:lstStyle/>
          <a:p>
            <a:pPr indent="0" marL="0">
              <a:buNone/>
            </a:pPr>
            <a:r>
              <a:rPr lang="en-US" sz="1200" b="1" spc="200" kern="0" dirty="0">
                <a:solidFill>
                  <a:srgbClr val="00B4C6"/>
                </a:solidFill>
                <a:latin typeface="Calibri" pitchFamily="34" charset="0"/>
                <a:ea typeface="Calibri" pitchFamily="34" charset="-122"/>
                <a:cs typeface="Calibri" pitchFamily="34" charset="-120"/>
              </a:rPr>
              <a:t>PHASE 2</a:t>
            </a:r>
            <a:endParaRPr lang="en-US" sz="1200" dirty="0"/>
          </a:p>
        </p:txBody>
      </p:sp>
      <p:sp>
        <p:nvSpPr>
          <p:cNvPr id="23" name="Text 19"/>
          <p:cNvSpPr txBox="1"/>
          <p:nvPr/>
        </p:nvSpPr>
        <p:spPr>
          <a:xfrm>
            <a:off x="7558888" y="2450592"/>
            <a:ext cx="3947008" cy="548640"/>
          </a:xfrm>
          <a:prstGeom prst="rect">
            <a:avLst/>
          </a:prstGeom>
          <a:noFill/>
          <a:ln/>
        </p:spPr>
        <p:txBody>
          <a:bodyPr wrap="square" lIns="0" tIns="0" rIns="0" bIns="0" rtlCol="0" anchor="ctr"/>
          <a:lstStyle/>
          <a:p>
            <a:pPr indent="0" marL="0">
              <a:buNone/>
            </a:pPr>
            <a:r>
              <a:rPr lang="en-US" sz="2000" b="1" dirty="0">
                <a:solidFill>
                  <a:srgbClr val="22263F"/>
                </a:solidFill>
                <a:latin typeface="Cambria" pitchFamily="34" charset="0"/>
                <a:ea typeface="Cambria" pitchFamily="34" charset="-122"/>
                <a:cs typeface="Cambria" pitchFamily="34" charset="-120"/>
              </a:rPr>
              <a:t>Dev Environment + Git/GitHub</a:t>
            </a:r>
            <a:endParaRPr lang="en-US" sz="2000" dirty="0"/>
          </a:p>
        </p:txBody>
      </p:sp>
      <p:sp>
        <p:nvSpPr>
          <p:cNvPr id="24" name="Shape 20"/>
          <p:cNvSpPr/>
          <p:nvPr/>
        </p:nvSpPr>
        <p:spPr>
          <a:xfrm>
            <a:off x="6644488" y="3264408"/>
            <a:ext cx="91440" cy="91440"/>
          </a:xfrm>
          <a:prstGeom prst="ellipse">
            <a:avLst/>
          </a:prstGeom>
          <a:solidFill>
            <a:srgbClr val="00B4C6"/>
          </a:solidFill>
          <a:ln/>
        </p:spPr>
      </p:sp>
      <p:sp>
        <p:nvSpPr>
          <p:cNvPr id="25" name="Text 21"/>
          <p:cNvSpPr txBox="1"/>
          <p:nvPr/>
        </p:nvSpPr>
        <p:spPr>
          <a:xfrm>
            <a:off x="6873088" y="3200400"/>
            <a:ext cx="4678528" cy="502920"/>
          </a:xfrm>
          <a:prstGeom prst="rect">
            <a:avLst/>
          </a:prstGeom>
          <a:noFill/>
          <a:ln/>
        </p:spPr>
        <p:txBody>
          <a:bodyPr wrap="square" lIns="0" tIns="0" rIns="0" bIns="0" rtlCol="0" anchor="t"/>
          <a:lstStyle/>
          <a:p>
            <a:pPr indent="0" marL="0">
              <a:buNone/>
            </a:pPr>
            <a:r>
              <a:rPr lang="en-US" sz="1350" dirty="0">
                <a:solidFill>
                  <a:srgbClr val="22263F"/>
                </a:solidFill>
                <a:latin typeface="Calibri" pitchFamily="34" charset="0"/>
                <a:ea typeface="Calibri" pitchFamily="34" charset="-122"/>
                <a:cs typeface="Calibri" pitchFamily="34" charset="-120"/>
              </a:rPr>
              <a:t>Installing Python and Visual Studio Code</a:t>
            </a:r>
            <a:endParaRPr lang="en-US" sz="1350" dirty="0"/>
          </a:p>
        </p:txBody>
      </p:sp>
      <p:sp>
        <p:nvSpPr>
          <p:cNvPr id="26" name="Shape 22"/>
          <p:cNvSpPr/>
          <p:nvPr/>
        </p:nvSpPr>
        <p:spPr>
          <a:xfrm>
            <a:off x="6644488" y="3840480"/>
            <a:ext cx="91440" cy="91440"/>
          </a:xfrm>
          <a:prstGeom prst="ellipse">
            <a:avLst/>
          </a:prstGeom>
          <a:solidFill>
            <a:srgbClr val="00B4C6"/>
          </a:solidFill>
          <a:ln/>
        </p:spPr>
      </p:sp>
      <p:sp>
        <p:nvSpPr>
          <p:cNvPr id="27" name="Text 23"/>
          <p:cNvSpPr txBox="1"/>
          <p:nvPr/>
        </p:nvSpPr>
        <p:spPr>
          <a:xfrm>
            <a:off x="6873088" y="3776472"/>
            <a:ext cx="4678528" cy="502920"/>
          </a:xfrm>
          <a:prstGeom prst="rect">
            <a:avLst/>
          </a:prstGeom>
          <a:noFill/>
          <a:ln/>
        </p:spPr>
        <p:txBody>
          <a:bodyPr wrap="square" lIns="0" tIns="0" rIns="0" bIns="0" rtlCol="0" anchor="t"/>
          <a:lstStyle/>
          <a:p>
            <a:pPr indent="0" marL="0">
              <a:buNone/>
            </a:pPr>
            <a:r>
              <a:rPr lang="en-US" sz="1350" dirty="0">
                <a:solidFill>
                  <a:srgbClr val="22263F"/>
                </a:solidFill>
                <a:latin typeface="Calibri" pitchFamily="34" charset="0"/>
                <a:ea typeface="Calibri" pitchFamily="34" charset="-122"/>
                <a:cs typeface="Calibri" pitchFamily="34" charset="-120"/>
              </a:rPr>
              <a:t>Understanding Git vs GitHub</a:t>
            </a:r>
            <a:endParaRPr lang="en-US" sz="1350" dirty="0"/>
          </a:p>
        </p:txBody>
      </p:sp>
      <p:sp>
        <p:nvSpPr>
          <p:cNvPr id="28" name="Shape 24"/>
          <p:cNvSpPr/>
          <p:nvPr/>
        </p:nvSpPr>
        <p:spPr>
          <a:xfrm>
            <a:off x="6644488" y="4416552"/>
            <a:ext cx="91440" cy="91440"/>
          </a:xfrm>
          <a:prstGeom prst="ellipse">
            <a:avLst/>
          </a:prstGeom>
          <a:solidFill>
            <a:srgbClr val="00B4C6"/>
          </a:solidFill>
          <a:ln/>
        </p:spPr>
      </p:sp>
      <p:sp>
        <p:nvSpPr>
          <p:cNvPr id="29" name="Text 25"/>
          <p:cNvSpPr txBox="1"/>
          <p:nvPr/>
        </p:nvSpPr>
        <p:spPr>
          <a:xfrm>
            <a:off x="6873088" y="4352544"/>
            <a:ext cx="4678528" cy="502920"/>
          </a:xfrm>
          <a:prstGeom prst="rect">
            <a:avLst/>
          </a:prstGeom>
          <a:noFill/>
          <a:ln/>
        </p:spPr>
        <p:txBody>
          <a:bodyPr wrap="square" lIns="0" tIns="0" rIns="0" bIns="0" rtlCol="0" anchor="t"/>
          <a:lstStyle/>
          <a:p>
            <a:pPr indent="0" marL="0">
              <a:buNone/>
            </a:pPr>
            <a:r>
              <a:rPr lang="en-US" sz="1350" dirty="0">
                <a:solidFill>
                  <a:srgbClr val="22263F"/>
                </a:solidFill>
                <a:latin typeface="Calibri" pitchFamily="34" charset="0"/>
                <a:ea typeface="Calibri" pitchFamily="34" charset="-122"/>
                <a:cs typeface="Calibri" pitchFamily="34" charset="-120"/>
              </a:rPr>
              <a:t>Installing Git &amp; creating a GitHub account</a:t>
            </a:r>
            <a:endParaRPr lang="en-US" sz="1350" dirty="0"/>
          </a:p>
        </p:txBody>
      </p:sp>
      <p:sp>
        <p:nvSpPr>
          <p:cNvPr id="30" name="Shape 26"/>
          <p:cNvSpPr/>
          <p:nvPr/>
        </p:nvSpPr>
        <p:spPr>
          <a:xfrm>
            <a:off x="6644488" y="4992624"/>
            <a:ext cx="91440" cy="91440"/>
          </a:xfrm>
          <a:prstGeom prst="ellipse">
            <a:avLst/>
          </a:prstGeom>
          <a:solidFill>
            <a:srgbClr val="00B4C6"/>
          </a:solidFill>
          <a:ln/>
        </p:spPr>
      </p:sp>
      <p:sp>
        <p:nvSpPr>
          <p:cNvPr id="31" name="Text 27"/>
          <p:cNvSpPr txBox="1"/>
          <p:nvPr/>
        </p:nvSpPr>
        <p:spPr>
          <a:xfrm>
            <a:off x="6873088" y="4928616"/>
            <a:ext cx="4678528" cy="502920"/>
          </a:xfrm>
          <a:prstGeom prst="rect">
            <a:avLst/>
          </a:prstGeom>
          <a:noFill/>
          <a:ln/>
        </p:spPr>
        <p:txBody>
          <a:bodyPr wrap="square" lIns="0" tIns="0" rIns="0" bIns="0" rtlCol="0" anchor="t"/>
          <a:lstStyle/>
          <a:p>
            <a:pPr indent="0" marL="0">
              <a:buNone/>
            </a:pPr>
            <a:r>
              <a:rPr lang="en-US" sz="1350" dirty="0">
                <a:solidFill>
                  <a:srgbClr val="22263F"/>
                </a:solidFill>
                <a:latin typeface="Calibri" pitchFamily="34" charset="0"/>
                <a:ea typeface="Calibri" pitchFamily="34" charset="-122"/>
                <a:cs typeface="Calibri" pitchFamily="34" charset="-120"/>
              </a:rPr>
              <a:t>Core commands: config, status, add, commit</a:t>
            </a:r>
            <a:endParaRPr lang="en-US" sz="1350" dirty="0"/>
          </a:p>
        </p:txBody>
      </p:sp>
      <p:sp>
        <p:nvSpPr>
          <p:cNvPr id="32" name="Shape 28"/>
          <p:cNvSpPr/>
          <p:nvPr/>
        </p:nvSpPr>
        <p:spPr>
          <a:xfrm>
            <a:off x="6644488" y="5568696"/>
            <a:ext cx="91440" cy="91440"/>
          </a:xfrm>
          <a:prstGeom prst="ellipse">
            <a:avLst/>
          </a:prstGeom>
          <a:solidFill>
            <a:srgbClr val="00B4C6"/>
          </a:solidFill>
          <a:ln/>
        </p:spPr>
      </p:sp>
      <p:sp>
        <p:nvSpPr>
          <p:cNvPr id="33" name="Text 29"/>
          <p:cNvSpPr txBox="1"/>
          <p:nvPr/>
        </p:nvSpPr>
        <p:spPr>
          <a:xfrm>
            <a:off x="6873088" y="5504688"/>
            <a:ext cx="4678528" cy="502920"/>
          </a:xfrm>
          <a:prstGeom prst="rect">
            <a:avLst/>
          </a:prstGeom>
          <a:noFill/>
          <a:ln/>
        </p:spPr>
        <p:txBody>
          <a:bodyPr wrap="square" lIns="0" tIns="0" rIns="0" bIns="0" rtlCol="0" anchor="t"/>
          <a:lstStyle/>
          <a:p>
            <a:pPr indent="0" marL="0">
              <a:buNone/>
            </a:pPr>
            <a:r>
              <a:rPr lang="en-US" sz="1350" dirty="0">
                <a:solidFill>
                  <a:srgbClr val="22263F"/>
                </a:solidFill>
                <a:latin typeface="Calibri" pitchFamily="34" charset="0"/>
                <a:ea typeface="Calibri" pitchFamily="34" charset="-122"/>
                <a:cs typeface="Calibri" pitchFamily="34" charset="-120"/>
              </a:rPr>
              <a:t>Working remotely: clone, push, branch, switch, checkout, show, PR</a:t>
            </a:r>
            <a:endParaRPr lang="en-US" sz="1350" dirty="0"/>
          </a:p>
        </p:txBody>
      </p:sp>
      <p:sp>
        <p:nvSpPr>
          <p:cNvPr id="34" name="Text 30"/>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35" name="Text 31"/>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6C5CE7"/>
                </a:solidFill>
                <a:latin typeface="Calibri" pitchFamily="34" charset="0"/>
                <a:ea typeface="Calibri" pitchFamily="34" charset="-122"/>
                <a:cs typeface="Calibri" pitchFamily="34" charset="-120"/>
              </a:rPr>
              <a:t>PHASE 1 · WHAT IS AI</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What Is Artificial Intelligence?</a:t>
            </a:r>
            <a:endParaRPr lang="en-US" sz="3400" dirty="0"/>
          </a:p>
        </p:txBody>
      </p:sp>
      <p:sp>
        <p:nvSpPr>
          <p:cNvPr id="4" name="Text 2"/>
          <p:cNvSpPr txBox="1"/>
          <p:nvPr/>
        </p:nvSpPr>
        <p:spPr>
          <a:xfrm>
            <a:off x="548640" y="1600200"/>
            <a:ext cx="5577840" cy="2011680"/>
          </a:xfrm>
          <a:prstGeom prst="rect">
            <a:avLst/>
          </a:prstGeom>
          <a:noFill/>
          <a:ln/>
        </p:spPr>
        <p:txBody>
          <a:bodyPr wrap="square" lIns="0" tIns="0" rIns="0" bIns="0" rtlCol="0" anchor="ctr"/>
          <a:lstStyle/>
          <a:p>
            <a:pPr indent="0" marL="0">
              <a:lnSpc>
                <a:spcPct val="125000"/>
              </a:lnSpc>
              <a:buNone/>
            </a:pPr>
            <a:r>
              <a:rPr lang="en-US" sz="1550" dirty="0">
                <a:solidFill>
                  <a:srgbClr val="22263F"/>
                </a:solidFill>
                <a:latin typeface="Calibri" pitchFamily="34" charset="0"/>
                <a:ea typeface="Calibri" pitchFamily="34" charset="-122"/>
                <a:cs typeface="Calibri" pitchFamily="34" charset="-120"/>
              </a:rPr>
              <a:t>Artificial Intelligence is the branch of computer science focused on building systems that perform tasks normally requiring human intelligence — reasoning, learning from experience, understanding language, recognizing patterns, and making decisions.</a:t>
            </a:r>
            <a:endParaRPr lang="en-US" sz="1550" dirty="0"/>
          </a:p>
        </p:txBody>
      </p:sp>
      <p:sp>
        <p:nvSpPr>
          <p:cNvPr id="5" name="Shape 3"/>
          <p:cNvSpPr/>
          <p:nvPr/>
        </p:nvSpPr>
        <p:spPr>
          <a:xfrm>
            <a:off x="548640" y="3776472"/>
            <a:ext cx="109728" cy="109728"/>
          </a:xfrm>
          <a:prstGeom prst="ellipse">
            <a:avLst/>
          </a:prstGeom>
          <a:solidFill>
            <a:srgbClr val="6C5CE7"/>
          </a:solidFill>
          <a:ln/>
        </p:spPr>
      </p:sp>
      <p:sp>
        <p:nvSpPr>
          <p:cNvPr id="6" name="Text 4"/>
          <p:cNvSpPr txBox="1"/>
          <p:nvPr/>
        </p:nvSpPr>
        <p:spPr>
          <a:xfrm>
            <a:off x="777240" y="3593592"/>
            <a:ext cx="5394960" cy="822960"/>
          </a:xfrm>
          <a:prstGeom prst="rect">
            <a:avLst/>
          </a:prstGeom>
          <a:noFill/>
          <a:ln/>
        </p:spPr>
        <p:txBody>
          <a:bodyPr wrap="square" lIns="0" tIns="0" rIns="0" bIns="0" rtlCol="0" anchor="ctr"/>
          <a:lstStyle/>
          <a:p>
            <a:pPr indent="0" marL="0">
              <a:lnSpc>
                <a:spcPct val="115000"/>
              </a:lnSpc>
              <a:buNone/>
            </a:pPr>
            <a:r>
              <a:rPr lang="en-US" sz="1350" b="1" dirty="0">
                <a:solidFill>
                  <a:srgbClr val="22263F"/>
                </a:solidFill>
                <a:latin typeface="Calibri" pitchFamily="34" charset="0"/>
                <a:ea typeface="Calibri" pitchFamily="34" charset="-122"/>
                <a:cs typeface="Calibri" pitchFamily="34" charset="-120"/>
              </a:rPr>
              <a:t>Narrow AI — </a:t>
            </a:r>
            <a:pPr indent="0" marL="0">
              <a:lnSpc>
                <a:spcPct val="115000"/>
              </a:lnSpc>
              <a:buNone/>
            </a:pPr>
            <a:r>
              <a:rPr lang="en-US" sz="1350" dirty="0">
                <a:solidFill>
                  <a:srgbClr val="6B7280"/>
                </a:solidFill>
                <a:latin typeface="Calibri" pitchFamily="34" charset="0"/>
                <a:ea typeface="Calibri" pitchFamily="34" charset="-122"/>
                <a:cs typeface="Calibri" pitchFamily="34" charset="-120"/>
              </a:rPr>
              <a:t>Built for one specific task — voice assistants, spam filters, recommendation engines. This is virtually all AI in use today.</a:t>
            </a:r>
            <a:endParaRPr lang="en-US" sz="1350" dirty="0"/>
          </a:p>
        </p:txBody>
      </p:sp>
      <p:sp>
        <p:nvSpPr>
          <p:cNvPr id="7" name="Shape 5"/>
          <p:cNvSpPr/>
          <p:nvPr/>
        </p:nvSpPr>
        <p:spPr>
          <a:xfrm>
            <a:off x="548640" y="4828032"/>
            <a:ext cx="109728" cy="109728"/>
          </a:xfrm>
          <a:prstGeom prst="ellipse">
            <a:avLst/>
          </a:prstGeom>
          <a:solidFill>
            <a:srgbClr val="6C5CE7"/>
          </a:solidFill>
          <a:ln/>
        </p:spPr>
      </p:sp>
      <p:sp>
        <p:nvSpPr>
          <p:cNvPr id="8" name="Text 6"/>
          <p:cNvSpPr txBox="1"/>
          <p:nvPr/>
        </p:nvSpPr>
        <p:spPr>
          <a:xfrm>
            <a:off x="777240" y="4645152"/>
            <a:ext cx="5394960" cy="822960"/>
          </a:xfrm>
          <a:prstGeom prst="rect">
            <a:avLst/>
          </a:prstGeom>
          <a:noFill/>
          <a:ln/>
        </p:spPr>
        <p:txBody>
          <a:bodyPr wrap="square" lIns="0" tIns="0" rIns="0" bIns="0" rtlCol="0" anchor="ctr"/>
          <a:lstStyle/>
          <a:p>
            <a:pPr indent="0" marL="0">
              <a:lnSpc>
                <a:spcPct val="115000"/>
              </a:lnSpc>
              <a:buNone/>
            </a:pPr>
            <a:r>
              <a:rPr lang="en-US" sz="1350" b="1" dirty="0">
                <a:solidFill>
                  <a:srgbClr val="22263F"/>
                </a:solidFill>
                <a:latin typeface="Calibri" pitchFamily="34" charset="0"/>
                <a:ea typeface="Calibri" pitchFamily="34" charset="-122"/>
                <a:cs typeface="Calibri" pitchFamily="34" charset="-120"/>
              </a:rPr>
              <a:t>General AI — </a:t>
            </a:r>
            <a:pPr indent="0" marL="0">
              <a:lnSpc>
                <a:spcPct val="115000"/>
              </a:lnSpc>
              <a:buNone/>
            </a:pPr>
            <a:r>
              <a:rPr lang="en-US" sz="1350" dirty="0">
                <a:solidFill>
                  <a:srgbClr val="6B7280"/>
                </a:solidFill>
                <a:latin typeface="Calibri" pitchFamily="34" charset="0"/>
                <a:ea typeface="Calibri" pitchFamily="34" charset="-122"/>
                <a:cs typeface="Calibri" pitchFamily="34" charset="-120"/>
              </a:rPr>
              <a:t>A hypothetical system with human-level reasoning across any task. Still a research goal, not a reality.</a:t>
            </a:r>
            <a:endParaRPr lang="en-US" sz="1350" dirty="0"/>
          </a:p>
        </p:txBody>
      </p:sp>
      <p:sp>
        <p:nvSpPr>
          <p:cNvPr id="9" name="Shape 7"/>
          <p:cNvSpPr/>
          <p:nvPr/>
        </p:nvSpPr>
        <p:spPr>
          <a:xfrm>
            <a:off x="6903720" y="1828800"/>
            <a:ext cx="4297680" cy="4297680"/>
          </a:xfrm>
          <a:prstGeom prst="ellipse">
            <a:avLst/>
          </a:prstGeom>
          <a:solidFill>
            <a:srgbClr val="E4E1FB"/>
          </a:solidFill>
          <a:ln/>
        </p:spPr>
      </p:sp>
      <p:sp>
        <p:nvSpPr>
          <p:cNvPr id="10" name="Shape 8"/>
          <p:cNvSpPr/>
          <p:nvPr/>
        </p:nvSpPr>
        <p:spPr>
          <a:xfrm>
            <a:off x="7452360" y="2377440"/>
            <a:ext cx="3200400" cy="3200400"/>
          </a:xfrm>
          <a:prstGeom prst="ellipse">
            <a:avLst/>
          </a:prstGeom>
          <a:solidFill>
            <a:srgbClr val="C7C1F7"/>
          </a:solidFill>
          <a:ln/>
        </p:spPr>
      </p:sp>
      <p:sp>
        <p:nvSpPr>
          <p:cNvPr id="11" name="Shape 9"/>
          <p:cNvSpPr/>
          <p:nvPr/>
        </p:nvSpPr>
        <p:spPr>
          <a:xfrm>
            <a:off x="8001000" y="2926080"/>
            <a:ext cx="2103120" cy="2103120"/>
          </a:xfrm>
          <a:prstGeom prst="ellipse">
            <a:avLst/>
          </a:prstGeom>
          <a:solidFill>
            <a:srgbClr val="9F94EF"/>
          </a:solidFill>
          <a:ln/>
        </p:spPr>
      </p:sp>
      <p:sp>
        <p:nvSpPr>
          <p:cNvPr id="12" name="Shape 10"/>
          <p:cNvSpPr/>
          <p:nvPr/>
        </p:nvSpPr>
        <p:spPr>
          <a:xfrm>
            <a:off x="8549640" y="3474720"/>
            <a:ext cx="1005840" cy="1005840"/>
          </a:xfrm>
          <a:prstGeom prst="ellipse">
            <a:avLst/>
          </a:prstGeom>
          <a:solidFill>
            <a:srgbClr val="6C5CE7"/>
          </a:solidFill>
          <a:ln/>
        </p:spPr>
      </p:sp>
      <p:sp>
        <p:nvSpPr>
          <p:cNvPr id="13" name="Text 11"/>
          <p:cNvSpPr txBox="1"/>
          <p:nvPr/>
        </p:nvSpPr>
        <p:spPr>
          <a:xfrm>
            <a:off x="8549640" y="3685032"/>
            <a:ext cx="1005840" cy="58521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Gen</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AI</a:t>
            </a:r>
            <a:endParaRPr lang="en-US" sz="1050" dirty="0"/>
          </a:p>
        </p:txBody>
      </p:sp>
      <p:sp>
        <p:nvSpPr>
          <p:cNvPr id="14" name="Text 12"/>
          <p:cNvSpPr txBox="1"/>
          <p:nvPr/>
        </p:nvSpPr>
        <p:spPr>
          <a:xfrm>
            <a:off x="8046720" y="2496312"/>
            <a:ext cx="2011680" cy="274320"/>
          </a:xfrm>
          <a:prstGeom prst="rect">
            <a:avLst/>
          </a:prstGeom>
          <a:noFill/>
          <a:ln/>
        </p:spPr>
        <p:txBody>
          <a:bodyPr wrap="square" lIns="0" tIns="0" rIns="0" bIns="0" rtlCol="0" anchor="ctr"/>
          <a:lstStyle/>
          <a:p>
            <a:pPr algn="ctr" indent="0" marL="0">
              <a:buNone/>
            </a:pPr>
            <a:r>
              <a:rPr lang="en-US" sz="1050" b="1" dirty="0">
                <a:solidFill>
                  <a:srgbClr val="3A2E86"/>
                </a:solidFill>
                <a:latin typeface="Calibri" pitchFamily="34" charset="0"/>
                <a:ea typeface="Calibri" pitchFamily="34" charset="-122"/>
                <a:cs typeface="Calibri" pitchFamily="34" charset="-120"/>
              </a:rPr>
              <a:t>Deep Learning</a:t>
            </a:r>
            <a:endParaRPr lang="en-US" sz="1050" dirty="0"/>
          </a:p>
        </p:txBody>
      </p:sp>
      <p:sp>
        <p:nvSpPr>
          <p:cNvPr id="15" name="Text 13"/>
          <p:cNvSpPr txBox="1"/>
          <p:nvPr/>
        </p:nvSpPr>
        <p:spPr>
          <a:xfrm>
            <a:off x="7680960" y="1965960"/>
            <a:ext cx="2743200" cy="274320"/>
          </a:xfrm>
          <a:prstGeom prst="rect">
            <a:avLst/>
          </a:prstGeom>
          <a:noFill/>
          <a:ln/>
        </p:spPr>
        <p:txBody>
          <a:bodyPr wrap="square" lIns="0" tIns="0" rIns="0" bIns="0" rtlCol="0" anchor="ctr"/>
          <a:lstStyle/>
          <a:p>
            <a:pPr algn="ctr" indent="0" marL="0">
              <a:buNone/>
            </a:pPr>
            <a:r>
              <a:rPr lang="en-US" sz="1050" b="1" dirty="0">
                <a:solidFill>
                  <a:srgbClr val="3A2E86"/>
                </a:solidFill>
                <a:latin typeface="Calibri" pitchFamily="34" charset="0"/>
                <a:ea typeface="Calibri" pitchFamily="34" charset="-122"/>
                <a:cs typeface="Calibri" pitchFamily="34" charset="-120"/>
              </a:rPr>
              <a:t>Machine Learning</a:t>
            </a:r>
            <a:endParaRPr lang="en-US" sz="1050" dirty="0"/>
          </a:p>
        </p:txBody>
      </p:sp>
      <p:sp>
        <p:nvSpPr>
          <p:cNvPr id="16" name="Text 14"/>
          <p:cNvSpPr txBox="1"/>
          <p:nvPr/>
        </p:nvSpPr>
        <p:spPr>
          <a:xfrm>
            <a:off x="6949440" y="1463040"/>
            <a:ext cx="4206240" cy="274320"/>
          </a:xfrm>
          <a:prstGeom prst="rect">
            <a:avLst/>
          </a:prstGeom>
          <a:noFill/>
          <a:ln/>
        </p:spPr>
        <p:txBody>
          <a:bodyPr wrap="square" lIns="0" tIns="0" rIns="0" bIns="0" rtlCol="0" anchor="ctr"/>
          <a:lstStyle/>
          <a:p>
            <a:pPr algn="ctr" indent="0" marL="0">
              <a:buNone/>
            </a:pPr>
            <a:r>
              <a:rPr lang="en-US" sz="1100" b="1" dirty="0">
                <a:solidFill>
                  <a:srgbClr val="2A2170"/>
                </a:solidFill>
                <a:latin typeface="Calibri" pitchFamily="34" charset="0"/>
                <a:ea typeface="Calibri" pitchFamily="34" charset="-122"/>
                <a:cs typeface="Calibri" pitchFamily="34" charset="-120"/>
              </a:rPr>
              <a:t>Artificial Intelligence</a:t>
            </a:r>
            <a:endParaRPr lang="en-US" sz="1100" dirty="0"/>
          </a:p>
        </p:txBody>
      </p:sp>
      <p:sp>
        <p:nvSpPr>
          <p:cNvPr id="17" name="Text 15"/>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18" name="Text 16"/>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9B8CFF"/>
                </a:solidFill>
                <a:latin typeface="Calibri" pitchFamily="34" charset="0"/>
                <a:ea typeface="Calibri" pitchFamily="34" charset="-122"/>
                <a:cs typeface="Calibri" pitchFamily="34" charset="-120"/>
              </a:rPr>
              <a:t>PHASE 1 · HISTORY OF AI</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Seven Decades of AI, at a Glance</a:t>
            </a:r>
            <a:endParaRPr lang="en-US" sz="3200" dirty="0"/>
          </a:p>
        </p:txBody>
      </p:sp>
      <p:sp>
        <p:nvSpPr>
          <p:cNvPr id="4" name="Shape 2"/>
          <p:cNvSpPr/>
          <p:nvPr/>
        </p:nvSpPr>
        <p:spPr>
          <a:xfrm>
            <a:off x="1097280" y="3977640"/>
            <a:ext cx="9997135" cy="0"/>
          </a:xfrm>
          <a:prstGeom prst="line">
            <a:avLst/>
          </a:prstGeom>
          <a:noFill/>
          <a:ln w="38100">
            <a:solidFill>
              <a:srgbClr val="262C52"/>
            </a:solidFill>
            <a:prstDash val="solid"/>
          </a:ln>
        </p:spPr>
      </p:sp>
      <p:sp>
        <p:nvSpPr>
          <p:cNvPr id="5" name="Shape 3"/>
          <p:cNvSpPr/>
          <p:nvPr/>
        </p:nvSpPr>
        <p:spPr>
          <a:xfrm>
            <a:off x="2264626" y="3895344"/>
            <a:ext cx="164592" cy="164592"/>
          </a:xfrm>
          <a:prstGeom prst="ellipse">
            <a:avLst/>
          </a:prstGeom>
          <a:solidFill>
            <a:srgbClr val="9B8CFF"/>
          </a:solidFill>
          <a:ln w="38100">
            <a:solidFill>
              <a:srgbClr val="1B1F3B"/>
            </a:solidFill>
            <a:prstDash val="solid"/>
          </a:ln>
        </p:spPr>
      </p:sp>
      <p:sp>
        <p:nvSpPr>
          <p:cNvPr id="6" name="Shape 4"/>
          <p:cNvSpPr/>
          <p:nvPr/>
        </p:nvSpPr>
        <p:spPr>
          <a:xfrm>
            <a:off x="1889722" y="2560320"/>
            <a:ext cx="914400" cy="914400"/>
          </a:xfrm>
          <a:prstGeom prst="ellipse">
            <a:avLst/>
          </a:prstGeom>
          <a:solidFill>
            <a:srgbClr val="262C52"/>
          </a:solidFill>
          <a:ln/>
        </p:spPr>
      </p:sp>
      <p:pic>
        <p:nvPicPr>
          <p:cNvPr id="7" name="Image 0" descr="/home/claude/ai-git-deck/icons/lightbulb.png">    </p:cNvPr>
          <p:cNvPicPr>
            <a:picLocks noChangeAspect="1"/>
          </p:cNvPicPr>
          <p:nvPr/>
        </p:nvPicPr>
        <p:blipFill>
          <a:blip r:embed="rId1"/>
          <a:stretch>
            <a:fillRect/>
          </a:stretch>
        </p:blipFill>
        <p:spPr>
          <a:xfrm>
            <a:off x="2008594" y="2679192"/>
            <a:ext cx="676656" cy="676656"/>
          </a:xfrm>
          <a:prstGeom prst="rect">
            <a:avLst/>
          </a:prstGeom>
        </p:spPr>
      </p:pic>
      <p:sp>
        <p:nvSpPr>
          <p:cNvPr id="8" name="Text 5"/>
          <p:cNvSpPr txBox="1"/>
          <p:nvPr/>
        </p:nvSpPr>
        <p:spPr>
          <a:xfrm>
            <a:off x="1341082" y="4206240"/>
            <a:ext cx="2011680" cy="320040"/>
          </a:xfrm>
          <a:prstGeom prst="rect">
            <a:avLst/>
          </a:prstGeom>
          <a:noFill/>
          <a:ln/>
        </p:spPr>
        <p:txBody>
          <a:bodyPr wrap="square" lIns="0" tIns="0" rIns="0" bIns="0" rtlCol="0" anchor="ctr"/>
          <a:lstStyle/>
          <a:p>
            <a:pPr algn="ctr" indent="0" marL="0">
              <a:buNone/>
            </a:pPr>
            <a:r>
              <a:rPr lang="en-US" sz="1400" b="1" dirty="0">
                <a:solidFill>
                  <a:srgbClr val="9B8CFF"/>
                </a:solidFill>
                <a:latin typeface="Calibri" pitchFamily="34" charset="0"/>
                <a:ea typeface="Calibri" pitchFamily="34" charset="-122"/>
                <a:cs typeface="Calibri" pitchFamily="34" charset="-120"/>
              </a:rPr>
              <a:t>1950s</a:t>
            </a:r>
            <a:endParaRPr lang="en-US" sz="1400" dirty="0"/>
          </a:p>
        </p:txBody>
      </p:sp>
      <p:sp>
        <p:nvSpPr>
          <p:cNvPr id="9" name="Text 6"/>
          <p:cNvSpPr txBox="1"/>
          <p:nvPr/>
        </p:nvSpPr>
        <p:spPr>
          <a:xfrm>
            <a:off x="1341082" y="4544568"/>
            <a:ext cx="2011680" cy="640080"/>
          </a:xfrm>
          <a:prstGeom prst="rect">
            <a:avLst/>
          </a:prstGeom>
          <a:noFill/>
          <a:ln/>
        </p:spPr>
        <p:txBody>
          <a:bodyPr wrap="square" lIns="0" tIns="0" rIns="0" bIns="0" rtlCol="0" anchor="ctr"/>
          <a:lstStyle/>
          <a:p>
            <a:pPr algn="ctr" indent="0" marL="0">
              <a:lnSpc>
                <a:spcPct val="110000"/>
              </a:lnSpc>
              <a:buNone/>
            </a:pPr>
            <a:r>
              <a:rPr lang="en-US" sz="1300" dirty="0">
                <a:solidFill>
                  <a:srgbClr val="FFFFFF"/>
                </a:solidFill>
                <a:latin typeface="Calibri" pitchFamily="34" charset="0"/>
                <a:ea typeface="Calibri" pitchFamily="34" charset="-122"/>
                <a:cs typeface="Calibri" pitchFamily="34" charset="-120"/>
              </a:rPr>
              <a:t>Birth of AI</a:t>
            </a:r>
            <a:endParaRPr lang="en-US" sz="1300" dirty="0"/>
          </a:p>
        </p:txBody>
      </p:sp>
      <p:sp>
        <p:nvSpPr>
          <p:cNvPr id="10" name="Shape 7"/>
          <p:cNvSpPr/>
          <p:nvPr/>
        </p:nvSpPr>
        <p:spPr>
          <a:xfrm>
            <a:off x="4763910" y="3895344"/>
            <a:ext cx="164592" cy="164592"/>
          </a:xfrm>
          <a:prstGeom prst="ellipse">
            <a:avLst/>
          </a:prstGeom>
          <a:solidFill>
            <a:srgbClr val="9B8CFF"/>
          </a:solidFill>
          <a:ln w="38100">
            <a:solidFill>
              <a:srgbClr val="1B1F3B"/>
            </a:solidFill>
            <a:prstDash val="solid"/>
          </a:ln>
        </p:spPr>
      </p:sp>
      <p:sp>
        <p:nvSpPr>
          <p:cNvPr id="11" name="Shape 8"/>
          <p:cNvSpPr/>
          <p:nvPr/>
        </p:nvSpPr>
        <p:spPr>
          <a:xfrm>
            <a:off x="4389006" y="2560320"/>
            <a:ext cx="914400" cy="914400"/>
          </a:xfrm>
          <a:prstGeom prst="ellipse">
            <a:avLst/>
          </a:prstGeom>
          <a:solidFill>
            <a:srgbClr val="262C52"/>
          </a:solidFill>
          <a:ln/>
        </p:spPr>
      </p:sp>
      <p:pic>
        <p:nvPicPr>
          <p:cNvPr id="12" name="Image 1" descr="/home/claude/ai-git-deck/icons/snowflake.png">    </p:cNvPr>
          <p:cNvPicPr>
            <a:picLocks noChangeAspect="1"/>
          </p:cNvPicPr>
          <p:nvPr/>
        </p:nvPicPr>
        <p:blipFill>
          <a:blip r:embed="rId2"/>
          <a:stretch>
            <a:fillRect/>
          </a:stretch>
        </p:blipFill>
        <p:spPr>
          <a:xfrm>
            <a:off x="4507878" y="2679192"/>
            <a:ext cx="676656" cy="676656"/>
          </a:xfrm>
          <a:prstGeom prst="rect">
            <a:avLst/>
          </a:prstGeom>
        </p:spPr>
      </p:pic>
      <p:sp>
        <p:nvSpPr>
          <p:cNvPr id="13" name="Text 9"/>
          <p:cNvSpPr txBox="1"/>
          <p:nvPr/>
        </p:nvSpPr>
        <p:spPr>
          <a:xfrm>
            <a:off x="3840366" y="4206240"/>
            <a:ext cx="2011680" cy="320040"/>
          </a:xfrm>
          <a:prstGeom prst="rect">
            <a:avLst/>
          </a:prstGeom>
          <a:noFill/>
          <a:ln/>
        </p:spPr>
        <p:txBody>
          <a:bodyPr wrap="square" lIns="0" tIns="0" rIns="0" bIns="0" rtlCol="0" anchor="ctr"/>
          <a:lstStyle/>
          <a:p>
            <a:pPr algn="ctr" indent="0" marL="0">
              <a:buNone/>
            </a:pPr>
            <a:r>
              <a:rPr lang="en-US" sz="1400" b="1" dirty="0">
                <a:solidFill>
                  <a:srgbClr val="9B8CFF"/>
                </a:solidFill>
                <a:latin typeface="Calibri" pitchFamily="34" charset="0"/>
                <a:ea typeface="Calibri" pitchFamily="34" charset="-122"/>
                <a:cs typeface="Calibri" pitchFamily="34" charset="-120"/>
              </a:rPr>
              <a:t>1960s–90s</a:t>
            </a:r>
            <a:endParaRPr lang="en-US" sz="1400" dirty="0"/>
          </a:p>
        </p:txBody>
      </p:sp>
      <p:sp>
        <p:nvSpPr>
          <p:cNvPr id="14" name="Text 10"/>
          <p:cNvSpPr txBox="1"/>
          <p:nvPr/>
        </p:nvSpPr>
        <p:spPr>
          <a:xfrm>
            <a:off x="3840366" y="4544568"/>
            <a:ext cx="2011680" cy="640080"/>
          </a:xfrm>
          <a:prstGeom prst="rect">
            <a:avLst/>
          </a:prstGeom>
          <a:noFill/>
          <a:ln/>
        </p:spPr>
        <p:txBody>
          <a:bodyPr wrap="square" lIns="0" tIns="0" rIns="0" bIns="0" rtlCol="0" anchor="ctr"/>
          <a:lstStyle/>
          <a:p>
            <a:pPr algn="ctr" indent="0" marL="0">
              <a:lnSpc>
                <a:spcPct val="110000"/>
              </a:lnSpc>
              <a:buNone/>
            </a:pPr>
            <a:r>
              <a:rPr lang="en-US" sz="1300" dirty="0">
                <a:solidFill>
                  <a:srgbClr val="FFFFFF"/>
                </a:solidFill>
                <a:latin typeface="Calibri" pitchFamily="34" charset="0"/>
                <a:ea typeface="Calibri" pitchFamily="34" charset="-122"/>
                <a:cs typeface="Calibri" pitchFamily="34" charset="-120"/>
              </a:rPr>
              <a:t>Winter &amp;</a:t>
            </a:r>
            <a:endParaRPr lang="en-US" sz="1300" dirty="0"/>
          </a:p>
          <a:p>
            <a:pPr algn="ctr" indent="0" marL="0">
              <a:lnSpc>
                <a:spcPct val="110000"/>
              </a:lnSpc>
              <a:buNone/>
            </a:pPr>
            <a:r>
              <a:rPr lang="en-US" sz="1300" dirty="0">
                <a:solidFill>
                  <a:srgbClr val="FFFFFF"/>
                </a:solidFill>
                <a:latin typeface="Calibri" pitchFamily="34" charset="0"/>
                <a:ea typeface="Calibri" pitchFamily="34" charset="-122"/>
                <a:cs typeface="Calibri" pitchFamily="34" charset="-120"/>
              </a:rPr>
              <a:t>Comeback</a:t>
            </a:r>
            <a:endParaRPr lang="en-US" sz="1300" dirty="0"/>
          </a:p>
        </p:txBody>
      </p:sp>
      <p:sp>
        <p:nvSpPr>
          <p:cNvPr id="15" name="Shape 11"/>
          <p:cNvSpPr/>
          <p:nvPr/>
        </p:nvSpPr>
        <p:spPr>
          <a:xfrm>
            <a:off x="7263194" y="3895344"/>
            <a:ext cx="164592" cy="164592"/>
          </a:xfrm>
          <a:prstGeom prst="ellipse">
            <a:avLst/>
          </a:prstGeom>
          <a:solidFill>
            <a:srgbClr val="9B8CFF"/>
          </a:solidFill>
          <a:ln w="38100">
            <a:solidFill>
              <a:srgbClr val="1B1F3B"/>
            </a:solidFill>
            <a:prstDash val="solid"/>
          </a:ln>
        </p:spPr>
      </p:sp>
      <p:sp>
        <p:nvSpPr>
          <p:cNvPr id="16" name="Shape 12"/>
          <p:cNvSpPr/>
          <p:nvPr/>
        </p:nvSpPr>
        <p:spPr>
          <a:xfrm>
            <a:off x="6888290" y="2560320"/>
            <a:ext cx="914400" cy="914400"/>
          </a:xfrm>
          <a:prstGeom prst="ellipse">
            <a:avLst/>
          </a:prstGeom>
          <a:solidFill>
            <a:srgbClr val="262C52"/>
          </a:solidFill>
          <a:ln/>
        </p:spPr>
      </p:sp>
      <p:pic>
        <p:nvPicPr>
          <p:cNvPr id="17" name="Image 2" descr="/home/claude/ai-git-deck/icons/network.png">    </p:cNvPr>
          <p:cNvPicPr>
            <a:picLocks noChangeAspect="1"/>
          </p:cNvPicPr>
          <p:nvPr/>
        </p:nvPicPr>
        <p:blipFill>
          <a:blip r:embed="rId3"/>
          <a:stretch>
            <a:fillRect/>
          </a:stretch>
        </p:blipFill>
        <p:spPr>
          <a:xfrm>
            <a:off x="7007162" y="2679192"/>
            <a:ext cx="676656" cy="676656"/>
          </a:xfrm>
          <a:prstGeom prst="rect">
            <a:avLst/>
          </a:prstGeom>
        </p:spPr>
      </p:pic>
      <p:sp>
        <p:nvSpPr>
          <p:cNvPr id="18" name="Text 13"/>
          <p:cNvSpPr txBox="1"/>
          <p:nvPr/>
        </p:nvSpPr>
        <p:spPr>
          <a:xfrm>
            <a:off x="6339650" y="4206240"/>
            <a:ext cx="2011680" cy="320040"/>
          </a:xfrm>
          <a:prstGeom prst="rect">
            <a:avLst/>
          </a:prstGeom>
          <a:noFill/>
          <a:ln/>
        </p:spPr>
        <p:txBody>
          <a:bodyPr wrap="square" lIns="0" tIns="0" rIns="0" bIns="0" rtlCol="0" anchor="ctr"/>
          <a:lstStyle/>
          <a:p>
            <a:pPr algn="ctr" indent="0" marL="0">
              <a:buNone/>
            </a:pPr>
            <a:r>
              <a:rPr lang="en-US" sz="1400" b="1" dirty="0">
                <a:solidFill>
                  <a:srgbClr val="9B8CFF"/>
                </a:solidFill>
                <a:latin typeface="Calibri" pitchFamily="34" charset="0"/>
                <a:ea typeface="Calibri" pitchFamily="34" charset="-122"/>
                <a:cs typeface="Calibri" pitchFamily="34" charset="-120"/>
              </a:rPr>
              <a:t>2000s–2017</a:t>
            </a:r>
            <a:endParaRPr lang="en-US" sz="1400" dirty="0"/>
          </a:p>
        </p:txBody>
      </p:sp>
      <p:sp>
        <p:nvSpPr>
          <p:cNvPr id="19" name="Text 14"/>
          <p:cNvSpPr txBox="1"/>
          <p:nvPr/>
        </p:nvSpPr>
        <p:spPr>
          <a:xfrm>
            <a:off x="6339650" y="4544568"/>
            <a:ext cx="2011680" cy="640080"/>
          </a:xfrm>
          <a:prstGeom prst="rect">
            <a:avLst/>
          </a:prstGeom>
          <a:noFill/>
          <a:ln/>
        </p:spPr>
        <p:txBody>
          <a:bodyPr wrap="square" lIns="0" tIns="0" rIns="0" bIns="0" rtlCol="0" anchor="ctr"/>
          <a:lstStyle/>
          <a:p>
            <a:pPr algn="ctr" indent="0" marL="0">
              <a:lnSpc>
                <a:spcPct val="110000"/>
              </a:lnSpc>
              <a:buNone/>
            </a:pPr>
            <a:r>
              <a:rPr lang="en-US" sz="1300" dirty="0">
                <a:solidFill>
                  <a:srgbClr val="FFFFFF"/>
                </a:solidFill>
                <a:latin typeface="Calibri" pitchFamily="34" charset="0"/>
                <a:ea typeface="Calibri" pitchFamily="34" charset="-122"/>
                <a:cs typeface="Calibri" pitchFamily="34" charset="-120"/>
              </a:rPr>
              <a:t>Rise of</a:t>
            </a:r>
            <a:endParaRPr lang="en-US" sz="1300" dirty="0"/>
          </a:p>
          <a:p>
            <a:pPr algn="ctr" indent="0" marL="0">
              <a:lnSpc>
                <a:spcPct val="110000"/>
              </a:lnSpc>
              <a:buNone/>
            </a:pPr>
            <a:r>
              <a:rPr lang="en-US" sz="1300" dirty="0">
                <a:solidFill>
                  <a:srgbClr val="FFFFFF"/>
                </a:solidFill>
                <a:latin typeface="Calibri" pitchFamily="34" charset="0"/>
                <a:ea typeface="Calibri" pitchFamily="34" charset="-122"/>
                <a:cs typeface="Calibri" pitchFamily="34" charset="-120"/>
              </a:rPr>
              <a:t>Modern AI</a:t>
            </a:r>
            <a:endParaRPr lang="en-US" sz="1300" dirty="0"/>
          </a:p>
        </p:txBody>
      </p:sp>
      <p:sp>
        <p:nvSpPr>
          <p:cNvPr id="20" name="Shape 15"/>
          <p:cNvSpPr/>
          <p:nvPr/>
        </p:nvSpPr>
        <p:spPr>
          <a:xfrm>
            <a:off x="9762477" y="3895344"/>
            <a:ext cx="164592" cy="164592"/>
          </a:xfrm>
          <a:prstGeom prst="ellipse">
            <a:avLst/>
          </a:prstGeom>
          <a:solidFill>
            <a:srgbClr val="9B8CFF"/>
          </a:solidFill>
          <a:ln w="38100">
            <a:solidFill>
              <a:srgbClr val="1B1F3B"/>
            </a:solidFill>
            <a:prstDash val="solid"/>
          </a:ln>
        </p:spPr>
      </p:sp>
      <p:sp>
        <p:nvSpPr>
          <p:cNvPr id="21" name="Shape 16"/>
          <p:cNvSpPr/>
          <p:nvPr/>
        </p:nvSpPr>
        <p:spPr>
          <a:xfrm>
            <a:off x="9387573" y="2560320"/>
            <a:ext cx="914400" cy="914400"/>
          </a:xfrm>
          <a:prstGeom prst="ellipse">
            <a:avLst/>
          </a:prstGeom>
          <a:solidFill>
            <a:srgbClr val="262C52"/>
          </a:solidFill>
          <a:ln/>
        </p:spPr>
      </p:sp>
      <p:pic>
        <p:nvPicPr>
          <p:cNvPr id="22" name="Image 3" descr="/home/claude/ai-git-deck/icons/sparkles.png">    </p:cNvPr>
          <p:cNvPicPr>
            <a:picLocks noChangeAspect="1"/>
          </p:cNvPicPr>
          <p:nvPr/>
        </p:nvPicPr>
        <p:blipFill>
          <a:blip r:embed="rId4"/>
          <a:stretch>
            <a:fillRect/>
          </a:stretch>
        </p:blipFill>
        <p:spPr>
          <a:xfrm>
            <a:off x="9506445" y="2679192"/>
            <a:ext cx="676656" cy="676656"/>
          </a:xfrm>
          <a:prstGeom prst="rect">
            <a:avLst/>
          </a:prstGeom>
        </p:spPr>
      </p:pic>
      <p:sp>
        <p:nvSpPr>
          <p:cNvPr id="23" name="Text 17"/>
          <p:cNvSpPr txBox="1"/>
          <p:nvPr/>
        </p:nvSpPr>
        <p:spPr>
          <a:xfrm>
            <a:off x="8838933" y="4206240"/>
            <a:ext cx="2011680" cy="320040"/>
          </a:xfrm>
          <a:prstGeom prst="rect">
            <a:avLst/>
          </a:prstGeom>
          <a:noFill/>
          <a:ln/>
        </p:spPr>
        <p:txBody>
          <a:bodyPr wrap="square" lIns="0" tIns="0" rIns="0" bIns="0" rtlCol="0" anchor="ctr"/>
          <a:lstStyle/>
          <a:p>
            <a:pPr algn="ctr" indent="0" marL="0">
              <a:buNone/>
            </a:pPr>
            <a:r>
              <a:rPr lang="en-US" sz="1400" b="1" dirty="0">
                <a:solidFill>
                  <a:srgbClr val="9B8CFF"/>
                </a:solidFill>
                <a:latin typeface="Calibri" pitchFamily="34" charset="0"/>
                <a:ea typeface="Calibri" pitchFamily="34" charset="-122"/>
                <a:cs typeface="Calibri" pitchFamily="34" charset="-120"/>
              </a:rPr>
              <a:t>2017–Now</a:t>
            </a:r>
            <a:endParaRPr lang="en-US" sz="1400" dirty="0"/>
          </a:p>
        </p:txBody>
      </p:sp>
      <p:sp>
        <p:nvSpPr>
          <p:cNvPr id="24" name="Text 18"/>
          <p:cNvSpPr txBox="1"/>
          <p:nvPr/>
        </p:nvSpPr>
        <p:spPr>
          <a:xfrm>
            <a:off x="8838933" y="4544568"/>
            <a:ext cx="2011680" cy="640080"/>
          </a:xfrm>
          <a:prstGeom prst="rect">
            <a:avLst/>
          </a:prstGeom>
          <a:noFill/>
          <a:ln/>
        </p:spPr>
        <p:txBody>
          <a:bodyPr wrap="square" lIns="0" tIns="0" rIns="0" bIns="0" rtlCol="0" anchor="ctr"/>
          <a:lstStyle/>
          <a:p>
            <a:pPr algn="ctr" indent="0" marL="0">
              <a:lnSpc>
                <a:spcPct val="110000"/>
              </a:lnSpc>
              <a:buNone/>
            </a:pPr>
            <a:r>
              <a:rPr lang="en-US" sz="1300" dirty="0">
                <a:solidFill>
                  <a:srgbClr val="FFFFFF"/>
                </a:solidFill>
                <a:latin typeface="Calibri" pitchFamily="34" charset="0"/>
                <a:ea typeface="Calibri" pitchFamily="34" charset="-122"/>
                <a:cs typeface="Calibri" pitchFamily="34" charset="-120"/>
              </a:rPr>
              <a:t>Generative</a:t>
            </a:r>
            <a:endParaRPr lang="en-US" sz="1300" dirty="0"/>
          </a:p>
          <a:p>
            <a:pPr algn="ctr" indent="0" marL="0">
              <a:lnSpc>
                <a:spcPct val="110000"/>
              </a:lnSpc>
              <a:buNone/>
            </a:pPr>
            <a:r>
              <a:rPr lang="en-US" sz="1300" dirty="0">
                <a:solidFill>
                  <a:srgbClr val="FFFFFF"/>
                </a:solidFill>
                <a:latin typeface="Calibri" pitchFamily="34" charset="0"/>
                <a:ea typeface="Calibri" pitchFamily="34" charset="-122"/>
                <a:cs typeface="Calibri" pitchFamily="34" charset="-120"/>
              </a:rPr>
              <a:t>Era</a:t>
            </a:r>
            <a:endParaRPr lang="en-US" sz="1300" dirty="0"/>
          </a:p>
        </p:txBody>
      </p:sp>
      <p:sp>
        <p:nvSpPr>
          <p:cNvPr id="25" name="Text 19"/>
          <p:cNvSpPr txBox="1"/>
          <p:nvPr/>
        </p:nvSpPr>
        <p:spPr>
          <a:xfrm>
            <a:off x="548640" y="5989320"/>
            <a:ext cx="9144000" cy="365760"/>
          </a:xfrm>
          <a:prstGeom prst="rect">
            <a:avLst/>
          </a:prstGeom>
          <a:noFill/>
          <a:ln/>
        </p:spPr>
        <p:txBody>
          <a:bodyPr wrap="square" lIns="0" tIns="0" rIns="0" bIns="0" rtlCol="0" anchor="ctr"/>
          <a:lstStyle/>
          <a:p>
            <a:pPr indent="0" marL="0">
              <a:buNone/>
            </a:pPr>
            <a:r>
              <a:rPr lang="en-US" sz="1300" i="1" dirty="0">
                <a:solidFill>
                  <a:srgbClr val="B7BBD6"/>
                </a:solidFill>
                <a:latin typeface="Calibri" pitchFamily="34" charset="0"/>
                <a:ea typeface="Calibri" pitchFamily="34" charset="-122"/>
                <a:cs typeface="Calibri" pitchFamily="34" charset="-120"/>
              </a:rPr>
              <a:t>Each era below gets its own slide — Turing's test to today's chatbots.</a:t>
            </a:r>
            <a:endParaRPr lang="en-US" sz="1300" dirty="0"/>
          </a:p>
        </p:txBody>
      </p:sp>
      <p:sp>
        <p:nvSpPr>
          <p:cNvPr id="26" name="Text 20"/>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27" name="Text 21"/>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6C5CE7"/>
                </a:solidFill>
                <a:latin typeface="Calibri" pitchFamily="34" charset="0"/>
                <a:ea typeface="Calibri" pitchFamily="34" charset="-122"/>
                <a:cs typeface="Calibri" pitchFamily="34" charset="-120"/>
              </a:rPr>
              <a:t>PHASE 1 · 1950S</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The Birth of AI</a:t>
            </a:r>
            <a:endParaRPr lang="en-US" sz="3400" dirty="0"/>
          </a:p>
        </p:txBody>
      </p:sp>
      <p:sp>
        <p:nvSpPr>
          <p:cNvPr id="4" name="Shape 2"/>
          <p:cNvSpPr/>
          <p:nvPr/>
        </p:nvSpPr>
        <p:spPr>
          <a:xfrm>
            <a:off x="10362895" y="594360"/>
            <a:ext cx="1051560" cy="1051560"/>
          </a:xfrm>
          <a:prstGeom prst="ellipse">
            <a:avLst/>
          </a:prstGeom>
          <a:solidFill>
            <a:srgbClr val="6C5CE7"/>
          </a:solidFill>
          <a:ln/>
        </p:spPr>
      </p:sp>
      <p:pic>
        <p:nvPicPr>
          <p:cNvPr id="5" name="Image 0" descr="/home/claude/ai-git-deck/icons/lightbulb.png">    </p:cNvPr>
          <p:cNvPicPr>
            <a:picLocks noChangeAspect="1"/>
          </p:cNvPicPr>
          <p:nvPr/>
        </p:nvPicPr>
        <p:blipFill>
          <a:blip r:embed="rId1"/>
          <a:stretch>
            <a:fillRect/>
          </a:stretch>
        </p:blipFill>
        <p:spPr>
          <a:xfrm>
            <a:off x="10499598" y="731063"/>
            <a:ext cx="778154" cy="778154"/>
          </a:xfrm>
          <a:prstGeom prst="rect">
            <a:avLst/>
          </a:prstGeom>
        </p:spPr>
      </p:pic>
      <p:sp>
        <p:nvSpPr>
          <p:cNvPr id="6" name="Shape 3"/>
          <p:cNvSpPr/>
          <p:nvPr/>
        </p:nvSpPr>
        <p:spPr>
          <a:xfrm>
            <a:off x="548640" y="1737360"/>
            <a:ext cx="11094415" cy="1965960"/>
          </a:xfrm>
          <a:prstGeom prst="roundRect">
            <a:avLst>
              <a:gd name="adj" fmla="val 4651"/>
            </a:avLst>
          </a:prstGeom>
          <a:solidFill>
            <a:srgbClr val="FFFFFF"/>
          </a:solidFill>
          <a:ln/>
          <a:effectLst>
            <a:outerShdw sx="100000" sy="100000" kx="0" ky="0" algn="bl" rotWithShape="0" blurRad="101600" dist="25400" dir="5400000">
              <a:srgbClr val="1B1F3B">
                <a:alpha val="10000"/>
              </a:srgbClr>
            </a:outerShdw>
          </a:effectLst>
        </p:spPr>
      </p:sp>
      <p:sp>
        <p:nvSpPr>
          <p:cNvPr id="7" name="Shape 4"/>
          <p:cNvSpPr/>
          <p:nvPr/>
        </p:nvSpPr>
        <p:spPr>
          <a:xfrm>
            <a:off x="868680" y="2057400"/>
            <a:ext cx="1371600" cy="548640"/>
          </a:xfrm>
          <a:prstGeom prst="roundRect">
            <a:avLst>
              <a:gd name="adj" fmla="val 13333"/>
            </a:avLst>
          </a:prstGeom>
          <a:solidFill>
            <a:srgbClr val="EFECFF"/>
          </a:solidFill>
          <a:ln/>
        </p:spPr>
      </p:sp>
      <p:sp>
        <p:nvSpPr>
          <p:cNvPr id="8" name="Text 5"/>
          <p:cNvSpPr txBox="1"/>
          <p:nvPr/>
        </p:nvSpPr>
        <p:spPr>
          <a:xfrm>
            <a:off x="868680" y="2057400"/>
            <a:ext cx="1371600" cy="548640"/>
          </a:xfrm>
          <a:prstGeom prst="rect">
            <a:avLst/>
          </a:prstGeom>
          <a:noFill/>
          <a:ln/>
        </p:spPr>
        <p:txBody>
          <a:bodyPr wrap="square" lIns="0" tIns="0" rIns="0" bIns="0" rtlCol="0" anchor="ctr"/>
          <a:lstStyle/>
          <a:p>
            <a:pPr algn="ctr" indent="0" marL="0">
              <a:buNone/>
            </a:pPr>
            <a:r>
              <a:rPr lang="en-US" sz="1600" b="1" dirty="0">
                <a:solidFill>
                  <a:srgbClr val="6C5CE7"/>
                </a:solidFill>
                <a:latin typeface="Cambria" pitchFamily="34" charset="0"/>
                <a:ea typeface="Cambria" pitchFamily="34" charset="-122"/>
                <a:cs typeface="Cambria" pitchFamily="34" charset="-120"/>
              </a:rPr>
              <a:t>1950</a:t>
            </a:r>
            <a:endParaRPr lang="en-US" sz="1600" dirty="0"/>
          </a:p>
        </p:txBody>
      </p:sp>
      <p:sp>
        <p:nvSpPr>
          <p:cNvPr id="9" name="Text 6"/>
          <p:cNvSpPr txBox="1"/>
          <p:nvPr/>
        </p:nvSpPr>
        <p:spPr>
          <a:xfrm>
            <a:off x="2514600" y="1993392"/>
            <a:ext cx="8899855" cy="457200"/>
          </a:xfrm>
          <a:prstGeom prst="rect">
            <a:avLst/>
          </a:prstGeom>
          <a:noFill/>
          <a:ln/>
        </p:spPr>
        <p:txBody>
          <a:bodyPr wrap="square" lIns="0" tIns="0" rIns="0" bIns="0" rtlCol="0" anchor="ctr"/>
          <a:lstStyle/>
          <a:p>
            <a:pPr indent="0" marL="0">
              <a:buNone/>
            </a:pPr>
            <a:r>
              <a:rPr lang="en-US" sz="1900" b="1" dirty="0">
                <a:solidFill>
                  <a:srgbClr val="22263F"/>
                </a:solidFill>
                <a:latin typeface="Cambria" pitchFamily="34" charset="0"/>
                <a:ea typeface="Cambria" pitchFamily="34" charset="-122"/>
                <a:cs typeface="Cambria" pitchFamily="34" charset="-120"/>
              </a:rPr>
              <a:t>Alan Turing proposes the Turing Test</a:t>
            </a:r>
            <a:endParaRPr lang="en-US" sz="1900" dirty="0"/>
          </a:p>
        </p:txBody>
      </p:sp>
      <p:sp>
        <p:nvSpPr>
          <p:cNvPr id="10" name="Text 7"/>
          <p:cNvSpPr txBox="1"/>
          <p:nvPr/>
        </p:nvSpPr>
        <p:spPr>
          <a:xfrm>
            <a:off x="2514600" y="2468880"/>
            <a:ext cx="8899855" cy="1051560"/>
          </a:xfrm>
          <a:prstGeom prst="rect">
            <a:avLst/>
          </a:prstGeom>
          <a:noFill/>
          <a:ln/>
        </p:spPr>
        <p:txBody>
          <a:bodyPr wrap="square" lIns="0" tIns="0" rIns="0" bIns="0" rtlCol="0" anchor="ctr"/>
          <a:lstStyle/>
          <a:p>
            <a:pPr indent="0" marL="0">
              <a:lnSpc>
                <a:spcPct val="118000"/>
              </a:lnSpc>
              <a:buNone/>
            </a:pPr>
            <a:r>
              <a:rPr lang="en-US" sz="1350" dirty="0">
                <a:solidFill>
                  <a:srgbClr val="6B7280"/>
                </a:solidFill>
                <a:latin typeface="Calibri" pitchFamily="34" charset="0"/>
                <a:ea typeface="Calibri" pitchFamily="34" charset="-122"/>
                <a:cs typeface="Calibri" pitchFamily="34" charset="-120"/>
              </a:rPr>
              <a:t>Turing reframed the philosophical question "can machines think?" into a practical experiment: if a human judge cannot reliably tell a machine's responses from a human's, the machine passes. This shifted AI research from abstract debate toward testable, engineering-driven goals.</a:t>
            </a:r>
            <a:endParaRPr lang="en-US" sz="1350" dirty="0"/>
          </a:p>
        </p:txBody>
      </p:sp>
      <p:sp>
        <p:nvSpPr>
          <p:cNvPr id="11" name="Shape 8"/>
          <p:cNvSpPr/>
          <p:nvPr/>
        </p:nvSpPr>
        <p:spPr>
          <a:xfrm>
            <a:off x="548640" y="4023360"/>
            <a:ext cx="11094415" cy="1965960"/>
          </a:xfrm>
          <a:prstGeom prst="roundRect">
            <a:avLst>
              <a:gd name="adj" fmla="val 4651"/>
            </a:avLst>
          </a:prstGeom>
          <a:solidFill>
            <a:srgbClr val="FFFFFF"/>
          </a:solidFill>
          <a:ln/>
          <a:effectLst>
            <a:outerShdw sx="100000" sy="100000" kx="0" ky="0" algn="bl" rotWithShape="0" blurRad="101600" dist="25400" dir="5400000">
              <a:srgbClr val="1B1F3B">
                <a:alpha val="10000"/>
              </a:srgbClr>
            </a:outerShdw>
          </a:effectLst>
        </p:spPr>
      </p:sp>
      <p:sp>
        <p:nvSpPr>
          <p:cNvPr id="12" name="Shape 9"/>
          <p:cNvSpPr/>
          <p:nvPr/>
        </p:nvSpPr>
        <p:spPr>
          <a:xfrm>
            <a:off x="868680" y="4343400"/>
            <a:ext cx="1371600" cy="548640"/>
          </a:xfrm>
          <a:prstGeom prst="roundRect">
            <a:avLst>
              <a:gd name="adj" fmla="val 13333"/>
            </a:avLst>
          </a:prstGeom>
          <a:solidFill>
            <a:srgbClr val="EFECFF"/>
          </a:solidFill>
          <a:ln/>
        </p:spPr>
      </p:sp>
      <p:sp>
        <p:nvSpPr>
          <p:cNvPr id="13" name="Text 10"/>
          <p:cNvSpPr txBox="1"/>
          <p:nvPr/>
        </p:nvSpPr>
        <p:spPr>
          <a:xfrm>
            <a:off x="868680" y="4343400"/>
            <a:ext cx="1371600" cy="548640"/>
          </a:xfrm>
          <a:prstGeom prst="rect">
            <a:avLst/>
          </a:prstGeom>
          <a:noFill/>
          <a:ln/>
        </p:spPr>
        <p:txBody>
          <a:bodyPr wrap="square" lIns="0" tIns="0" rIns="0" bIns="0" rtlCol="0" anchor="ctr"/>
          <a:lstStyle/>
          <a:p>
            <a:pPr algn="ctr" indent="0" marL="0">
              <a:buNone/>
            </a:pPr>
            <a:r>
              <a:rPr lang="en-US" sz="1600" b="1" dirty="0">
                <a:solidFill>
                  <a:srgbClr val="6C5CE7"/>
                </a:solidFill>
                <a:latin typeface="Cambria" pitchFamily="34" charset="0"/>
                <a:ea typeface="Cambria" pitchFamily="34" charset="-122"/>
                <a:cs typeface="Cambria" pitchFamily="34" charset="-120"/>
              </a:rPr>
              <a:t>1956</a:t>
            </a:r>
            <a:endParaRPr lang="en-US" sz="1600" dirty="0"/>
          </a:p>
        </p:txBody>
      </p:sp>
      <p:sp>
        <p:nvSpPr>
          <p:cNvPr id="14" name="Text 11"/>
          <p:cNvSpPr txBox="1"/>
          <p:nvPr/>
        </p:nvSpPr>
        <p:spPr>
          <a:xfrm>
            <a:off x="2514600" y="4279392"/>
            <a:ext cx="8899855" cy="457200"/>
          </a:xfrm>
          <a:prstGeom prst="rect">
            <a:avLst/>
          </a:prstGeom>
          <a:noFill/>
          <a:ln/>
        </p:spPr>
        <p:txBody>
          <a:bodyPr wrap="square" lIns="0" tIns="0" rIns="0" bIns="0" rtlCol="0" anchor="ctr"/>
          <a:lstStyle/>
          <a:p>
            <a:pPr indent="0" marL="0">
              <a:buNone/>
            </a:pPr>
            <a:r>
              <a:rPr lang="en-US" sz="1900" b="1" dirty="0">
                <a:solidFill>
                  <a:srgbClr val="22263F"/>
                </a:solidFill>
                <a:latin typeface="Cambria" pitchFamily="34" charset="0"/>
                <a:ea typeface="Cambria" pitchFamily="34" charset="-122"/>
                <a:cs typeface="Cambria" pitchFamily="34" charset="-120"/>
              </a:rPr>
              <a:t>The Dartmouth Conference formally establishes AI</a:t>
            </a:r>
            <a:endParaRPr lang="en-US" sz="1900" dirty="0"/>
          </a:p>
        </p:txBody>
      </p:sp>
      <p:sp>
        <p:nvSpPr>
          <p:cNvPr id="15" name="Text 12"/>
          <p:cNvSpPr txBox="1"/>
          <p:nvPr/>
        </p:nvSpPr>
        <p:spPr>
          <a:xfrm>
            <a:off x="2514600" y="4754880"/>
            <a:ext cx="8899855" cy="1051560"/>
          </a:xfrm>
          <a:prstGeom prst="rect">
            <a:avLst/>
          </a:prstGeom>
          <a:noFill/>
          <a:ln/>
        </p:spPr>
        <p:txBody>
          <a:bodyPr wrap="square" lIns="0" tIns="0" rIns="0" bIns="0" rtlCol="0" anchor="ctr"/>
          <a:lstStyle/>
          <a:p>
            <a:pPr indent="0" marL="0">
              <a:lnSpc>
                <a:spcPct val="118000"/>
              </a:lnSpc>
              <a:buNone/>
            </a:pPr>
            <a:r>
              <a:rPr lang="en-US" sz="1350" dirty="0">
                <a:solidFill>
                  <a:srgbClr val="6B7280"/>
                </a:solidFill>
                <a:latin typeface="Calibri" pitchFamily="34" charset="0"/>
                <a:ea typeface="Calibri" pitchFamily="34" charset="-122"/>
                <a:cs typeface="Calibri" pitchFamily="34" charset="-120"/>
              </a:rPr>
              <a:t>A summer workshop at Dartmouth College brought together researchers who coined the term "Artificial Intelligence." It marked the official founding of AI as its own academic discipline, setting the research agenda for decades to come.</a:t>
            </a:r>
            <a:endParaRPr lang="en-US" sz="1350" dirty="0"/>
          </a:p>
        </p:txBody>
      </p:sp>
      <p:sp>
        <p:nvSpPr>
          <p:cNvPr id="16" name="Text 13"/>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17" name="Text 14"/>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6C5CE7"/>
                </a:solidFill>
                <a:latin typeface="Calibri" pitchFamily="34" charset="0"/>
                <a:ea typeface="Calibri" pitchFamily="34" charset="-122"/>
                <a:cs typeface="Calibri" pitchFamily="34" charset="-120"/>
              </a:rPr>
              <a:t>PHASE 1 · 1960S – 1990S</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Challenges and Milestones</a:t>
            </a:r>
            <a:endParaRPr lang="en-US" sz="3400" dirty="0"/>
          </a:p>
        </p:txBody>
      </p:sp>
      <p:sp>
        <p:nvSpPr>
          <p:cNvPr id="4" name="Shape 2"/>
          <p:cNvSpPr/>
          <p:nvPr/>
        </p:nvSpPr>
        <p:spPr>
          <a:xfrm>
            <a:off x="10362895" y="594360"/>
            <a:ext cx="1051560" cy="1051560"/>
          </a:xfrm>
          <a:prstGeom prst="ellipse">
            <a:avLst/>
          </a:prstGeom>
          <a:solidFill>
            <a:srgbClr val="6C5CE7"/>
          </a:solidFill>
          <a:ln/>
        </p:spPr>
      </p:sp>
      <p:pic>
        <p:nvPicPr>
          <p:cNvPr id="5" name="Image 0" descr="/home/claude/ai-git-deck/icons/snowflake.png">    </p:cNvPr>
          <p:cNvPicPr>
            <a:picLocks noChangeAspect="1"/>
          </p:cNvPicPr>
          <p:nvPr/>
        </p:nvPicPr>
        <p:blipFill>
          <a:blip r:embed="rId1"/>
          <a:stretch>
            <a:fillRect/>
          </a:stretch>
        </p:blipFill>
        <p:spPr>
          <a:xfrm>
            <a:off x="10499598" y="731063"/>
            <a:ext cx="778154" cy="778154"/>
          </a:xfrm>
          <a:prstGeom prst="rect">
            <a:avLst/>
          </a:prstGeom>
        </p:spPr>
      </p:pic>
      <p:sp>
        <p:nvSpPr>
          <p:cNvPr id="6" name="Shape 3"/>
          <p:cNvSpPr/>
          <p:nvPr/>
        </p:nvSpPr>
        <p:spPr>
          <a:xfrm>
            <a:off x="548640" y="1737360"/>
            <a:ext cx="11094415" cy="1965960"/>
          </a:xfrm>
          <a:prstGeom prst="roundRect">
            <a:avLst>
              <a:gd name="adj" fmla="val 4651"/>
            </a:avLst>
          </a:prstGeom>
          <a:solidFill>
            <a:srgbClr val="FFFFFF"/>
          </a:solidFill>
          <a:ln/>
          <a:effectLst>
            <a:outerShdw sx="100000" sy="100000" kx="0" ky="0" algn="bl" rotWithShape="0" blurRad="101600" dist="25400" dir="5400000">
              <a:srgbClr val="1B1F3B">
                <a:alpha val="10000"/>
              </a:srgbClr>
            </a:outerShdw>
          </a:effectLst>
        </p:spPr>
      </p:sp>
      <p:sp>
        <p:nvSpPr>
          <p:cNvPr id="7" name="Shape 4"/>
          <p:cNvSpPr/>
          <p:nvPr/>
        </p:nvSpPr>
        <p:spPr>
          <a:xfrm>
            <a:off x="868680" y="2057400"/>
            <a:ext cx="1371600" cy="548640"/>
          </a:xfrm>
          <a:prstGeom prst="roundRect">
            <a:avLst>
              <a:gd name="adj" fmla="val 13333"/>
            </a:avLst>
          </a:prstGeom>
          <a:solidFill>
            <a:srgbClr val="EFECFF"/>
          </a:solidFill>
          <a:ln/>
        </p:spPr>
      </p:sp>
      <p:sp>
        <p:nvSpPr>
          <p:cNvPr id="8" name="Text 5"/>
          <p:cNvSpPr txBox="1"/>
          <p:nvPr/>
        </p:nvSpPr>
        <p:spPr>
          <a:xfrm>
            <a:off x="868680" y="2057400"/>
            <a:ext cx="1371600" cy="548640"/>
          </a:xfrm>
          <a:prstGeom prst="rect">
            <a:avLst/>
          </a:prstGeom>
          <a:noFill/>
          <a:ln/>
        </p:spPr>
        <p:txBody>
          <a:bodyPr wrap="square" lIns="0" tIns="0" rIns="0" bIns="0" rtlCol="0" anchor="ctr"/>
          <a:lstStyle/>
          <a:p>
            <a:pPr algn="ctr" indent="0" marL="0">
              <a:buNone/>
            </a:pPr>
            <a:r>
              <a:rPr lang="en-US" sz="1600" b="1" dirty="0">
                <a:solidFill>
                  <a:srgbClr val="6C5CE7"/>
                </a:solidFill>
                <a:latin typeface="Cambria" pitchFamily="34" charset="0"/>
                <a:ea typeface="Cambria" pitchFamily="34" charset="-122"/>
                <a:cs typeface="Cambria" pitchFamily="34" charset="-120"/>
              </a:rPr>
              <a:t>1960s–70s</a:t>
            </a:r>
            <a:endParaRPr lang="en-US" sz="1600" dirty="0"/>
          </a:p>
        </p:txBody>
      </p:sp>
      <p:sp>
        <p:nvSpPr>
          <p:cNvPr id="9" name="Text 6"/>
          <p:cNvSpPr txBox="1"/>
          <p:nvPr/>
        </p:nvSpPr>
        <p:spPr>
          <a:xfrm>
            <a:off x="2514600" y="1993392"/>
            <a:ext cx="8899855" cy="457200"/>
          </a:xfrm>
          <a:prstGeom prst="rect">
            <a:avLst/>
          </a:prstGeom>
          <a:noFill/>
          <a:ln/>
        </p:spPr>
        <p:txBody>
          <a:bodyPr wrap="square" lIns="0" tIns="0" rIns="0" bIns="0" rtlCol="0" anchor="ctr"/>
          <a:lstStyle/>
          <a:p>
            <a:pPr indent="0" marL="0">
              <a:buNone/>
            </a:pPr>
            <a:r>
              <a:rPr lang="en-US" sz="1900" b="1" dirty="0">
                <a:solidFill>
                  <a:srgbClr val="22263F"/>
                </a:solidFill>
                <a:latin typeface="Cambria" pitchFamily="34" charset="0"/>
                <a:ea typeface="Cambria" pitchFamily="34" charset="-122"/>
                <a:cs typeface="Cambria" pitchFamily="34" charset="-120"/>
              </a:rPr>
              <a:t>The AI Winter</a:t>
            </a:r>
            <a:endParaRPr lang="en-US" sz="1900" dirty="0"/>
          </a:p>
        </p:txBody>
      </p:sp>
      <p:sp>
        <p:nvSpPr>
          <p:cNvPr id="10" name="Text 7"/>
          <p:cNvSpPr txBox="1"/>
          <p:nvPr/>
        </p:nvSpPr>
        <p:spPr>
          <a:xfrm>
            <a:off x="2514600" y="2468880"/>
            <a:ext cx="8899855" cy="1051560"/>
          </a:xfrm>
          <a:prstGeom prst="rect">
            <a:avLst/>
          </a:prstGeom>
          <a:noFill/>
          <a:ln/>
        </p:spPr>
        <p:txBody>
          <a:bodyPr wrap="square" lIns="0" tIns="0" rIns="0" bIns="0" rtlCol="0" anchor="ctr"/>
          <a:lstStyle/>
          <a:p>
            <a:pPr indent="0" marL="0">
              <a:lnSpc>
                <a:spcPct val="118000"/>
              </a:lnSpc>
              <a:buNone/>
            </a:pPr>
            <a:r>
              <a:rPr lang="en-US" sz="1350" dirty="0">
                <a:solidFill>
                  <a:srgbClr val="6B7280"/>
                </a:solidFill>
                <a:latin typeface="Calibri" pitchFamily="34" charset="0"/>
                <a:ea typeface="Calibri" pitchFamily="34" charset="-122"/>
                <a:cs typeface="Calibri" pitchFamily="34" charset="-120"/>
              </a:rPr>
              <a:t>Early optimism outpaced what the hardware and data of the era could deliver. Limited computing power and scarce data led to disappointing results, causing funding and interest in AI research to collapse for years.</a:t>
            </a:r>
            <a:endParaRPr lang="en-US" sz="1350" dirty="0"/>
          </a:p>
        </p:txBody>
      </p:sp>
      <p:sp>
        <p:nvSpPr>
          <p:cNvPr id="11" name="Shape 8"/>
          <p:cNvSpPr/>
          <p:nvPr/>
        </p:nvSpPr>
        <p:spPr>
          <a:xfrm>
            <a:off x="548640" y="4023360"/>
            <a:ext cx="11094415" cy="1965960"/>
          </a:xfrm>
          <a:prstGeom prst="roundRect">
            <a:avLst>
              <a:gd name="adj" fmla="val 4651"/>
            </a:avLst>
          </a:prstGeom>
          <a:solidFill>
            <a:srgbClr val="FFFFFF"/>
          </a:solidFill>
          <a:ln/>
          <a:effectLst>
            <a:outerShdw sx="100000" sy="100000" kx="0" ky="0" algn="bl" rotWithShape="0" blurRad="101600" dist="25400" dir="5400000">
              <a:srgbClr val="1B1F3B">
                <a:alpha val="10000"/>
              </a:srgbClr>
            </a:outerShdw>
          </a:effectLst>
        </p:spPr>
      </p:sp>
      <p:sp>
        <p:nvSpPr>
          <p:cNvPr id="12" name="Shape 9"/>
          <p:cNvSpPr/>
          <p:nvPr/>
        </p:nvSpPr>
        <p:spPr>
          <a:xfrm>
            <a:off x="868680" y="4343400"/>
            <a:ext cx="1371600" cy="548640"/>
          </a:xfrm>
          <a:prstGeom prst="roundRect">
            <a:avLst>
              <a:gd name="adj" fmla="val 13333"/>
            </a:avLst>
          </a:prstGeom>
          <a:solidFill>
            <a:srgbClr val="EFECFF"/>
          </a:solidFill>
          <a:ln/>
        </p:spPr>
      </p:sp>
      <p:sp>
        <p:nvSpPr>
          <p:cNvPr id="13" name="Text 10"/>
          <p:cNvSpPr txBox="1"/>
          <p:nvPr/>
        </p:nvSpPr>
        <p:spPr>
          <a:xfrm>
            <a:off x="868680" y="4343400"/>
            <a:ext cx="1371600" cy="548640"/>
          </a:xfrm>
          <a:prstGeom prst="rect">
            <a:avLst/>
          </a:prstGeom>
          <a:noFill/>
          <a:ln/>
        </p:spPr>
        <p:txBody>
          <a:bodyPr wrap="square" lIns="0" tIns="0" rIns="0" bIns="0" rtlCol="0" anchor="ctr"/>
          <a:lstStyle/>
          <a:p>
            <a:pPr algn="ctr" indent="0" marL="0">
              <a:buNone/>
            </a:pPr>
            <a:r>
              <a:rPr lang="en-US" sz="1600" b="1" dirty="0">
                <a:solidFill>
                  <a:srgbClr val="6C5CE7"/>
                </a:solidFill>
                <a:latin typeface="Cambria" pitchFamily="34" charset="0"/>
                <a:ea typeface="Cambria" pitchFamily="34" charset="-122"/>
                <a:cs typeface="Cambria" pitchFamily="34" charset="-120"/>
              </a:rPr>
              <a:t>1997</a:t>
            </a:r>
            <a:endParaRPr lang="en-US" sz="1600" dirty="0"/>
          </a:p>
        </p:txBody>
      </p:sp>
      <p:sp>
        <p:nvSpPr>
          <p:cNvPr id="14" name="Text 11"/>
          <p:cNvSpPr txBox="1"/>
          <p:nvPr/>
        </p:nvSpPr>
        <p:spPr>
          <a:xfrm>
            <a:off x="2514600" y="4279392"/>
            <a:ext cx="8899855" cy="457200"/>
          </a:xfrm>
          <a:prstGeom prst="rect">
            <a:avLst/>
          </a:prstGeom>
          <a:noFill/>
          <a:ln/>
        </p:spPr>
        <p:txBody>
          <a:bodyPr wrap="square" lIns="0" tIns="0" rIns="0" bIns="0" rtlCol="0" anchor="ctr"/>
          <a:lstStyle/>
          <a:p>
            <a:pPr indent="0" marL="0">
              <a:buNone/>
            </a:pPr>
            <a:r>
              <a:rPr lang="en-US" sz="1900" b="1" dirty="0">
                <a:solidFill>
                  <a:srgbClr val="22263F"/>
                </a:solidFill>
                <a:latin typeface="Cambria" pitchFamily="34" charset="0"/>
                <a:ea typeface="Cambria" pitchFamily="34" charset="-122"/>
                <a:cs typeface="Cambria" pitchFamily="34" charset="-120"/>
              </a:rPr>
              <a:t>Deep Blue defeats Garry Kasparov</a:t>
            </a:r>
            <a:endParaRPr lang="en-US" sz="1900" dirty="0"/>
          </a:p>
        </p:txBody>
      </p:sp>
      <p:sp>
        <p:nvSpPr>
          <p:cNvPr id="15" name="Text 12"/>
          <p:cNvSpPr txBox="1"/>
          <p:nvPr/>
        </p:nvSpPr>
        <p:spPr>
          <a:xfrm>
            <a:off x="2514600" y="4754880"/>
            <a:ext cx="8899855" cy="1051560"/>
          </a:xfrm>
          <a:prstGeom prst="rect">
            <a:avLst/>
          </a:prstGeom>
          <a:noFill/>
          <a:ln/>
        </p:spPr>
        <p:txBody>
          <a:bodyPr wrap="square" lIns="0" tIns="0" rIns="0" bIns="0" rtlCol="0" anchor="ctr"/>
          <a:lstStyle/>
          <a:p>
            <a:pPr indent="0" marL="0">
              <a:lnSpc>
                <a:spcPct val="118000"/>
              </a:lnSpc>
              <a:buNone/>
            </a:pPr>
            <a:r>
              <a:rPr lang="en-US" sz="1350" dirty="0">
                <a:solidFill>
                  <a:srgbClr val="6B7280"/>
                </a:solidFill>
                <a:latin typeface="Calibri" pitchFamily="34" charset="0"/>
                <a:ea typeface="Calibri" pitchFamily="34" charset="-122"/>
                <a:cs typeface="Calibri" pitchFamily="34" charset="-120"/>
              </a:rPr>
              <a:t>IBM's chess-playing computer, Deep Blue, defeated reigning world champion Garry Kasparov — a landmark victory that proved machines could outperform humans in complex strategic reasoning and returned AI to the public spotlight.</a:t>
            </a:r>
            <a:endParaRPr lang="en-US" sz="1350" dirty="0"/>
          </a:p>
        </p:txBody>
      </p:sp>
      <p:sp>
        <p:nvSpPr>
          <p:cNvPr id="16" name="Text 13"/>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17" name="Text 14"/>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6C5CE7"/>
                </a:solidFill>
                <a:latin typeface="Calibri" pitchFamily="34" charset="0"/>
                <a:ea typeface="Calibri" pitchFamily="34" charset="-122"/>
                <a:cs typeface="Calibri" pitchFamily="34" charset="-120"/>
              </a:rPr>
              <a:t>PHASE 1 · 2000S – 2017</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The Rise of Modern AI</a:t>
            </a:r>
            <a:endParaRPr lang="en-US" sz="3400" dirty="0"/>
          </a:p>
        </p:txBody>
      </p:sp>
      <p:sp>
        <p:nvSpPr>
          <p:cNvPr id="4" name="Shape 2"/>
          <p:cNvSpPr/>
          <p:nvPr/>
        </p:nvSpPr>
        <p:spPr>
          <a:xfrm>
            <a:off x="10362895" y="594360"/>
            <a:ext cx="1051560" cy="1051560"/>
          </a:xfrm>
          <a:prstGeom prst="ellipse">
            <a:avLst/>
          </a:prstGeom>
          <a:solidFill>
            <a:srgbClr val="6C5CE7"/>
          </a:solidFill>
          <a:ln/>
        </p:spPr>
      </p:sp>
      <p:pic>
        <p:nvPicPr>
          <p:cNvPr id="5" name="Image 0" descr="/home/claude/ai-git-deck/icons/network.png">    </p:cNvPr>
          <p:cNvPicPr>
            <a:picLocks noChangeAspect="1"/>
          </p:cNvPicPr>
          <p:nvPr/>
        </p:nvPicPr>
        <p:blipFill>
          <a:blip r:embed="rId1"/>
          <a:stretch>
            <a:fillRect/>
          </a:stretch>
        </p:blipFill>
        <p:spPr>
          <a:xfrm>
            <a:off x="10499598" y="731063"/>
            <a:ext cx="778154" cy="778154"/>
          </a:xfrm>
          <a:prstGeom prst="rect">
            <a:avLst/>
          </a:prstGeom>
        </p:spPr>
      </p:pic>
      <p:sp>
        <p:nvSpPr>
          <p:cNvPr id="6" name="Shape 3"/>
          <p:cNvSpPr/>
          <p:nvPr/>
        </p:nvSpPr>
        <p:spPr>
          <a:xfrm>
            <a:off x="548640" y="1737360"/>
            <a:ext cx="11094415" cy="1417320"/>
          </a:xfrm>
          <a:prstGeom prst="roundRect">
            <a:avLst>
              <a:gd name="adj" fmla="val 6452"/>
            </a:avLst>
          </a:prstGeom>
          <a:solidFill>
            <a:srgbClr val="FFFFFF"/>
          </a:solidFill>
          <a:ln/>
          <a:effectLst>
            <a:outerShdw sx="100000" sy="100000" kx="0" ky="0" algn="bl" rotWithShape="0" blurRad="101600" dist="25400" dir="5400000">
              <a:srgbClr val="1B1F3B">
                <a:alpha val="10000"/>
              </a:srgbClr>
            </a:outerShdw>
          </a:effectLst>
        </p:spPr>
      </p:sp>
      <p:sp>
        <p:nvSpPr>
          <p:cNvPr id="7" name="Shape 4"/>
          <p:cNvSpPr/>
          <p:nvPr/>
        </p:nvSpPr>
        <p:spPr>
          <a:xfrm>
            <a:off x="868680" y="1993392"/>
            <a:ext cx="1371600" cy="457200"/>
          </a:xfrm>
          <a:prstGeom prst="roundRect">
            <a:avLst>
              <a:gd name="adj" fmla="val 16000"/>
            </a:avLst>
          </a:prstGeom>
          <a:solidFill>
            <a:srgbClr val="EFECFF"/>
          </a:solidFill>
          <a:ln/>
        </p:spPr>
      </p:sp>
      <p:sp>
        <p:nvSpPr>
          <p:cNvPr id="8" name="Text 5"/>
          <p:cNvSpPr txBox="1"/>
          <p:nvPr/>
        </p:nvSpPr>
        <p:spPr>
          <a:xfrm>
            <a:off x="868680" y="1993392"/>
            <a:ext cx="1371600" cy="457200"/>
          </a:xfrm>
          <a:prstGeom prst="rect">
            <a:avLst/>
          </a:prstGeom>
          <a:noFill/>
          <a:ln/>
        </p:spPr>
        <p:txBody>
          <a:bodyPr wrap="square" lIns="0" tIns="0" rIns="0" bIns="0" rtlCol="0" anchor="ctr"/>
          <a:lstStyle/>
          <a:p>
            <a:pPr algn="ctr" indent="0" marL="0">
              <a:buNone/>
            </a:pPr>
            <a:r>
              <a:rPr lang="en-US" sz="1600" b="1" dirty="0">
                <a:solidFill>
                  <a:srgbClr val="6C5CE7"/>
                </a:solidFill>
                <a:latin typeface="Cambria" pitchFamily="34" charset="0"/>
                <a:ea typeface="Cambria" pitchFamily="34" charset="-122"/>
                <a:cs typeface="Cambria" pitchFamily="34" charset="-120"/>
              </a:rPr>
              <a:t>2006</a:t>
            </a:r>
            <a:endParaRPr lang="en-US" sz="1600" dirty="0"/>
          </a:p>
        </p:txBody>
      </p:sp>
      <p:sp>
        <p:nvSpPr>
          <p:cNvPr id="9" name="Text 6"/>
          <p:cNvSpPr txBox="1"/>
          <p:nvPr/>
        </p:nvSpPr>
        <p:spPr>
          <a:xfrm>
            <a:off x="2514600" y="1920240"/>
            <a:ext cx="8899855" cy="457200"/>
          </a:xfrm>
          <a:prstGeom prst="rect">
            <a:avLst/>
          </a:prstGeom>
          <a:noFill/>
          <a:ln/>
        </p:spPr>
        <p:txBody>
          <a:bodyPr wrap="square" lIns="0" tIns="0" rIns="0" bIns="0" rtlCol="0" anchor="ctr"/>
          <a:lstStyle/>
          <a:p>
            <a:pPr indent="0" marL="0">
              <a:buNone/>
            </a:pPr>
            <a:r>
              <a:rPr lang="en-US" sz="1700" b="1" dirty="0">
                <a:solidFill>
                  <a:srgbClr val="22263F"/>
                </a:solidFill>
                <a:latin typeface="Cambria" pitchFamily="34" charset="0"/>
                <a:ea typeface="Cambria" pitchFamily="34" charset="-122"/>
                <a:cs typeface="Cambria" pitchFamily="34" charset="-120"/>
              </a:rPr>
              <a:t>Deep learning is revived</a:t>
            </a:r>
            <a:endParaRPr lang="en-US" sz="1700" dirty="0"/>
          </a:p>
        </p:txBody>
      </p:sp>
      <p:sp>
        <p:nvSpPr>
          <p:cNvPr id="10" name="Text 7"/>
          <p:cNvSpPr txBox="1"/>
          <p:nvPr/>
        </p:nvSpPr>
        <p:spPr>
          <a:xfrm>
            <a:off x="2514600" y="2304288"/>
            <a:ext cx="8899855" cy="777240"/>
          </a:xfrm>
          <a:prstGeom prst="rect">
            <a:avLst/>
          </a:prstGeom>
          <a:noFill/>
          <a:ln/>
        </p:spPr>
        <p:txBody>
          <a:bodyPr wrap="square" lIns="0" tIns="0" rIns="0" bIns="0" rtlCol="0" anchor="ctr"/>
          <a:lstStyle/>
          <a:p>
            <a:pPr indent="0" marL="0">
              <a:lnSpc>
                <a:spcPct val="118000"/>
              </a:lnSpc>
              <a:buNone/>
            </a:pPr>
            <a:r>
              <a:rPr lang="en-US" sz="1250" dirty="0">
                <a:solidFill>
                  <a:srgbClr val="6B7280"/>
                </a:solidFill>
                <a:latin typeface="Calibri" pitchFamily="34" charset="0"/>
                <a:ea typeface="Calibri" pitchFamily="34" charset="-122"/>
                <a:cs typeface="Calibri" pitchFamily="34" charset="-120"/>
              </a:rPr>
              <a:t>Geoffrey Hinton helped bring neural networks back into the mainstream with deep learning techniques, fueled by a massive surge in digital data and cheaper processing power.</a:t>
            </a:r>
            <a:endParaRPr lang="en-US" sz="1250" dirty="0"/>
          </a:p>
        </p:txBody>
      </p:sp>
      <p:sp>
        <p:nvSpPr>
          <p:cNvPr id="11" name="Shape 8"/>
          <p:cNvSpPr/>
          <p:nvPr/>
        </p:nvSpPr>
        <p:spPr>
          <a:xfrm>
            <a:off x="548640" y="3429000"/>
            <a:ext cx="11094415" cy="1417320"/>
          </a:xfrm>
          <a:prstGeom prst="roundRect">
            <a:avLst>
              <a:gd name="adj" fmla="val 6452"/>
            </a:avLst>
          </a:prstGeom>
          <a:solidFill>
            <a:srgbClr val="FFFFFF"/>
          </a:solidFill>
          <a:ln/>
          <a:effectLst>
            <a:outerShdw sx="100000" sy="100000" kx="0" ky="0" algn="bl" rotWithShape="0" blurRad="101600" dist="25400" dir="5400000">
              <a:srgbClr val="1B1F3B">
                <a:alpha val="10000"/>
              </a:srgbClr>
            </a:outerShdw>
          </a:effectLst>
        </p:spPr>
      </p:sp>
      <p:sp>
        <p:nvSpPr>
          <p:cNvPr id="12" name="Shape 9"/>
          <p:cNvSpPr/>
          <p:nvPr/>
        </p:nvSpPr>
        <p:spPr>
          <a:xfrm>
            <a:off x="868680" y="3685032"/>
            <a:ext cx="1371600" cy="457200"/>
          </a:xfrm>
          <a:prstGeom prst="roundRect">
            <a:avLst>
              <a:gd name="adj" fmla="val 16000"/>
            </a:avLst>
          </a:prstGeom>
          <a:solidFill>
            <a:srgbClr val="EFECFF"/>
          </a:solidFill>
          <a:ln/>
        </p:spPr>
      </p:sp>
      <p:sp>
        <p:nvSpPr>
          <p:cNvPr id="13" name="Text 10"/>
          <p:cNvSpPr txBox="1"/>
          <p:nvPr/>
        </p:nvSpPr>
        <p:spPr>
          <a:xfrm>
            <a:off x="868680" y="3685032"/>
            <a:ext cx="1371600" cy="457200"/>
          </a:xfrm>
          <a:prstGeom prst="rect">
            <a:avLst/>
          </a:prstGeom>
          <a:noFill/>
          <a:ln/>
        </p:spPr>
        <p:txBody>
          <a:bodyPr wrap="square" lIns="0" tIns="0" rIns="0" bIns="0" rtlCol="0" anchor="ctr"/>
          <a:lstStyle/>
          <a:p>
            <a:pPr algn="ctr" indent="0" marL="0">
              <a:buNone/>
            </a:pPr>
            <a:r>
              <a:rPr lang="en-US" sz="1600" b="1" dirty="0">
                <a:solidFill>
                  <a:srgbClr val="6C5CE7"/>
                </a:solidFill>
                <a:latin typeface="Cambria" pitchFamily="34" charset="0"/>
                <a:ea typeface="Cambria" pitchFamily="34" charset="-122"/>
                <a:cs typeface="Cambria" pitchFamily="34" charset="-120"/>
              </a:rPr>
              <a:t>2011</a:t>
            </a:r>
            <a:endParaRPr lang="en-US" sz="1600" dirty="0"/>
          </a:p>
        </p:txBody>
      </p:sp>
      <p:sp>
        <p:nvSpPr>
          <p:cNvPr id="14" name="Text 11"/>
          <p:cNvSpPr txBox="1"/>
          <p:nvPr/>
        </p:nvSpPr>
        <p:spPr>
          <a:xfrm>
            <a:off x="2514600" y="3611880"/>
            <a:ext cx="8899855" cy="457200"/>
          </a:xfrm>
          <a:prstGeom prst="rect">
            <a:avLst/>
          </a:prstGeom>
          <a:noFill/>
          <a:ln/>
        </p:spPr>
        <p:txBody>
          <a:bodyPr wrap="square" lIns="0" tIns="0" rIns="0" bIns="0" rtlCol="0" anchor="ctr"/>
          <a:lstStyle/>
          <a:p>
            <a:pPr indent="0" marL="0">
              <a:buNone/>
            </a:pPr>
            <a:r>
              <a:rPr lang="en-US" sz="1700" b="1" dirty="0">
                <a:solidFill>
                  <a:srgbClr val="22263F"/>
                </a:solidFill>
                <a:latin typeface="Cambria" pitchFamily="34" charset="0"/>
                <a:ea typeface="Cambria" pitchFamily="34" charset="-122"/>
                <a:cs typeface="Cambria" pitchFamily="34" charset="-120"/>
              </a:rPr>
              <a:t>IBM Watson wins Jeopardy!</a:t>
            </a:r>
            <a:endParaRPr lang="en-US" sz="1700" dirty="0"/>
          </a:p>
        </p:txBody>
      </p:sp>
      <p:sp>
        <p:nvSpPr>
          <p:cNvPr id="15" name="Text 12"/>
          <p:cNvSpPr txBox="1"/>
          <p:nvPr/>
        </p:nvSpPr>
        <p:spPr>
          <a:xfrm>
            <a:off x="2514600" y="3995928"/>
            <a:ext cx="8899855" cy="777240"/>
          </a:xfrm>
          <a:prstGeom prst="rect">
            <a:avLst/>
          </a:prstGeom>
          <a:noFill/>
          <a:ln/>
        </p:spPr>
        <p:txBody>
          <a:bodyPr wrap="square" lIns="0" tIns="0" rIns="0" bIns="0" rtlCol="0" anchor="ctr"/>
          <a:lstStyle/>
          <a:p>
            <a:pPr indent="0" marL="0">
              <a:lnSpc>
                <a:spcPct val="118000"/>
              </a:lnSpc>
              <a:buNone/>
            </a:pPr>
            <a:r>
              <a:rPr lang="en-US" sz="1250" dirty="0">
                <a:solidFill>
                  <a:srgbClr val="6B7280"/>
                </a:solidFill>
                <a:latin typeface="Calibri" pitchFamily="34" charset="0"/>
                <a:ea typeface="Calibri" pitchFamily="34" charset="-122"/>
                <a:cs typeface="Calibri" pitchFamily="34" charset="-120"/>
              </a:rPr>
              <a:t>Watson defeated champion human contestants on the quiz show, showcasing major progress in natural language processing and how machines could understand nuanced, ambiguous human language.</a:t>
            </a:r>
            <a:endParaRPr lang="en-US" sz="1250" dirty="0"/>
          </a:p>
        </p:txBody>
      </p:sp>
      <p:sp>
        <p:nvSpPr>
          <p:cNvPr id="16" name="Shape 13"/>
          <p:cNvSpPr/>
          <p:nvPr/>
        </p:nvSpPr>
        <p:spPr>
          <a:xfrm>
            <a:off x="548640" y="5120640"/>
            <a:ext cx="11094415" cy="1417320"/>
          </a:xfrm>
          <a:prstGeom prst="roundRect">
            <a:avLst>
              <a:gd name="adj" fmla="val 6452"/>
            </a:avLst>
          </a:prstGeom>
          <a:solidFill>
            <a:srgbClr val="FFFFFF"/>
          </a:solidFill>
          <a:ln/>
          <a:effectLst>
            <a:outerShdw sx="100000" sy="100000" kx="0" ky="0" algn="bl" rotWithShape="0" blurRad="101600" dist="25400" dir="5400000">
              <a:srgbClr val="1B1F3B">
                <a:alpha val="10000"/>
              </a:srgbClr>
            </a:outerShdw>
          </a:effectLst>
        </p:spPr>
      </p:sp>
      <p:sp>
        <p:nvSpPr>
          <p:cNvPr id="17" name="Shape 14"/>
          <p:cNvSpPr/>
          <p:nvPr/>
        </p:nvSpPr>
        <p:spPr>
          <a:xfrm>
            <a:off x="868680" y="5376672"/>
            <a:ext cx="1371600" cy="457200"/>
          </a:xfrm>
          <a:prstGeom prst="roundRect">
            <a:avLst>
              <a:gd name="adj" fmla="val 16000"/>
            </a:avLst>
          </a:prstGeom>
          <a:solidFill>
            <a:srgbClr val="EFECFF"/>
          </a:solidFill>
          <a:ln/>
        </p:spPr>
      </p:sp>
      <p:sp>
        <p:nvSpPr>
          <p:cNvPr id="18" name="Text 15"/>
          <p:cNvSpPr txBox="1"/>
          <p:nvPr/>
        </p:nvSpPr>
        <p:spPr>
          <a:xfrm>
            <a:off x="868680" y="5376672"/>
            <a:ext cx="1371600" cy="457200"/>
          </a:xfrm>
          <a:prstGeom prst="rect">
            <a:avLst/>
          </a:prstGeom>
          <a:noFill/>
          <a:ln/>
        </p:spPr>
        <p:txBody>
          <a:bodyPr wrap="square" lIns="0" tIns="0" rIns="0" bIns="0" rtlCol="0" anchor="ctr"/>
          <a:lstStyle/>
          <a:p>
            <a:pPr algn="ctr" indent="0" marL="0">
              <a:buNone/>
            </a:pPr>
            <a:r>
              <a:rPr lang="en-US" sz="1600" b="1" dirty="0">
                <a:solidFill>
                  <a:srgbClr val="6C5CE7"/>
                </a:solidFill>
                <a:latin typeface="Cambria" pitchFamily="34" charset="0"/>
                <a:ea typeface="Cambria" pitchFamily="34" charset="-122"/>
                <a:cs typeface="Cambria" pitchFamily="34" charset="-120"/>
              </a:rPr>
              <a:t>2012</a:t>
            </a:r>
            <a:endParaRPr lang="en-US" sz="1600" dirty="0"/>
          </a:p>
        </p:txBody>
      </p:sp>
      <p:sp>
        <p:nvSpPr>
          <p:cNvPr id="19" name="Text 16"/>
          <p:cNvSpPr txBox="1"/>
          <p:nvPr/>
        </p:nvSpPr>
        <p:spPr>
          <a:xfrm>
            <a:off x="2514600" y="5303520"/>
            <a:ext cx="8899855" cy="457200"/>
          </a:xfrm>
          <a:prstGeom prst="rect">
            <a:avLst/>
          </a:prstGeom>
          <a:noFill/>
          <a:ln/>
        </p:spPr>
        <p:txBody>
          <a:bodyPr wrap="square" lIns="0" tIns="0" rIns="0" bIns="0" rtlCol="0" anchor="ctr"/>
          <a:lstStyle/>
          <a:p>
            <a:pPr indent="0" marL="0">
              <a:buNone/>
            </a:pPr>
            <a:r>
              <a:rPr lang="en-US" sz="1700" b="1" dirty="0">
                <a:solidFill>
                  <a:srgbClr val="22263F"/>
                </a:solidFill>
                <a:latin typeface="Cambria" pitchFamily="34" charset="0"/>
                <a:ea typeface="Cambria" pitchFamily="34" charset="-122"/>
                <a:cs typeface="Cambria" pitchFamily="34" charset="-120"/>
              </a:rPr>
              <a:t>Deep neural networks learn to recognize cats</a:t>
            </a:r>
            <a:endParaRPr lang="en-US" sz="1700" dirty="0"/>
          </a:p>
        </p:txBody>
      </p:sp>
      <p:sp>
        <p:nvSpPr>
          <p:cNvPr id="20" name="Text 17"/>
          <p:cNvSpPr txBox="1"/>
          <p:nvPr/>
        </p:nvSpPr>
        <p:spPr>
          <a:xfrm>
            <a:off x="2514600" y="5687568"/>
            <a:ext cx="8899855" cy="777240"/>
          </a:xfrm>
          <a:prstGeom prst="rect">
            <a:avLst/>
          </a:prstGeom>
          <a:noFill/>
          <a:ln/>
        </p:spPr>
        <p:txBody>
          <a:bodyPr wrap="square" lIns="0" tIns="0" rIns="0" bIns="0" rtlCol="0" anchor="ctr"/>
          <a:lstStyle/>
          <a:p>
            <a:pPr indent="0" marL="0">
              <a:lnSpc>
                <a:spcPct val="118000"/>
              </a:lnSpc>
              <a:buNone/>
            </a:pPr>
            <a:r>
              <a:rPr lang="en-US" sz="1250" dirty="0">
                <a:solidFill>
                  <a:srgbClr val="6B7280"/>
                </a:solidFill>
                <a:latin typeface="Calibri" pitchFamily="34" charset="0"/>
                <a:ea typeface="Calibri" pitchFamily="34" charset="-122"/>
                <a:cs typeface="Calibri" pitchFamily="34" charset="-120"/>
              </a:rPr>
              <a:t>Breakthrough research from Google and Stanford showed a neural network could learn to identify cats from unlabeled YouTube video frames — a famous demonstration of advanced, self-taught pattern recognition.</a:t>
            </a:r>
            <a:endParaRPr lang="en-US" sz="1250" dirty="0"/>
          </a:p>
        </p:txBody>
      </p:sp>
      <p:sp>
        <p:nvSpPr>
          <p:cNvPr id="21" name="Text 18"/>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22" name="Text 19"/>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6C5CE7"/>
                </a:solidFill>
                <a:latin typeface="Calibri" pitchFamily="34" charset="0"/>
                <a:ea typeface="Calibri" pitchFamily="34" charset="-122"/>
                <a:cs typeface="Calibri" pitchFamily="34" charset="-120"/>
              </a:rPr>
              <a:t>PHASE 1 · 2017 – PRESENT</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The Generative Era</a:t>
            </a:r>
            <a:endParaRPr lang="en-US" sz="3400" dirty="0"/>
          </a:p>
        </p:txBody>
      </p:sp>
      <p:sp>
        <p:nvSpPr>
          <p:cNvPr id="4" name="Shape 2"/>
          <p:cNvSpPr/>
          <p:nvPr/>
        </p:nvSpPr>
        <p:spPr>
          <a:xfrm>
            <a:off x="10362895" y="594360"/>
            <a:ext cx="1051560" cy="1051560"/>
          </a:xfrm>
          <a:prstGeom prst="ellipse">
            <a:avLst/>
          </a:prstGeom>
          <a:solidFill>
            <a:srgbClr val="6C5CE7"/>
          </a:solidFill>
          <a:ln/>
        </p:spPr>
      </p:sp>
      <p:pic>
        <p:nvPicPr>
          <p:cNvPr id="5" name="Image 0" descr="/home/claude/ai-git-deck/icons/sparkles.png">    </p:cNvPr>
          <p:cNvPicPr>
            <a:picLocks noChangeAspect="1"/>
          </p:cNvPicPr>
          <p:nvPr/>
        </p:nvPicPr>
        <p:blipFill>
          <a:blip r:embed="rId1"/>
          <a:stretch>
            <a:fillRect/>
          </a:stretch>
        </p:blipFill>
        <p:spPr>
          <a:xfrm>
            <a:off x="10499598" y="731063"/>
            <a:ext cx="778154" cy="778154"/>
          </a:xfrm>
          <a:prstGeom prst="rect">
            <a:avLst/>
          </a:prstGeom>
        </p:spPr>
      </p:pic>
      <p:sp>
        <p:nvSpPr>
          <p:cNvPr id="6" name="Shape 3"/>
          <p:cNvSpPr/>
          <p:nvPr/>
        </p:nvSpPr>
        <p:spPr>
          <a:xfrm>
            <a:off x="548640" y="1691640"/>
            <a:ext cx="11094415" cy="1463040"/>
          </a:xfrm>
          <a:prstGeom prst="roundRect">
            <a:avLst>
              <a:gd name="adj" fmla="val 6250"/>
            </a:avLst>
          </a:prstGeom>
          <a:solidFill>
            <a:srgbClr val="FFFFFF"/>
          </a:solidFill>
          <a:ln/>
          <a:effectLst>
            <a:outerShdw sx="100000" sy="100000" kx="0" ky="0" algn="bl" rotWithShape="0" blurRad="101600" dist="25400" dir="5400000">
              <a:srgbClr val="1B1F3B">
                <a:alpha val="10000"/>
              </a:srgbClr>
            </a:outerShdw>
          </a:effectLst>
        </p:spPr>
      </p:sp>
      <p:sp>
        <p:nvSpPr>
          <p:cNvPr id="7" name="Shape 4"/>
          <p:cNvSpPr/>
          <p:nvPr/>
        </p:nvSpPr>
        <p:spPr>
          <a:xfrm>
            <a:off x="868680" y="1947672"/>
            <a:ext cx="1371600" cy="502920"/>
          </a:xfrm>
          <a:prstGeom prst="roundRect">
            <a:avLst>
              <a:gd name="adj" fmla="val 14545"/>
            </a:avLst>
          </a:prstGeom>
          <a:solidFill>
            <a:srgbClr val="EFECFF"/>
          </a:solidFill>
          <a:ln/>
        </p:spPr>
      </p:sp>
      <p:sp>
        <p:nvSpPr>
          <p:cNvPr id="8" name="Text 5"/>
          <p:cNvSpPr txBox="1"/>
          <p:nvPr/>
        </p:nvSpPr>
        <p:spPr>
          <a:xfrm>
            <a:off x="868680" y="1947672"/>
            <a:ext cx="1371600" cy="502920"/>
          </a:xfrm>
          <a:prstGeom prst="rect">
            <a:avLst/>
          </a:prstGeom>
          <a:noFill/>
          <a:ln/>
        </p:spPr>
        <p:txBody>
          <a:bodyPr wrap="square" lIns="0" tIns="0" rIns="0" bIns="0" rtlCol="0" anchor="ctr"/>
          <a:lstStyle/>
          <a:p>
            <a:pPr algn="ctr" indent="0" marL="0">
              <a:buNone/>
            </a:pPr>
            <a:r>
              <a:rPr lang="en-US" sz="1500" b="1" dirty="0">
                <a:solidFill>
                  <a:srgbClr val="6C5CE7"/>
                </a:solidFill>
                <a:latin typeface="Cambria" pitchFamily="34" charset="0"/>
                <a:ea typeface="Cambria" pitchFamily="34" charset="-122"/>
                <a:cs typeface="Cambria" pitchFamily="34" charset="-120"/>
              </a:rPr>
              <a:t>2017</a:t>
            </a:r>
            <a:endParaRPr lang="en-US" sz="1500" dirty="0"/>
          </a:p>
        </p:txBody>
      </p:sp>
      <p:sp>
        <p:nvSpPr>
          <p:cNvPr id="9" name="Text 6"/>
          <p:cNvSpPr txBox="1"/>
          <p:nvPr/>
        </p:nvSpPr>
        <p:spPr>
          <a:xfrm>
            <a:off x="2514600" y="1874520"/>
            <a:ext cx="8899855" cy="411480"/>
          </a:xfrm>
          <a:prstGeom prst="rect">
            <a:avLst/>
          </a:prstGeom>
          <a:noFill/>
          <a:ln/>
        </p:spPr>
        <p:txBody>
          <a:bodyPr wrap="square" lIns="0" tIns="0" rIns="0" bIns="0" rtlCol="0" anchor="ctr"/>
          <a:lstStyle/>
          <a:p>
            <a:pPr indent="0" marL="0">
              <a:buNone/>
            </a:pPr>
            <a:r>
              <a:rPr lang="en-US" sz="1800" b="1" dirty="0">
                <a:solidFill>
                  <a:srgbClr val="22263F"/>
                </a:solidFill>
                <a:latin typeface="Cambria" pitchFamily="34" charset="0"/>
                <a:ea typeface="Cambria" pitchFamily="34" charset="-122"/>
                <a:cs typeface="Cambria" pitchFamily="34" charset="-120"/>
              </a:rPr>
              <a:t>Transformers arrive</a:t>
            </a:r>
            <a:endParaRPr lang="en-US" sz="1800" dirty="0"/>
          </a:p>
        </p:txBody>
      </p:sp>
      <p:sp>
        <p:nvSpPr>
          <p:cNvPr id="10" name="Text 7"/>
          <p:cNvSpPr txBox="1"/>
          <p:nvPr/>
        </p:nvSpPr>
        <p:spPr>
          <a:xfrm>
            <a:off x="2514600" y="2295144"/>
            <a:ext cx="8899855" cy="822960"/>
          </a:xfrm>
          <a:prstGeom prst="rect">
            <a:avLst/>
          </a:prstGeom>
          <a:noFill/>
          <a:ln/>
        </p:spPr>
        <p:txBody>
          <a:bodyPr wrap="square" lIns="0" tIns="0" rIns="0" bIns="0" rtlCol="0" anchor="ctr"/>
          <a:lstStyle/>
          <a:p>
            <a:pPr indent="0" marL="0">
              <a:lnSpc>
                <a:spcPct val="118000"/>
              </a:lnSpc>
              <a:buNone/>
            </a:pPr>
            <a:r>
              <a:rPr lang="en-US" sz="1300" dirty="0">
                <a:solidFill>
                  <a:srgbClr val="6B7280"/>
                </a:solidFill>
                <a:latin typeface="Calibri" pitchFamily="34" charset="0"/>
                <a:ea typeface="Calibri" pitchFamily="34" charset="-122"/>
                <a:cs typeface="Calibri" pitchFamily="34" charset="-120"/>
              </a:rPr>
              <a:t>Google Brain introduced the transformer architecture, using self-attention to process entire sequences of data in parallel — far more efficient than earlier models and the foundation of nearly every modern language model.</a:t>
            </a:r>
            <a:endParaRPr lang="en-US" sz="1300" dirty="0"/>
          </a:p>
        </p:txBody>
      </p:sp>
      <p:sp>
        <p:nvSpPr>
          <p:cNvPr id="11" name="Shape 8"/>
          <p:cNvSpPr/>
          <p:nvPr/>
        </p:nvSpPr>
        <p:spPr>
          <a:xfrm>
            <a:off x="548640" y="3383280"/>
            <a:ext cx="11094415" cy="1463040"/>
          </a:xfrm>
          <a:prstGeom prst="roundRect">
            <a:avLst>
              <a:gd name="adj" fmla="val 6250"/>
            </a:avLst>
          </a:prstGeom>
          <a:solidFill>
            <a:srgbClr val="FFFFFF"/>
          </a:solidFill>
          <a:ln/>
          <a:effectLst>
            <a:outerShdw sx="100000" sy="100000" kx="0" ky="0" algn="bl" rotWithShape="0" blurRad="101600" dist="25400" dir="5400000">
              <a:srgbClr val="1B1F3B">
                <a:alpha val="10000"/>
              </a:srgbClr>
            </a:outerShdw>
          </a:effectLst>
        </p:spPr>
      </p:sp>
      <p:sp>
        <p:nvSpPr>
          <p:cNvPr id="12" name="Shape 9"/>
          <p:cNvSpPr/>
          <p:nvPr/>
        </p:nvSpPr>
        <p:spPr>
          <a:xfrm>
            <a:off x="868680" y="3639312"/>
            <a:ext cx="1371600" cy="502920"/>
          </a:xfrm>
          <a:prstGeom prst="roundRect">
            <a:avLst>
              <a:gd name="adj" fmla="val 14545"/>
            </a:avLst>
          </a:prstGeom>
          <a:solidFill>
            <a:srgbClr val="EFECFF"/>
          </a:solidFill>
          <a:ln/>
        </p:spPr>
      </p:sp>
      <p:sp>
        <p:nvSpPr>
          <p:cNvPr id="13" name="Text 10"/>
          <p:cNvSpPr txBox="1"/>
          <p:nvPr/>
        </p:nvSpPr>
        <p:spPr>
          <a:xfrm>
            <a:off x="868680" y="3639312"/>
            <a:ext cx="1371600" cy="502920"/>
          </a:xfrm>
          <a:prstGeom prst="rect">
            <a:avLst/>
          </a:prstGeom>
          <a:noFill/>
          <a:ln/>
        </p:spPr>
        <p:txBody>
          <a:bodyPr wrap="square" lIns="0" tIns="0" rIns="0" bIns="0" rtlCol="0" anchor="ctr"/>
          <a:lstStyle/>
          <a:p>
            <a:pPr algn="ctr" indent="0" marL="0">
              <a:buNone/>
            </a:pPr>
            <a:r>
              <a:rPr lang="en-US" sz="1500" b="1" dirty="0">
                <a:solidFill>
                  <a:srgbClr val="6C5CE7"/>
                </a:solidFill>
                <a:latin typeface="Cambria" pitchFamily="34" charset="0"/>
                <a:ea typeface="Cambria" pitchFamily="34" charset="-122"/>
                <a:cs typeface="Cambria" pitchFamily="34" charset="-120"/>
              </a:rPr>
              <a:t>2018–2022</a:t>
            </a:r>
            <a:endParaRPr lang="en-US" sz="1500" dirty="0"/>
          </a:p>
        </p:txBody>
      </p:sp>
      <p:sp>
        <p:nvSpPr>
          <p:cNvPr id="14" name="Text 11"/>
          <p:cNvSpPr txBox="1"/>
          <p:nvPr/>
        </p:nvSpPr>
        <p:spPr>
          <a:xfrm>
            <a:off x="2514600" y="3566160"/>
            <a:ext cx="8899855" cy="411480"/>
          </a:xfrm>
          <a:prstGeom prst="rect">
            <a:avLst/>
          </a:prstGeom>
          <a:noFill/>
          <a:ln/>
        </p:spPr>
        <p:txBody>
          <a:bodyPr wrap="square" lIns="0" tIns="0" rIns="0" bIns="0" rtlCol="0" anchor="ctr"/>
          <a:lstStyle/>
          <a:p>
            <a:pPr indent="0" marL="0">
              <a:buNone/>
            </a:pPr>
            <a:r>
              <a:rPr lang="en-US" sz="1800" b="1" dirty="0">
                <a:solidFill>
                  <a:srgbClr val="22263F"/>
                </a:solidFill>
                <a:latin typeface="Cambria" pitchFamily="34" charset="0"/>
                <a:ea typeface="Cambria" pitchFamily="34" charset="-122"/>
                <a:cs typeface="Cambria" pitchFamily="34" charset="-120"/>
              </a:rPr>
              <a:t>GPT and the launch of ChatGPT</a:t>
            </a:r>
            <a:endParaRPr lang="en-US" sz="1800" dirty="0"/>
          </a:p>
        </p:txBody>
      </p:sp>
      <p:sp>
        <p:nvSpPr>
          <p:cNvPr id="15" name="Text 12"/>
          <p:cNvSpPr txBox="1"/>
          <p:nvPr/>
        </p:nvSpPr>
        <p:spPr>
          <a:xfrm>
            <a:off x="2514600" y="3986784"/>
            <a:ext cx="8899855" cy="822960"/>
          </a:xfrm>
          <a:prstGeom prst="rect">
            <a:avLst/>
          </a:prstGeom>
          <a:noFill/>
          <a:ln/>
        </p:spPr>
        <p:txBody>
          <a:bodyPr wrap="square" lIns="0" tIns="0" rIns="0" bIns="0" rtlCol="0" anchor="ctr"/>
          <a:lstStyle/>
          <a:p>
            <a:pPr indent="0" marL="0">
              <a:lnSpc>
                <a:spcPct val="118000"/>
              </a:lnSpc>
              <a:buNone/>
            </a:pPr>
            <a:r>
              <a:rPr lang="en-US" sz="1300" dirty="0">
                <a:solidFill>
                  <a:srgbClr val="6B7280"/>
                </a:solidFill>
                <a:latin typeface="Calibri" pitchFamily="34" charset="0"/>
                <a:ea typeface="Calibri" pitchFamily="34" charset="-122"/>
                <a:cs typeface="Calibri" pitchFamily="34" charset="-120"/>
              </a:rPr>
              <a:t>OpenAI's GPT series built increasingly capable Large Language Models on top of the transformer architecture, culminating in the public release of the ChatGPT interface in late 2022 — bringing generative AI into everyday use.</a:t>
            </a:r>
            <a:endParaRPr lang="en-US" sz="1300" dirty="0"/>
          </a:p>
        </p:txBody>
      </p:sp>
      <p:sp>
        <p:nvSpPr>
          <p:cNvPr id="16" name="Shape 13"/>
          <p:cNvSpPr/>
          <p:nvPr/>
        </p:nvSpPr>
        <p:spPr>
          <a:xfrm>
            <a:off x="548640" y="5212080"/>
            <a:ext cx="11094415" cy="777240"/>
          </a:xfrm>
          <a:prstGeom prst="roundRect">
            <a:avLst>
              <a:gd name="adj" fmla="val 11765"/>
            </a:avLst>
          </a:prstGeom>
          <a:solidFill>
            <a:srgbClr val="1B1F3B"/>
          </a:solidFill>
          <a:ln/>
        </p:spPr>
      </p:sp>
      <p:sp>
        <p:nvSpPr>
          <p:cNvPr id="17" name="Text 14"/>
          <p:cNvSpPr txBox="1"/>
          <p:nvPr/>
        </p:nvSpPr>
        <p:spPr>
          <a:xfrm>
            <a:off x="868680" y="5212080"/>
            <a:ext cx="10454335" cy="777240"/>
          </a:xfrm>
          <a:prstGeom prst="rect">
            <a:avLst/>
          </a:prstGeom>
          <a:noFill/>
          <a:ln/>
        </p:spPr>
        <p:txBody>
          <a:bodyPr wrap="square" lIns="0" tIns="0" rIns="0" bIns="0" rtlCol="0" anchor="ctr"/>
          <a:lstStyle/>
          <a:p>
            <a:pPr indent="0" marL="0">
              <a:lnSpc>
                <a:spcPct val="115000"/>
              </a:lnSpc>
              <a:buNone/>
            </a:pPr>
            <a:r>
              <a:rPr lang="en-US" sz="1300" i="1" dirty="0">
                <a:solidFill>
                  <a:srgbClr val="FFFFFF"/>
                </a:solidFill>
                <a:latin typeface="Calibri" pitchFamily="34" charset="0"/>
                <a:ea typeface="Calibri" pitchFamily="34" charset="-122"/>
                <a:cs typeface="Calibri" pitchFamily="34" charset="-120"/>
              </a:rPr>
              <a:t>We are now living through the generative era — the same period this study session's tools (Python, Git, GitHub) are used to build.</a:t>
            </a:r>
            <a:endParaRPr lang="en-US" sz="1300" dirty="0"/>
          </a:p>
        </p:txBody>
      </p:sp>
      <p:sp>
        <p:nvSpPr>
          <p:cNvPr id="18" name="Text 15"/>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19" name="Text 16"/>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6C5CE7"/>
                </a:solidFill>
                <a:latin typeface="Calibri" pitchFamily="34" charset="0"/>
                <a:ea typeface="Calibri" pitchFamily="34" charset="-122"/>
                <a:cs typeface="Calibri" pitchFamily="34" charset="-120"/>
              </a:rPr>
              <a:t>PHASE 1 · RECAP</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History of AI — Key Takeaways</a:t>
            </a:r>
            <a:endParaRPr lang="en-US" sz="3400" dirty="0"/>
          </a:p>
        </p:txBody>
      </p:sp>
      <p:sp>
        <p:nvSpPr>
          <p:cNvPr id="4" name="Shape 2"/>
          <p:cNvSpPr/>
          <p:nvPr/>
        </p:nvSpPr>
        <p:spPr>
          <a:xfrm>
            <a:off x="548640" y="1737360"/>
            <a:ext cx="5318608" cy="2148840"/>
          </a:xfrm>
          <a:prstGeom prst="roundRect">
            <a:avLst>
              <a:gd name="adj" fmla="val 4255"/>
            </a:avLst>
          </a:prstGeom>
          <a:solidFill>
            <a:srgbClr val="FFFFFF"/>
          </a:solidFill>
          <a:ln/>
          <a:effectLst>
            <a:outerShdw sx="100000" sy="100000" kx="0" ky="0" algn="bl" rotWithShape="0" blurRad="101600" dist="25400" dir="5400000">
              <a:srgbClr val="1B1F3B">
                <a:alpha val="10000"/>
              </a:srgbClr>
            </a:outerShdw>
          </a:effectLst>
        </p:spPr>
      </p:sp>
      <p:sp>
        <p:nvSpPr>
          <p:cNvPr id="5" name="Shape 3"/>
          <p:cNvSpPr/>
          <p:nvPr/>
        </p:nvSpPr>
        <p:spPr>
          <a:xfrm>
            <a:off x="868680" y="2029968"/>
            <a:ext cx="640080" cy="640080"/>
          </a:xfrm>
          <a:prstGeom prst="ellipse">
            <a:avLst/>
          </a:prstGeom>
          <a:solidFill>
            <a:srgbClr val="6C5CE7"/>
          </a:solidFill>
          <a:ln/>
        </p:spPr>
      </p:sp>
      <p:pic>
        <p:nvPicPr>
          <p:cNvPr id="6" name="Image 0" descr="/home/claude/ai-git-deck/icons/lightbulb.png">    </p:cNvPr>
          <p:cNvPicPr>
            <a:picLocks noChangeAspect="1"/>
          </p:cNvPicPr>
          <p:nvPr/>
        </p:nvPicPr>
        <p:blipFill>
          <a:blip r:embed="rId1"/>
          <a:stretch>
            <a:fillRect/>
          </a:stretch>
        </p:blipFill>
        <p:spPr>
          <a:xfrm>
            <a:off x="951890" y="2113178"/>
            <a:ext cx="473659" cy="473659"/>
          </a:xfrm>
          <a:prstGeom prst="rect">
            <a:avLst/>
          </a:prstGeom>
        </p:spPr>
      </p:pic>
      <p:sp>
        <p:nvSpPr>
          <p:cNvPr id="7" name="Text 4"/>
          <p:cNvSpPr txBox="1"/>
          <p:nvPr/>
        </p:nvSpPr>
        <p:spPr>
          <a:xfrm>
            <a:off x="1691640" y="2029968"/>
            <a:ext cx="3855568" cy="548640"/>
          </a:xfrm>
          <a:prstGeom prst="rect">
            <a:avLst/>
          </a:prstGeom>
          <a:noFill/>
          <a:ln/>
        </p:spPr>
        <p:txBody>
          <a:bodyPr wrap="square" lIns="0" tIns="0" rIns="0" bIns="0" rtlCol="0" anchor="ctr"/>
          <a:lstStyle/>
          <a:p>
            <a:pPr indent="0" marL="0">
              <a:buNone/>
            </a:pPr>
            <a:r>
              <a:rPr lang="en-US" sz="1600" b="1" dirty="0">
                <a:solidFill>
                  <a:srgbClr val="22263F"/>
                </a:solidFill>
                <a:latin typeface="Cambria" pitchFamily="34" charset="0"/>
                <a:ea typeface="Cambria" pitchFamily="34" charset="-122"/>
                <a:cs typeface="Cambria" pitchFamily="34" charset="-120"/>
              </a:rPr>
              <a:t>1950s — Foundations</a:t>
            </a:r>
            <a:endParaRPr lang="en-US" sz="1600" dirty="0"/>
          </a:p>
        </p:txBody>
      </p:sp>
      <p:sp>
        <p:nvSpPr>
          <p:cNvPr id="8" name="Text 5"/>
          <p:cNvSpPr txBox="1"/>
          <p:nvPr/>
        </p:nvSpPr>
        <p:spPr>
          <a:xfrm>
            <a:off x="868680" y="2788920"/>
            <a:ext cx="4678528" cy="1005840"/>
          </a:xfrm>
          <a:prstGeom prst="rect">
            <a:avLst/>
          </a:prstGeom>
          <a:noFill/>
          <a:ln/>
        </p:spPr>
        <p:txBody>
          <a:bodyPr wrap="square" lIns="0" tIns="0" rIns="0" bIns="0" rtlCol="0" anchor="ctr"/>
          <a:lstStyle/>
          <a:p>
            <a:pPr indent="0" marL="0">
              <a:lnSpc>
                <a:spcPct val="120000"/>
              </a:lnSpc>
              <a:buNone/>
            </a:pPr>
            <a:r>
              <a:rPr lang="en-US" sz="1250" dirty="0">
                <a:solidFill>
                  <a:srgbClr val="6B7280"/>
                </a:solidFill>
                <a:latin typeface="Calibri" pitchFamily="34" charset="0"/>
                <a:ea typeface="Calibri" pitchFamily="34" charset="-122"/>
                <a:cs typeface="Calibri" pitchFamily="34" charset="-120"/>
              </a:rPr>
              <a:t>Turing Test (1950) gave AI a measurable goal; the Dartmouth Conference (1956) made it an official field.</a:t>
            </a:r>
            <a:endParaRPr lang="en-US" sz="1250" dirty="0"/>
          </a:p>
        </p:txBody>
      </p:sp>
      <p:sp>
        <p:nvSpPr>
          <p:cNvPr id="9" name="Shape 6"/>
          <p:cNvSpPr/>
          <p:nvPr/>
        </p:nvSpPr>
        <p:spPr>
          <a:xfrm>
            <a:off x="6324448" y="1737360"/>
            <a:ext cx="5318608" cy="2148840"/>
          </a:xfrm>
          <a:prstGeom prst="roundRect">
            <a:avLst>
              <a:gd name="adj" fmla="val 4255"/>
            </a:avLst>
          </a:prstGeom>
          <a:solidFill>
            <a:srgbClr val="FFFFFF"/>
          </a:solidFill>
          <a:ln/>
          <a:effectLst>
            <a:outerShdw sx="100000" sy="100000" kx="0" ky="0" algn="bl" rotWithShape="0" blurRad="101600" dist="25400" dir="5400000">
              <a:srgbClr val="1B1F3B">
                <a:alpha val="10000"/>
              </a:srgbClr>
            </a:outerShdw>
          </a:effectLst>
        </p:spPr>
      </p:sp>
      <p:sp>
        <p:nvSpPr>
          <p:cNvPr id="10" name="Shape 7"/>
          <p:cNvSpPr/>
          <p:nvPr/>
        </p:nvSpPr>
        <p:spPr>
          <a:xfrm>
            <a:off x="6644488" y="2029968"/>
            <a:ext cx="640080" cy="640080"/>
          </a:xfrm>
          <a:prstGeom prst="ellipse">
            <a:avLst/>
          </a:prstGeom>
          <a:solidFill>
            <a:srgbClr val="6C5CE7"/>
          </a:solidFill>
          <a:ln/>
        </p:spPr>
      </p:sp>
      <p:pic>
        <p:nvPicPr>
          <p:cNvPr id="11" name="Image 1" descr="/home/claude/ai-git-deck/icons/snowflake.png">    </p:cNvPr>
          <p:cNvPicPr>
            <a:picLocks noChangeAspect="1"/>
          </p:cNvPicPr>
          <p:nvPr/>
        </p:nvPicPr>
        <p:blipFill>
          <a:blip r:embed="rId2"/>
          <a:stretch>
            <a:fillRect/>
          </a:stretch>
        </p:blipFill>
        <p:spPr>
          <a:xfrm>
            <a:off x="6727698" y="2113178"/>
            <a:ext cx="473659" cy="473659"/>
          </a:xfrm>
          <a:prstGeom prst="rect">
            <a:avLst/>
          </a:prstGeom>
        </p:spPr>
      </p:pic>
      <p:sp>
        <p:nvSpPr>
          <p:cNvPr id="12" name="Text 8"/>
          <p:cNvSpPr txBox="1"/>
          <p:nvPr/>
        </p:nvSpPr>
        <p:spPr>
          <a:xfrm>
            <a:off x="7467448" y="2029968"/>
            <a:ext cx="3855568" cy="548640"/>
          </a:xfrm>
          <a:prstGeom prst="rect">
            <a:avLst/>
          </a:prstGeom>
          <a:noFill/>
          <a:ln/>
        </p:spPr>
        <p:txBody>
          <a:bodyPr wrap="square" lIns="0" tIns="0" rIns="0" bIns="0" rtlCol="0" anchor="ctr"/>
          <a:lstStyle/>
          <a:p>
            <a:pPr indent="0" marL="0">
              <a:buNone/>
            </a:pPr>
            <a:r>
              <a:rPr lang="en-US" sz="1600" b="1" dirty="0">
                <a:solidFill>
                  <a:srgbClr val="22263F"/>
                </a:solidFill>
                <a:latin typeface="Cambria" pitchFamily="34" charset="0"/>
                <a:ea typeface="Cambria" pitchFamily="34" charset="-122"/>
                <a:cs typeface="Cambria" pitchFamily="34" charset="-120"/>
              </a:rPr>
              <a:t>1960s–90s — Trial by Fire</a:t>
            </a:r>
            <a:endParaRPr lang="en-US" sz="1600" dirty="0"/>
          </a:p>
        </p:txBody>
      </p:sp>
      <p:sp>
        <p:nvSpPr>
          <p:cNvPr id="13" name="Text 9"/>
          <p:cNvSpPr txBox="1"/>
          <p:nvPr/>
        </p:nvSpPr>
        <p:spPr>
          <a:xfrm>
            <a:off x="6644488" y="2788920"/>
            <a:ext cx="4678528" cy="1005840"/>
          </a:xfrm>
          <a:prstGeom prst="rect">
            <a:avLst/>
          </a:prstGeom>
          <a:noFill/>
          <a:ln/>
        </p:spPr>
        <p:txBody>
          <a:bodyPr wrap="square" lIns="0" tIns="0" rIns="0" bIns="0" rtlCol="0" anchor="ctr"/>
          <a:lstStyle/>
          <a:p>
            <a:pPr indent="0" marL="0">
              <a:lnSpc>
                <a:spcPct val="120000"/>
              </a:lnSpc>
              <a:buNone/>
            </a:pPr>
            <a:r>
              <a:rPr lang="en-US" sz="1250" dirty="0">
                <a:solidFill>
                  <a:srgbClr val="6B7280"/>
                </a:solidFill>
                <a:latin typeface="Calibri" pitchFamily="34" charset="0"/>
                <a:ea typeface="Calibri" pitchFamily="34" charset="-122"/>
                <a:cs typeface="Calibri" pitchFamily="34" charset="-120"/>
              </a:rPr>
              <a:t>The AI Winter cooled funding, but Deep Blue's 1997 win over Kasparov proved the field's potential.</a:t>
            </a:r>
            <a:endParaRPr lang="en-US" sz="1250" dirty="0"/>
          </a:p>
        </p:txBody>
      </p:sp>
      <p:sp>
        <p:nvSpPr>
          <p:cNvPr id="14" name="Shape 10"/>
          <p:cNvSpPr/>
          <p:nvPr/>
        </p:nvSpPr>
        <p:spPr>
          <a:xfrm>
            <a:off x="548640" y="4343400"/>
            <a:ext cx="5318608" cy="2148840"/>
          </a:xfrm>
          <a:prstGeom prst="roundRect">
            <a:avLst>
              <a:gd name="adj" fmla="val 4255"/>
            </a:avLst>
          </a:prstGeom>
          <a:solidFill>
            <a:srgbClr val="FFFFFF"/>
          </a:solidFill>
          <a:ln/>
          <a:effectLst>
            <a:outerShdw sx="100000" sy="100000" kx="0" ky="0" algn="bl" rotWithShape="0" blurRad="101600" dist="25400" dir="5400000">
              <a:srgbClr val="1B1F3B">
                <a:alpha val="10000"/>
              </a:srgbClr>
            </a:outerShdw>
          </a:effectLst>
        </p:spPr>
      </p:sp>
      <p:sp>
        <p:nvSpPr>
          <p:cNvPr id="15" name="Shape 11"/>
          <p:cNvSpPr/>
          <p:nvPr/>
        </p:nvSpPr>
        <p:spPr>
          <a:xfrm>
            <a:off x="868680" y="4636008"/>
            <a:ext cx="640080" cy="640080"/>
          </a:xfrm>
          <a:prstGeom prst="ellipse">
            <a:avLst/>
          </a:prstGeom>
          <a:solidFill>
            <a:srgbClr val="6C5CE7"/>
          </a:solidFill>
          <a:ln/>
        </p:spPr>
      </p:sp>
      <p:pic>
        <p:nvPicPr>
          <p:cNvPr id="16" name="Image 2" descr="/home/claude/ai-git-deck/icons/network.png">    </p:cNvPr>
          <p:cNvPicPr>
            <a:picLocks noChangeAspect="1"/>
          </p:cNvPicPr>
          <p:nvPr/>
        </p:nvPicPr>
        <p:blipFill>
          <a:blip r:embed="rId3"/>
          <a:stretch>
            <a:fillRect/>
          </a:stretch>
        </p:blipFill>
        <p:spPr>
          <a:xfrm>
            <a:off x="951890" y="4719218"/>
            <a:ext cx="473659" cy="473659"/>
          </a:xfrm>
          <a:prstGeom prst="rect">
            <a:avLst/>
          </a:prstGeom>
        </p:spPr>
      </p:pic>
      <p:sp>
        <p:nvSpPr>
          <p:cNvPr id="17" name="Text 12"/>
          <p:cNvSpPr txBox="1"/>
          <p:nvPr/>
        </p:nvSpPr>
        <p:spPr>
          <a:xfrm>
            <a:off x="1691640" y="4636008"/>
            <a:ext cx="3855568" cy="548640"/>
          </a:xfrm>
          <a:prstGeom prst="rect">
            <a:avLst/>
          </a:prstGeom>
          <a:noFill/>
          <a:ln/>
        </p:spPr>
        <p:txBody>
          <a:bodyPr wrap="square" lIns="0" tIns="0" rIns="0" bIns="0" rtlCol="0" anchor="ctr"/>
          <a:lstStyle/>
          <a:p>
            <a:pPr indent="0" marL="0">
              <a:buNone/>
            </a:pPr>
            <a:r>
              <a:rPr lang="en-US" sz="1600" b="1" dirty="0">
                <a:solidFill>
                  <a:srgbClr val="22263F"/>
                </a:solidFill>
                <a:latin typeface="Cambria" pitchFamily="34" charset="0"/>
                <a:ea typeface="Cambria" pitchFamily="34" charset="-122"/>
                <a:cs typeface="Cambria" pitchFamily="34" charset="-120"/>
              </a:rPr>
              <a:t>2000s–2017 — Data &amp; Depth</a:t>
            </a:r>
            <a:endParaRPr lang="en-US" sz="1600" dirty="0"/>
          </a:p>
        </p:txBody>
      </p:sp>
      <p:sp>
        <p:nvSpPr>
          <p:cNvPr id="18" name="Text 13"/>
          <p:cNvSpPr txBox="1"/>
          <p:nvPr/>
        </p:nvSpPr>
        <p:spPr>
          <a:xfrm>
            <a:off x="868680" y="5394960"/>
            <a:ext cx="4678528" cy="1005840"/>
          </a:xfrm>
          <a:prstGeom prst="rect">
            <a:avLst/>
          </a:prstGeom>
          <a:noFill/>
          <a:ln/>
        </p:spPr>
        <p:txBody>
          <a:bodyPr wrap="square" lIns="0" tIns="0" rIns="0" bIns="0" rtlCol="0" anchor="ctr"/>
          <a:lstStyle/>
          <a:p>
            <a:pPr indent="0" marL="0">
              <a:lnSpc>
                <a:spcPct val="120000"/>
              </a:lnSpc>
              <a:buNone/>
            </a:pPr>
            <a:r>
              <a:rPr lang="en-US" sz="1250" dirty="0">
                <a:solidFill>
                  <a:srgbClr val="6B7280"/>
                </a:solidFill>
                <a:latin typeface="Calibri" pitchFamily="34" charset="0"/>
                <a:ea typeface="Calibri" pitchFamily="34" charset="-122"/>
                <a:cs typeface="Calibri" pitchFamily="34" charset="-120"/>
              </a:rPr>
              <a:t>More data and compute revived deep learning; Watson and image recognition showed real-world results.</a:t>
            </a:r>
            <a:endParaRPr lang="en-US" sz="1250" dirty="0"/>
          </a:p>
        </p:txBody>
      </p:sp>
      <p:sp>
        <p:nvSpPr>
          <p:cNvPr id="19" name="Shape 14"/>
          <p:cNvSpPr/>
          <p:nvPr/>
        </p:nvSpPr>
        <p:spPr>
          <a:xfrm>
            <a:off x="6324448" y="4343400"/>
            <a:ext cx="5318608" cy="2148840"/>
          </a:xfrm>
          <a:prstGeom prst="roundRect">
            <a:avLst>
              <a:gd name="adj" fmla="val 4255"/>
            </a:avLst>
          </a:prstGeom>
          <a:solidFill>
            <a:srgbClr val="FFFFFF"/>
          </a:solidFill>
          <a:ln/>
          <a:effectLst>
            <a:outerShdw sx="100000" sy="100000" kx="0" ky="0" algn="bl" rotWithShape="0" blurRad="101600" dist="25400" dir="5400000">
              <a:srgbClr val="1B1F3B">
                <a:alpha val="10000"/>
              </a:srgbClr>
            </a:outerShdw>
          </a:effectLst>
        </p:spPr>
      </p:sp>
      <p:sp>
        <p:nvSpPr>
          <p:cNvPr id="20" name="Shape 15"/>
          <p:cNvSpPr/>
          <p:nvPr/>
        </p:nvSpPr>
        <p:spPr>
          <a:xfrm>
            <a:off x="6644488" y="4636008"/>
            <a:ext cx="640080" cy="640080"/>
          </a:xfrm>
          <a:prstGeom prst="ellipse">
            <a:avLst/>
          </a:prstGeom>
          <a:solidFill>
            <a:srgbClr val="6C5CE7"/>
          </a:solidFill>
          <a:ln/>
        </p:spPr>
      </p:sp>
      <p:pic>
        <p:nvPicPr>
          <p:cNvPr id="21" name="Image 3" descr="/home/claude/ai-git-deck/icons/sparkles.png">    </p:cNvPr>
          <p:cNvPicPr>
            <a:picLocks noChangeAspect="1"/>
          </p:cNvPicPr>
          <p:nvPr/>
        </p:nvPicPr>
        <p:blipFill>
          <a:blip r:embed="rId4"/>
          <a:stretch>
            <a:fillRect/>
          </a:stretch>
        </p:blipFill>
        <p:spPr>
          <a:xfrm>
            <a:off x="6727698" y="4719218"/>
            <a:ext cx="473659" cy="473659"/>
          </a:xfrm>
          <a:prstGeom prst="rect">
            <a:avLst/>
          </a:prstGeom>
        </p:spPr>
      </p:pic>
      <p:sp>
        <p:nvSpPr>
          <p:cNvPr id="22" name="Text 16"/>
          <p:cNvSpPr txBox="1"/>
          <p:nvPr/>
        </p:nvSpPr>
        <p:spPr>
          <a:xfrm>
            <a:off x="7467448" y="4636008"/>
            <a:ext cx="3855568" cy="548640"/>
          </a:xfrm>
          <a:prstGeom prst="rect">
            <a:avLst/>
          </a:prstGeom>
          <a:noFill/>
          <a:ln/>
        </p:spPr>
        <p:txBody>
          <a:bodyPr wrap="square" lIns="0" tIns="0" rIns="0" bIns="0" rtlCol="0" anchor="ctr"/>
          <a:lstStyle/>
          <a:p>
            <a:pPr indent="0" marL="0">
              <a:buNone/>
            </a:pPr>
            <a:r>
              <a:rPr lang="en-US" sz="1600" b="1" dirty="0">
                <a:solidFill>
                  <a:srgbClr val="22263F"/>
                </a:solidFill>
                <a:latin typeface="Cambria" pitchFamily="34" charset="0"/>
                <a:ea typeface="Cambria" pitchFamily="34" charset="-122"/>
                <a:cs typeface="Cambria" pitchFamily="34" charset="-120"/>
              </a:rPr>
              <a:t>2017–Now — Generative AI</a:t>
            </a:r>
            <a:endParaRPr lang="en-US" sz="1600" dirty="0"/>
          </a:p>
        </p:txBody>
      </p:sp>
      <p:sp>
        <p:nvSpPr>
          <p:cNvPr id="23" name="Text 17"/>
          <p:cNvSpPr txBox="1"/>
          <p:nvPr/>
        </p:nvSpPr>
        <p:spPr>
          <a:xfrm>
            <a:off x="6644488" y="5394960"/>
            <a:ext cx="4678528" cy="1005840"/>
          </a:xfrm>
          <a:prstGeom prst="rect">
            <a:avLst/>
          </a:prstGeom>
          <a:noFill/>
          <a:ln/>
        </p:spPr>
        <p:txBody>
          <a:bodyPr wrap="square" lIns="0" tIns="0" rIns="0" bIns="0" rtlCol="0" anchor="ctr"/>
          <a:lstStyle/>
          <a:p>
            <a:pPr indent="0" marL="0">
              <a:lnSpc>
                <a:spcPct val="120000"/>
              </a:lnSpc>
              <a:buNone/>
            </a:pPr>
            <a:r>
              <a:rPr lang="en-US" sz="1250" dirty="0">
                <a:solidFill>
                  <a:srgbClr val="6B7280"/>
                </a:solidFill>
                <a:latin typeface="Calibri" pitchFamily="34" charset="0"/>
                <a:ea typeface="Calibri" pitchFamily="34" charset="-122"/>
                <a:cs typeface="Calibri" pitchFamily="34" charset="-120"/>
              </a:rPr>
              <a:t>Transformers unlocked today's LLMs — GPT and ChatGPT brought AI directly into daily life.</a:t>
            </a:r>
            <a:endParaRPr lang="en-US" sz="1250" dirty="0"/>
          </a:p>
        </p:txBody>
      </p:sp>
      <p:sp>
        <p:nvSpPr>
          <p:cNvPr id="24" name="Text 18"/>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25" name="Text 19"/>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F3B"/>
        </a:solidFill>
      </p:bgPr>
    </p:bg>
    <p:spTree>
      <p:nvGrpSpPr>
        <p:cNvPr id="1" name=""/>
        <p:cNvGrpSpPr/>
        <p:nvPr/>
      </p:nvGrpSpPr>
      <p:grpSpPr>
        <a:xfrm>
          <a:off x="0" y="0"/>
          <a:ext cx="0" cy="0"/>
          <a:chOff x="0" y="0"/>
          <a:chExt cx="0" cy="0"/>
        </a:xfrm>
      </p:grpSpPr>
      <p:sp>
        <p:nvSpPr>
          <p:cNvPr id="2" name="Shape 0"/>
          <p:cNvSpPr/>
          <p:nvPr/>
        </p:nvSpPr>
        <p:spPr>
          <a:xfrm>
            <a:off x="-1828800" y="-2011680"/>
            <a:ext cx="5029200" cy="5029200"/>
          </a:xfrm>
          <a:prstGeom prst="ellipse">
            <a:avLst/>
          </a:prstGeom>
          <a:solidFill>
            <a:srgbClr val="262C52"/>
          </a:solidFill>
          <a:ln/>
        </p:spPr>
      </p:sp>
      <p:sp>
        <p:nvSpPr>
          <p:cNvPr id="3" name="Shape 1"/>
          <p:cNvSpPr/>
          <p:nvPr/>
        </p:nvSpPr>
        <p:spPr>
          <a:xfrm>
            <a:off x="9875520" y="3840480"/>
            <a:ext cx="3840480" cy="3840480"/>
          </a:xfrm>
          <a:prstGeom prst="ellipse">
            <a:avLst/>
          </a:prstGeom>
          <a:solidFill>
            <a:srgbClr val="262C52"/>
          </a:solidFill>
          <a:ln/>
        </p:spPr>
      </p:sp>
      <p:sp>
        <p:nvSpPr>
          <p:cNvPr id="4" name="Shape 2"/>
          <p:cNvSpPr/>
          <p:nvPr/>
        </p:nvSpPr>
        <p:spPr>
          <a:xfrm>
            <a:off x="5592928" y="1737360"/>
            <a:ext cx="1005840" cy="1005840"/>
          </a:xfrm>
          <a:prstGeom prst="ellipse">
            <a:avLst/>
          </a:prstGeom>
          <a:solidFill>
            <a:srgbClr val="00B4C6"/>
          </a:solidFill>
          <a:ln/>
        </p:spPr>
      </p:sp>
      <p:pic>
        <p:nvPicPr>
          <p:cNvPr id="5" name="Image 0" descr="/home/claude/ai-git-deck/icons/code.png">    </p:cNvPr>
          <p:cNvPicPr>
            <a:picLocks noChangeAspect="1"/>
          </p:cNvPicPr>
          <p:nvPr/>
        </p:nvPicPr>
        <p:blipFill>
          <a:blip r:embed="rId1"/>
          <a:stretch>
            <a:fillRect/>
          </a:stretch>
        </p:blipFill>
        <p:spPr>
          <a:xfrm>
            <a:off x="5723687" y="1868119"/>
            <a:ext cx="744322" cy="744322"/>
          </a:xfrm>
          <a:prstGeom prst="rect">
            <a:avLst/>
          </a:prstGeom>
        </p:spPr>
      </p:pic>
      <p:sp>
        <p:nvSpPr>
          <p:cNvPr id="6" name="Text 3"/>
          <p:cNvSpPr txBox="1"/>
          <p:nvPr/>
        </p:nvSpPr>
        <p:spPr>
          <a:xfrm>
            <a:off x="0" y="2926080"/>
            <a:ext cx="12191695" cy="365760"/>
          </a:xfrm>
          <a:prstGeom prst="rect">
            <a:avLst/>
          </a:prstGeom>
          <a:noFill/>
          <a:ln/>
        </p:spPr>
        <p:txBody>
          <a:bodyPr wrap="square" lIns="0" tIns="0" rIns="0" bIns="0" rtlCol="0" anchor="ctr"/>
          <a:lstStyle/>
          <a:p>
            <a:pPr algn="ctr" indent="0" marL="0">
              <a:buNone/>
            </a:pPr>
            <a:r>
              <a:rPr lang="en-US" sz="1400" b="1" spc="300" kern="0" dirty="0">
                <a:solidFill>
                  <a:srgbClr val="00B4C6"/>
                </a:solidFill>
                <a:latin typeface="Calibri" pitchFamily="34" charset="0"/>
                <a:ea typeface="Calibri" pitchFamily="34" charset="-122"/>
                <a:cs typeface="Calibri" pitchFamily="34" charset="-120"/>
              </a:rPr>
              <a:t>PHASE 2</a:t>
            </a:r>
            <a:endParaRPr lang="en-US" sz="1400" dirty="0"/>
          </a:p>
        </p:txBody>
      </p:sp>
      <p:sp>
        <p:nvSpPr>
          <p:cNvPr id="7" name="Text 4"/>
          <p:cNvSpPr txBox="1"/>
          <p:nvPr/>
        </p:nvSpPr>
        <p:spPr>
          <a:xfrm>
            <a:off x="731520" y="3291840"/>
            <a:ext cx="10728655" cy="100584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Setting Up Your Developer Environment</a:t>
            </a:r>
            <a:endParaRPr lang="en-US" sz="3400" dirty="0"/>
          </a:p>
        </p:txBody>
      </p:sp>
      <p:sp>
        <p:nvSpPr>
          <p:cNvPr id="8" name="Text 5"/>
          <p:cNvSpPr txBox="1"/>
          <p:nvPr/>
        </p:nvSpPr>
        <p:spPr>
          <a:xfrm>
            <a:off x="731520" y="4343400"/>
            <a:ext cx="10728655" cy="457200"/>
          </a:xfrm>
          <a:prstGeom prst="rect">
            <a:avLst/>
          </a:prstGeom>
          <a:noFill/>
          <a:ln/>
        </p:spPr>
        <p:txBody>
          <a:bodyPr wrap="square" lIns="0" tIns="0" rIns="0" bIns="0" rtlCol="0" anchor="ctr"/>
          <a:lstStyle/>
          <a:p>
            <a:pPr algn="ctr" indent="0" marL="0">
              <a:buNone/>
            </a:pPr>
            <a:r>
              <a:rPr lang="en-US" sz="1600" dirty="0">
                <a:solidFill>
                  <a:srgbClr val="B7BBD6"/>
                </a:solidFill>
                <a:latin typeface="Calibri" pitchFamily="34" charset="0"/>
                <a:ea typeface="Calibri" pitchFamily="34" charset="-122"/>
                <a:cs typeface="Calibri" pitchFamily="34" charset="-120"/>
              </a:rPr>
              <a:t>Python  ·  Visual Studio Code  ·  Git  ·  GitHub</a:t>
            </a:r>
            <a:endParaRPr lang="en-US" sz="1600" dirty="0"/>
          </a:p>
        </p:txBody>
      </p:sp>
      <p:sp>
        <p:nvSpPr>
          <p:cNvPr id="9" name="Text 6"/>
          <p:cNvSpPr txBox="1"/>
          <p:nvPr/>
        </p:nvSpPr>
        <p:spPr>
          <a:xfrm>
            <a:off x="548640" y="6473952"/>
            <a:ext cx="5486400" cy="274320"/>
          </a:xfrm>
          <a:prstGeom prst="rect">
            <a:avLst/>
          </a:prstGeom>
          <a:noFill/>
          <a:ln/>
        </p:spPr>
        <p:txBody>
          <a:bodyPr wrap="square" lIns="0" tIns="0" rIns="0" bIns="0" rtlCol="0" anchor="ctr"/>
          <a:lstStyle/>
          <a:p>
            <a:pPr algn="l" indent="0" marL="0">
              <a:buNone/>
            </a:pPr>
            <a:endParaRPr lang="en-US" sz="1000" dirty="0"/>
          </a:p>
        </p:txBody>
      </p:sp>
      <p:sp>
        <p:nvSpPr>
          <p:cNvPr id="10" name="Text 7"/>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00B4C6"/>
                </a:solidFill>
                <a:latin typeface="Calibri" pitchFamily="34" charset="0"/>
                <a:ea typeface="Calibri" pitchFamily="34" charset="-122"/>
                <a:cs typeface="Calibri" pitchFamily="34" charset="-120"/>
              </a:rPr>
              <a:t>PHASE 2 · OVERVIEW</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Four Tools, One Workflow</a:t>
            </a:r>
            <a:endParaRPr lang="en-US" sz="3400" dirty="0"/>
          </a:p>
        </p:txBody>
      </p:sp>
      <p:sp>
        <p:nvSpPr>
          <p:cNvPr id="4" name="Shape 2"/>
          <p:cNvSpPr/>
          <p:nvPr/>
        </p:nvSpPr>
        <p:spPr>
          <a:xfrm>
            <a:off x="548640" y="1920240"/>
            <a:ext cx="2430704" cy="3291840"/>
          </a:xfrm>
          <a:prstGeom prst="roundRect">
            <a:avLst>
              <a:gd name="adj" fmla="val 3762"/>
            </a:avLst>
          </a:prstGeom>
          <a:solidFill>
            <a:srgbClr val="FFFFFF"/>
          </a:solidFill>
          <a:ln/>
          <a:effectLst>
            <a:outerShdw sx="100000" sy="100000" kx="0" ky="0" algn="bl" rotWithShape="0" blurRad="101600" dist="25400" dir="5400000">
              <a:srgbClr val="1B1F3B">
                <a:alpha val="10000"/>
              </a:srgbClr>
            </a:outerShdw>
          </a:effectLst>
        </p:spPr>
      </p:sp>
      <p:sp>
        <p:nvSpPr>
          <p:cNvPr id="5" name="Shape 3"/>
          <p:cNvSpPr/>
          <p:nvPr/>
        </p:nvSpPr>
        <p:spPr>
          <a:xfrm>
            <a:off x="1352512" y="2377440"/>
            <a:ext cx="822960" cy="822960"/>
          </a:xfrm>
          <a:prstGeom prst="ellipse">
            <a:avLst/>
          </a:prstGeom>
          <a:solidFill>
            <a:srgbClr val="00B4C6"/>
          </a:solidFill>
          <a:ln/>
        </p:spPr>
      </p:sp>
      <p:pic>
        <p:nvPicPr>
          <p:cNvPr id="6" name="Image 0" descr="/home/claude/ai-git-deck/icons/python.png">    </p:cNvPr>
          <p:cNvPicPr>
            <a:picLocks noChangeAspect="1"/>
          </p:cNvPicPr>
          <p:nvPr/>
        </p:nvPicPr>
        <p:blipFill>
          <a:blip r:embed="rId1"/>
          <a:stretch>
            <a:fillRect/>
          </a:stretch>
        </p:blipFill>
        <p:spPr>
          <a:xfrm>
            <a:off x="1459497" y="2484425"/>
            <a:ext cx="608990" cy="608990"/>
          </a:xfrm>
          <a:prstGeom prst="rect">
            <a:avLst/>
          </a:prstGeom>
        </p:spPr>
      </p:pic>
      <p:sp>
        <p:nvSpPr>
          <p:cNvPr id="7" name="Text 4"/>
          <p:cNvSpPr txBox="1"/>
          <p:nvPr/>
        </p:nvSpPr>
        <p:spPr>
          <a:xfrm>
            <a:off x="685800" y="3429000"/>
            <a:ext cx="2156384" cy="411480"/>
          </a:xfrm>
          <a:prstGeom prst="rect">
            <a:avLst/>
          </a:prstGeom>
          <a:noFill/>
          <a:ln/>
        </p:spPr>
        <p:txBody>
          <a:bodyPr wrap="square" lIns="0" tIns="0" rIns="0" bIns="0" rtlCol="0" anchor="ctr"/>
          <a:lstStyle/>
          <a:p>
            <a:pPr algn="ctr" indent="0" marL="0">
              <a:buNone/>
            </a:pPr>
            <a:r>
              <a:rPr lang="en-US" sz="1700" b="1" dirty="0">
                <a:solidFill>
                  <a:srgbClr val="22263F"/>
                </a:solidFill>
                <a:latin typeface="Cambria" pitchFamily="34" charset="0"/>
                <a:ea typeface="Cambria" pitchFamily="34" charset="-122"/>
                <a:cs typeface="Cambria" pitchFamily="34" charset="-120"/>
              </a:rPr>
              <a:t>Python</a:t>
            </a:r>
            <a:endParaRPr lang="en-US" sz="1700" dirty="0"/>
          </a:p>
        </p:txBody>
      </p:sp>
      <p:sp>
        <p:nvSpPr>
          <p:cNvPr id="8" name="Text 5"/>
          <p:cNvSpPr txBox="1"/>
          <p:nvPr/>
        </p:nvSpPr>
        <p:spPr>
          <a:xfrm>
            <a:off x="777240" y="3886200"/>
            <a:ext cx="1973504" cy="1188720"/>
          </a:xfrm>
          <a:prstGeom prst="rect">
            <a:avLst/>
          </a:prstGeom>
          <a:noFill/>
          <a:ln/>
        </p:spPr>
        <p:txBody>
          <a:bodyPr wrap="square" lIns="0" tIns="0" rIns="0" bIns="0" rtlCol="0" anchor="ctr"/>
          <a:lstStyle/>
          <a:p>
            <a:pPr algn="ctr" indent="0" marL="0">
              <a:lnSpc>
                <a:spcPct val="120000"/>
              </a:lnSpc>
              <a:buNone/>
            </a:pPr>
            <a:r>
              <a:rPr lang="en-US" sz="1200" dirty="0">
                <a:solidFill>
                  <a:srgbClr val="6B7280"/>
                </a:solidFill>
                <a:latin typeface="Calibri" pitchFamily="34" charset="0"/>
                <a:ea typeface="Calibri" pitchFamily="34" charset="-122"/>
                <a:cs typeface="Calibri" pitchFamily="34" charset="-120"/>
              </a:rPr>
              <a:t>The programming language we'll write and run code in.</a:t>
            </a:r>
            <a:endParaRPr lang="en-US" sz="1200" dirty="0"/>
          </a:p>
        </p:txBody>
      </p:sp>
      <p:sp>
        <p:nvSpPr>
          <p:cNvPr id="9" name="Shape 6"/>
          <p:cNvSpPr/>
          <p:nvPr/>
        </p:nvSpPr>
        <p:spPr>
          <a:xfrm>
            <a:off x="3436544" y="1920240"/>
            <a:ext cx="2430704" cy="3291840"/>
          </a:xfrm>
          <a:prstGeom prst="roundRect">
            <a:avLst>
              <a:gd name="adj" fmla="val 3762"/>
            </a:avLst>
          </a:prstGeom>
          <a:solidFill>
            <a:srgbClr val="FFFFFF"/>
          </a:solidFill>
          <a:ln/>
          <a:effectLst>
            <a:outerShdw sx="100000" sy="100000" kx="0" ky="0" algn="bl" rotWithShape="0" blurRad="101600" dist="25400" dir="5400000">
              <a:srgbClr val="1B1F3B">
                <a:alpha val="10000"/>
              </a:srgbClr>
            </a:outerShdw>
          </a:effectLst>
        </p:spPr>
      </p:sp>
      <p:sp>
        <p:nvSpPr>
          <p:cNvPr id="10" name="Shape 7"/>
          <p:cNvSpPr/>
          <p:nvPr/>
        </p:nvSpPr>
        <p:spPr>
          <a:xfrm>
            <a:off x="4240416" y="2377440"/>
            <a:ext cx="822960" cy="822960"/>
          </a:xfrm>
          <a:prstGeom prst="ellipse">
            <a:avLst/>
          </a:prstGeom>
          <a:solidFill>
            <a:srgbClr val="00B4C6"/>
          </a:solidFill>
          <a:ln/>
        </p:spPr>
      </p:sp>
      <p:pic>
        <p:nvPicPr>
          <p:cNvPr id="11" name="Image 1" descr="/home/claude/ai-git-deck/icons/vscode.png">    </p:cNvPr>
          <p:cNvPicPr>
            <a:picLocks noChangeAspect="1"/>
          </p:cNvPicPr>
          <p:nvPr/>
        </p:nvPicPr>
        <p:blipFill>
          <a:blip r:embed="rId2"/>
          <a:stretch>
            <a:fillRect/>
          </a:stretch>
        </p:blipFill>
        <p:spPr>
          <a:xfrm>
            <a:off x="4347401" y="2484425"/>
            <a:ext cx="608990" cy="608990"/>
          </a:xfrm>
          <a:prstGeom prst="rect">
            <a:avLst/>
          </a:prstGeom>
        </p:spPr>
      </p:pic>
      <p:sp>
        <p:nvSpPr>
          <p:cNvPr id="12" name="Text 8"/>
          <p:cNvSpPr txBox="1"/>
          <p:nvPr/>
        </p:nvSpPr>
        <p:spPr>
          <a:xfrm>
            <a:off x="3573704" y="3429000"/>
            <a:ext cx="2156384" cy="411480"/>
          </a:xfrm>
          <a:prstGeom prst="rect">
            <a:avLst/>
          </a:prstGeom>
          <a:noFill/>
          <a:ln/>
        </p:spPr>
        <p:txBody>
          <a:bodyPr wrap="square" lIns="0" tIns="0" rIns="0" bIns="0" rtlCol="0" anchor="ctr"/>
          <a:lstStyle/>
          <a:p>
            <a:pPr algn="ctr" indent="0" marL="0">
              <a:buNone/>
            </a:pPr>
            <a:r>
              <a:rPr lang="en-US" sz="1700" b="1" dirty="0">
                <a:solidFill>
                  <a:srgbClr val="22263F"/>
                </a:solidFill>
                <a:latin typeface="Cambria" pitchFamily="34" charset="0"/>
                <a:ea typeface="Cambria" pitchFamily="34" charset="-122"/>
                <a:cs typeface="Cambria" pitchFamily="34" charset="-120"/>
              </a:rPr>
              <a:t>VS Code</a:t>
            </a:r>
            <a:endParaRPr lang="en-US" sz="1700" dirty="0"/>
          </a:p>
        </p:txBody>
      </p:sp>
      <p:sp>
        <p:nvSpPr>
          <p:cNvPr id="13" name="Text 9"/>
          <p:cNvSpPr txBox="1"/>
          <p:nvPr/>
        </p:nvSpPr>
        <p:spPr>
          <a:xfrm>
            <a:off x="3665144" y="3886200"/>
            <a:ext cx="1973504" cy="1188720"/>
          </a:xfrm>
          <a:prstGeom prst="rect">
            <a:avLst/>
          </a:prstGeom>
          <a:noFill/>
          <a:ln/>
        </p:spPr>
        <p:txBody>
          <a:bodyPr wrap="square" lIns="0" tIns="0" rIns="0" bIns="0" rtlCol="0" anchor="ctr"/>
          <a:lstStyle/>
          <a:p>
            <a:pPr algn="ctr" indent="0" marL="0">
              <a:lnSpc>
                <a:spcPct val="120000"/>
              </a:lnSpc>
              <a:buNone/>
            </a:pPr>
            <a:r>
              <a:rPr lang="en-US" sz="1200" dirty="0">
                <a:solidFill>
                  <a:srgbClr val="6B7280"/>
                </a:solidFill>
                <a:latin typeface="Calibri" pitchFamily="34" charset="0"/>
                <a:ea typeface="Calibri" pitchFamily="34" charset="-122"/>
                <a:cs typeface="Calibri" pitchFamily="34" charset="-120"/>
              </a:rPr>
              <a:t>The editor where we write, run, and debug that code.</a:t>
            </a:r>
            <a:endParaRPr lang="en-US" sz="1200" dirty="0"/>
          </a:p>
        </p:txBody>
      </p:sp>
      <p:sp>
        <p:nvSpPr>
          <p:cNvPr id="14" name="Shape 10"/>
          <p:cNvSpPr/>
          <p:nvPr/>
        </p:nvSpPr>
        <p:spPr>
          <a:xfrm>
            <a:off x="6324448" y="1920240"/>
            <a:ext cx="2430704" cy="3291840"/>
          </a:xfrm>
          <a:prstGeom prst="roundRect">
            <a:avLst>
              <a:gd name="adj" fmla="val 3762"/>
            </a:avLst>
          </a:prstGeom>
          <a:solidFill>
            <a:srgbClr val="FFFFFF"/>
          </a:solidFill>
          <a:ln/>
          <a:effectLst>
            <a:outerShdw sx="100000" sy="100000" kx="0" ky="0" algn="bl" rotWithShape="0" blurRad="101600" dist="25400" dir="5400000">
              <a:srgbClr val="1B1F3B">
                <a:alpha val="10000"/>
              </a:srgbClr>
            </a:outerShdw>
          </a:effectLst>
        </p:spPr>
      </p:sp>
      <p:sp>
        <p:nvSpPr>
          <p:cNvPr id="15" name="Shape 11"/>
          <p:cNvSpPr/>
          <p:nvPr/>
        </p:nvSpPr>
        <p:spPr>
          <a:xfrm>
            <a:off x="7128320" y="2377440"/>
            <a:ext cx="822960" cy="822960"/>
          </a:xfrm>
          <a:prstGeom prst="ellipse">
            <a:avLst/>
          </a:prstGeom>
          <a:solidFill>
            <a:srgbClr val="00B4C6"/>
          </a:solidFill>
          <a:ln/>
        </p:spPr>
      </p:sp>
      <p:pic>
        <p:nvPicPr>
          <p:cNvPr id="16" name="Image 2" descr="/home/claude/ai-git-deck/icons/git.png">    </p:cNvPr>
          <p:cNvPicPr>
            <a:picLocks noChangeAspect="1"/>
          </p:cNvPicPr>
          <p:nvPr/>
        </p:nvPicPr>
        <p:blipFill>
          <a:blip r:embed="rId3"/>
          <a:stretch>
            <a:fillRect/>
          </a:stretch>
        </p:blipFill>
        <p:spPr>
          <a:xfrm>
            <a:off x="7235304" y="2484425"/>
            <a:ext cx="608990" cy="608990"/>
          </a:xfrm>
          <a:prstGeom prst="rect">
            <a:avLst/>
          </a:prstGeom>
        </p:spPr>
      </p:pic>
      <p:sp>
        <p:nvSpPr>
          <p:cNvPr id="17" name="Text 12"/>
          <p:cNvSpPr txBox="1"/>
          <p:nvPr/>
        </p:nvSpPr>
        <p:spPr>
          <a:xfrm>
            <a:off x="6461608" y="3429000"/>
            <a:ext cx="2156384" cy="411480"/>
          </a:xfrm>
          <a:prstGeom prst="rect">
            <a:avLst/>
          </a:prstGeom>
          <a:noFill/>
          <a:ln/>
        </p:spPr>
        <p:txBody>
          <a:bodyPr wrap="square" lIns="0" tIns="0" rIns="0" bIns="0" rtlCol="0" anchor="ctr"/>
          <a:lstStyle/>
          <a:p>
            <a:pPr algn="ctr" indent="0" marL="0">
              <a:buNone/>
            </a:pPr>
            <a:r>
              <a:rPr lang="en-US" sz="1700" b="1" dirty="0">
                <a:solidFill>
                  <a:srgbClr val="22263F"/>
                </a:solidFill>
                <a:latin typeface="Cambria" pitchFamily="34" charset="0"/>
                <a:ea typeface="Cambria" pitchFamily="34" charset="-122"/>
                <a:cs typeface="Cambria" pitchFamily="34" charset="-120"/>
              </a:rPr>
              <a:t>Git</a:t>
            </a:r>
            <a:endParaRPr lang="en-US" sz="1700" dirty="0"/>
          </a:p>
        </p:txBody>
      </p:sp>
      <p:sp>
        <p:nvSpPr>
          <p:cNvPr id="18" name="Text 13"/>
          <p:cNvSpPr txBox="1"/>
          <p:nvPr/>
        </p:nvSpPr>
        <p:spPr>
          <a:xfrm>
            <a:off x="6553048" y="3886200"/>
            <a:ext cx="1973504" cy="1188720"/>
          </a:xfrm>
          <a:prstGeom prst="rect">
            <a:avLst/>
          </a:prstGeom>
          <a:noFill/>
          <a:ln/>
        </p:spPr>
        <p:txBody>
          <a:bodyPr wrap="square" lIns="0" tIns="0" rIns="0" bIns="0" rtlCol="0" anchor="ctr"/>
          <a:lstStyle/>
          <a:p>
            <a:pPr algn="ctr" indent="0" marL="0">
              <a:lnSpc>
                <a:spcPct val="120000"/>
              </a:lnSpc>
              <a:buNone/>
            </a:pPr>
            <a:r>
              <a:rPr lang="en-US" sz="1200" dirty="0">
                <a:solidFill>
                  <a:srgbClr val="6B7280"/>
                </a:solidFill>
                <a:latin typeface="Calibri" pitchFamily="34" charset="0"/>
                <a:ea typeface="Calibri" pitchFamily="34" charset="-122"/>
                <a:cs typeface="Calibri" pitchFamily="34" charset="-120"/>
              </a:rPr>
              <a:t>Tracks every change to our code, locally, version by version.</a:t>
            </a:r>
            <a:endParaRPr lang="en-US" sz="1200" dirty="0"/>
          </a:p>
        </p:txBody>
      </p:sp>
      <p:sp>
        <p:nvSpPr>
          <p:cNvPr id="19" name="Shape 14"/>
          <p:cNvSpPr/>
          <p:nvPr/>
        </p:nvSpPr>
        <p:spPr>
          <a:xfrm>
            <a:off x="9212351" y="1920240"/>
            <a:ext cx="2430704" cy="3291840"/>
          </a:xfrm>
          <a:prstGeom prst="roundRect">
            <a:avLst>
              <a:gd name="adj" fmla="val 3762"/>
            </a:avLst>
          </a:prstGeom>
          <a:solidFill>
            <a:srgbClr val="FFFFFF"/>
          </a:solidFill>
          <a:ln/>
          <a:effectLst>
            <a:outerShdw sx="100000" sy="100000" kx="0" ky="0" algn="bl" rotWithShape="0" blurRad="101600" dist="25400" dir="5400000">
              <a:srgbClr val="1B1F3B">
                <a:alpha val="10000"/>
              </a:srgbClr>
            </a:outerShdw>
          </a:effectLst>
        </p:spPr>
      </p:sp>
      <p:sp>
        <p:nvSpPr>
          <p:cNvPr id="20" name="Shape 15"/>
          <p:cNvSpPr/>
          <p:nvPr/>
        </p:nvSpPr>
        <p:spPr>
          <a:xfrm>
            <a:off x="10016223" y="2377440"/>
            <a:ext cx="822960" cy="822960"/>
          </a:xfrm>
          <a:prstGeom prst="ellipse">
            <a:avLst/>
          </a:prstGeom>
          <a:solidFill>
            <a:srgbClr val="00B4C6"/>
          </a:solidFill>
          <a:ln/>
        </p:spPr>
      </p:sp>
      <p:pic>
        <p:nvPicPr>
          <p:cNvPr id="21" name="Image 3" descr="/home/claude/ai-git-deck/icons/github.png">    </p:cNvPr>
          <p:cNvPicPr>
            <a:picLocks noChangeAspect="1"/>
          </p:cNvPicPr>
          <p:nvPr/>
        </p:nvPicPr>
        <p:blipFill>
          <a:blip r:embed="rId4"/>
          <a:stretch>
            <a:fillRect/>
          </a:stretch>
        </p:blipFill>
        <p:spPr>
          <a:xfrm>
            <a:off x="10123208" y="2484425"/>
            <a:ext cx="608990" cy="608990"/>
          </a:xfrm>
          <a:prstGeom prst="rect">
            <a:avLst/>
          </a:prstGeom>
        </p:spPr>
      </p:pic>
      <p:sp>
        <p:nvSpPr>
          <p:cNvPr id="22" name="Text 16"/>
          <p:cNvSpPr txBox="1"/>
          <p:nvPr/>
        </p:nvSpPr>
        <p:spPr>
          <a:xfrm>
            <a:off x="9349511" y="3429000"/>
            <a:ext cx="2156384" cy="411480"/>
          </a:xfrm>
          <a:prstGeom prst="rect">
            <a:avLst/>
          </a:prstGeom>
          <a:noFill/>
          <a:ln/>
        </p:spPr>
        <p:txBody>
          <a:bodyPr wrap="square" lIns="0" tIns="0" rIns="0" bIns="0" rtlCol="0" anchor="ctr"/>
          <a:lstStyle/>
          <a:p>
            <a:pPr algn="ctr" indent="0" marL="0">
              <a:buNone/>
            </a:pPr>
            <a:r>
              <a:rPr lang="en-US" sz="1700" b="1" dirty="0">
                <a:solidFill>
                  <a:srgbClr val="22263F"/>
                </a:solidFill>
                <a:latin typeface="Cambria" pitchFamily="34" charset="0"/>
                <a:ea typeface="Cambria" pitchFamily="34" charset="-122"/>
                <a:cs typeface="Cambria" pitchFamily="34" charset="-120"/>
              </a:rPr>
              <a:t>GitHub</a:t>
            </a:r>
            <a:endParaRPr lang="en-US" sz="1700" dirty="0"/>
          </a:p>
        </p:txBody>
      </p:sp>
      <p:sp>
        <p:nvSpPr>
          <p:cNvPr id="23" name="Text 17"/>
          <p:cNvSpPr txBox="1"/>
          <p:nvPr/>
        </p:nvSpPr>
        <p:spPr>
          <a:xfrm>
            <a:off x="9440951" y="3886200"/>
            <a:ext cx="1973504" cy="1188720"/>
          </a:xfrm>
          <a:prstGeom prst="rect">
            <a:avLst/>
          </a:prstGeom>
          <a:noFill/>
          <a:ln/>
        </p:spPr>
        <p:txBody>
          <a:bodyPr wrap="square" lIns="0" tIns="0" rIns="0" bIns="0" rtlCol="0" anchor="ctr"/>
          <a:lstStyle/>
          <a:p>
            <a:pPr algn="ctr" indent="0" marL="0">
              <a:lnSpc>
                <a:spcPct val="120000"/>
              </a:lnSpc>
              <a:buNone/>
            </a:pPr>
            <a:r>
              <a:rPr lang="en-US" sz="1200" dirty="0">
                <a:solidFill>
                  <a:srgbClr val="6B7280"/>
                </a:solidFill>
                <a:latin typeface="Calibri" pitchFamily="34" charset="0"/>
                <a:ea typeface="Calibri" pitchFamily="34" charset="-122"/>
                <a:cs typeface="Calibri" pitchFamily="34" charset="-120"/>
              </a:rPr>
              <a:t>Hosts our Git repositories online for backup and collaboration.</a:t>
            </a:r>
            <a:endParaRPr lang="en-US" sz="1200" dirty="0"/>
          </a:p>
        </p:txBody>
      </p:sp>
      <p:sp>
        <p:nvSpPr>
          <p:cNvPr id="24" name="Text 18"/>
          <p:cNvSpPr txBox="1"/>
          <p:nvPr/>
        </p:nvSpPr>
        <p:spPr>
          <a:xfrm>
            <a:off x="548640" y="5577840"/>
            <a:ext cx="11094415" cy="457200"/>
          </a:xfrm>
          <a:prstGeom prst="rect">
            <a:avLst/>
          </a:prstGeom>
          <a:noFill/>
          <a:ln/>
        </p:spPr>
        <p:txBody>
          <a:bodyPr wrap="square" lIns="0" tIns="0" rIns="0" bIns="0" rtlCol="0" anchor="ctr"/>
          <a:lstStyle/>
          <a:p>
            <a:pPr algn="ctr" indent="0" marL="0">
              <a:buNone/>
            </a:pPr>
            <a:r>
              <a:rPr lang="en-US" sz="1350" i="1" dirty="0">
                <a:solidFill>
                  <a:srgbClr val="6B7280"/>
                </a:solidFill>
                <a:latin typeface="Calibri" pitchFamily="34" charset="0"/>
                <a:ea typeface="Calibri" pitchFamily="34" charset="-122"/>
                <a:cs typeface="Calibri" pitchFamily="34" charset="-120"/>
              </a:rPr>
              <a:t>Together they take you from writing a line of code to sharing it with the world.</a:t>
            </a:r>
            <a:endParaRPr lang="en-US" sz="1350" dirty="0"/>
          </a:p>
        </p:txBody>
      </p:sp>
      <p:sp>
        <p:nvSpPr>
          <p:cNvPr id="25" name="Text 19"/>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26" name="Text 20"/>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00B4C6"/>
                </a:solidFill>
                <a:latin typeface="Calibri" pitchFamily="34" charset="0"/>
                <a:ea typeface="Calibri" pitchFamily="34" charset="-122"/>
                <a:cs typeface="Calibri" pitchFamily="34" charset="-120"/>
              </a:rPr>
              <a:t>PHASE 2 · SETUP</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Installing Python</a:t>
            </a:r>
            <a:endParaRPr lang="en-US" sz="3400" dirty="0"/>
          </a:p>
        </p:txBody>
      </p:sp>
      <p:sp>
        <p:nvSpPr>
          <p:cNvPr id="4" name="Shape 2"/>
          <p:cNvSpPr/>
          <p:nvPr/>
        </p:nvSpPr>
        <p:spPr>
          <a:xfrm>
            <a:off x="10362895" y="594360"/>
            <a:ext cx="1051560" cy="1051560"/>
          </a:xfrm>
          <a:prstGeom prst="ellipse">
            <a:avLst/>
          </a:prstGeom>
          <a:solidFill>
            <a:srgbClr val="00B4C6"/>
          </a:solidFill>
          <a:ln/>
        </p:spPr>
      </p:sp>
      <p:pic>
        <p:nvPicPr>
          <p:cNvPr id="5" name="Image 0" descr="/home/claude/ai-git-deck/icons/python.png">    </p:cNvPr>
          <p:cNvPicPr>
            <a:picLocks noChangeAspect="1"/>
          </p:cNvPicPr>
          <p:nvPr/>
        </p:nvPicPr>
        <p:blipFill>
          <a:blip r:embed="rId1"/>
          <a:stretch>
            <a:fillRect/>
          </a:stretch>
        </p:blipFill>
        <p:spPr>
          <a:xfrm>
            <a:off x="10499598" y="731063"/>
            <a:ext cx="778154" cy="778154"/>
          </a:xfrm>
          <a:prstGeom prst="rect">
            <a:avLst/>
          </a:prstGeom>
        </p:spPr>
      </p:pic>
      <p:sp>
        <p:nvSpPr>
          <p:cNvPr id="6" name="Text 3"/>
          <p:cNvSpPr txBox="1"/>
          <p:nvPr/>
        </p:nvSpPr>
        <p:spPr>
          <a:xfrm>
            <a:off x="548640" y="1600200"/>
            <a:ext cx="9265615" cy="594360"/>
          </a:xfrm>
          <a:prstGeom prst="rect">
            <a:avLst/>
          </a:prstGeom>
          <a:noFill/>
          <a:ln/>
        </p:spPr>
        <p:txBody>
          <a:bodyPr wrap="square" lIns="0" tIns="0" rIns="0" bIns="0" rtlCol="0" anchor="ctr"/>
          <a:lstStyle/>
          <a:p>
            <a:pPr indent="0" marL="0">
              <a:lnSpc>
                <a:spcPct val="120000"/>
              </a:lnSpc>
              <a:buNone/>
            </a:pPr>
            <a:r>
              <a:rPr lang="en-US" sz="1400" dirty="0">
                <a:solidFill>
                  <a:srgbClr val="6B7280"/>
                </a:solidFill>
                <a:latin typeface="Calibri" pitchFamily="34" charset="0"/>
                <a:ea typeface="Calibri" pitchFamily="34" charset="-122"/>
                <a:cs typeface="Calibri" pitchFamily="34" charset="-120"/>
              </a:rPr>
              <a:t>Python is the interpreter that runs the code we write — it needs to be installed before anything else.</a:t>
            </a:r>
            <a:endParaRPr lang="en-US" sz="1400" dirty="0"/>
          </a:p>
        </p:txBody>
      </p:sp>
      <p:sp>
        <p:nvSpPr>
          <p:cNvPr id="7" name="Shape 4"/>
          <p:cNvSpPr/>
          <p:nvPr/>
        </p:nvSpPr>
        <p:spPr>
          <a:xfrm>
            <a:off x="548640" y="2331720"/>
            <a:ext cx="502920" cy="502920"/>
          </a:xfrm>
          <a:prstGeom prst="roundRect">
            <a:avLst>
              <a:gd name="adj" fmla="val 14545"/>
            </a:avLst>
          </a:prstGeom>
          <a:solidFill>
            <a:srgbClr val="00B4C6"/>
          </a:solidFill>
          <a:ln/>
        </p:spPr>
      </p:sp>
      <p:sp>
        <p:nvSpPr>
          <p:cNvPr id="8" name="Text 5"/>
          <p:cNvSpPr txBox="1"/>
          <p:nvPr/>
        </p:nvSpPr>
        <p:spPr>
          <a:xfrm>
            <a:off x="548640"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6"/>
          <p:cNvSpPr txBox="1"/>
          <p:nvPr/>
        </p:nvSpPr>
        <p:spPr>
          <a:xfrm>
            <a:off x="1234440" y="2304288"/>
            <a:ext cx="10180015" cy="365760"/>
          </a:xfrm>
          <a:prstGeom prst="rect">
            <a:avLst/>
          </a:prstGeom>
          <a:noFill/>
          <a:ln/>
        </p:spPr>
        <p:txBody>
          <a:bodyPr wrap="square" lIns="0" tIns="0" rIns="0" bIns="0" rtlCol="0" anchor="ctr"/>
          <a:lstStyle/>
          <a:p>
            <a:pPr indent="0" marL="0">
              <a:buNone/>
            </a:pPr>
            <a:r>
              <a:rPr lang="en-US" sz="1500" b="1" dirty="0">
                <a:solidFill>
                  <a:srgbClr val="22263F"/>
                </a:solidFill>
                <a:latin typeface="Calibri" pitchFamily="34" charset="0"/>
                <a:ea typeface="Calibri" pitchFamily="34" charset="-122"/>
                <a:cs typeface="Calibri" pitchFamily="34" charset="-120"/>
              </a:rPr>
              <a:t>Download the installer</a:t>
            </a:r>
            <a:endParaRPr lang="en-US" sz="1500" dirty="0"/>
          </a:p>
        </p:txBody>
      </p:sp>
      <p:sp>
        <p:nvSpPr>
          <p:cNvPr id="10" name="Text 7"/>
          <p:cNvSpPr txBox="1"/>
          <p:nvPr/>
        </p:nvSpPr>
        <p:spPr>
          <a:xfrm>
            <a:off x="1234440" y="2624328"/>
            <a:ext cx="10180015" cy="576072"/>
          </a:xfrm>
          <a:prstGeom prst="rect">
            <a:avLst/>
          </a:prstGeom>
          <a:noFill/>
          <a:ln/>
        </p:spPr>
        <p:txBody>
          <a:bodyPr wrap="square" lIns="0" tIns="0" rIns="0" bIns="0" rtlCol="0" anchor="ctr"/>
          <a:lstStyle/>
          <a:p>
            <a:pPr indent="0" marL="0">
              <a:lnSpc>
                <a:spcPct val="115000"/>
              </a:lnSpc>
              <a:buNone/>
            </a:pPr>
            <a:r>
              <a:rPr lang="en-US" sz="1250" dirty="0">
                <a:solidFill>
                  <a:srgbClr val="6B7280"/>
                </a:solidFill>
                <a:latin typeface="Calibri" pitchFamily="34" charset="0"/>
                <a:ea typeface="Calibri" pitchFamily="34" charset="-122"/>
                <a:cs typeface="Calibri" pitchFamily="34" charset="-120"/>
              </a:rPr>
              <a:t>Go to python.org/downloads and get the latest stable 3.x release for your OS.</a:t>
            </a:r>
            <a:endParaRPr lang="en-US" sz="1250" dirty="0"/>
          </a:p>
        </p:txBody>
      </p:sp>
      <p:sp>
        <p:nvSpPr>
          <p:cNvPr id="11" name="Shape 8"/>
          <p:cNvSpPr/>
          <p:nvPr/>
        </p:nvSpPr>
        <p:spPr>
          <a:xfrm>
            <a:off x="548640" y="3227832"/>
            <a:ext cx="502920" cy="502920"/>
          </a:xfrm>
          <a:prstGeom prst="roundRect">
            <a:avLst>
              <a:gd name="adj" fmla="val 14545"/>
            </a:avLst>
          </a:prstGeom>
          <a:solidFill>
            <a:srgbClr val="00B4C6"/>
          </a:solidFill>
          <a:ln/>
        </p:spPr>
      </p:sp>
      <p:sp>
        <p:nvSpPr>
          <p:cNvPr id="12" name="Text 9"/>
          <p:cNvSpPr txBox="1"/>
          <p:nvPr/>
        </p:nvSpPr>
        <p:spPr>
          <a:xfrm>
            <a:off x="548640" y="32278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0"/>
          <p:cNvSpPr txBox="1"/>
          <p:nvPr/>
        </p:nvSpPr>
        <p:spPr>
          <a:xfrm>
            <a:off x="1234440" y="3200400"/>
            <a:ext cx="10180015" cy="365760"/>
          </a:xfrm>
          <a:prstGeom prst="rect">
            <a:avLst/>
          </a:prstGeom>
          <a:noFill/>
          <a:ln/>
        </p:spPr>
        <p:txBody>
          <a:bodyPr wrap="square" lIns="0" tIns="0" rIns="0" bIns="0" rtlCol="0" anchor="ctr"/>
          <a:lstStyle/>
          <a:p>
            <a:pPr indent="0" marL="0">
              <a:buNone/>
            </a:pPr>
            <a:r>
              <a:rPr lang="en-US" sz="1500" b="1" dirty="0">
                <a:solidFill>
                  <a:srgbClr val="22263F"/>
                </a:solidFill>
                <a:latin typeface="Calibri" pitchFamily="34" charset="0"/>
                <a:ea typeface="Calibri" pitchFamily="34" charset="-122"/>
                <a:cs typeface="Calibri" pitchFamily="34" charset="-120"/>
              </a:rPr>
              <a:t>Run the installer</a:t>
            </a:r>
            <a:endParaRPr lang="en-US" sz="1500" dirty="0"/>
          </a:p>
        </p:txBody>
      </p:sp>
      <p:sp>
        <p:nvSpPr>
          <p:cNvPr id="14" name="Text 11"/>
          <p:cNvSpPr txBox="1"/>
          <p:nvPr/>
        </p:nvSpPr>
        <p:spPr>
          <a:xfrm>
            <a:off x="1234440" y="3520440"/>
            <a:ext cx="10180015" cy="576072"/>
          </a:xfrm>
          <a:prstGeom prst="rect">
            <a:avLst/>
          </a:prstGeom>
          <a:noFill/>
          <a:ln/>
        </p:spPr>
        <p:txBody>
          <a:bodyPr wrap="square" lIns="0" tIns="0" rIns="0" bIns="0" rtlCol="0" anchor="ctr"/>
          <a:lstStyle/>
          <a:p>
            <a:pPr indent="0" marL="0">
              <a:lnSpc>
                <a:spcPct val="115000"/>
              </a:lnSpc>
              <a:buNone/>
            </a:pPr>
            <a:r>
              <a:rPr lang="en-US" sz="1250" dirty="0">
                <a:solidFill>
                  <a:srgbClr val="6B7280"/>
                </a:solidFill>
                <a:latin typeface="Calibri" pitchFamily="34" charset="0"/>
                <a:ea typeface="Calibri" pitchFamily="34" charset="-122"/>
                <a:cs typeface="Calibri" pitchFamily="34" charset="-120"/>
              </a:rPr>
              <a:t>On Windows, tick "Add Python to PATH" before clicking Install — this lets you run python from any terminal.</a:t>
            </a:r>
            <a:endParaRPr lang="en-US" sz="1250" dirty="0"/>
          </a:p>
        </p:txBody>
      </p:sp>
      <p:sp>
        <p:nvSpPr>
          <p:cNvPr id="15" name="Shape 12"/>
          <p:cNvSpPr/>
          <p:nvPr/>
        </p:nvSpPr>
        <p:spPr>
          <a:xfrm>
            <a:off x="548640" y="4123944"/>
            <a:ext cx="502920" cy="502920"/>
          </a:xfrm>
          <a:prstGeom prst="roundRect">
            <a:avLst>
              <a:gd name="adj" fmla="val 14545"/>
            </a:avLst>
          </a:prstGeom>
          <a:solidFill>
            <a:srgbClr val="00B4C6"/>
          </a:solidFill>
          <a:ln/>
        </p:spPr>
      </p:sp>
      <p:sp>
        <p:nvSpPr>
          <p:cNvPr id="16" name="Text 13"/>
          <p:cNvSpPr txBox="1"/>
          <p:nvPr/>
        </p:nvSpPr>
        <p:spPr>
          <a:xfrm>
            <a:off x="548640" y="412394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1234440" y="4096512"/>
            <a:ext cx="10180015" cy="365760"/>
          </a:xfrm>
          <a:prstGeom prst="rect">
            <a:avLst/>
          </a:prstGeom>
          <a:noFill/>
          <a:ln/>
        </p:spPr>
        <p:txBody>
          <a:bodyPr wrap="square" lIns="0" tIns="0" rIns="0" bIns="0" rtlCol="0" anchor="ctr"/>
          <a:lstStyle/>
          <a:p>
            <a:pPr indent="0" marL="0">
              <a:buNone/>
            </a:pPr>
            <a:r>
              <a:rPr lang="en-US" sz="1500" b="1" dirty="0">
                <a:solidFill>
                  <a:srgbClr val="22263F"/>
                </a:solidFill>
                <a:latin typeface="Calibri" pitchFamily="34" charset="0"/>
                <a:ea typeface="Calibri" pitchFamily="34" charset="-122"/>
                <a:cs typeface="Calibri" pitchFamily="34" charset="-120"/>
              </a:rPr>
              <a:t>Verify the install</a:t>
            </a:r>
            <a:endParaRPr lang="en-US" sz="1500" dirty="0"/>
          </a:p>
        </p:txBody>
      </p:sp>
      <p:sp>
        <p:nvSpPr>
          <p:cNvPr id="18" name="Text 15"/>
          <p:cNvSpPr txBox="1"/>
          <p:nvPr/>
        </p:nvSpPr>
        <p:spPr>
          <a:xfrm>
            <a:off x="1234440" y="4416552"/>
            <a:ext cx="10180015" cy="576072"/>
          </a:xfrm>
          <a:prstGeom prst="rect">
            <a:avLst/>
          </a:prstGeom>
          <a:noFill/>
          <a:ln/>
        </p:spPr>
        <p:txBody>
          <a:bodyPr wrap="square" lIns="0" tIns="0" rIns="0" bIns="0" rtlCol="0" anchor="ctr"/>
          <a:lstStyle/>
          <a:p>
            <a:pPr indent="0" marL="0">
              <a:lnSpc>
                <a:spcPct val="115000"/>
              </a:lnSpc>
              <a:buNone/>
            </a:pPr>
            <a:r>
              <a:rPr lang="en-US" sz="1250" dirty="0">
                <a:solidFill>
                  <a:srgbClr val="6B7280"/>
                </a:solidFill>
                <a:latin typeface="Calibri" pitchFamily="34" charset="0"/>
                <a:ea typeface="Calibri" pitchFamily="34" charset="-122"/>
                <a:cs typeface="Calibri" pitchFamily="34" charset="-120"/>
              </a:rPr>
              <a:t>Open a terminal and run  python --version  (or  python3 --version  on Mac/Linux) to confirm it worked.</a:t>
            </a:r>
            <a:endParaRPr lang="en-US" sz="1250" dirty="0"/>
          </a:p>
        </p:txBody>
      </p:sp>
      <p:sp>
        <p:nvSpPr>
          <p:cNvPr id="19" name="Shape 16"/>
          <p:cNvSpPr/>
          <p:nvPr/>
        </p:nvSpPr>
        <p:spPr>
          <a:xfrm>
            <a:off x="548640" y="5020056"/>
            <a:ext cx="502920" cy="502920"/>
          </a:xfrm>
          <a:prstGeom prst="roundRect">
            <a:avLst>
              <a:gd name="adj" fmla="val 14545"/>
            </a:avLst>
          </a:prstGeom>
          <a:solidFill>
            <a:srgbClr val="00B4C6"/>
          </a:solidFill>
          <a:ln/>
        </p:spPr>
      </p:sp>
      <p:sp>
        <p:nvSpPr>
          <p:cNvPr id="20" name="Text 17"/>
          <p:cNvSpPr txBox="1"/>
          <p:nvPr/>
        </p:nvSpPr>
        <p:spPr>
          <a:xfrm>
            <a:off x="548640" y="502005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8"/>
          <p:cNvSpPr txBox="1"/>
          <p:nvPr/>
        </p:nvSpPr>
        <p:spPr>
          <a:xfrm>
            <a:off x="1234440" y="4992624"/>
            <a:ext cx="10180015" cy="365760"/>
          </a:xfrm>
          <a:prstGeom prst="rect">
            <a:avLst/>
          </a:prstGeom>
          <a:noFill/>
          <a:ln/>
        </p:spPr>
        <p:txBody>
          <a:bodyPr wrap="square" lIns="0" tIns="0" rIns="0" bIns="0" rtlCol="0" anchor="ctr"/>
          <a:lstStyle/>
          <a:p>
            <a:pPr indent="0" marL="0">
              <a:buNone/>
            </a:pPr>
            <a:r>
              <a:rPr lang="en-US" sz="1500" b="1" dirty="0">
                <a:solidFill>
                  <a:srgbClr val="22263F"/>
                </a:solidFill>
                <a:latin typeface="Calibri" pitchFamily="34" charset="0"/>
                <a:ea typeface="Calibri" pitchFamily="34" charset="-122"/>
                <a:cs typeface="Calibri" pitchFamily="34" charset="-120"/>
              </a:rPr>
              <a:t>Install pip packages as needed</a:t>
            </a:r>
            <a:endParaRPr lang="en-US" sz="1500" dirty="0"/>
          </a:p>
        </p:txBody>
      </p:sp>
      <p:sp>
        <p:nvSpPr>
          <p:cNvPr id="22" name="Text 19"/>
          <p:cNvSpPr txBox="1"/>
          <p:nvPr/>
        </p:nvSpPr>
        <p:spPr>
          <a:xfrm>
            <a:off x="1234440" y="5312664"/>
            <a:ext cx="10180015" cy="576072"/>
          </a:xfrm>
          <a:prstGeom prst="rect">
            <a:avLst/>
          </a:prstGeom>
          <a:noFill/>
          <a:ln/>
        </p:spPr>
        <p:txBody>
          <a:bodyPr wrap="square" lIns="0" tIns="0" rIns="0" bIns="0" rtlCol="0" anchor="ctr"/>
          <a:lstStyle/>
          <a:p>
            <a:pPr indent="0" marL="0">
              <a:lnSpc>
                <a:spcPct val="115000"/>
              </a:lnSpc>
              <a:buNone/>
            </a:pPr>
            <a:r>
              <a:rPr lang="en-US" sz="1250" dirty="0">
                <a:solidFill>
                  <a:srgbClr val="6B7280"/>
                </a:solidFill>
                <a:latin typeface="Calibri" pitchFamily="34" charset="0"/>
                <a:ea typeface="Calibri" pitchFamily="34" charset="-122"/>
                <a:cs typeface="Calibri" pitchFamily="34" charset="-120"/>
              </a:rPr>
              <a:t>pip, Python's package manager, is bundled automatically — use it later to install libraries.</a:t>
            </a:r>
            <a:endParaRPr lang="en-US" sz="1250" dirty="0"/>
          </a:p>
        </p:txBody>
      </p:sp>
      <p:sp>
        <p:nvSpPr>
          <p:cNvPr id="23" name="Shape 20"/>
          <p:cNvSpPr/>
          <p:nvPr/>
        </p:nvSpPr>
        <p:spPr>
          <a:xfrm>
            <a:off x="548640" y="6007608"/>
            <a:ext cx="11094415" cy="640080"/>
          </a:xfrm>
          <a:prstGeom prst="roundRect">
            <a:avLst>
              <a:gd name="adj" fmla="val 11429"/>
            </a:avLst>
          </a:prstGeom>
          <a:solidFill>
            <a:srgbClr val="E4F7F8"/>
          </a:solidFill>
          <a:ln/>
        </p:spPr>
      </p:sp>
      <p:sp>
        <p:nvSpPr>
          <p:cNvPr id="24" name="Text 21"/>
          <p:cNvSpPr txBox="1"/>
          <p:nvPr/>
        </p:nvSpPr>
        <p:spPr>
          <a:xfrm>
            <a:off x="822960" y="6007608"/>
            <a:ext cx="10545775" cy="640080"/>
          </a:xfrm>
          <a:prstGeom prst="rect">
            <a:avLst/>
          </a:prstGeom>
          <a:noFill/>
          <a:ln/>
        </p:spPr>
        <p:txBody>
          <a:bodyPr wrap="square" lIns="0" tIns="0" rIns="0" bIns="0" rtlCol="0" anchor="ctr"/>
          <a:lstStyle/>
          <a:p>
            <a:pPr indent="0" marL="0">
              <a:buNone/>
            </a:pPr>
            <a:r>
              <a:rPr lang="en-US" sz="1250" i="1" dirty="0">
                <a:solidFill>
                  <a:srgbClr val="046570"/>
                </a:solidFill>
                <a:latin typeface="Calibri" pitchFamily="34" charset="0"/>
                <a:ea typeface="Calibri" pitchFamily="34" charset="-122"/>
                <a:cs typeface="Calibri" pitchFamily="34" charset="-120"/>
              </a:rPr>
              <a:t>Tip: If "python" isn't recognized after install, restart your terminal — PATH changes only apply to new sessions.</a:t>
            </a:r>
            <a:endParaRPr lang="en-US" sz="1250" dirty="0"/>
          </a:p>
        </p:txBody>
      </p:sp>
      <p:sp>
        <p:nvSpPr>
          <p:cNvPr id="25" name="Text 22"/>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26" name="Text 2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00B4C6"/>
                </a:solidFill>
                <a:latin typeface="Calibri" pitchFamily="34" charset="0"/>
                <a:ea typeface="Calibri" pitchFamily="34" charset="-122"/>
                <a:cs typeface="Calibri" pitchFamily="34" charset="-120"/>
              </a:rPr>
              <a:t>PHASE 2 · SETUP</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Installing &amp; Setting Up VS Code</a:t>
            </a:r>
            <a:endParaRPr lang="en-US" sz="3400" dirty="0"/>
          </a:p>
        </p:txBody>
      </p:sp>
      <p:sp>
        <p:nvSpPr>
          <p:cNvPr id="4" name="Shape 2"/>
          <p:cNvSpPr/>
          <p:nvPr/>
        </p:nvSpPr>
        <p:spPr>
          <a:xfrm>
            <a:off x="10362895" y="594360"/>
            <a:ext cx="1051560" cy="1051560"/>
          </a:xfrm>
          <a:prstGeom prst="ellipse">
            <a:avLst/>
          </a:prstGeom>
          <a:solidFill>
            <a:srgbClr val="00B4C6"/>
          </a:solidFill>
          <a:ln/>
        </p:spPr>
      </p:sp>
      <p:pic>
        <p:nvPicPr>
          <p:cNvPr id="5" name="Image 0" descr="/home/claude/ai-git-deck/icons/vscode.png">    </p:cNvPr>
          <p:cNvPicPr>
            <a:picLocks noChangeAspect="1"/>
          </p:cNvPicPr>
          <p:nvPr/>
        </p:nvPicPr>
        <p:blipFill>
          <a:blip r:embed="rId1"/>
          <a:stretch>
            <a:fillRect/>
          </a:stretch>
        </p:blipFill>
        <p:spPr>
          <a:xfrm>
            <a:off x="10499598" y="731063"/>
            <a:ext cx="778154" cy="778154"/>
          </a:xfrm>
          <a:prstGeom prst="rect">
            <a:avLst/>
          </a:prstGeom>
        </p:spPr>
      </p:pic>
      <p:sp>
        <p:nvSpPr>
          <p:cNvPr id="6" name="Text 3"/>
          <p:cNvSpPr txBox="1"/>
          <p:nvPr/>
        </p:nvSpPr>
        <p:spPr>
          <a:xfrm>
            <a:off x="548640" y="1600200"/>
            <a:ext cx="9265615" cy="594360"/>
          </a:xfrm>
          <a:prstGeom prst="rect">
            <a:avLst/>
          </a:prstGeom>
          <a:noFill/>
          <a:ln/>
        </p:spPr>
        <p:txBody>
          <a:bodyPr wrap="square" lIns="0" tIns="0" rIns="0" bIns="0" rtlCol="0" anchor="ctr"/>
          <a:lstStyle/>
          <a:p>
            <a:pPr indent="0" marL="0">
              <a:lnSpc>
                <a:spcPct val="120000"/>
              </a:lnSpc>
              <a:buNone/>
            </a:pPr>
            <a:r>
              <a:rPr lang="en-US" sz="1400" dirty="0">
                <a:solidFill>
                  <a:srgbClr val="6B7280"/>
                </a:solidFill>
                <a:latin typeface="Calibri" pitchFamily="34" charset="0"/>
                <a:ea typeface="Calibri" pitchFamily="34" charset="-122"/>
                <a:cs typeface="Calibri" pitchFamily="34" charset="-120"/>
              </a:rPr>
              <a:t>Visual Studio Code is a free, lightweight code editor with excellent Python and Git support built in.</a:t>
            </a:r>
            <a:endParaRPr lang="en-US" sz="1400" dirty="0"/>
          </a:p>
        </p:txBody>
      </p:sp>
      <p:sp>
        <p:nvSpPr>
          <p:cNvPr id="7" name="Shape 4"/>
          <p:cNvSpPr/>
          <p:nvPr/>
        </p:nvSpPr>
        <p:spPr>
          <a:xfrm>
            <a:off x="548640" y="2331720"/>
            <a:ext cx="502920" cy="502920"/>
          </a:xfrm>
          <a:prstGeom prst="roundRect">
            <a:avLst>
              <a:gd name="adj" fmla="val 14545"/>
            </a:avLst>
          </a:prstGeom>
          <a:solidFill>
            <a:srgbClr val="00B4C6"/>
          </a:solidFill>
          <a:ln/>
        </p:spPr>
      </p:sp>
      <p:sp>
        <p:nvSpPr>
          <p:cNvPr id="8" name="Text 5"/>
          <p:cNvSpPr txBox="1"/>
          <p:nvPr/>
        </p:nvSpPr>
        <p:spPr>
          <a:xfrm>
            <a:off x="548640"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6"/>
          <p:cNvSpPr txBox="1"/>
          <p:nvPr/>
        </p:nvSpPr>
        <p:spPr>
          <a:xfrm>
            <a:off x="1234440" y="2304288"/>
            <a:ext cx="10180015" cy="365760"/>
          </a:xfrm>
          <a:prstGeom prst="rect">
            <a:avLst/>
          </a:prstGeom>
          <a:noFill/>
          <a:ln/>
        </p:spPr>
        <p:txBody>
          <a:bodyPr wrap="square" lIns="0" tIns="0" rIns="0" bIns="0" rtlCol="0" anchor="ctr"/>
          <a:lstStyle/>
          <a:p>
            <a:pPr indent="0" marL="0">
              <a:buNone/>
            </a:pPr>
            <a:r>
              <a:rPr lang="en-US" sz="1500" b="1" dirty="0">
                <a:solidFill>
                  <a:srgbClr val="22263F"/>
                </a:solidFill>
                <a:latin typeface="Calibri" pitchFamily="34" charset="0"/>
                <a:ea typeface="Calibri" pitchFamily="34" charset="-122"/>
                <a:cs typeface="Calibri" pitchFamily="34" charset="-120"/>
              </a:rPr>
              <a:t>Download VS Code</a:t>
            </a:r>
            <a:endParaRPr lang="en-US" sz="1500" dirty="0"/>
          </a:p>
        </p:txBody>
      </p:sp>
      <p:sp>
        <p:nvSpPr>
          <p:cNvPr id="10" name="Text 7"/>
          <p:cNvSpPr txBox="1"/>
          <p:nvPr/>
        </p:nvSpPr>
        <p:spPr>
          <a:xfrm>
            <a:off x="1234440" y="2624328"/>
            <a:ext cx="10180015" cy="576072"/>
          </a:xfrm>
          <a:prstGeom prst="rect">
            <a:avLst/>
          </a:prstGeom>
          <a:noFill/>
          <a:ln/>
        </p:spPr>
        <p:txBody>
          <a:bodyPr wrap="square" lIns="0" tIns="0" rIns="0" bIns="0" rtlCol="0" anchor="ctr"/>
          <a:lstStyle/>
          <a:p>
            <a:pPr indent="0" marL="0">
              <a:lnSpc>
                <a:spcPct val="115000"/>
              </a:lnSpc>
              <a:buNone/>
            </a:pPr>
            <a:r>
              <a:rPr lang="en-US" sz="1250" dirty="0">
                <a:solidFill>
                  <a:srgbClr val="6B7280"/>
                </a:solidFill>
                <a:latin typeface="Calibri" pitchFamily="34" charset="0"/>
                <a:ea typeface="Calibri" pitchFamily="34" charset="-122"/>
                <a:cs typeface="Calibri" pitchFamily="34" charset="-120"/>
              </a:rPr>
              <a:t>Get the installer from code.visualstudio.com for your operating system and run it.</a:t>
            </a:r>
            <a:endParaRPr lang="en-US" sz="1250" dirty="0"/>
          </a:p>
        </p:txBody>
      </p:sp>
      <p:sp>
        <p:nvSpPr>
          <p:cNvPr id="11" name="Shape 8"/>
          <p:cNvSpPr/>
          <p:nvPr/>
        </p:nvSpPr>
        <p:spPr>
          <a:xfrm>
            <a:off x="548640" y="3227832"/>
            <a:ext cx="502920" cy="502920"/>
          </a:xfrm>
          <a:prstGeom prst="roundRect">
            <a:avLst>
              <a:gd name="adj" fmla="val 14545"/>
            </a:avLst>
          </a:prstGeom>
          <a:solidFill>
            <a:srgbClr val="00B4C6"/>
          </a:solidFill>
          <a:ln/>
        </p:spPr>
      </p:sp>
      <p:sp>
        <p:nvSpPr>
          <p:cNvPr id="12" name="Text 9"/>
          <p:cNvSpPr txBox="1"/>
          <p:nvPr/>
        </p:nvSpPr>
        <p:spPr>
          <a:xfrm>
            <a:off x="548640" y="32278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0"/>
          <p:cNvSpPr txBox="1"/>
          <p:nvPr/>
        </p:nvSpPr>
        <p:spPr>
          <a:xfrm>
            <a:off x="1234440" y="3200400"/>
            <a:ext cx="10180015" cy="365760"/>
          </a:xfrm>
          <a:prstGeom prst="rect">
            <a:avLst/>
          </a:prstGeom>
          <a:noFill/>
          <a:ln/>
        </p:spPr>
        <p:txBody>
          <a:bodyPr wrap="square" lIns="0" tIns="0" rIns="0" bIns="0" rtlCol="0" anchor="ctr"/>
          <a:lstStyle/>
          <a:p>
            <a:pPr indent="0" marL="0">
              <a:buNone/>
            </a:pPr>
            <a:r>
              <a:rPr lang="en-US" sz="1500" b="1" dirty="0">
                <a:solidFill>
                  <a:srgbClr val="22263F"/>
                </a:solidFill>
                <a:latin typeface="Calibri" pitchFamily="34" charset="0"/>
                <a:ea typeface="Calibri" pitchFamily="34" charset="-122"/>
                <a:cs typeface="Calibri" pitchFamily="34" charset="-120"/>
              </a:rPr>
              <a:t>Install the Python extension</a:t>
            </a:r>
            <a:endParaRPr lang="en-US" sz="1500" dirty="0"/>
          </a:p>
        </p:txBody>
      </p:sp>
      <p:sp>
        <p:nvSpPr>
          <p:cNvPr id="14" name="Text 11"/>
          <p:cNvSpPr txBox="1"/>
          <p:nvPr/>
        </p:nvSpPr>
        <p:spPr>
          <a:xfrm>
            <a:off x="1234440" y="3520440"/>
            <a:ext cx="10180015" cy="576072"/>
          </a:xfrm>
          <a:prstGeom prst="rect">
            <a:avLst/>
          </a:prstGeom>
          <a:noFill/>
          <a:ln/>
        </p:spPr>
        <p:txBody>
          <a:bodyPr wrap="square" lIns="0" tIns="0" rIns="0" bIns="0" rtlCol="0" anchor="ctr"/>
          <a:lstStyle/>
          <a:p>
            <a:pPr indent="0" marL="0">
              <a:lnSpc>
                <a:spcPct val="115000"/>
              </a:lnSpc>
              <a:buNone/>
            </a:pPr>
            <a:r>
              <a:rPr lang="en-US" sz="1250" dirty="0">
                <a:solidFill>
                  <a:srgbClr val="6B7280"/>
                </a:solidFill>
                <a:latin typeface="Calibri" pitchFamily="34" charset="0"/>
                <a:ea typeface="Calibri" pitchFamily="34" charset="-122"/>
                <a:cs typeface="Calibri" pitchFamily="34" charset="-120"/>
              </a:rPr>
              <a:t>Open the Extensions panel (Ctrl/Cmd+Shift+X) and install "Python" by Microsoft for linting, running, and debugging.</a:t>
            </a:r>
            <a:endParaRPr lang="en-US" sz="1250" dirty="0"/>
          </a:p>
        </p:txBody>
      </p:sp>
      <p:sp>
        <p:nvSpPr>
          <p:cNvPr id="15" name="Shape 12"/>
          <p:cNvSpPr/>
          <p:nvPr/>
        </p:nvSpPr>
        <p:spPr>
          <a:xfrm>
            <a:off x="548640" y="4123944"/>
            <a:ext cx="502920" cy="502920"/>
          </a:xfrm>
          <a:prstGeom prst="roundRect">
            <a:avLst>
              <a:gd name="adj" fmla="val 14545"/>
            </a:avLst>
          </a:prstGeom>
          <a:solidFill>
            <a:srgbClr val="00B4C6"/>
          </a:solidFill>
          <a:ln/>
        </p:spPr>
      </p:sp>
      <p:sp>
        <p:nvSpPr>
          <p:cNvPr id="16" name="Text 13"/>
          <p:cNvSpPr txBox="1"/>
          <p:nvPr/>
        </p:nvSpPr>
        <p:spPr>
          <a:xfrm>
            <a:off x="548640" y="412394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1234440" y="4096512"/>
            <a:ext cx="10180015" cy="365760"/>
          </a:xfrm>
          <a:prstGeom prst="rect">
            <a:avLst/>
          </a:prstGeom>
          <a:noFill/>
          <a:ln/>
        </p:spPr>
        <p:txBody>
          <a:bodyPr wrap="square" lIns="0" tIns="0" rIns="0" bIns="0" rtlCol="0" anchor="ctr"/>
          <a:lstStyle/>
          <a:p>
            <a:pPr indent="0" marL="0">
              <a:buNone/>
            </a:pPr>
            <a:r>
              <a:rPr lang="en-US" sz="1500" b="1" dirty="0">
                <a:solidFill>
                  <a:srgbClr val="22263F"/>
                </a:solidFill>
                <a:latin typeface="Calibri" pitchFamily="34" charset="0"/>
                <a:ea typeface="Calibri" pitchFamily="34" charset="-122"/>
                <a:cs typeface="Calibri" pitchFamily="34" charset="-120"/>
              </a:rPr>
              <a:t>Open the integrated terminal</a:t>
            </a:r>
            <a:endParaRPr lang="en-US" sz="1500" dirty="0"/>
          </a:p>
        </p:txBody>
      </p:sp>
      <p:sp>
        <p:nvSpPr>
          <p:cNvPr id="18" name="Text 15"/>
          <p:cNvSpPr txBox="1"/>
          <p:nvPr/>
        </p:nvSpPr>
        <p:spPr>
          <a:xfrm>
            <a:off x="1234440" y="4416552"/>
            <a:ext cx="10180015" cy="576072"/>
          </a:xfrm>
          <a:prstGeom prst="rect">
            <a:avLst/>
          </a:prstGeom>
          <a:noFill/>
          <a:ln/>
        </p:spPr>
        <p:txBody>
          <a:bodyPr wrap="square" lIns="0" tIns="0" rIns="0" bIns="0" rtlCol="0" anchor="ctr"/>
          <a:lstStyle/>
          <a:p>
            <a:pPr indent="0" marL="0">
              <a:lnSpc>
                <a:spcPct val="115000"/>
              </a:lnSpc>
              <a:buNone/>
            </a:pPr>
            <a:r>
              <a:rPr lang="en-US" sz="1250" dirty="0">
                <a:solidFill>
                  <a:srgbClr val="6B7280"/>
                </a:solidFill>
                <a:latin typeface="Calibri" pitchFamily="34" charset="0"/>
                <a:ea typeface="Calibri" pitchFamily="34" charset="-122"/>
                <a:cs typeface="Calibri" pitchFamily="34" charset="-120"/>
              </a:rPr>
              <a:t>Use Ctrl/Cmd+`  to open a terminal inside VS Code — this is where we'll run Python and Git commands.</a:t>
            </a:r>
            <a:endParaRPr lang="en-US" sz="1250" dirty="0"/>
          </a:p>
        </p:txBody>
      </p:sp>
      <p:sp>
        <p:nvSpPr>
          <p:cNvPr id="19" name="Shape 16"/>
          <p:cNvSpPr/>
          <p:nvPr/>
        </p:nvSpPr>
        <p:spPr>
          <a:xfrm>
            <a:off x="548640" y="5020056"/>
            <a:ext cx="502920" cy="502920"/>
          </a:xfrm>
          <a:prstGeom prst="roundRect">
            <a:avLst>
              <a:gd name="adj" fmla="val 14545"/>
            </a:avLst>
          </a:prstGeom>
          <a:solidFill>
            <a:srgbClr val="00B4C6"/>
          </a:solidFill>
          <a:ln/>
        </p:spPr>
      </p:sp>
      <p:sp>
        <p:nvSpPr>
          <p:cNvPr id="20" name="Text 17"/>
          <p:cNvSpPr txBox="1"/>
          <p:nvPr/>
        </p:nvSpPr>
        <p:spPr>
          <a:xfrm>
            <a:off x="548640" y="502005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8"/>
          <p:cNvSpPr txBox="1"/>
          <p:nvPr/>
        </p:nvSpPr>
        <p:spPr>
          <a:xfrm>
            <a:off x="1234440" y="4992624"/>
            <a:ext cx="10180015" cy="365760"/>
          </a:xfrm>
          <a:prstGeom prst="rect">
            <a:avLst/>
          </a:prstGeom>
          <a:noFill/>
          <a:ln/>
        </p:spPr>
        <p:txBody>
          <a:bodyPr wrap="square" lIns="0" tIns="0" rIns="0" bIns="0" rtlCol="0" anchor="ctr"/>
          <a:lstStyle/>
          <a:p>
            <a:pPr indent="0" marL="0">
              <a:buNone/>
            </a:pPr>
            <a:r>
              <a:rPr lang="en-US" sz="1500" b="1" dirty="0">
                <a:solidFill>
                  <a:srgbClr val="22263F"/>
                </a:solidFill>
                <a:latin typeface="Calibri" pitchFamily="34" charset="0"/>
                <a:ea typeface="Calibri" pitchFamily="34" charset="-122"/>
                <a:cs typeface="Calibri" pitchFamily="34" charset="-120"/>
              </a:rPr>
              <a:t>Sign in with GitHub (optional)</a:t>
            </a:r>
            <a:endParaRPr lang="en-US" sz="1500" dirty="0"/>
          </a:p>
        </p:txBody>
      </p:sp>
      <p:sp>
        <p:nvSpPr>
          <p:cNvPr id="22" name="Text 19"/>
          <p:cNvSpPr txBox="1"/>
          <p:nvPr/>
        </p:nvSpPr>
        <p:spPr>
          <a:xfrm>
            <a:off x="1234440" y="5312664"/>
            <a:ext cx="10180015" cy="576072"/>
          </a:xfrm>
          <a:prstGeom prst="rect">
            <a:avLst/>
          </a:prstGeom>
          <a:noFill/>
          <a:ln/>
        </p:spPr>
        <p:txBody>
          <a:bodyPr wrap="square" lIns="0" tIns="0" rIns="0" bIns="0" rtlCol="0" anchor="ctr"/>
          <a:lstStyle/>
          <a:p>
            <a:pPr indent="0" marL="0">
              <a:lnSpc>
                <a:spcPct val="115000"/>
              </a:lnSpc>
              <a:buNone/>
            </a:pPr>
            <a:r>
              <a:rPr lang="en-US" sz="1250" dirty="0">
                <a:solidFill>
                  <a:srgbClr val="6B7280"/>
                </a:solidFill>
                <a:latin typeface="Calibri" pitchFamily="34" charset="0"/>
                <a:ea typeface="Calibri" pitchFamily="34" charset="-122"/>
                <a:cs typeface="Calibri" pitchFamily="34" charset="-120"/>
              </a:rPr>
              <a:t>Linking your GitHub account inside VS Code makes cloning and pushing repositories smoother later.</a:t>
            </a:r>
            <a:endParaRPr lang="en-US" sz="1250" dirty="0"/>
          </a:p>
        </p:txBody>
      </p:sp>
      <p:sp>
        <p:nvSpPr>
          <p:cNvPr id="23" name="Text 20"/>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24" name="Text 21"/>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00B4C6"/>
                </a:solidFill>
                <a:latin typeface="Calibri" pitchFamily="34" charset="0"/>
                <a:ea typeface="Calibri" pitchFamily="34" charset="-122"/>
                <a:cs typeface="Calibri" pitchFamily="34" charset="-120"/>
              </a:rPr>
              <a:t>PHASE 2 · CONCEPTS</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Git vs. GitHub — What's the Difference?</a:t>
            </a:r>
            <a:endParaRPr lang="en-US" sz="3400" dirty="0"/>
          </a:p>
        </p:txBody>
      </p:sp>
      <p:sp>
        <p:nvSpPr>
          <p:cNvPr id="4" name="Shape 2"/>
          <p:cNvSpPr/>
          <p:nvPr/>
        </p:nvSpPr>
        <p:spPr>
          <a:xfrm>
            <a:off x="548640" y="1828800"/>
            <a:ext cx="5318608" cy="3931920"/>
          </a:xfrm>
          <a:prstGeom prst="roundRect">
            <a:avLst>
              <a:gd name="adj" fmla="val 2791"/>
            </a:avLst>
          </a:prstGeom>
          <a:solidFill>
            <a:srgbClr val="1B1F3B"/>
          </a:solidFill>
          <a:ln/>
        </p:spPr>
      </p:sp>
      <p:sp>
        <p:nvSpPr>
          <p:cNvPr id="5" name="Shape 3"/>
          <p:cNvSpPr/>
          <p:nvPr/>
        </p:nvSpPr>
        <p:spPr>
          <a:xfrm>
            <a:off x="868680" y="2194560"/>
            <a:ext cx="731520" cy="731520"/>
          </a:xfrm>
          <a:prstGeom prst="ellipse">
            <a:avLst/>
          </a:prstGeom>
          <a:solidFill>
            <a:srgbClr val="00B4C6"/>
          </a:solidFill>
          <a:ln/>
        </p:spPr>
      </p:sp>
      <p:pic>
        <p:nvPicPr>
          <p:cNvPr id="6" name="Image 0" descr="/home/claude/ai-git-deck/icons/git.png">    </p:cNvPr>
          <p:cNvPicPr>
            <a:picLocks noChangeAspect="1"/>
          </p:cNvPicPr>
          <p:nvPr/>
        </p:nvPicPr>
        <p:blipFill>
          <a:blip r:embed="rId1"/>
          <a:stretch>
            <a:fillRect/>
          </a:stretch>
        </p:blipFill>
        <p:spPr>
          <a:xfrm>
            <a:off x="963778" y="2289658"/>
            <a:ext cx="541325" cy="541325"/>
          </a:xfrm>
          <a:prstGeom prst="rect">
            <a:avLst/>
          </a:prstGeom>
        </p:spPr>
      </p:pic>
      <p:sp>
        <p:nvSpPr>
          <p:cNvPr id="7" name="Text 4"/>
          <p:cNvSpPr txBox="1"/>
          <p:nvPr/>
        </p:nvSpPr>
        <p:spPr>
          <a:xfrm>
            <a:off x="1783080" y="2240280"/>
            <a:ext cx="2743200" cy="6400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Git</a:t>
            </a:r>
            <a:endParaRPr lang="en-US" sz="2400" dirty="0"/>
          </a:p>
        </p:txBody>
      </p:sp>
      <p:sp>
        <p:nvSpPr>
          <p:cNvPr id="8" name="Text 5"/>
          <p:cNvSpPr txBox="1"/>
          <p:nvPr/>
        </p:nvSpPr>
        <p:spPr>
          <a:xfrm>
            <a:off x="868680" y="3200400"/>
            <a:ext cx="4678528" cy="1463040"/>
          </a:xfrm>
          <a:prstGeom prst="rect">
            <a:avLst/>
          </a:prstGeom>
          <a:noFill/>
          <a:ln/>
        </p:spPr>
        <p:txBody>
          <a:bodyPr wrap="square" lIns="0" tIns="0" rIns="0" bIns="0" rtlCol="0" anchor="ctr"/>
          <a:lstStyle/>
          <a:p>
            <a:pPr indent="0" marL="0">
              <a:lnSpc>
                <a:spcPct val="125000"/>
              </a:lnSpc>
              <a:buNone/>
            </a:pPr>
            <a:r>
              <a:rPr lang="en-US" sz="1350" dirty="0">
                <a:solidFill>
                  <a:srgbClr val="B7BBD6"/>
                </a:solidFill>
                <a:latin typeface="Calibri" pitchFamily="34" charset="0"/>
                <a:ea typeface="Calibri" pitchFamily="34" charset="-122"/>
                <a:cs typeface="Calibri" pitchFamily="34" charset="-120"/>
              </a:rPr>
              <a:t>A distributed version control system you install locally. It tracks every change to your files over time, so you can review history, undo mistakes, and work on parallel versions (branches) of a project.</a:t>
            </a:r>
            <a:endParaRPr lang="en-US" sz="1350" dirty="0"/>
          </a:p>
        </p:txBody>
      </p:sp>
      <p:sp>
        <p:nvSpPr>
          <p:cNvPr id="9" name="Text 6"/>
          <p:cNvSpPr txBox="1"/>
          <p:nvPr/>
        </p:nvSpPr>
        <p:spPr>
          <a:xfrm>
            <a:off x="868680" y="5166360"/>
            <a:ext cx="4678528" cy="365760"/>
          </a:xfrm>
          <a:prstGeom prst="rect">
            <a:avLst/>
          </a:prstGeom>
          <a:noFill/>
          <a:ln/>
        </p:spPr>
        <p:txBody>
          <a:bodyPr wrap="square" lIns="0" tIns="0" rIns="0" bIns="0" rtlCol="0" anchor="ctr"/>
          <a:lstStyle/>
          <a:p>
            <a:pPr indent="0" marL="0">
              <a:buNone/>
            </a:pPr>
            <a:r>
              <a:rPr lang="en-US" sz="1200" i="1" dirty="0">
                <a:solidFill>
                  <a:srgbClr val="00B4C6"/>
                </a:solidFill>
                <a:latin typeface="Calibri" pitchFamily="34" charset="0"/>
                <a:ea typeface="Calibri" pitchFamily="34" charset="-122"/>
                <a:cs typeface="Calibri" pitchFamily="34" charset="-120"/>
              </a:rPr>
              <a:t>Runs on: your computer, offline</a:t>
            </a:r>
            <a:endParaRPr lang="en-US" sz="1200" dirty="0"/>
          </a:p>
        </p:txBody>
      </p:sp>
      <p:sp>
        <p:nvSpPr>
          <p:cNvPr id="10" name="Shape 7"/>
          <p:cNvSpPr/>
          <p:nvPr/>
        </p:nvSpPr>
        <p:spPr>
          <a:xfrm>
            <a:off x="6324448" y="1828800"/>
            <a:ext cx="5318608" cy="3931920"/>
          </a:xfrm>
          <a:prstGeom prst="roundRect">
            <a:avLst>
              <a:gd name="adj" fmla="val 2791"/>
            </a:avLst>
          </a:prstGeom>
          <a:solidFill>
            <a:srgbClr val="FFFFFF"/>
          </a:solidFill>
          <a:ln/>
          <a:effectLst>
            <a:outerShdw sx="100000" sy="100000" kx="0" ky="0" algn="bl" rotWithShape="0" blurRad="127000" dist="38100" dir="5400000">
              <a:srgbClr val="1B1F3B">
                <a:alpha val="12000"/>
              </a:srgbClr>
            </a:outerShdw>
          </a:effectLst>
        </p:spPr>
      </p:sp>
      <p:sp>
        <p:nvSpPr>
          <p:cNvPr id="11" name="Shape 8"/>
          <p:cNvSpPr/>
          <p:nvPr/>
        </p:nvSpPr>
        <p:spPr>
          <a:xfrm>
            <a:off x="6644488" y="2194560"/>
            <a:ext cx="731520" cy="731520"/>
          </a:xfrm>
          <a:prstGeom prst="ellipse">
            <a:avLst/>
          </a:prstGeom>
          <a:solidFill>
            <a:srgbClr val="1B1F3B"/>
          </a:solidFill>
          <a:ln/>
        </p:spPr>
      </p:sp>
      <p:pic>
        <p:nvPicPr>
          <p:cNvPr id="12" name="Image 1" descr="/home/claude/ai-git-deck/icons/github.png">    </p:cNvPr>
          <p:cNvPicPr>
            <a:picLocks noChangeAspect="1"/>
          </p:cNvPicPr>
          <p:nvPr/>
        </p:nvPicPr>
        <p:blipFill>
          <a:blip r:embed="rId2"/>
          <a:stretch>
            <a:fillRect/>
          </a:stretch>
        </p:blipFill>
        <p:spPr>
          <a:xfrm>
            <a:off x="6739585" y="2289658"/>
            <a:ext cx="541325" cy="541325"/>
          </a:xfrm>
          <a:prstGeom prst="rect">
            <a:avLst/>
          </a:prstGeom>
        </p:spPr>
      </p:pic>
      <p:sp>
        <p:nvSpPr>
          <p:cNvPr id="13" name="Text 9"/>
          <p:cNvSpPr txBox="1"/>
          <p:nvPr/>
        </p:nvSpPr>
        <p:spPr>
          <a:xfrm>
            <a:off x="7558888" y="2240280"/>
            <a:ext cx="2743200" cy="640080"/>
          </a:xfrm>
          <a:prstGeom prst="rect">
            <a:avLst/>
          </a:prstGeom>
          <a:noFill/>
          <a:ln/>
        </p:spPr>
        <p:txBody>
          <a:bodyPr wrap="square" lIns="0" tIns="0" rIns="0" bIns="0" rtlCol="0" anchor="ctr"/>
          <a:lstStyle/>
          <a:p>
            <a:pPr indent="0" marL="0">
              <a:buNone/>
            </a:pPr>
            <a:r>
              <a:rPr lang="en-US" sz="2400" b="1" dirty="0">
                <a:solidFill>
                  <a:srgbClr val="22263F"/>
                </a:solidFill>
                <a:latin typeface="Cambria" pitchFamily="34" charset="0"/>
                <a:ea typeface="Cambria" pitchFamily="34" charset="-122"/>
                <a:cs typeface="Cambria" pitchFamily="34" charset="-120"/>
              </a:rPr>
              <a:t>GitHub</a:t>
            </a:r>
            <a:endParaRPr lang="en-US" sz="2400" dirty="0"/>
          </a:p>
        </p:txBody>
      </p:sp>
      <p:sp>
        <p:nvSpPr>
          <p:cNvPr id="14" name="Text 10"/>
          <p:cNvSpPr txBox="1"/>
          <p:nvPr/>
        </p:nvSpPr>
        <p:spPr>
          <a:xfrm>
            <a:off x="6644488" y="3200400"/>
            <a:ext cx="4678528" cy="1463040"/>
          </a:xfrm>
          <a:prstGeom prst="rect">
            <a:avLst/>
          </a:prstGeom>
          <a:noFill/>
          <a:ln/>
        </p:spPr>
        <p:txBody>
          <a:bodyPr wrap="square" lIns="0" tIns="0" rIns="0" bIns="0" rtlCol="0" anchor="ctr"/>
          <a:lstStyle/>
          <a:p>
            <a:pPr indent="0" marL="0">
              <a:lnSpc>
                <a:spcPct val="125000"/>
              </a:lnSpc>
              <a:buNone/>
            </a:pPr>
            <a:r>
              <a:rPr lang="en-US" sz="1350" dirty="0">
                <a:solidFill>
                  <a:srgbClr val="6B7280"/>
                </a:solidFill>
                <a:latin typeface="Calibri" pitchFamily="34" charset="0"/>
                <a:ea typeface="Calibri" pitchFamily="34" charset="-122"/>
                <a:cs typeface="Calibri" pitchFamily="34" charset="-120"/>
              </a:rPr>
              <a:t>A cloud platform that hosts Git repositories online. It adds collaboration features on top of Git — backups, pull requests, code review, issue tracking, and a social layer for sharing projects.</a:t>
            </a:r>
            <a:endParaRPr lang="en-US" sz="1350" dirty="0"/>
          </a:p>
        </p:txBody>
      </p:sp>
      <p:sp>
        <p:nvSpPr>
          <p:cNvPr id="15" name="Text 11"/>
          <p:cNvSpPr txBox="1"/>
          <p:nvPr/>
        </p:nvSpPr>
        <p:spPr>
          <a:xfrm>
            <a:off x="6644488" y="5166360"/>
            <a:ext cx="4678528" cy="365760"/>
          </a:xfrm>
          <a:prstGeom prst="rect">
            <a:avLst/>
          </a:prstGeom>
          <a:noFill/>
          <a:ln/>
        </p:spPr>
        <p:txBody>
          <a:bodyPr wrap="square" lIns="0" tIns="0" rIns="0" bIns="0" rtlCol="0" anchor="ctr"/>
          <a:lstStyle/>
          <a:p>
            <a:pPr indent="0" marL="0">
              <a:buNone/>
            </a:pPr>
            <a:r>
              <a:rPr lang="en-US" sz="1200" i="1" dirty="0">
                <a:solidFill>
                  <a:srgbClr val="1B1F3B"/>
                </a:solidFill>
                <a:latin typeface="Calibri" pitchFamily="34" charset="0"/>
                <a:ea typeface="Calibri" pitchFamily="34" charset="-122"/>
                <a:cs typeface="Calibri" pitchFamily="34" charset="-120"/>
              </a:rPr>
              <a:t>Runs on: the web, github.com</a:t>
            </a:r>
            <a:endParaRPr lang="en-US" sz="1200" dirty="0"/>
          </a:p>
        </p:txBody>
      </p:sp>
      <p:sp>
        <p:nvSpPr>
          <p:cNvPr id="16" name="Text 12"/>
          <p:cNvSpPr txBox="1"/>
          <p:nvPr/>
        </p:nvSpPr>
        <p:spPr>
          <a:xfrm>
            <a:off x="548640" y="5897880"/>
            <a:ext cx="11094415" cy="45720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Simple analogy: Git is the engine that tracks changes — GitHub is the garage in the cloud where you park and share your work.</a:t>
            </a:r>
            <a:endParaRPr lang="en-US" sz="1300" dirty="0"/>
          </a:p>
        </p:txBody>
      </p:sp>
      <p:sp>
        <p:nvSpPr>
          <p:cNvPr id="17" name="Text 13"/>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18" name="Text 14"/>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00B4C6"/>
                </a:solidFill>
                <a:latin typeface="Calibri" pitchFamily="34" charset="0"/>
                <a:ea typeface="Calibri" pitchFamily="34" charset="-122"/>
                <a:cs typeface="Calibri" pitchFamily="34" charset="-120"/>
              </a:rPr>
              <a:t>PHASE 2 · SETUP</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Installing Git &amp; Creating a GitHub Account</a:t>
            </a:r>
            <a:endParaRPr lang="en-US" sz="3400" dirty="0"/>
          </a:p>
        </p:txBody>
      </p:sp>
      <p:sp>
        <p:nvSpPr>
          <p:cNvPr id="4" name="Shape 2"/>
          <p:cNvSpPr/>
          <p:nvPr/>
        </p:nvSpPr>
        <p:spPr>
          <a:xfrm>
            <a:off x="10362895" y="594360"/>
            <a:ext cx="1051560" cy="1051560"/>
          </a:xfrm>
          <a:prstGeom prst="ellipse">
            <a:avLst/>
          </a:prstGeom>
          <a:solidFill>
            <a:srgbClr val="00B4C6"/>
          </a:solidFill>
          <a:ln/>
        </p:spPr>
      </p:sp>
      <p:pic>
        <p:nvPicPr>
          <p:cNvPr id="5" name="Image 0" descr="/home/claude/ai-git-deck/icons/git.png">    </p:cNvPr>
          <p:cNvPicPr>
            <a:picLocks noChangeAspect="1"/>
          </p:cNvPicPr>
          <p:nvPr/>
        </p:nvPicPr>
        <p:blipFill>
          <a:blip r:embed="rId1"/>
          <a:stretch>
            <a:fillRect/>
          </a:stretch>
        </p:blipFill>
        <p:spPr>
          <a:xfrm>
            <a:off x="10499598" y="731063"/>
            <a:ext cx="778154" cy="778154"/>
          </a:xfrm>
          <a:prstGeom prst="rect">
            <a:avLst/>
          </a:prstGeom>
        </p:spPr>
      </p:pic>
      <p:sp>
        <p:nvSpPr>
          <p:cNvPr id="6" name="Text 3"/>
          <p:cNvSpPr txBox="1"/>
          <p:nvPr/>
        </p:nvSpPr>
        <p:spPr>
          <a:xfrm>
            <a:off x="548640" y="1600200"/>
            <a:ext cx="9265615" cy="594360"/>
          </a:xfrm>
          <a:prstGeom prst="rect">
            <a:avLst/>
          </a:prstGeom>
          <a:noFill/>
          <a:ln/>
        </p:spPr>
        <p:txBody>
          <a:bodyPr wrap="square" lIns="0" tIns="0" rIns="0" bIns="0" rtlCol="0" anchor="ctr"/>
          <a:lstStyle/>
          <a:p>
            <a:pPr indent="0" marL="0">
              <a:lnSpc>
                <a:spcPct val="120000"/>
              </a:lnSpc>
              <a:buNone/>
            </a:pPr>
            <a:r>
              <a:rPr lang="en-US" sz="1400" dirty="0">
                <a:solidFill>
                  <a:srgbClr val="6B7280"/>
                </a:solidFill>
                <a:latin typeface="Calibri" pitchFamily="34" charset="0"/>
                <a:ea typeface="Calibri" pitchFamily="34" charset="-122"/>
                <a:cs typeface="Calibri" pitchFamily="34" charset="-120"/>
              </a:rPr>
              <a:t>With Python and VS Code ready, the next step is installing Git locally and setting up a free GitHub account.</a:t>
            </a:r>
            <a:endParaRPr lang="en-US" sz="1400" dirty="0"/>
          </a:p>
        </p:txBody>
      </p:sp>
      <p:sp>
        <p:nvSpPr>
          <p:cNvPr id="7" name="Shape 4"/>
          <p:cNvSpPr/>
          <p:nvPr/>
        </p:nvSpPr>
        <p:spPr>
          <a:xfrm>
            <a:off x="548640" y="2331720"/>
            <a:ext cx="502920" cy="502920"/>
          </a:xfrm>
          <a:prstGeom prst="roundRect">
            <a:avLst>
              <a:gd name="adj" fmla="val 14545"/>
            </a:avLst>
          </a:prstGeom>
          <a:solidFill>
            <a:srgbClr val="00B4C6"/>
          </a:solidFill>
          <a:ln/>
        </p:spPr>
      </p:sp>
      <p:sp>
        <p:nvSpPr>
          <p:cNvPr id="8" name="Text 5"/>
          <p:cNvSpPr txBox="1"/>
          <p:nvPr/>
        </p:nvSpPr>
        <p:spPr>
          <a:xfrm>
            <a:off x="548640"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6"/>
          <p:cNvSpPr txBox="1"/>
          <p:nvPr/>
        </p:nvSpPr>
        <p:spPr>
          <a:xfrm>
            <a:off x="1234440" y="2304288"/>
            <a:ext cx="10180015" cy="365760"/>
          </a:xfrm>
          <a:prstGeom prst="rect">
            <a:avLst/>
          </a:prstGeom>
          <a:noFill/>
          <a:ln/>
        </p:spPr>
        <p:txBody>
          <a:bodyPr wrap="square" lIns="0" tIns="0" rIns="0" bIns="0" rtlCol="0" anchor="ctr"/>
          <a:lstStyle/>
          <a:p>
            <a:pPr indent="0" marL="0">
              <a:buNone/>
            </a:pPr>
            <a:r>
              <a:rPr lang="en-US" sz="1500" b="1" dirty="0">
                <a:solidFill>
                  <a:srgbClr val="22263F"/>
                </a:solidFill>
                <a:latin typeface="Calibri" pitchFamily="34" charset="0"/>
                <a:ea typeface="Calibri" pitchFamily="34" charset="-122"/>
                <a:cs typeface="Calibri" pitchFamily="34" charset="-120"/>
              </a:rPr>
              <a:t>Download Git</a:t>
            </a:r>
            <a:endParaRPr lang="en-US" sz="1500" dirty="0"/>
          </a:p>
        </p:txBody>
      </p:sp>
      <p:sp>
        <p:nvSpPr>
          <p:cNvPr id="10" name="Text 7"/>
          <p:cNvSpPr txBox="1"/>
          <p:nvPr/>
        </p:nvSpPr>
        <p:spPr>
          <a:xfrm>
            <a:off x="1234440" y="2624328"/>
            <a:ext cx="10180015" cy="576072"/>
          </a:xfrm>
          <a:prstGeom prst="rect">
            <a:avLst/>
          </a:prstGeom>
          <a:noFill/>
          <a:ln/>
        </p:spPr>
        <p:txBody>
          <a:bodyPr wrap="square" lIns="0" tIns="0" rIns="0" bIns="0" rtlCol="0" anchor="ctr"/>
          <a:lstStyle/>
          <a:p>
            <a:pPr indent="0" marL="0">
              <a:lnSpc>
                <a:spcPct val="115000"/>
              </a:lnSpc>
              <a:buNone/>
            </a:pPr>
            <a:r>
              <a:rPr lang="en-US" sz="1250" dirty="0">
                <a:solidFill>
                  <a:srgbClr val="6B7280"/>
                </a:solidFill>
                <a:latin typeface="Calibri" pitchFamily="34" charset="0"/>
                <a:ea typeface="Calibri" pitchFamily="34" charset="-122"/>
                <a:cs typeface="Calibri" pitchFamily="34" charset="-120"/>
              </a:rPr>
              <a:t>Get the installer from git-scm.com — accept the defaults unless you have a reason to change them.</a:t>
            </a:r>
            <a:endParaRPr lang="en-US" sz="1250" dirty="0"/>
          </a:p>
        </p:txBody>
      </p:sp>
      <p:sp>
        <p:nvSpPr>
          <p:cNvPr id="11" name="Shape 8"/>
          <p:cNvSpPr/>
          <p:nvPr/>
        </p:nvSpPr>
        <p:spPr>
          <a:xfrm>
            <a:off x="548640" y="3227832"/>
            <a:ext cx="502920" cy="502920"/>
          </a:xfrm>
          <a:prstGeom prst="roundRect">
            <a:avLst>
              <a:gd name="adj" fmla="val 14545"/>
            </a:avLst>
          </a:prstGeom>
          <a:solidFill>
            <a:srgbClr val="00B4C6"/>
          </a:solidFill>
          <a:ln/>
        </p:spPr>
      </p:sp>
      <p:sp>
        <p:nvSpPr>
          <p:cNvPr id="12" name="Text 9"/>
          <p:cNvSpPr txBox="1"/>
          <p:nvPr/>
        </p:nvSpPr>
        <p:spPr>
          <a:xfrm>
            <a:off x="548640" y="32278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0"/>
          <p:cNvSpPr txBox="1"/>
          <p:nvPr/>
        </p:nvSpPr>
        <p:spPr>
          <a:xfrm>
            <a:off x="1234440" y="3200400"/>
            <a:ext cx="10180015" cy="365760"/>
          </a:xfrm>
          <a:prstGeom prst="rect">
            <a:avLst/>
          </a:prstGeom>
          <a:noFill/>
          <a:ln/>
        </p:spPr>
        <p:txBody>
          <a:bodyPr wrap="square" lIns="0" tIns="0" rIns="0" bIns="0" rtlCol="0" anchor="ctr"/>
          <a:lstStyle/>
          <a:p>
            <a:pPr indent="0" marL="0">
              <a:buNone/>
            </a:pPr>
            <a:r>
              <a:rPr lang="en-US" sz="1500" b="1" dirty="0">
                <a:solidFill>
                  <a:srgbClr val="22263F"/>
                </a:solidFill>
                <a:latin typeface="Calibri" pitchFamily="34" charset="0"/>
                <a:ea typeface="Calibri" pitchFamily="34" charset="-122"/>
                <a:cs typeface="Calibri" pitchFamily="34" charset="-120"/>
              </a:rPr>
              <a:t>Verify the install</a:t>
            </a:r>
            <a:endParaRPr lang="en-US" sz="1500" dirty="0"/>
          </a:p>
        </p:txBody>
      </p:sp>
      <p:sp>
        <p:nvSpPr>
          <p:cNvPr id="14" name="Text 11"/>
          <p:cNvSpPr txBox="1"/>
          <p:nvPr/>
        </p:nvSpPr>
        <p:spPr>
          <a:xfrm>
            <a:off x="1234440" y="3520440"/>
            <a:ext cx="10180015" cy="576072"/>
          </a:xfrm>
          <a:prstGeom prst="rect">
            <a:avLst/>
          </a:prstGeom>
          <a:noFill/>
          <a:ln/>
        </p:spPr>
        <p:txBody>
          <a:bodyPr wrap="square" lIns="0" tIns="0" rIns="0" bIns="0" rtlCol="0" anchor="ctr"/>
          <a:lstStyle/>
          <a:p>
            <a:pPr indent="0" marL="0">
              <a:lnSpc>
                <a:spcPct val="115000"/>
              </a:lnSpc>
              <a:buNone/>
            </a:pPr>
            <a:r>
              <a:rPr lang="en-US" sz="1250" dirty="0">
                <a:solidFill>
                  <a:srgbClr val="6B7280"/>
                </a:solidFill>
                <a:latin typeface="Calibri" pitchFamily="34" charset="0"/>
                <a:ea typeface="Calibri" pitchFamily="34" charset="-122"/>
                <a:cs typeface="Calibri" pitchFamily="34" charset="-120"/>
              </a:rPr>
              <a:t>Open a terminal and run  git --version  to confirm Git is installed correctly.</a:t>
            </a:r>
            <a:endParaRPr lang="en-US" sz="1250" dirty="0"/>
          </a:p>
        </p:txBody>
      </p:sp>
      <p:sp>
        <p:nvSpPr>
          <p:cNvPr id="15" name="Shape 12"/>
          <p:cNvSpPr/>
          <p:nvPr/>
        </p:nvSpPr>
        <p:spPr>
          <a:xfrm>
            <a:off x="548640" y="4123944"/>
            <a:ext cx="502920" cy="502920"/>
          </a:xfrm>
          <a:prstGeom prst="roundRect">
            <a:avLst>
              <a:gd name="adj" fmla="val 14545"/>
            </a:avLst>
          </a:prstGeom>
          <a:solidFill>
            <a:srgbClr val="00B4C6"/>
          </a:solidFill>
          <a:ln/>
        </p:spPr>
      </p:sp>
      <p:sp>
        <p:nvSpPr>
          <p:cNvPr id="16" name="Text 13"/>
          <p:cNvSpPr txBox="1"/>
          <p:nvPr/>
        </p:nvSpPr>
        <p:spPr>
          <a:xfrm>
            <a:off x="548640" y="412394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1234440" y="4096512"/>
            <a:ext cx="10180015" cy="365760"/>
          </a:xfrm>
          <a:prstGeom prst="rect">
            <a:avLst/>
          </a:prstGeom>
          <a:noFill/>
          <a:ln/>
        </p:spPr>
        <p:txBody>
          <a:bodyPr wrap="square" lIns="0" tIns="0" rIns="0" bIns="0" rtlCol="0" anchor="ctr"/>
          <a:lstStyle/>
          <a:p>
            <a:pPr indent="0" marL="0">
              <a:buNone/>
            </a:pPr>
            <a:r>
              <a:rPr lang="en-US" sz="1500" b="1" dirty="0">
                <a:solidFill>
                  <a:srgbClr val="22263F"/>
                </a:solidFill>
                <a:latin typeface="Calibri" pitchFamily="34" charset="0"/>
                <a:ea typeface="Calibri" pitchFamily="34" charset="-122"/>
                <a:cs typeface="Calibri" pitchFamily="34" charset="-120"/>
              </a:rPr>
              <a:t>Create a GitHub account</a:t>
            </a:r>
            <a:endParaRPr lang="en-US" sz="1500" dirty="0"/>
          </a:p>
        </p:txBody>
      </p:sp>
      <p:sp>
        <p:nvSpPr>
          <p:cNvPr id="18" name="Text 15"/>
          <p:cNvSpPr txBox="1"/>
          <p:nvPr/>
        </p:nvSpPr>
        <p:spPr>
          <a:xfrm>
            <a:off x="1234440" y="4416552"/>
            <a:ext cx="10180015" cy="576072"/>
          </a:xfrm>
          <a:prstGeom prst="rect">
            <a:avLst/>
          </a:prstGeom>
          <a:noFill/>
          <a:ln/>
        </p:spPr>
        <p:txBody>
          <a:bodyPr wrap="square" lIns="0" tIns="0" rIns="0" bIns="0" rtlCol="0" anchor="ctr"/>
          <a:lstStyle/>
          <a:p>
            <a:pPr indent="0" marL="0">
              <a:lnSpc>
                <a:spcPct val="115000"/>
              </a:lnSpc>
              <a:buNone/>
            </a:pPr>
            <a:r>
              <a:rPr lang="en-US" sz="1250" dirty="0">
                <a:solidFill>
                  <a:srgbClr val="6B7280"/>
                </a:solidFill>
                <a:latin typeface="Calibri" pitchFamily="34" charset="0"/>
                <a:ea typeface="Calibri" pitchFamily="34" charset="-122"/>
                <a:cs typeface="Calibri" pitchFamily="34" charset="-120"/>
              </a:rPr>
              <a:t>Sign up for free at github.com — this is where your remote repositories will live.</a:t>
            </a:r>
            <a:endParaRPr lang="en-US" sz="1250" dirty="0"/>
          </a:p>
        </p:txBody>
      </p:sp>
      <p:sp>
        <p:nvSpPr>
          <p:cNvPr id="19" name="Shape 16"/>
          <p:cNvSpPr/>
          <p:nvPr/>
        </p:nvSpPr>
        <p:spPr>
          <a:xfrm>
            <a:off x="548640" y="5020056"/>
            <a:ext cx="502920" cy="502920"/>
          </a:xfrm>
          <a:prstGeom prst="roundRect">
            <a:avLst>
              <a:gd name="adj" fmla="val 14545"/>
            </a:avLst>
          </a:prstGeom>
          <a:solidFill>
            <a:srgbClr val="00B4C6"/>
          </a:solidFill>
          <a:ln/>
        </p:spPr>
      </p:sp>
      <p:sp>
        <p:nvSpPr>
          <p:cNvPr id="20" name="Text 17"/>
          <p:cNvSpPr txBox="1"/>
          <p:nvPr/>
        </p:nvSpPr>
        <p:spPr>
          <a:xfrm>
            <a:off x="548640" y="502005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8"/>
          <p:cNvSpPr txBox="1"/>
          <p:nvPr/>
        </p:nvSpPr>
        <p:spPr>
          <a:xfrm>
            <a:off x="1234440" y="4992624"/>
            <a:ext cx="10180015" cy="365760"/>
          </a:xfrm>
          <a:prstGeom prst="rect">
            <a:avLst/>
          </a:prstGeom>
          <a:noFill/>
          <a:ln/>
        </p:spPr>
        <p:txBody>
          <a:bodyPr wrap="square" lIns="0" tIns="0" rIns="0" bIns="0" rtlCol="0" anchor="ctr"/>
          <a:lstStyle/>
          <a:p>
            <a:pPr indent="0" marL="0">
              <a:buNone/>
            </a:pPr>
            <a:r>
              <a:rPr lang="en-US" sz="1500" b="1" dirty="0">
                <a:solidFill>
                  <a:srgbClr val="22263F"/>
                </a:solidFill>
                <a:latin typeface="Calibri" pitchFamily="34" charset="0"/>
                <a:ea typeface="Calibri" pitchFamily="34" charset="-122"/>
                <a:cs typeface="Calibri" pitchFamily="34" charset="-120"/>
              </a:rPr>
              <a:t>Set up authentication</a:t>
            </a:r>
            <a:endParaRPr lang="en-US" sz="1500" dirty="0"/>
          </a:p>
        </p:txBody>
      </p:sp>
      <p:sp>
        <p:nvSpPr>
          <p:cNvPr id="22" name="Text 19"/>
          <p:cNvSpPr txBox="1"/>
          <p:nvPr/>
        </p:nvSpPr>
        <p:spPr>
          <a:xfrm>
            <a:off x="1234440" y="5312664"/>
            <a:ext cx="10180015" cy="576072"/>
          </a:xfrm>
          <a:prstGeom prst="rect">
            <a:avLst/>
          </a:prstGeom>
          <a:noFill/>
          <a:ln/>
        </p:spPr>
        <p:txBody>
          <a:bodyPr wrap="square" lIns="0" tIns="0" rIns="0" bIns="0" rtlCol="0" anchor="ctr"/>
          <a:lstStyle/>
          <a:p>
            <a:pPr indent="0" marL="0">
              <a:lnSpc>
                <a:spcPct val="115000"/>
              </a:lnSpc>
              <a:buNone/>
            </a:pPr>
            <a:r>
              <a:rPr lang="en-US" sz="1250" dirty="0">
                <a:solidFill>
                  <a:srgbClr val="6B7280"/>
                </a:solidFill>
                <a:latin typeface="Calibri" pitchFamily="34" charset="0"/>
                <a:ea typeface="Calibri" pitchFamily="34" charset="-122"/>
                <a:cs typeface="Calibri" pitchFamily="34" charset="-120"/>
              </a:rPr>
              <a:t>Connect VS Code or your terminal to GitHub via HTTPS sign-in or an SSH key, so you can push without re-entering credentials each time.</a:t>
            </a:r>
            <a:endParaRPr lang="en-US" sz="1250" dirty="0"/>
          </a:p>
        </p:txBody>
      </p:sp>
      <p:sp>
        <p:nvSpPr>
          <p:cNvPr id="23" name="Text 20"/>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24" name="Text 21"/>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00B4C6"/>
                </a:solidFill>
                <a:latin typeface="Calibri" pitchFamily="34" charset="0"/>
                <a:ea typeface="Calibri" pitchFamily="34" charset="-122"/>
                <a:cs typeface="Calibri" pitchFamily="34" charset="-120"/>
              </a:rPr>
              <a:t>PHASE 2 · GIT COMMANDS (1/5)</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Set Up &amp; Check State</a:t>
            </a:r>
            <a:endParaRPr lang="en-US" sz="3400" dirty="0"/>
          </a:p>
        </p:txBody>
      </p:sp>
      <p:sp>
        <p:nvSpPr>
          <p:cNvPr id="4" name="Shape 2"/>
          <p:cNvSpPr/>
          <p:nvPr/>
        </p:nvSpPr>
        <p:spPr>
          <a:xfrm>
            <a:off x="10362895" y="594360"/>
            <a:ext cx="1051560" cy="1051560"/>
          </a:xfrm>
          <a:prstGeom prst="ellipse">
            <a:avLst/>
          </a:prstGeom>
          <a:solidFill>
            <a:srgbClr val="00B4C6"/>
          </a:solidFill>
          <a:ln/>
        </p:spPr>
      </p:sp>
      <p:pic>
        <p:nvPicPr>
          <p:cNvPr id="5" name="Image 0" descr="/home/claude/ai-git-deck/icons/usercog.png">    </p:cNvPr>
          <p:cNvPicPr>
            <a:picLocks noChangeAspect="1"/>
          </p:cNvPicPr>
          <p:nvPr/>
        </p:nvPicPr>
        <p:blipFill>
          <a:blip r:embed="rId1"/>
          <a:stretch>
            <a:fillRect/>
          </a:stretch>
        </p:blipFill>
        <p:spPr>
          <a:xfrm>
            <a:off x="10499598" y="731063"/>
            <a:ext cx="778154" cy="778154"/>
          </a:xfrm>
          <a:prstGeom prst="rect">
            <a:avLst/>
          </a:prstGeom>
        </p:spPr>
      </p:pic>
      <p:sp>
        <p:nvSpPr>
          <p:cNvPr id="6" name="Text 3"/>
          <p:cNvSpPr txBox="1"/>
          <p:nvPr/>
        </p:nvSpPr>
        <p:spPr>
          <a:xfrm>
            <a:off x="548640" y="1508760"/>
            <a:ext cx="9265615" cy="45720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Before tracking any changes, tell Git who you are — then check what it sees.</a:t>
            </a:r>
            <a:endParaRPr lang="en-US" sz="1400" dirty="0"/>
          </a:p>
        </p:txBody>
      </p:sp>
      <p:sp>
        <p:nvSpPr>
          <p:cNvPr id="7" name="Shape 4"/>
          <p:cNvSpPr/>
          <p:nvPr/>
        </p:nvSpPr>
        <p:spPr>
          <a:xfrm>
            <a:off x="548640" y="2148840"/>
            <a:ext cx="11094415" cy="1965960"/>
          </a:xfrm>
          <a:prstGeom prst="roundRect">
            <a:avLst>
              <a:gd name="adj" fmla="val 4651"/>
            </a:avLst>
          </a:prstGeom>
          <a:solidFill>
            <a:srgbClr val="FFFFFF"/>
          </a:solidFill>
          <a:ln/>
          <a:effectLst>
            <a:outerShdw sx="100000" sy="100000" kx="0" ky="0" algn="bl" rotWithShape="0" blurRad="101600" dist="25400" dir="5400000">
              <a:srgbClr val="1B1F3B">
                <a:alpha val="10000"/>
              </a:srgbClr>
            </a:outerShdw>
          </a:effectLst>
        </p:spPr>
      </p:sp>
      <p:sp>
        <p:nvSpPr>
          <p:cNvPr id="8" name="Shape 5"/>
          <p:cNvSpPr/>
          <p:nvPr/>
        </p:nvSpPr>
        <p:spPr>
          <a:xfrm>
            <a:off x="822960" y="2875788"/>
            <a:ext cx="3200400" cy="512064"/>
          </a:xfrm>
          <a:prstGeom prst="roundRect">
            <a:avLst>
              <a:gd name="adj" fmla="val 12500"/>
            </a:avLst>
          </a:prstGeom>
          <a:solidFill>
            <a:srgbClr val="1B1F3B"/>
          </a:solidFill>
          <a:ln/>
        </p:spPr>
      </p:sp>
      <p:sp>
        <p:nvSpPr>
          <p:cNvPr id="9" name="Text 6"/>
          <p:cNvSpPr txBox="1"/>
          <p:nvPr/>
        </p:nvSpPr>
        <p:spPr>
          <a:xfrm>
            <a:off x="822960" y="2875788"/>
            <a:ext cx="3200400" cy="512064"/>
          </a:xfrm>
          <a:prstGeom prst="rect">
            <a:avLst/>
          </a:prstGeom>
          <a:noFill/>
          <a:ln/>
        </p:spPr>
        <p:txBody>
          <a:bodyPr wrap="square" lIns="0" tIns="0" rIns="0" bIns="0" rtlCol="0" anchor="ctr"/>
          <a:lstStyle/>
          <a:p>
            <a:pPr algn="ctr" indent="0" marL="0">
              <a:buNone/>
            </a:pPr>
            <a:r>
              <a:rPr lang="en-US" sz="1300" b="1" dirty="0">
                <a:solidFill>
                  <a:srgbClr val="5CE1E6"/>
                </a:solidFill>
                <a:latin typeface="Courier New" pitchFamily="34" charset="0"/>
                <a:ea typeface="Courier New" pitchFamily="34" charset="-122"/>
                <a:cs typeface="Courier New" pitchFamily="34" charset="-120"/>
              </a:rPr>
              <a:t>git config</a:t>
            </a:r>
            <a:endParaRPr lang="en-US" sz="1300" dirty="0"/>
          </a:p>
        </p:txBody>
      </p:sp>
      <p:sp>
        <p:nvSpPr>
          <p:cNvPr id="10" name="Text 7"/>
          <p:cNvSpPr txBox="1"/>
          <p:nvPr/>
        </p:nvSpPr>
        <p:spPr>
          <a:xfrm>
            <a:off x="4297680" y="2240280"/>
            <a:ext cx="7071055" cy="1783080"/>
          </a:xfrm>
          <a:prstGeom prst="rect">
            <a:avLst/>
          </a:prstGeom>
          <a:noFill/>
          <a:ln/>
        </p:spPr>
        <p:txBody>
          <a:bodyPr wrap="square" lIns="0" tIns="0" rIns="0" bIns="0" rtlCol="0" anchor="ctr"/>
          <a:lstStyle/>
          <a:p>
            <a:pPr indent="0" marL="0">
              <a:lnSpc>
                <a:spcPct val="115000"/>
              </a:lnSpc>
              <a:buNone/>
            </a:pPr>
            <a:r>
              <a:rPr lang="en-US" sz="1300" b="1" dirty="0">
                <a:solidFill>
                  <a:srgbClr val="22263F"/>
                </a:solidFill>
                <a:latin typeface="Courier New" pitchFamily="34" charset="0"/>
                <a:ea typeface="Courier New" pitchFamily="34" charset="-122"/>
                <a:cs typeface="Courier New" pitchFamily="34" charset="-120"/>
              </a:rPr>
              <a:t>git config --global user.name "Your Name"</a:t>
            </a:r>
            <a:pPr indent="0" marL="0">
              <a:lnSpc>
                <a:spcPct val="115000"/>
              </a:lnSpc>
              <a:buNone/>
            </a:pPr>
            <a:endParaRPr lang="en-US" sz="1300" dirty="0"/>
          </a:p>
          <a:p>
            <a:pPr indent="0" marL="0">
              <a:lnSpc>
                <a:spcPct val="115000"/>
              </a:lnSpc>
              <a:buNone/>
            </a:pPr>
            <a:r>
              <a:rPr lang="en-US" sz="1300" dirty="0">
                <a:solidFill>
                  <a:srgbClr val="22263F"/>
                </a:solidFill>
                <a:latin typeface="Calibri" pitchFamily="34" charset="0"/>
                <a:ea typeface="Calibri" pitchFamily="34" charset="-122"/>
                <a:cs typeface="Calibri" pitchFamily="34" charset="-120"/>
              </a:rPr>
              <a:t>and </a:t>
            </a:r>
            <a:endParaRPr lang="en-US" sz="1300" dirty="0"/>
          </a:p>
          <a:p>
            <a:pPr indent="0" marL="0">
              <a:lnSpc>
                <a:spcPct val="115000"/>
              </a:lnSpc>
              <a:buNone/>
            </a:pPr>
            <a:r>
              <a:rPr lang="en-US" sz="1300" b="1" dirty="0">
                <a:solidFill>
                  <a:srgbClr val="22263F"/>
                </a:solidFill>
                <a:latin typeface="Courier New" pitchFamily="34" charset="0"/>
                <a:ea typeface="Courier New" pitchFamily="34" charset="-122"/>
                <a:cs typeface="Courier New" pitchFamily="34" charset="-120"/>
              </a:rPr>
              <a:t>user.email</a:t>
            </a:r>
            <a:pPr indent="0" marL="0">
              <a:lnSpc>
                <a:spcPct val="115000"/>
              </a:lnSpc>
              <a:buNone/>
            </a:pPr>
            <a:r>
              <a:rPr lang="en-US" sz="1300" dirty="0">
                <a:solidFill>
                  <a:srgbClr val="22263F"/>
                </a:solidFill>
                <a:latin typeface="Calibri" pitchFamily="34" charset="0"/>
                <a:ea typeface="Calibri" pitchFamily="34" charset="-122"/>
                <a:cs typeface="Calibri" pitchFamily="34" charset="-120"/>
              </a:rPr>
              <a:t> set the identity attached to every commit you make on this machine.</a:t>
            </a:r>
            <a:endParaRPr lang="en-US" sz="1300" dirty="0"/>
          </a:p>
        </p:txBody>
      </p:sp>
      <p:sp>
        <p:nvSpPr>
          <p:cNvPr id="11" name="Shape 8"/>
          <p:cNvSpPr/>
          <p:nvPr/>
        </p:nvSpPr>
        <p:spPr>
          <a:xfrm>
            <a:off x="548640" y="4389120"/>
            <a:ext cx="11094415" cy="1965960"/>
          </a:xfrm>
          <a:prstGeom prst="roundRect">
            <a:avLst>
              <a:gd name="adj" fmla="val 4651"/>
            </a:avLst>
          </a:prstGeom>
          <a:solidFill>
            <a:srgbClr val="FFFFFF"/>
          </a:solidFill>
          <a:ln/>
          <a:effectLst>
            <a:outerShdw sx="100000" sy="100000" kx="0" ky="0" algn="bl" rotWithShape="0" blurRad="101600" dist="25400" dir="5400000">
              <a:srgbClr val="1B1F3B">
                <a:alpha val="10000"/>
              </a:srgbClr>
            </a:outerShdw>
          </a:effectLst>
        </p:spPr>
      </p:sp>
      <p:sp>
        <p:nvSpPr>
          <p:cNvPr id="12" name="Shape 9"/>
          <p:cNvSpPr/>
          <p:nvPr/>
        </p:nvSpPr>
        <p:spPr>
          <a:xfrm>
            <a:off x="822960" y="5116068"/>
            <a:ext cx="3200400" cy="512064"/>
          </a:xfrm>
          <a:prstGeom prst="roundRect">
            <a:avLst>
              <a:gd name="adj" fmla="val 12500"/>
            </a:avLst>
          </a:prstGeom>
          <a:solidFill>
            <a:srgbClr val="1B1F3B"/>
          </a:solidFill>
          <a:ln/>
        </p:spPr>
      </p:sp>
      <p:sp>
        <p:nvSpPr>
          <p:cNvPr id="13" name="Text 10"/>
          <p:cNvSpPr txBox="1"/>
          <p:nvPr/>
        </p:nvSpPr>
        <p:spPr>
          <a:xfrm>
            <a:off x="822960" y="5116068"/>
            <a:ext cx="3200400" cy="512064"/>
          </a:xfrm>
          <a:prstGeom prst="rect">
            <a:avLst/>
          </a:prstGeom>
          <a:noFill/>
          <a:ln/>
        </p:spPr>
        <p:txBody>
          <a:bodyPr wrap="square" lIns="0" tIns="0" rIns="0" bIns="0" rtlCol="0" anchor="ctr"/>
          <a:lstStyle/>
          <a:p>
            <a:pPr algn="ctr" indent="0" marL="0">
              <a:buNone/>
            </a:pPr>
            <a:r>
              <a:rPr lang="en-US" sz="1300" b="1" dirty="0">
                <a:solidFill>
                  <a:srgbClr val="5CE1E6"/>
                </a:solidFill>
                <a:latin typeface="Courier New" pitchFamily="34" charset="0"/>
                <a:ea typeface="Courier New" pitchFamily="34" charset="-122"/>
                <a:cs typeface="Courier New" pitchFamily="34" charset="-120"/>
              </a:rPr>
              <a:t>git status</a:t>
            </a:r>
            <a:endParaRPr lang="en-US" sz="1300" dirty="0"/>
          </a:p>
        </p:txBody>
      </p:sp>
      <p:sp>
        <p:nvSpPr>
          <p:cNvPr id="14" name="Text 11"/>
          <p:cNvSpPr txBox="1"/>
          <p:nvPr/>
        </p:nvSpPr>
        <p:spPr>
          <a:xfrm>
            <a:off x="4297680" y="4480560"/>
            <a:ext cx="7071055" cy="1783080"/>
          </a:xfrm>
          <a:prstGeom prst="rect">
            <a:avLst/>
          </a:prstGeom>
          <a:noFill/>
          <a:ln/>
        </p:spPr>
        <p:txBody>
          <a:bodyPr wrap="square" lIns="0" tIns="0" rIns="0" bIns="0" rtlCol="0" anchor="ctr"/>
          <a:lstStyle/>
          <a:p>
            <a:pPr indent="0" marL="0">
              <a:lnSpc>
                <a:spcPct val="115000"/>
              </a:lnSpc>
              <a:buNone/>
            </a:pPr>
            <a:r>
              <a:rPr lang="en-US" sz="1300" dirty="0">
                <a:solidFill>
                  <a:srgbClr val="22263F"/>
                </a:solidFill>
                <a:latin typeface="Calibri" pitchFamily="34" charset="0"/>
                <a:ea typeface="Calibri" pitchFamily="34" charset="-122"/>
                <a:cs typeface="Calibri" pitchFamily="34" charset="-120"/>
              </a:rPr>
              <a:t>Shows the current state of your working directory — which files are modified, staged for commit, or untracked. Run it often; it never changes anything.</a:t>
            </a:r>
            <a:endParaRPr lang="en-US" sz="1300" dirty="0"/>
          </a:p>
        </p:txBody>
      </p:sp>
      <p:sp>
        <p:nvSpPr>
          <p:cNvPr id="15" name="Text 12"/>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16" name="Text 1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00B4C6"/>
                </a:solidFill>
                <a:latin typeface="Calibri" pitchFamily="34" charset="0"/>
                <a:ea typeface="Calibri" pitchFamily="34" charset="-122"/>
                <a:cs typeface="Calibri" pitchFamily="34" charset="-120"/>
              </a:rPr>
              <a:t>PHASE 2 · GIT COMMANDS (2/5)</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Save Your Work Locally</a:t>
            </a:r>
            <a:endParaRPr lang="en-US" sz="3400" dirty="0"/>
          </a:p>
        </p:txBody>
      </p:sp>
      <p:sp>
        <p:nvSpPr>
          <p:cNvPr id="4" name="Shape 2"/>
          <p:cNvSpPr/>
          <p:nvPr/>
        </p:nvSpPr>
        <p:spPr>
          <a:xfrm>
            <a:off x="10362895" y="594360"/>
            <a:ext cx="1051560" cy="1051560"/>
          </a:xfrm>
          <a:prstGeom prst="ellipse">
            <a:avLst/>
          </a:prstGeom>
          <a:solidFill>
            <a:srgbClr val="00B4C6"/>
          </a:solidFill>
          <a:ln/>
        </p:spPr>
      </p:sp>
      <p:pic>
        <p:nvPicPr>
          <p:cNvPr id="5" name="Image 0" descr="/home/claude/ai-git-deck/icons/save.png">    </p:cNvPr>
          <p:cNvPicPr>
            <a:picLocks noChangeAspect="1"/>
          </p:cNvPicPr>
          <p:nvPr/>
        </p:nvPicPr>
        <p:blipFill>
          <a:blip r:embed="rId1"/>
          <a:stretch>
            <a:fillRect/>
          </a:stretch>
        </p:blipFill>
        <p:spPr>
          <a:xfrm>
            <a:off x="10499598" y="731063"/>
            <a:ext cx="778154" cy="778154"/>
          </a:xfrm>
          <a:prstGeom prst="rect">
            <a:avLst/>
          </a:prstGeom>
        </p:spPr>
      </p:pic>
      <p:sp>
        <p:nvSpPr>
          <p:cNvPr id="6" name="Text 3"/>
          <p:cNvSpPr txBox="1"/>
          <p:nvPr/>
        </p:nvSpPr>
        <p:spPr>
          <a:xfrm>
            <a:off x="548640" y="1508760"/>
            <a:ext cx="9265615" cy="45720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Saving a change in Git is a two-step process: stage it, then commit it.</a:t>
            </a:r>
            <a:endParaRPr lang="en-US" sz="1400" dirty="0"/>
          </a:p>
        </p:txBody>
      </p:sp>
      <p:sp>
        <p:nvSpPr>
          <p:cNvPr id="7" name="Shape 4"/>
          <p:cNvSpPr/>
          <p:nvPr/>
        </p:nvSpPr>
        <p:spPr>
          <a:xfrm>
            <a:off x="548640" y="2148840"/>
            <a:ext cx="11094415" cy="1965960"/>
          </a:xfrm>
          <a:prstGeom prst="roundRect">
            <a:avLst>
              <a:gd name="adj" fmla="val 4651"/>
            </a:avLst>
          </a:prstGeom>
          <a:solidFill>
            <a:srgbClr val="FFFFFF"/>
          </a:solidFill>
          <a:ln/>
          <a:effectLst>
            <a:outerShdw sx="100000" sy="100000" kx="0" ky="0" algn="bl" rotWithShape="0" blurRad="101600" dist="25400" dir="5400000">
              <a:srgbClr val="1B1F3B">
                <a:alpha val="10000"/>
              </a:srgbClr>
            </a:outerShdw>
          </a:effectLst>
        </p:spPr>
      </p:sp>
      <p:sp>
        <p:nvSpPr>
          <p:cNvPr id="8" name="Shape 5"/>
          <p:cNvSpPr/>
          <p:nvPr/>
        </p:nvSpPr>
        <p:spPr>
          <a:xfrm>
            <a:off x="822960" y="2875788"/>
            <a:ext cx="3200400" cy="512064"/>
          </a:xfrm>
          <a:prstGeom prst="roundRect">
            <a:avLst>
              <a:gd name="adj" fmla="val 12500"/>
            </a:avLst>
          </a:prstGeom>
          <a:solidFill>
            <a:srgbClr val="1B1F3B"/>
          </a:solidFill>
          <a:ln/>
        </p:spPr>
      </p:sp>
      <p:sp>
        <p:nvSpPr>
          <p:cNvPr id="9" name="Text 6"/>
          <p:cNvSpPr txBox="1"/>
          <p:nvPr/>
        </p:nvSpPr>
        <p:spPr>
          <a:xfrm>
            <a:off x="822960" y="2875788"/>
            <a:ext cx="3200400" cy="512064"/>
          </a:xfrm>
          <a:prstGeom prst="rect">
            <a:avLst/>
          </a:prstGeom>
          <a:noFill/>
          <a:ln/>
        </p:spPr>
        <p:txBody>
          <a:bodyPr wrap="square" lIns="0" tIns="0" rIns="0" bIns="0" rtlCol="0" anchor="ctr"/>
          <a:lstStyle/>
          <a:p>
            <a:pPr algn="ctr" indent="0" marL="0">
              <a:buNone/>
            </a:pPr>
            <a:r>
              <a:rPr lang="en-US" sz="1300" b="1" dirty="0">
                <a:solidFill>
                  <a:srgbClr val="5CE1E6"/>
                </a:solidFill>
                <a:latin typeface="Courier New" pitchFamily="34" charset="0"/>
                <a:ea typeface="Courier New" pitchFamily="34" charset="-122"/>
                <a:cs typeface="Courier New" pitchFamily="34" charset="-120"/>
              </a:rPr>
              <a:t>git add</a:t>
            </a:r>
            <a:endParaRPr lang="en-US" sz="1300" dirty="0"/>
          </a:p>
        </p:txBody>
      </p:sp>
      <p:sp>
        <p:nvSpPr>
          <p:cNvPr id="10" name="Text 7"/>
          <p:cNvSpPr txBox="1"/>
          <p:nvPr/>
        </p:nvSpPr>
        <p:spPr>
          <a:xfrm>
            <a:off x="4297680" y="2240280"/>
            <a:ext cx="7071055" cy="1783080"/>
          </a:xfrm>
          <a:prstGeom prst="rect">
            <a:avLst/>
          </a:prstGeom>
          <a:noFill/>
          <a:ln/>
        </p:spPr>
        <p:txBody>
          <a:bodyPr wrap="square" lIns="0" tIns="0" rIns="0" bIns="0" rtlCol="0" anchor="ctr"/>
          <a:lstStyle/>
          <a:p>
            <a:pPr indent="0" marL="0">
              <a:lnSpc>
                <a:spcPct val="115000"/>
              </a:lnSpc>
              <a:buNone/>
            </a:pPr>
            <a:r>
              <a:rPr lang="en-US" sz="1300" b="1" dirty="0">
                <a:solidFill>
                  <a:srgbClr val="22263F"/>
                </a:solidFill>
                <a:latin typeface="Courier New" pitchFamily="34" charset="0"/>
                <a:ea typeface="Courier New" pitchFamily="34" charset="-122"/>
                <a:cs typeface="Courier New" pitchFamily="34" charset="-120"/>
              </a:rPr>
              <a:t>git add file.py</a:t>
            </a:r>
            <a:pPr indent="0" marL="0">
              <a:lnSpc>
                <a:spcPct val="115000"/>
              </a:lnSpc>
              <a:buNone/>
            </a:pPr>
            <a:r>
              <a:rPr lang="en-US" sz="1300" dirty="0">
                <a:solidFill>
                  <a:srgbClr val="22263F"/>
                </a:solidFill>
                <a:latin typeface="Calibri" pitchFamily="34" charset="0"/>
                <a:ea typeface="Calibri" pitchFamily="34" charset="-122"/>
                <a:cs typeface="Calibri" pitchFamily="34" charset="-120"/>
              </a:rPr>
              <a:t>  stages a specific file; </a:t>
            </a:r>
            <a:pPr indent="0" marL="0">
              <a:lnSpc>
                <a:spcPct val="115000"/>
              </a:lnSpc>
              <a:buNone/>
            </a:pPr>
            <a:r>
              <a:rPr lang="en-US" sz="1300" b="1" dirty="0">
                <a:solidFill>
                  <a:srgbClr val="22263F"/>
                </a:solidFill>
                <a:latin typeface="Courier New" pitchFamily="34" charset="0"/>
                <a:ea typeface="Courier New" pitchFamily="34" charset="-122"/>
                <a:cs typeface="Courier New" pitchFamily="34" charset="-120"/>
              </a:rPr>
              <a:t>git add .</a:t>
            </a:r>
            <a:pPr indent="0" marL="0">
              <a:lnSpc>
                <a:spcPct val="115000"/>
              </a:lnSpc>
              <a:buNone/>
            </a:pPr>
            <a:r>
              <a:rPr lang="en-US" sz="1300" dirty="0">
                <a:solidFill>
                  <a:srgbClr val="22263F"/>
                </a:solidFill>
                <a:latin typeface="Calibri" pitchFamily="34" charset="0"/>
                <a:ea typeface="Calibri" pitchFamily="34" charset="-122"/>
                <a:cs typeface="Calibri" pitchFamily="34" charset="-120"/>
              </a:rPr>
              <a:t>  stages every changed file in the folder, getting it ready to be committed.</a:t>
            </a:r>
            <a:endParaRPr lang="en-US" sz="1300" dirty="0"/>
          </a:p>
        </p:txBody>
      </p:sp>
      <p:sp>
        <p:nvSpPr>
          <p:cNvPr id="11" name="Shape 8"/>
          <p:cNvSpPr/>
          <p:nvPr/>
        </p:nvSpPr>
        <p:spPr>
          <a:xfrm>
            <a:off x="548640" y="4389120"/>
            <a:ext cx="11094415" cy="1965960"/>
          </a:xfrm>
          <a:prstGeom prst="roundRect">
            <a:avLst>
              <a:gd name="adj" fmla="val 4651"/>
            </a:avLst>
          </a:prstGeom>
          <a:solidFill>
            <a:srgbClr val="FFFFFF"/>
          </a:solidFill>
          <a:ln/>
          <a:effectLst>
            <a:outerShdw sx="100000" sy="100000" kx="0" ky="0" algn="bl" rotWithShape="0" blurRad="101600" dist="25400" dir="5400000">
              <a:srgbClr val="1B1F3B">
                <a:alpha val="10000"/>
              </a:srgbClr>
            </a:outerShdw>
          </a:effectLst>
        </p:spPr>
      </p:sp>
      <p:sp>
        <p:nvSpPr>
          <p:cNvPr id="12" name="Shape 9"/>
          <p:cNvSpPr/>
          <p:nvPr/>
        </p:nvSpPr>
        <p:spPr>
          <a:xfrm>
            <a:off x="822960" y="5116068"/>
            <a:ext cx="3200400" cy="512064"/>
          </a:xfrm>
          <a:prstGeom prst="roundRect">
            <a:avLst>
              <a:gd name="adj" fmla="val 12500"/>
            </a:avLst>
          </a:prstGeom>
          <a:solidFill>
            <a:srgbClr val="1B1F3B"/>
          </a:solidFill>
          <a:ln/>
        </p:spPr>
      </p:sp>
      <p:sp>
        <p:nvSpPr>
          <p:cNvPr id="13" name="Text 10"/>
          <p:cNvSpPr txBox="1"/>
          <p:nvPr/>
        </p:nvSpPr>
        <p:spPr>
          <a:xfrm>
            <a:off x="822960" y="5116068"/>
            <a:ext cx="3200400" cy="512064"/>
          </a:xfrm>
          <a:prstGeom prst="rect">
            <a:avLst/>
          </a:prstGeom>
          <a:noFill/>
          <a:ln/>
        </p:spPr>
        <p:txBody>
          <a:bodyPr wrap="square" lIns="0" tIns="0" rIns="0" bIns="0" rtlCol="0" anchor="ctr"/>
          <a:lstStyle/>
          <a:p>
            <a:pPr algn="ctr" indent="0" marL="0">
              <a:buNone/>
            </a:pPr>
            <a:r>
              <a:rPr lang="en-US" sz="1300" b="1" dirty="0">
                <a:solidFill>
                  <a:srgbClr val="5CE1E6"/>
                </a:solidFill>
                <a:latin typeface="Courier New" pitchFamily="34" charset="0"/>
                <a:ea typeface="Courier New" pitchFamily="34" charset="-122"/>
                <a:cs typeface="Courier New" pitchFamily="34" charset="-120"/>
              </a:rPr>
              <a:t>git commit</a:t>
            </a:r>
            <a:endParaRPr lang="en-US" sz="1300" dirty="0"/>
          </a:p>
        </p:txBody>
      </p:sp>
      <p:sp>
        <p:nvSpPr>
          <p:cNvPr id="14" name="Text 11"/>
          <p:cNvSpPr txBox="1"/>
          <p:nvPr/>
        </p:nvSpPr>
        <p:spPr>
          <a:xfrm>
            <a:off x="4297680" y="4480560"/>
            <a:ext cx="7071055" cy="1783080"/>
          </a:xfrm>
          <a:prstGeom prst="rect">
            <a:avLst/>
          </a:prstGeom>
          <a:noFill/>
          <a:ln/>
        </p:spPr>
        <p:txBody>
          <a:bodyPr wrap="square" lIns="0" tIns="0" rIns="0" bIns="0" rtlCol="0" anchor="ctr"/>
          <a:lstStyle/>
          <a:p>
            <a:pPr indent="0" marL="0">
              <a:lnSpc>
                <a:spcPct val="115000"/>
              </a:lnSpc>
              <a:buNone/>
            </a:pPr>
            <a:r>
              <a:rPr lang="en-US" sz="1300" b="1" dirty="0">
                <a:solidFill>
                  <a:srgbClr val="22263F"/>
                </a:solidFill>
                <a:latin typeface="Courier New" pitchFamily="34" charset="0"/>
                <a:ea typeface="Courier New" pitchFamily="34" charset="-122"/>
                <a:cs typeface="Courier New" pitchFamily="34" charset="-120"/>
              </a:rPr>
              <a:t>git commit -m "message"</a:t>
            </a:r>
            <a:pPr indent="0" marL="0">
              <a:lnSpc>
                <a:spcPct val="115000"/>
              </a:lnSpc>
              <a:buNone/>
            </a:pPr>
            <a:r>
              <a:rPr lang="en-US" sz="1300" dirty="0">
                <a:solidFill>
                  <a:srgbClr val="22263F"/>
                </a:solidFill>
                <a:latin typeface="Calibri" pitchFamily="34" charset="0"/>
                <a:ea typeface="Calibri" pitchFamily="34" charset="-122"/>
                <a:cs typeface="Calibri" pitchFamily="34" charset="-120"/>
              </a:rPr>
              <a:t>  saves a permanent snapshot of everything staged, along with a short description of what changed and why.</a:t>
            </a:r>
            <a:endParaRPr lang="en-US" sz="1300" dirty="0"/>
          </a:p>
        </p:txBody>
      </p:sp>
      <p:sp>
        <p:nvSpPr>
          <p:cNvPr id="15" name="Text 12"/>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16" name="Text 1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00B4C6"/>
                </a:solidFill>
                <a:latin typeface="Calibri" pitchFamily="34" charset="0"/>
                <a:ea typeface="Calibri" pitchFamily="34" charset="-122"/>
                <a:cs typeface="Calibri" pitchFamily="34" charset="-120"/>
              </a:rPr>
              <a:t>PHASE 2 · GIT COMMANDS (3/5)</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Connect to a Remote Repository</a:t>
            </a:r>
            <a:endParaRPr lang="en-US" sz="3400" dirty="0"/>
          </a:p>
        </p:txBody>
      </p:sp>
      <p:sp>
        <p:nvSpPr>
          <p:cNvPr id="4" name="Shape 2"/>
          <p:cNvSpPr/>
          <p:nvPr/>
        </p:nvSpPr>
        <p:spPr>
          <a:xfrm>
            <a:off x="10362895" y="594360"/>
            <a:ext cx="1051560" cy="1051560"/>
          </a:xfrm>
          <a:prstGeom prst="ellipse">
            <a:avLst/>
          </a:prstGeom>
          <a:solidFill>
            <a:srgbClr val="00B4C6"/>
          </a:solidFill>
          <a:ln/>
        </p:spPr>
      </p:sp>
      <p:pic>
        <p:nvPicPr>
          <p:cNvPr id="5" name="Image 0" descr="/home/claude/ai-git-deck/icons/cloudupload.png">    </p:cNvPr>
          <p:cNvPicPr>
            <a:picLocks noChangeAspect="1"/>
          </p:cNvPicPr>
          <p:nvPr/>
        </p:nvPicPr>
        <p:blipFill>
          <a:blip r:embed="rId1"/>
          <a:stretch>
            <a:fillRect/>
          </a:stretch>
        </p:blipFill>
        <p:spPr>
          <a:xfrm>
            <a:off x="10499598" y="731063"/>
            <a:ext cx="778154" cy="778154"/>
          </a:xfrm>
          <a:prstGeom prst="rect">
            <a:avLst/>
          </a:prstGeom>
        </p:spPr>
      </p:pic>
      <p:sp>
        <p:nvSpPr>
          <p:cNvPr id="6" name="Text 3"/>
          <p:cNvSpPr txBox="1"/>
          <p:nvPr/>
        </p:nvSpPr>
        <p:spPr>
          <a:xfrm>
            <a:off x="548640" y="1508760"/>
            <a:ext cx="9265615" cy="45720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These commands move code between your machine and GitHub.</a:t>
            </a:r>
            <a:endParaRPr lang="en-US" sz="1400" dirty="0"/>
          </a:p>
        </p:txBody>
      </p:sp>
      <p:sp>
        <p:nvSpPr>
          <p:cNvPr id="7" name="Shape 4"/>
          <p:cNvSpPr/>
          <p:nvPr/>
        </p:nvSpPr>
        <p:spPr>
          <a:xfrm>
            <a:off x="548640" y="2148840"/>
            <a:ext cx="11094415" cy="1965960"/>
          </a:xfrm>
          <a:prstGeom prst="roundRect">
            <a:avLst>
              <a:gd name="adj" fmla="val 4651"/>
            </a:avLst>
          </a:prstGeom>
          <a:solidFill>
            <a:srgbClr val="FFFFFF"/>
          </a:solidFill>
          <a:ln/>
          <a:effectLst>
            <a:outerShdw sx="100000" sy="100000" kx="0" ky="0" algn="bl" rotWithShape="0" blurRad="101600" dist="25400" dir="5400000">
              <a:srgbClr val="1B1F3B">
                <a:alpha val="10000"/>
              </a:srgbClr>
            </a:outerShdw>
          </a:effectLst>
        </p:spPr>
      </p:sp>
      <p:sp>
        <p:nvSpPr>
          <p:cNvPr id="8" name="Shape 5"/>
          <p:cNvSpPr/>
          <p:nvPr/>
        </p:nvSpPr>
        <p:spPr>
          <a:xfrm>
            <a:off x="822960" y="2875788"/>
            <a:ext cx="3200400" cy="512064"/>
          </a:xfrm>
          <a:prstGeom prst="roundRect">
            <a:avLst>
              <a:gd name="adj" fmla="val 12500"/>
            </a:avLst>
          </a:prstGeom>
          <a:solidFill>
            <a:srgbClr val="1B1F3B"/>
          </a:solidFill>
          <a:ln/>
        </p:spPr>
      </p:sp>
      <p:sp>
        <p:nvSpPr>
          <p:cNvPr id="9" name="Text 6"/>
          <p:cNvSpPr txBox="1"/>
          <p:nvPr/>
        </p:nvSpPr>
        <p:spPr>
          <a:xfrm>
            <a:off x="822960" y="2875788"/>
            <a:ext cx="3200400" cy="512064"/>
          </a:xfrm>
          <a:prstGeom prst="rect">
            <a:avLst/>
          </a:prstGeom>
          <a:noFill/>
          <a:ln/>
        </p:spPr>
        <p:txBody>
          <a:bodyPr wrap="square" lIns="0" tIns="0" rIns="0" bIns="0" rtlCol="0" anchor="ctr"/>
          <a:lstStyle/>
          <a:p>
            <a:pPr algn="ctr" indent="0" marL="0">
              <a:buNone/>
            </a:pPr>
            <a:r>
              <a:rPr lang="en-US" sz="1300" b="1" dirty="0">
                <a:solidFill>
                  <a:srgbClr val="5CE1E6"/>
                </a:solidFill>
                <a:latin typeface="Courier New" pitchFamily="34" charset="0"/>
                <a:ea typeface="Courier New" pitchFamily="34" charset="-122"/>
                <a:cs typeface="Courier New" pitchFamily="34" charset="-120"/>
              </a:rPr>
              <a:t>git clone</a:t>
            </a:r>
            <a:endParaRPr lang="en-US" sz="1300" dirty="0"/>
          </a:p>
        </p:txBody>
      </p:sp>
      <p:sp>
        <p:nvSpPr>
          <p:cNvPr id="10" name="Text 7"/>
          <p:cNvSpPr txBox="1"/>
          <p:nvPr/>
        </p:nvSpPr>
        <p:spPr>
          <a:xfrm>
            <a:off x="4297680" y="2240280"/>
            <a:ext cx="7071055" cy="1783080"/>
          </a:xfrm>
          <a:prstGeom prst="rect">
            <a:avLst/>
          </a:prstGeom>
          <a:noFill/>
          <a:ln/>
        </p:spPr>
        <p:txBody>
          <a:bodyPr wrap="square" lIns="0" tIns="0" rIns="0" bIns="0" rtlCol="0" anchor="ctr"/>
          <a:lstStyle/>
          <a:p>
            <a:pPr indent="0" marL="0">
              <a:lnSpc>
                <a:spcPct val="115000"/>
              </a:lnSpc>
              <a:buNone/>
            </a:pPr>
            <a:r>
              <a:rPr lang="en-US" sz="1300" b="1" dirty="0">
                <a:solidFill>
                  <a:srgbClr val="22263F"/>
                </a:solidFill>
                <a:latin typeface="Courier New" pitchFamily="34" charset="0"/>
                <a:ea typeface="Courier New" pitchFamily="34" charset="-122"/>
                <a:cs typeface="Courier New" pitchFamily="34" charset="-120"/>
              </a:rPr>
              <a:t>git clone &lt;repo-url&gt;</a:t>
            </a:r>
            <a:pPr indent="0" marL="0">
              <a:lnSpc>
                <a:spcPct val="115000"/>
              </a:lnSpc>
              <a:buNone/>
            </a:pPr>
            <a:r>
              <a:rPr lang="en-US" sz="1300" dirty="0">
                <a:solidFill>
                  <a:srgbClr val="22263F"/>
                </a:solidFill>
                <a:latin typeface="Calibri" pitchFamily="34" charset="0"/>
                <a:ea typeface="Calibri" pitchFamily="34" charset="-122"/>
                <a:cs typeface="Calibri" pitchFamily="34" charset="-120"/>
              </a:rPr>
              <a:t>  downloads a full copy of a remote GitHub repository — including its entire history — onto your machine.</a:t>
            </a:r>
            <a:endParaRPr lang="en-US" sz="1300" dirty="0"/>
          </a:p>
        </p:txBody>
      </p:sp>
      <p:sp>
        <p:nvSpPr>
          <p:cNvPr id="11" name="Shape 8"/>
          <p:cNvSpPr/>
          <p:nvPr/>
        </p:nvSpPr>
        <p:spPr>
          <a:xfrm>
            <a:off x="548640" y="4389120"/>
            <a:ext cx="11094415" cy="1965960"/>
          </a:xfrm>
          <a:prstGeom prst="roundRect">
            <a:avLst>
              <a:gd name="adj" fmla="val 4651"/>
            </a:avLst>
          </a:prstGeom>
          <a:solidFill>
            <a:srgbClr val="FFFFFF"/>
          </a:solidFill>
          <a:ln/>
          <a:effectLst>
            <a:outerShdw sx="100000" sy="100000" kx="0" ky="0" algn="bl" rotWithShape="0" blurRad="101600" dist="25400" dir="5400000">
              <a:srgbClr val="1B1F3B">
                <a:alpha val="10000"/>
              </a:srgbClr>
            </a:outerShdw>
          </a:effectLst>
        </p:spPr>
      </p:sp>
      <p:sp>
        <p:nvSpPr>
          <p:cNvPr id="12" name="Shape 9"/>
          <p:cNvSpPr/>
          <p:nvPr/>
        </p:nvSpPr>
        <p:spPr>
          <a:xfrm>
            <a:off x="822960" y="5116068"/>
            <a:ext cx="3200400" cy="512064"/>
          </a:xfrm>
          <a:prstGeom prst="roundRect">
            <a:avLst>
              <a:gd name="adj" fmla="val 12500"/>
            </a:avLst>
          </a:prstGeom>
          <a:solidFill>
            <a:srgbClr val="1B1F3B"/>
          </a:solidFill>
          <a:ln/>
        </p:spPr>
      </p:sp>
      <p:sp>
        <p:nvSpPr>
          <p:cNvPr id="13" name="Text 10"/>
          <p:cNvSpPr txBox="1"/>
          <p:nvPr/>
        </p:nvSpPr>
        <p:spPr>
          <a:xfrm>
            <a:off x="822960" y="5116068"/>
            <a:ext cx="3200400" cy="512064"/>
          </a:xfrm>
          <a:prstGeom prst="rect">
            <a:avLst/>
          </a:prstGeom>
          <a:noFill/>
          <a:ln/>
        </p:spPr>
        <p:txBody>
          <a:bodyPr wrap="square" lIns="0" tIns="0" rIns="0" bIns="0" rtlCol="0" anchor="ctr"/>
          <a:lstStyle/>
          <a:p>
            <a:pPr algn="ctr" indent="0" marL="0">
              <a:buNone/>
            </a:pPr>
            <a:r>
              <a:rPr lang="en-US" sz="1300" b="1" dirty="0">
                <a:solidFill>
                  <a:srgbClr val="5CE1E6"/>
                </a:solidFill>
                <a:latin typeface="Courier New" pitchFamily="34" charset="0"/>
                <a:ea typeface="Courier New" pitchFamily="34" charset="-122"/>
                <a:cs typeface="Courier New" pitchFamily="34" charset="-120"/>
              </a:rPr>
              <a:t>git push</a:t>
            </a:r>
            <a:endParaRPr lang="en-US" sz="1300" dirty="0"/>
          </a:p>
        </p:txBody>
      </p:sp>
      <p:sp>
        <p:nvSpPr>
          <p:cNvPr id="14" name="Text 11"/>
          <p:cNvSpPr txBox="1"/>
          <p:nvPr/>
        </p:nvSpPr>
        <p:spPr>
          <a:xfrm>
            <a:off x="4297680" y="4480560"/>
            <a:ext cx="7071055" cy="1783080"/>
          </a:xfrm>
          <a:prstGeom prst="rect">
            <a:avLst/>
          </a:prstGeom>
          <a:noFill/>
          <a:ln/>
        </p:spPr>
        <p:txBody>
          <a:bodyPr wrap="square" lIns="0" tIns="0" rIns="0" bIns="0" rtlCol="0" anchor="ctr"/>
          <a:lstStyle/>
          <a:p>
            <a:pPr indent="0" marL="0">
              <a:lnSpc>
                <a:spcPct val="115000"/>
              </a:lnSpc>
              <a:buNone/>
            </a:pPr>
            <a:r>
              <a:rPr lang="en-US" sz="1300" b="1" dirty="0">
                <a:solidFill>
                  <a:srgbClr val="22263F"/>
                </a:solidFill>
                <a:latin typeface="Courier New" pitchFamily="34" charset="0"/>
                <a:ea typeface="Courier New" pitchFamily="34" charset="-122"/>
                <a:cs typeface="Courier New" pitchFamily="34" charset="-120"/>
              </a:rPr>
              <a:t>git push</a:t>
            </a:r>
            <a:pPr indent="0" marL="0">
              <a:lnSpc>
                <a:spcPct val="115000"/>
              </a:lnSpc>
              <a:buNone/>
            </a:pPr>
            <a:r>
              <a:rPr lang="en-US" sz="1300" dirty="0">
                <a:solidFill>
                  <a:srgbClr val="22263F"/>
                </a:solidFill>
                <a:latin typeface="Calibri" pitchFamily="34" charset="0"/>
                <a:ea typeface="Calibri" pitchFamily="34" charset="-122"/>
                <a:cs typeface="Calibri" pitchFamily="34" charset="-120"/>
              </a:rPr>
              <a:t>  uploads your local commits to the remote repository on GitHub, making them visible to everyone with access.</a:t>
            </a:r>
            <a:endParaRPr lang="en-US" sz="1300" dirty="0"/>
          </a:p>
        </p:txBody>
      </p:sp>
      <p:sp>
        <p:nvSpPr>
          <p:cNvPr id="15" name="Text 12"/>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16" name="Text 1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00B4C6"/>
                </a:solidFill>
                <a:latin typeface="Calibri" pitchFamily="34" charset="0"/>
                <a:ea typeface="Calibri" pitchFamily="34" charset="-122"/>
                <a:cs typeface="Calibri" pitchFamily="34" charset="-120"/>
              </a:rPr>
              <a:t>PHASE 2 · GIT COMMANDS (4/5)</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Branching Out</a:t>
            </a:r>
            <a:endParaRPr lang="en-US" sz="3400" dirty="0"/>
          </a:p>
        </p:txBody>
      </p:sp>
      <p:sp>
        <p:nvSpPr>
          <p:cNvPr id="4" name="Shape 2"/>
          <p:cNvSpPr/>
          <p:nvPr/>
        </p:nvSpPr>
        <p:spPr>
          <a:xfrm>
            <a:off x="10362895" y="594360"/>
            <a:ext cx="1051560" cy="1051560"/>
          </a:xfrm>
          <a:prstGeom prst="ellipse">
            <a:avLst/>
          </a:prstGeom>
          <a:solidFill>
            <a:srgbClr val="00B4C6"/>
          </a:solidFill>
          <a:ln/>
        </p:spPr>
      </p:sp>
      <p:pic>
        <p:nvPicPr>
          <p:cNvPr id="5" name="Image 0" descr="/home/claude/ai-git-deck/icons/codebranch.png">    </p:cNvPr>
          <p:cNvPicPr>
            <a:picLocks noChangeAspect="1"/>
          </p:cNvPicPr>
          <p:nvPr/>
        </p:nvPicPr>
        <p:blipFill>
          <a:blip r:embed="rId1"/>
          <a:stretch>
            <a:fillRect/>
          </a:stretch>
        </p:blipFill>
        <p:spPr>
          <a:xfrm>
            <a:off x="10499598" y="731063"/>
            <a:ext cx="778154" cy="778154"/>
          </a:xfrm>
          <a:prstGeom prst="rect">
            <a:avLst/>
          </a:prstGeom>
        </p:spPr>
      </p:pic>
      <p:sp>
        <p:nvSpPr>
          <p:cNvPr id="6" name="Text 3"/>
          <p:cNvSpPr txBox="1"/>
          <p:nvPr/>
        </p:nvSpPr>
        <p:spPr>
          <a:xfrm>
            <a:off x="548640" y="1508760"/>
            <a:ext cx="9265615" cy="45720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Branches let you work on new features without touching the main codebase.</a:t>
            </a:r>
            <a:endParaRPr lang="en-US" sz="1400" dirty="0"/>
          </a:p>
        </p:txBody>
      </p:sp>
      <p:sp>
        <p:nvSpPr>
          <p:cNvPr id="7" name="Shape 4"/>
          <p:cNvSpPr/>
          <p:nvPr/>
        </p:nvSpPr>
        <p:spPr>
          <a:xfrm>
            <a:off x="548640" y="2011680"/>
            <a:ext cx="11094415" cy="1188720"/>
          </a:xfrm>
          <a:prstGeom prst="roundRect">
            <a:avLst>
              <a:gd name="adj" fmla="val 7692"/>
            </a:avLst>
          </a:prstGeom>
          <a:solidFill>
            <a:srgbClr val="FFFFFF"/>
          </a:solidFill>
          <a:ln/>
          <a:effectLst>
            <a:outerShdw sx="100000" sy="100000" kx="0" ky="0" algn="bl" rotWithShape="0" blurRad="101600" dist="25400" dir="5400000">
              <a:srgbClr val="1B1F3B">
                <a:alpha val="10000"/>
              </a:srgbClr>
            </a:outerShdw>
          </a:effectLst>
        </p:spPr>
      </p:sp>
      <p:sp>
        <p:nvSpPr>
          <p:cNvPr id="8" name="Shape 5"/>
          <p:cNvSpPr/>
          <p:nvPr/>
        </p:nvSpPr>
        <p:spPr>
          <a:xfrm>
            <a:off x="822960" y="2350008"/>
            <a:ext cx="3200400" cy="512064"/>
          </a:xfrm>
          <a:prstGeom prst="roundRect">
            <a:avLst>
              <a:gd name="adj" fmla="val 12500"/>
            </a:avLst>
          </a:prstGeom>
          <a:solidFill>
            <a:srgbClr val="1B1F3B"/>
          </a:solidFill>
          <a:ln/>
        </p:spPr>
      </p:sp>
      <p:sp>
        <p:nvSpPr>
          <p:cNvPr id="9" name="Text 6"/>
          <p:cNvSpPr txBox="1"/>
          <p:nvPr/>
        </p:nvSpPr>
        <p:spPr>
          <a:xfrm>
            <a:off x="822960" y="2350008"/>
            <a:ext cx="3200400" cy="512064"/>
          </a:xfrm>
          <a:prstGeom prst="rect">
            <a:avLst/>
          </a:prstGeom>
          <a:noFill/>
          <a:ln/>
        </p:spPr>
        <p:txBody>
          <a:bodyPr wrap="square" lIns="0" tIns="0" rIns="0" bIns="0" rtlCol="0" anchor="ctr"/>
          <a:lstStyle/>
          <a:p>
            <a:pPr algn="ctr" indent="0" marL="0">
              <a:buNone/>
            </a:pPr>
            <a:r>
              <a:rPr lang="en-US" sz="1300" b="1" dirty="0">
                <a:solidFill>
                  <a:srgbClr val="5CE1E6"/>
                </a:solidFill>
                <a:latin typeface="Courier New" pitchFamily="34" charset="0"/>
                <a:ea typeface="Courier New" pitchFamily="34" charset="-122"/>
                <a:cs typeface="Courier New" pitchFamily="34" charset="-120"/>
              </a:rPr>
              <a:t>git branch</a:t>
            </a:r>
            <a:endParaRPr lang="en-US" sz="1300" dirty="0"/>
          </a:p>
        </p:txBody>
      </p:sp>
      <p:sp>
        <p:nvSpPr>
          <p:cNvPr id="10" name="Text 7"/>
          <p:cNvSpPr txBox="1"/>
          <p:nvPr/>
        </p:nvSpPr>
        <p:spPr>
          <a:xfrm>
            <a:off x="4297680" y="2103120"/>
            <a:ext cx="7071055" cy="1005840"/>
          </a:xfrm>
          <a:prstGeom prst="rect">
            <a:avLst/>
          </a:prstGeom>
          <a:noFill/>
          <a:ln/>
        </p:spPr>
        <p:txBody>
          <a:bodyPr wrap="square" lIns="0" tIns="0" rIns="0" bIns="0" rtlCol="0" anchor="ctr"/>
          <a:lstStyle/>
          <a:p>
            <a:pPr indent="0" marL="0">
              <a:lnSpc>
                <a:spcPct val="115000"/>
              </a:lnSpc>
              <a:buNone/>
            </a:pPr>
            <a:r>
              <a:rPr lang="en-US" sz="1250" b="1" dirty="0">
                <a:solidFill>
                  <a:srgbClr val="22263F"/>
                </a:solidFill>
                <a:latin typeface="Courier New" pitchFamily="34" charset="0"/>
                <a:ea typeface="Courier New" pitchFamily="34" charset="-122"/>
                <a:cs typeface="Courier New" pitchFamily="34" charset="-120"/>
              </a:rPr>
              <a:t>git branch</a:t>
            </a:r>
            <a:pPr indent="0" marL="0">
              <a:lnSpc>
                <a:spcPct val="115000"/>
              </a:lnSpc>
              <a:buNone/>
            </a:pPr>
            <a:r>
              <a:rPr lang="en-US" sz="1250" dirty="0">
                <a:solidFill>
                  <a:srgbClr val="22263F"/>
                </a:solidFill>
                <a:latin typeface="Calibri" pitchFamily="34" charset="0"/>
                <a:ea typeface="Calibri" pitchFamily="34" charset="-122"/>
                <a:cs typeface="Calibri" pitchFamily="34" charset="-120"/>
              </a:rPr>
              <a:t>  lists existing branches; </a:t>
            </a:r>
            <a:pPr indent="0" marL="0">
              <a:lnSpc>
                <a:spcPct val="115000"/>
              </a:lnSpc>
              <a:buNone/>
            </a:pPr>
            <a:r>
              <a:rPr lang="en-US" sz="1250" b="1" dirty="0">
                <a:solidFill>
                  <a:srgbClr val="22263F"/>
                </a:solidFill>
                <a:latin typeface="Courier New" pitchFamily="34" charset="0"/>
                <a:ea typeface="Courier New" pitchFamily="34" charset="-122"/>
                <a:cs typeface="Courier New" pitchFamily="34" charset="-120"/>
              </a:rPr>
              <a:t>git branch new-feature</a:t>
            </a:r>
            <a:pPr indent="0" marL="0">
              <a:lnSpc>
                <a:spcPct val="115000"/>
              </a:lnSpc>
              <a:buNone/>
            </a:pPr>
            <a:r>
              <a:rPr lang="en-US" sz="1250" dirty="0">
                <a:solidFill>
                  <a:srgbClr val="22263F"/>
                </a:solidFill>
                <a:latin typeface="Calibri" pitchFamily="34" charset="0"/>
                <a:ea typeface="Calibri" pitchFamily="34" charset="-122"/>
                <a:cs typeface="Calibri" pitchFamily="34" charset="-120"/>
              </a:rPr>
              <a:t>  creates a new one.</a:t>
            </a:r>
            <a:endParaRPr lang="en-US" sz="1250" dirty="0"/>
          </a:p>
        </p:txBody>
      </p:sp>
      <p:sp>
        <p:nvSpPr>
          <p:cNvPr id="11" name="Shape 8"/>
          <p:cNvSpPr/>
          <p:nvPr/>
        </p:nvSpPr>
        <p:spPr>
          <a:xfrm>
            <a:off x="548640" y="3401568"/>
            <a:ext cx="11094415" cy="1188720"/>
          </a:xfrm>
          <a:prstGeom prst="roundRect">
            <a:avLst>
              <a:gd name="adj" fmla="val 7692"/>
            </a:avLst>
          </a:prstGeom>
          <a:solidFill>
            <a:srgbClr val="FFFFFF"/>
          </a:solidFill>
          <a:ln/>
          <a:effectLst>
            <a:outerShdw sx="100000" sy="100000" kx="0" ky="0" algn="bl" rotWithShape="0" blurRad="101600" dist="25400" dir="5400000">
              <a:srgbClr val="1B1F3B">
                <a:alpha val="10000"/>
              </a:srgbClr>
            </a:outerShdw>
          </a:effectLst>
        </p:spPr>
      </p:sp>
      <p:sp>
        <p:nvSpPr>
          <p:cNvPr id="12" name="Shape 9"/>
          <p:cNvSpPr/>
          <p:nvPr/>
        </p:nvSpPr>
        <p:spPr>
          <a:xfrm>
            <a:off x="822960" y="3739896"/>
            <a:ext cx="3200400" cy="512064"/>
          </a:xfrm>
          <a:prstGeom prst="roundRect">
            <a:avLst>
              <a:gd name="adj" fmla="val 12500"/>
            </a:avLst>
          </a:prstGeom>
          <a:solidFill>
            <a:srgbClr val="1B1F3B"/>
          </a:solidFill>
          <a:ln/>
        </p:spPr>
      </p:sp>
      <p:sp>
        <p:nvSpPr>
          <p:cNvPr id="13" name="Text 10"/>
          <p:cNvSpPr txBox="1"/>
          <p:nvPr/>
        </p:nvSpPr>
        <p:spPr>
          <a:xfrm>
            <a:off x="822960" y="3739896"/>
            <a:ext cx="3200400" cy="512064"/>
          </a:xfrm>
          <a:prstGeom prst="rect">
            <a:avLst/>
          </a:prstGeom>
          <a:noFill/>
          <a:ln/>
        </p:spPr>
        <p:txBody>
          <a:bodyPr wrap="square" lIns="0" tIns="0" rIns="0" bIns="0" rtlCol="0" anchor="ctr"/>
          <a:lstStyle/>
          <a:p>
            <a:pPr algn="ctr" indent="0" marL="0">
              <a:buNone/>
            </a:pPr>
            <a:r>
              <a:rPr lang="en-US" sz="1300" b="1" dirty="0">
                <a:solidFill>
                  <a:srgbClr val="5CE1E6"/>
                </a:solidFill>
                <a:latin typeface="Courier New" pitchFamily="34" charset="0"/>
                <a:ea typeface="Courier New" pitchFamily="34" charset="-122"/>
                <a:cs typeface="Courier New" pitchFamily="34" charset="-120"/>
              </a:rPr>
              <a:t>git switch</a:t>
            </a:r>
            <a:endParaRPr lang="en-US" sz="1300" dirty="0"/>
          </a:p>
        </p:txBody>
      </p:sp>
      <p:sp>
        <p:nvSpPr>
          <p:cNvPr id="14" name="Text 11"/>
          <p:cNvSpPr txBox="1"/>
          <p:nvPr/>
        </p:nvSpPr>
        <p:spPr>
          <a:xfrm>
            <a:off x="4297680" y="3493008"/>
            <a:ext cx="7071055" cy="1005840"/>
          </a:xfrm>
          <a:prstGeom prst="rect">
            <a:avLst/>
          </a:prstGeom>
          <a:noFill/>
          <a:ln/>
        </p:spPr>
        <p:txBody>
          <a:bodyPr wrap="square" lIns="0" tIns="0" rIns="0" bIns="0" rtlCol="0" anchor="ctr"/>
          <a:lstStyle/>
          <a:p>
            <a:pPr indent="0" marL="0">
              <a:lnSpc>
                <a:spcPct val="115000"/>
              </a:lnSpc>
              <a:buNone/>
            </a:pPr>
            <a:r>
              <a:rPr lang="en-US" sz="1250" b="1" dirty="0">
                <a:solidFill>
                  <a:srgbClr val="22263F"/>
                </a:solidFill>
                <a:latin typeface="Courier New" pitchFamily="34" charset="0"/>
                <a:ea typeface="Courier New" pitchFamily="34" charset="-122"/>
                <a:cs typeface="Courier New" pitchFamily="34" charset="-120"/>
              </a:rPr>
              <a:t>git switch branch-name</a:t>
            </a:r>
            <a:pPr indent="0" marL="0">
              <a:lnSpc>
                <a:spcPct val="115000"/>
              </a:lnSpc>
              <a:buNone/>
            </a:pPr>
            <a:r>
              <a:rPr lang="en-US" sz="1250" dirty="0">
                <a:solidFill>
                  <a:srgbClr val="22263F"/>
                </a:solidFill>
                <a:latin typeface="Calibri" pitchFamily="34" charset="0"/>
                <a:ea typeface="Calibri" pitchFamily="34" charset="-122"/>
                <a:cs typeface="Calibri" pitchFamily="34" charset="-120"/>
              </a:rPr>
              <a:t>  moves you onto a different branch — the modern, focused command for changing branches.</a:t>
            </a:r>
            <a:endParaRPr lang="en-US" sz="1250" dirty="0"/>
          </a:p>
        </p:txBody>
      </p:sp>
      <p:sp>
        <p:nvSpPr>
          <p:cNvPr id="15" name="Shape 12"/>
          <p:cNvSpPr/>
          <p:nvPr/>
        </p:nvSpPr>
        <p:spPr>
          <a:xfrm>
            <a:off x="548640" y="4791456"/>
            <a:ext cx="11094415" cy="1188720"/>
          </a:xfrm>
          <a:prstGeom prst="roundRect">
            <a:avLst>
              <a:gd name="adj" fmla="val 7692"/>
            </a:avLst>
          </a:prstGeom>
          <a:solidFill>
            <a:srgbClr val="FFFFFF"/>
          </a:solidFill>
          <a:ln/>
          <a:effectLst>
            <a:outerShdw sx="100000" sy="100000" kx="0" ky="0" algn="bl" rotWithShape="0" blurRad="101600" dist="25400" dir="5400000">
              <a:srgbClr val="1B1F3B">
                <a:alpha val="10000"/>
              </a:srgbClr>
            </a:outerShdw>
          </a:effectLst>
        </p:spPr>
      </p:sp>
      <p:sp>
        <p:nvSpPr>
          <p:cNvPr id="16" name="Shape 13"/>
          <p:cNvSpPr/>
          <p:nvPr/>
        </p:nvSpPr>
        <p:spPr>
          <a:xfrm>
            <a:off x="822960" y="5129784"/>
            <a:ext cx="3200400" cy="512064"/>
          </a:xfrm>
          <a:prstGeom prst="roundRect">
            <a:avLst>
              <a:gd name="adj" fmla="val 12500"/>
            </a:avLst>
          </a:prstGeom>
          <a:solidFill>
            <a:srgbClr val="1B1F3B"/>
          </a:solidFill>
          <a:ln/>
        </p:spPr>
      </p:sp>
      <p:sp>
        <p:nvSpPr>
          <p:cNvPr id="17" name="Text 14"/>
          <p:cNvSpPr txBox="1"/>
          <p:nvPr/>
        </p:nvSpPr>
        <p:spPr>
          <a:xfrm>
            <a:off x="822960" y="5129784"/>
            <a:ext cx="3200400" cy="512064"/>
          </a:xfrm>
          <a:prstGeom prst="rect">
            <a:avLst/>
          </a:prstGeom>
          <a:noFill/>
          <a:ln/>
        </p:spPr>
        <p:txBody>
          <a:bodyPr wrap="square" lIns="0" tIns="0" rIns="0" bIns="0" rtlCol="0" anchor="ctr"/>
          <a:lstStyle/>
          <a:p>
            <a:pPr algn="ctr" indent="0" marL="0">
              <a:buNone/>
            </a:pPr>
            <a:r>
              <a:rPr lang="en-US" sz="1300" b="1" dirty="0">
                <a:solidFill>
                  <a:srgbClr val="5CE1E6"/>
                </a:solidFill>
                <a:latin typeface="Courier New" pitchFamily="34" charset="0"/>
                <a:ea typeface="Courier New" pitchFamily="34" charset="-122"/>
                <a:cs typeface="Courier New" pitchFamily="34" charset="-120"/>
              </a:rPr>
              <a:t>git checkout</a:t>
            </a:r>
            <a:endParaRPr lang="en-US" sz="1300" dirty="0"/>
          </a:p>
        </p:txBody>
      </p:sp>
      <p:sp>
        <p:nvSpPr>
          <p:cNvPr id="18" name="Text 15"/>
          <p:cNvSpPr txBox="1"/>
          <p:nvPr/>
        </p:nvSpPr>
        <p:spPr>
          <a:xfrm>
            <a:off x="4297680" y="4882896"/>
            <a:ext cx="7071055" cy="1005840"/>
          </a:xfrm>
          <a:prstGeom prst="rect">
            <a:avLst/>
          </a:prstGeom>
          <a:noFill/>
          <a:ln/>
        </p:spPr>
        <p:txBody>
          <a:bodyPr wrap="square" lIns="0" tIns="0" rIns="0" bIns="0" rtlCol="0" anchor="ctr"/>
          <a:lstStyle/>
          <a:p>
            <a:pPr indent="0" marL="0">
              <a:lnSpc>
                <a:spcPct val="115000"/>
              </a:lnSpc>
              <a:buNone/>
            </a:pPr>
            <a:r>
              <a:rPr lang="en-US" sz="1250" b="1" dirty="0">
                <a:solidFill>
                  <a:srgbClr val="22263F"/>
                </a:solidFill>
                <a:latin typeface="Courier New" pitchFamily="34" charset="0"/>
                <a:ea typeface="Courier New" pitchFamily="34" charset="-122"/>
                <a:cs typeface="Courier New" pitchFamily="34" charset="-120"/>
              </a:rPr>
              <a:t>git checkout branch-name</a:t>
            </a:r>
            <a:pPr indent="0" marL="0">
              <a:lnSpc>
                <a:spcPct val="115000"/>
              </a:lnSpc>
              <a:buNone/>
            </a:pPr>
            <a:r>
              <a:rPr lang="en-US" sz="1250" dirty="0">
                <a:solidFill>
                  <a:srgbClr val="22263F"/>
                </a:solidFill>
                <a:latin typeface="Calibri" pitchFamily="34" charset="0"/>
                <a:ea typeface="Calibri" pitchFamily="34" charset="-122"/>
                <a:cs typeface="Calibri" pitchFamily="34" charset="-120"/>
              </a:rPr>
              <a:t>  the older, multi-purpose command — it can switch branches (like switch) or restore files, which is why switch now exists separately.</a:t>
            </a:r>
            <a:endParaRPr lang="en-US" sz="1250" dirty="0"/>
          </a:p>
        </p:txBody>
      </p:sp>
      <p:sp>
        <p:nvSpPr>
          <p:cNvPr id="19" name="Text 16"/>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20" name="Text 17"/>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00B4C6"/>
                </a:solidFill>
                <a:latin typeface="Calibri" pitchFamily="34" charset="0"/>
                <a:ea typeface="Calibri" pitchFamily="34" charset="-122"/>
                <a:cs typeface="Calibri" pitchFamily="34" charset="-120"/>
              </a:rPr>
              <a:t>PHASE 2 · GIT COMMANDS (5/5)</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Reviewing &amp; Collaborating</a:t>
            </a:r>
            <a:endParaRPr lang="en-US" sz="3400" dirty="0"/>
          </a:p>
        </p:txBody>
      </p:sp>
      <p:sp>
        <p:nvSpPr>
          <p:cNvPr id="4" name="Shape 2"/>
          <p:cNvSpPr/>
          <p:nvPr/>
        </p:nvSpPr>
        <p:spPr>
          <a:xfrm>
            <a:off x="10362895" y="594360"/>
            <a:ext cx="1051560" cy="1051560"/>
          </a:xfrm>
          <a:prstGeom prst="ellipse">
            <a:avLst/>
          </a:prstGeom>
          <a:solidFill>
            <a:srgbClr val="00B4C6"/>
          </a:solidFill>
          <a:ln/>
        </p:spPr>
      </p:sp>
      <p:pic>
        <p:nvPicPr>
          <p:cNvPr id="5" name="Image 0" descr="/home/claude/ai-git-deck/icons/codepr.png">    </p:cNvPr>
          <p:cNvPicPr>
            <a:picLocks noChangeAspect="1"/>
          </p:cNvPicPr>
          <p:nvPr/>
        </p:nvPicPr>
        <p:blipFill>
          <a:blip r:embed="rId1"/>
          <a:stretch>
            <a:fillRect/>
          </a:stretch>
        </p:blipFill>
        <p:spPr>
          <a:xfrm>
            <a:off x="10499598" y="731063"/>
            <a:ext cx="778154" cy="778154"/>
          </a:xfrm>
          <a:prstGeom prst="rect">
            <a:avLst/>
          </a:prstGeom>
        </p:spPr>
      </p:pic>
      <p:sp>
        <p:nvSpPr>
          <p:cNvPr id="6" name="Text 3"/>
          <p:cNvSpPr txBox="1"/>
          <p:nvPr/>
        </p:nvSpPr>
        <p:spPr>
          <a:xfrm>
            <a:off x="548640" y="1508760"/>
            <a:ext cx="9265615" cy="45720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The final steps: inspect history, then propose your changes to the team.</a:t>
            </a:r>
            <a:endParaRPr lang="en-US" sz="1400" dirty="0"/>
          </a:p>
        </p:txBody>
      </p:sp>
      <p:sp>
        <p:nvSpPr>
          <p:cNvPr id="7" name="Shape 4"/>
          <p:cNvSpPr/>
          <p:nvPr/>
        </p:nvSpPr>
        <p:spPr>
          <a:xfrm>
            <a:off x="548640" y="2148840"/>
            <a:ext cx="11094415" cy="1965960"/>
          </a:xfrm>
          <a:prstGeom prst="roundRect">
            <a:avLst>
              <a:gd name="adj" fmla="val 4651"/>
            </a:avLst>
          </a:prstGeom>
          <a:solidFill>
            <a:srgbClr val="FFFFFF"/>
          </a:solidFill>
          <a:ln/>
          <a:effectLst>
            <a:outerShdw sx="100000" sy="100000" kx="0" ky="0" algn="bl" rotWithShape="0" blurRad="101600" dist="25400" dir="5400000">
              <a:srgbClr val="1B1F3B">
                <a:alpha val="10000"/>
              </a:srgbClr>
            </a:outerShdw>
          </a:effectLst>
        </p:spPr>
      </p:sp>
      <p:sp>
        <p:nvSpPr>
          <p:cNvPr id="8" name="Shape 5"/>
          <p:cNvSpPr/>
          <p:nvPr/>
        </p:nvSpPr>
        <p:spPr>
          <a:xfrm>
            <a:off x="822960" y="2875788"/>
            <a:ext cx="3200400" cy="512064"/>
          </a:xfrm>
          <a:prstGeom prst="roundRect">
            <a:avLst>
              <a:gd name="adj" fmla="val 12500"/>
            </a:avLst>
          </a:prstGeom>
          <a:solidFill>
            <a:srgbClr val="1B1F3B"/>
          </a:solidFill>
          <a:ln/>
        </p:spPr>
      </p:sp>
      <p:sp>
        <p:nvSpPr>
          <p:cNvPr id="9" name="Text 6"/>
          <p:cNvSpPr txBox="1"/>
          <p:nvPr/>
        </p:nvSpPr>
        <p:spPr>
          <a:xfrm>
            <a:off x="822960" y="2875788"/>
            <a:ext cx="3200400" cy="512064"/>
          </a:xfrm>
          <a:prstGeom prst="rect">
            <a:avLst/>
          </a:prstGeom>
          <a:noFill/>
          <a:ln/>
        </p:spPr>
        <p:txBody>
          <a:bodyPr wrap="square" lIns="0" tIns="0" rIns="0" bIns="0" rtlCol="0" anchor="ctr"/>
          <a:lstStyle/>
          <a:p>
            <a:pPr algn="ctr" indent="0" marL="0">
              <a:buNone/>
            </a:pPr>
            <a:r>
              <a:rPr lang="en-US" sz="1300" b="1" dirty="0">
                <a:solidFill>
                  <a:srgbClr val="5CE1E6"/>
                </a:solidFill>
                <a:latin typeface="Courier New" pitchFamily="34" charset="0"/>
                <a:ea typeface="Courier New" pitchFamily="34" charset="-122"/>
                <a:cs typeface="Courier New" pitchFamily="34" charset="-120"/>
              </a:rPr>
              <a:t>git show</a:t>
            </a:r>
            <a:endParaRPr lang="en-US" sz="1300" dirty="0"/>
          </a:p>
        </p:txBody>
      </p:sp>
      <p:sp>
        <p:nvSpPr>
          <p:cNvPr id="10" name="Text 7"/>
          <p:cNvSpPr txBox="1"/>
          <p:nvPr/>
        </p:nvSpPr>
        <p:spPr>
          <a:xfrm>
            <a:off x="4297680" y="2240280"/>
            <a:ext cx="7071055" cy="1783080"/>
          </a:xfrm>
          <a:prstGeom prst="rect">
            <a:avLst/>
          </a:prstGeom>
          <a:noFill/>
          <a:ln/>
        </p:spPr>
        <p:txBody>
          <a:bodyPr wrap="square" lIns="0" tIns="0" rIns="0" bIns="0" rtlCol="0" anchor="ctr"/>
          <a:lstStyle/>
          <a:p>
            <a:pPr indent="0" marL="0">
              <a:lnSpc>
                <a:spcPct val="115000"/>
              </a:lnSpc>
              <a:buNone/>
            </a:pPr>
            <a:r>
              <a:rPr lang="en-US" sz="1300" b="1" dirty="0">
                <a:solidFill>
                  <a:srgbClr val="22263F"/>
                </a:solidFill>
                <a:latin typeface="Courier New" pitchFamily="34" charset="0"/>
                <a:ea typeface="Courier New" pitchFamily="34" charset="-122"/>
                <a:cs typeface="Courier New" pitchFamily="34" charset="-120"/>
              </a:rPr>
              <a:t>git show &lt;commit-hash&gt;</a:t>
            </a:r>
            <a:pPr indent="0" marL="0">
              <a:lnSpc>
                <a:spcPct val="115000"/>
              </a:lnSpc>
              <a:buNone/>
            </a:pPr>
            <a:r>
              <a:rPr lang="en-US" sz="1300" dirty="0">
                <a:solidFill>
                  <a:srgbClr val="22263F"/>
                </a:solidFill>
                <a:latin typeface="Calibri" pitchFamily="34" charset="0"/>
                <a:ea typeface="Calibri" pitchFamily="34" charset="-122"/>
                <a:cs typeface="Calibri" pitchFamily="34" charset="-120"/>
              </a:rPr>
              <a:t>  displays the full details of a specific commit — what changed, who made it, and its message.</a:t>
            </a:r>
            <a:endParaRPr lang="en-US" sz="1300" dirty="0"/>
          </a:p>
        </p:txBody>
      </p:sp>
      <p:sp>
        <p:nvSpPr>
          <p:cNvPr id="11" name="Shape 8"/>
          <p:cNvSpPr/>
          <p:nvPr/>
        </p:nvSpPr>
        <p:spPr>
          <a:xfrm>
            <a:off x="548640" y="4389120"/>
            <a:ext cx="11094415" cy="1965960"/>
          </a:xfrm>
          <a:prstGeom prst="roundRect">
            <a:avLst>
              <a:gd name="adj" fmla="val 4651"/>
            </a:avLst>
          </a:prstGeom>
          <a:solidFill>
            <a:srgbClr val="FFFFFF"/>
          </a:solidFill>
          <a:ln/>
          <a:effectLst>
            <a:outerShdw sx="100000" sy="100000" kx="0" ky="0" algn="bl" rotWithShape="0" blurRad="101600" dist="25400" dir="5400000">
              <a:srgbClr val="1B1F3B">
                <a:alpha val="10000"/>
              </a:srgbClr>
            </a:outerShdw>
          </a:effectLst>
        </p:spPr>
      </p:sp>
      <p:sp>
        <p:nvSpPr>
          <p:cNvPr id="12" name="Shape 9"/>
          <p:cNvSpPr/>
          <p:nvPr/>
        </p:nvSpPr>
        <p:spPr>
          <a:xfrm>
            <a:off x="822960" y="5116068"/>
            <a:ext cx="3200400" cy="512064"/>
          </a:xfrm>
          <a:prstGeom prst="roundRect">
            <a:avLst>
              <a:gd name="adj" fmla="val 12500"/>
            </a:avLst>
          </a:prstGeom>
          <a:solidFill>
            <a:srgbClr val="1B1F3B"/>
          </a:solidFill>
          <a:ln/>
        </p:spPr>
      </p:sp>
      <p:sp>
        <p:nvSpPr>
          <p:cNvPr id="13" name="Text 10"/>
          <p:cNvSpPr txBox="1"/>
          <p:nvPr/>
        </p:nvSpPr>
        <p:spPr>
          <a:xfrm>
            <a:off x="822960" y="5116068"/>
            <a:ext cx="3200400" cy="512064"/>
          </a:xfrm>
          <a:prstGeom prst="rect">
            <a:avLst/>
          </a:prstGeom>
          <a:noFill/>
          <a:ln/>
        </p:spPr>
        <p:txBody>
          <a:bodyPr wrap="square" lIns="0" tIns="0" rIns="0" bIns="0" rtlCol="0" anchor="ctr"/>
          <a:lstStyle/>
          <a:p>
            <a:pPr algn="ctr" indent="0" marL="0">
              <a:buNone/>
            </a:pPr>
            <a:r>
              <a:rPr lang="en-US" sz="1300" b="1" dirty="0">
                <a:solidFill>
                  <a:srgbClr val="5CE1E6"/>
                </a:solidFill>
                <a:latin typeface="Courier New" pitchFamily="34" charset="0"/>
                <a:ea typeface="Courier New" pitchFamily="34" charset="-122"/>
                <a:cs typeface="Courier New" pitchFamily="34" charset="-120"/>
              </a:rPr>
              <a:t>Pull Request</a:t>
            </a:r>
            <a:endParaRPr lang="en-US" sz="1300" dirty="0"/>
          </a:p>
        </p:txBody>
      </p:sp>
      <p:sp>
        <p:nvSpPr>
          <p:cNvPr id="14" name="Text 11"/>
          <p:cNvSpPr txBox="1"/>
          <p:nvPr/>
        </p:nvSpPr>
        <p:spPr>
          <a:xfrm>
            <a:off x="4297680" y="4480560"/>
            <a:ext cx="7071055" cy="1783080"/>
          </a:xfrm>
          <a:prstGeom prst="rect">
            <a:avLst/>
          </a:prstGeom>
          <a:noFill/>
          <a:ln/>
        </p:spPr>
        <p:txBody>
          <a:bodyPr wrap="square" lIns="0" tIns="0" rIns="0" bIns="0" rtlCol="0" anchor="ctr"/>
          <a:lstStyle/>
          <a:p>
            <a:pPr indent="0" marL="0">
              <a:lnSpc>
                <a:spcPct val="115000"/>
              </a:lnSpc>
              <a:buNone/>
            </a:pPr>
            <a:r>
              <a:rPr lang="en-US" sz="1300" dirty="0">
                <a:solidFill>
                  <a:srgbClr val="22263F"/>
                </a:solidFill>
                <a:latin typeface="Calibri" pitchFamily="34" charset="0"/>
                <a:ea typeface="Calibri" pitchFamily="34" charset="-122"/>
                <a:cs typeface="Calibri" pitchFamily="34" charset="-120"/>
              </a:rPr>
              <a:t>On GitHub, a Pull Request (PR) proposes merging your branch into another (often main). It's where teammates review your code, leave comments, and approve changes before they're merged in.</a:t>
            </a:r>
            <a:endParaRPr lang="en-US" sz="1300" dirty="0"/>
          </a:p>
        </p:txBody>
      </p:sp>
      <p:sp>
        <p:nvSpPr>
          <p:cNvPr id="15" name="Text 12"/>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16" name="Text 1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00B4C6"/>
                </a:solidFill>
                <a:latin typeface="Calibri" pitchFamily="34" charset="0"/>
                <a:ea typeface="Calibri" pitchFamily="34" charset="-122"/>
                <a:cs typeface="Calibri" pitchFamily="34" charset="-120"/>
              </a:rPr>
              <a:t>PHASE 2 · PUTTING IT TOGETHER</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The Everyday Git Workflow</a:t>
            </a:r>
            <a:endParaRPr lang="en-US" sz="3400" dirty="0"/>
          </a:p>
        </p:txBody>
      </p:sp>
      <p:sp>
        <p:nvSpPr>
          <p:cNvPr id="4" name="Shape 2"/>
          <p:cNvSpPr/>
          <p:nvPr/>
        </p:nvSpPr>
        <p:spPr>
          <a:xfrm>
            <a:off x="518008" y="2377440"/>
            <a:ext cx="1828800" cy="2011680"/>
          </a:xfrm>
          <a:prstGeom prst="roundRect">
            <a:avLst>
              <a:gd name="adj" fmla="val 5000"/>
            </a:avLst>
          </a:prstGeom>
          <a:solidFill>
            <a:srgbClr val="FFFFFF"/>
          </a:solidFill>
          <a:ln/>
          <a:effectLst>
            <a:outerShdw sx="100000" sy="100000" kx="0" ky="0" algn="bl" rotWithShape="0" blurRad="101600" dist="25400" dir="5400000">
              <a:srgbClr val="1B1F3B">
                <a:alpha val="10000"/>
              </a:srgbClr>
            </a:outerShdw>
          </a:effectLst>
        </p:spPr>
      </p:sp>
      <p:sp>
        <p:nvSpPr>
          <p:cNvPr id="5" name="Shape 3"/>
          <p:cNvSpPr/>
          <p:nvPr/>
        </p:nvSpPr>
        <p:spPr>
          <a:xfrm>
            <a:off x="1112368" y="2633472"/>
            <a:ext cx="640080" cy="640080"/>
          </a:xfrm>
          <a:prstGeom prst="ellipse">
            <a:avLst/>
          </a:prstGeom>
          <a:solidFill>
            <a:srgbClr val="00B4C6"/>
          </a:solidFill>
          <a:ln/>
        </p:spPr>
      </p:sp>
      <p:pic>
        <p:nvPicPr>
          <p:cNvPr id="6" name="Image 0" descr="/home/claude/ai-git-deck/icons/code.png">    </p:cNvPr>
          <p:cNvPicPr>
            <a:picLocks noChangeAspect="1"/>
          </p:cNvPicPr>
          <p:nvPr/>
        </p:nvPicPr>
        <p:blipFill>
          <a:blip r:embed="rId1"/>
          <a:stretch>
            <a:fillRect/>
          </a:stretch>
        </p:blipFill>
        <p:spPr>
          <a:xfrm>
            <a:off x="1195578" y="2716682"/>
            <a:ext cx="473659" cy="473659"/>
          </a:xfrm>
          <a:prstGeom prst="rect">
            <a:avLst/>
          </a:prstGeom>
        </p:spPr>
      </p:pic>
      <p:sp>
        <p:nvSpPr>
          <p:cNvPr id="7" name="Text 4"/>
          <p:cNvSpPr txBox="1"/>
          <p:nvPr/>
        </p:nvSpPr>
        <p:spPr>
          <a:xfrm>
            <a:off x="609448" y="3383280"/>
            <a:ext cx="1645920" cy="548640"/>
          </a:xfrm>
          <a:prstGeom prst="rect">
            <a:avLst/>
          </a:prstGeom>
          <a:noFill/>
          <a:ln/>
        </p:spPr>
        <p:txBody>
          <a:bodyPr wrap="square" lIns="0" tIns="0" rIns="0" bIns="0" rtlCol="0" anchor="ctr"/>
          <a:lstStyle/>
          <a:p>
            <a:pPr algn="ctr" indent="0" marL="0">
              <a:lnSpc>
                <a:spcPct val="105000"/>
              </a:lnSpc>
              <a:buNone/>
            </a:pPr>
            <a:r>
              <a:rPr lang="en-US" sz="1300" b="1" dirty="0">
                <a:solidFill>
                  <a:srgbClr val="22263F"/>
                </a:solidFill>
                <a:latin typeface="Calibri" pitchFamily="34" charset="0"/>
                <a:ea typeface="Calibri" pitchFamily="34" charset="-122"/>
                <a:cs typeface="Calibri" pitchFamily="34" charset="-120"/>
              </a:rPr>
              <a:t>Working</a:t>
            </a:r>
            <a:endParaRPr lang="en-US" sz="1300" dirty="0"/>
          </a:p>
          <a:p>
            <a:pPr algn="ctr" indent="0" marL="0">
              <a:lnSpc>
                <a:spcPct val="105000"/>
              </a:lnSpc>
              <a:buNone/>
            </a:pPr>
            <a:r>
              <a:rPr lang="en-US" sz="1300" b="1" dirty="0">
                <a:solidFill>
                  <a:srgbClr val="22263F"/>
                </a:solidFill>
                <a:latin typeface="Calibri" pitchFamily="34" charset="0"/>
                <a:ea typeface="Calibri" pitchFamily="34" charset="-122"/>
                <a:cs typeface="Calibri" pitchFamily="34" charset="-120"/>
              </a:rPr>
              <a:t>Directory</a:t>
            </a:r>
            <a:endParaRPr lang="en-US" sz="1300" dirty="0"/>
          </a:p>
        </p:txBody>
      </p:sp>
      <p:sp>
        <p:nvSpPr>
          <p:cNvPr id="8" name="Text 5"/>
          <p:cNvSpPr txBox="1"/>
          <p:nvPr/>
        </p:nvSpPr>
        <p:spPr>
          <a:xfrm>
            <a:off x="609448" y="3913632"/>
            <a:ext cx="1645920" cy="365760"/>
          </a:xfrm>
          <a:prstGeom prst="rect">
            <a:avLst/>
          </a:prstGeom>
          <a:noFill/>
          <a:ln/>
        </p:spPr>
        <p:txBody>
          <a:bodyPr wrap="square" lIns="0" tIns="0" rIns="0" bIns="0" rtlCol="0" anchor="ctr"/>
          <a:lstStyle/>
          <a:p>
            <a:pPr algn="ctr" indent="0" marL="0">
              <a:buNone/>
            </a:pPr>
            <a:r>
              <a:rPr lang="en-US" sz="1100" b="1" dirty="0">
                <a:solidFill>
                  <a:srgbClr val="00B4C6"/>
                </a:solidFill>
                <a:latin typeface="Courier New" pitchFamily="34" charset="0"/>
                <a:ea typeface="Courier New" pitchFamily="34" charset="-122"/>
                <a:cs typeface="Courier New" pitchFamily="34" charset="-120"/>
              </a:rPr>
              <a:t>(edit files)</a:t>
            </a:r>
            <a:endParaRPr lang="en-US" sz="1100" dirty="0"/>
          </a:p>
        </p:txBody>
      </p:sp>
      <p:sp>
        <p:nvSpPr>
          <p:cNvPr id="9" name="Shape 6"/>
          <p:cNvSpPr/>
          <p:nvPr/>
        </p:nvSpPr>
        <p:spPr>
          <a:xfrm>
            <a:off x="2401672" y="3383280"/>
            <a:ext cx="393192" cy="0"/>
          </a:xfrm>
          <a:prstGeom prst="line">
            <a:avLst/>
          </a:prstGeom>
          <a:noFill/>
          <a:ln w="25400">
            <a:solidFill>
              <a:srgbClr val="B7BBD6"/>
            </a:solidFill>
            <a:prstDash val="solid"/>
            <a:tailEnd type="triangle"/>
          </a:ln>
        </p:spPr>
      </p:sp>
      <p:sp>
        <p:nvSpPr>
          <p:cNvPr id="10" name="Shape 7"/>
          <p:cNvSpPr/>
          <p:nvPr/>
        </p:nvSpPr>
        <p:spPr>
          <a:xfrm>
            <a:off x="2849728" y="2377440"/>
            <a:ext cx="1828800" cy="2011680"/>
          </a:xfrm>
          <a:prstGeom prst="roundRect">
            <a:avLst>
              <a:gd name="adj" fmla="val 5000"/>
            </a:avLst>
          </a:prstGeom>
          <a:solidFill>
            <a:srgbClr val="FFFFFF"/>
          </a:solidFill>
          <a:ln/>
          <a:effectLst>
            <a:outerShdw sx="100000" sy="100000" kx="0" ky="0" algn="bl" rotWithShape="0" blurRad="101600" dist="25400" dir="5400000">
              <a:srgbClr val="1B1F3B">
                <a:alpha val="10000"/>
              </a:srgbClr>
            </a:outerShdw>
          </a:effectLst>
        </p:spPr>
      </p:sp>
      <p:sp>
        <p:nvSpPr>
          <p:cNvPr id="11" name="Shape 8"/>
          <p:cNvSpPr/>
          <p:nvPr/>
        </p:nvSpPr>
        <p:spPr>
          <a:xfrm>
            <a:off x="3444088" y="2633472"/>
            <a:ext cx="640080" cy="640080"/>
          </a:xfrm>
          <a:prstGeom prst="ellipse">
            <a:avLst/>
          </a:prstGeom>
          <a:solidFill>
            <a:srgbClr val="00B4C6"/>
          </a:solidFill>
          <a:ln/>
        </p:spPr>
      </p:sp>
      <p:pic>
        <p:nvPicPr>
          <p:cNvPr id="12" name="Image 1" descr="/home/claude/ai-git-deck/icons/save.png">    </p:cNvPr>
          <p:cNvPicPr>
            <a:picLocks noChangeAspect="1"/>
          </p:cNvPicPr>
          <p:nvPr/>
        </p:nvPicPr>
        <p:blipFill>
          <a:blip r:embed="rId2"/>
          <a:stretch>
            <a:fillRect/>
          </a:stretch>
        </p:blipFill>
        <p:spPr>
          <a:xfrm>
            <a:off x="3527298" y="2716682"/>
            <a:ext cx="473659" cy="473659"/>
          </a:xfrm>
          <a:prstGeom prst="rect">
            <a:avLst/>
          </a:prstGeom>
        </p:spPr>
      </p:pic>
      <p:sp>
        <p:nvSpPr>
          <p:cNvPr id="13" name="Text 9"/>
          <p:cNvSpPr txBox="1"/>
          <p:nvPr/>
        </p:nvSpPr>
        <p:spPr>
          <a:xfrm>
            <a:off x="2941168" y="3383280"/>
            <a:ext cx="1645920" cy="548640"/>
          </a:xfrm>
          <a:prstGeom prst="rect">
            <a:avLst/>
          </a:prstGeom>
          <a:noFill/>
          <a:ln/>
        </p:spPr>
        <p:txBody>
          <a:bodyPr wrap="square" lIns="0" tIns="0" rIns="0" bIns="0" rtlCol="0" anchor="ctr"/>
          <a:lstStyle/>
          <a:p>
            <a:pPr algn="ctr" indent="0" marL="0">
              <a:lnSpc>
                <a:spcPct val="105000"/>
              </a:lnSpc>
              <a:buNone/>
            </a:pPr>
            <a:r>
              <a:rPr lang="en-US" sz="1300" b="1" dirty="0">
                <a:solidFill>
                  <a:srgbClr val="22263F"/>
                </a:solidFill>
                <a:latin typeface="Calibri" pitchFamily="34" charset="0"/>
                <a:ea typeface="Calibri" pitchFamily="34" charset="-122"/>
                <a:cs typeface="Calibri" pitchFamily="34" charset="-120"/>
              </a:rPr>
              <a:t>Staging</a:t>
            </a:r>
            <a:endParaRPr lang="en-US" sz="1300" dirty="0"/>
          </a:p>
          <a:p>
            <a:pPr algn="ctr" indent="0" marL="0">
              <a:lnSpc>
                <a:spcPct val="105000"/>
              </a:lnSpc>
              <a:buNone/>
            </a:pPr>
            <a:r>
              <a:rPr lang="en-US" sz="1300" b="1" dirty="0">
                <a:solidFill>
                  <a:srgbClr val="22263F"/>
                </a:solidFill>
                <a:latin typeface="Calibri" pitchFamily="34" charset="0"/>
                <a:ea typeface="Calibri" pitchFamily="34" charset="-122"/>
                <a:cs typeface="Calibri" pitchFamily="34" charset="-120"/>
              </a:rPr>
              <a:t>Area</a:t>
            </a:r>
            <a:endParaRPr lang="en-US" sz="1300" dirty="0"/>
          </a:p>
        </p:txBody>
      </p:sp>
      <p:sp>
        <p:nvSpPr>
          <p:cNvPr id="14" name="Text 10"/>
          <p:cNvSpPr txBox="1"/>
          <p:nvPr/>
        </p:nvSpPr>
        <p:spPr>
          <a:xfrm>
            <a:off x="2941168" y="3913632"/>
            <a:ext cx="1645920" cy="365760"/>
          </a:xfrm>
          <a:prstGeom prst="rect">
            <a:avLst/>
          </a:prstGeom>
          <a:noFill/>
          <a:ln/>
        </p:spPr>
        <p:txBody>
          <a:bodyPr wrap="square" lIns="0" tIns="0" rIns="0" bIns="0" rtlCol="0" anchor="ctr"/>
          <a:lstStyle/>
          <a:p>
            <a:pPr algn="ctr" indent="0" marL="0">
              <a:buNone/>
            </a:pPr>
            <a:r>
              <a:rPr lang="en-US" sz="1100" b="1" dirty="0">
                <a:solidFill>
                  <a:srgbClr val="00B4C6"/>
                </a:solidFill>
                <a:latin typeface="Courier New" pitchFamily="34" charset="0"/>
                <a:ea typeface="Courier New" pitchFamily="34" charset="-122"/>
                <a:cs typeface="Courier New" pitchFamily="34" charset="-120"/>
              </a:rPr>
              <a:t>git add</a:t>
            </a:r>
            <a:endParaRPr lang="en-US" sz="1100" dirty="0"/>
          </a:p>
        </p:txBody>
      </p:sp>
      <p:sp>
        <p:nvSpPr>
          <p:cNvPr id="15" name="Shape 11"/>
          <p:cNvSpPr/>
          <p:nvPr/>
        </p:nvSpPr>
        <p:spPr>
          <a:xfrm>
            <a:off x="4733392" y="3383280"/>
            <a:ext cx="393192" cy="0"/>
          </a:xfrm>
          <a:prstGeom prst="line">
            <a:avLst/>
          </a:prstGeom>
          <a:noFill/>
          <a:ln w="25400">
            <a:solidFill>
              <a:srgbClr val="B7BBD6"/>
            </a:solidFill>
            <a:prstDash val="solid"/>
            <a:tailEnd type="triangle"/>
          </a:ln>
        </p:spPr>
      </p:sp>
      <p:sp>
        <p:nvSpPr>
          <p:cNvPr id="16" name="Shape 12"/>
          <p:cNvSpPr/>
          <p:nvPr/>
        </p:nvSpPr>
        <p:spPr>
          <a:xfrm>
            <a:off x="5181448" y="2377440"/>
            <a:ext cx="1828800" cy="2011680"/>
          </a:xfrm>
          <a:prstGeom prst="roundRect">
            <a:avLst>
              <a:gd name="adj" fmla="val 5000"/>
            </a:avLst>
          </a:prstGeom>
          <a:solidFill>
            <a:srgbClr val="FFFFFF"/>
          </a:solidFill>
          <a:ln/>
          <a:effectLst>
            <a:outerShdw sx="100000" sy="100000" kx="0" ky="0" algn="bl" rotWithShape="0" blurRad="101600" dist="25400" dir="5400000">
              <a:srgbClr val="1B1F3B">
                <a:alpha val="10000"/>
              </a:srgbClr>
            </a:outerShdw>
          </a:effectLst>
        </p:spPr>
      </p:sp>
      <p:sp>
        <p:nvSpPr>
          <p:cNvPr id="17" name="Shape 13"/>
          <p:cNvSpPr/>
          <p:nvPr/>
        </p:nvSpPr>
        <p:spPr>
          <a:xfrm>
            <a:off x="5775808" y="2633472"/>
            <a:ext cx="640080" cy="640080"/>
          </a:xfrm>
          <a:prstGeom prst="ellipse">
            <a:avLst/>
          </a:prstGeom>
          <a:solidFill>
            <a:srgbClr val="00B4C6"/>
          </a:solidFill>
          <a:ln/>
        </p:spPr>
      </p:sp>
      <p:pic>
        <p:nvPicPr>
          <p:cNvPr id="18" name="Image 2" descr="/home/claude/ai-git-deck/icons/checkcircle.png">    </p:cNvPr>
          <p:cNvPicPr>
            <a:picLocks noChangeAspect="1"/>
          </p:cNvPicPr>
          <p:nvPr/>
        </p:nvPicPr>
        <p:blipFill>
          <a:blip r:embed="rId3"/>
          <a:stretch>
            <a:fillRect/>
          </a:stretch>
        </p:blipFill>
        <p:spPr>
          <a:xfrm>
            <a:off x="5859018" y="2716682"/>
            <a:ext cx="473659" cy="473659"/>
          </a:xfrm>
          <a:prstGeom prst="rect">
            <a:avLst/>
          </a:prstGeom>
        </p:spPr>
      </p:pic>
      <p:sp>
        <p:nvSpPr>
          <p:cNvPr id="19" name="Text 14"/>
          <p:cNvSpPr txBox="1"/>
          <p:nvPr/>
        </p:nvSpPr>
        <p:spPr>
          <a:xfrm>
            <a:off x="5272888" y="3383280"/>
            <a:ext cx="1645920" cy="548640"/>
          </a:xfrm>
          <a:prstGeom prst="rect">
            <a:avLst/>
          </a:prstGeom>
          <a:noFill/>
          <a:ln/>
        </p:spPr>
        <p:txBody>
          <a:bodyPr wrap="square" lIns="0" tIns="0" rIns="0" bIns="0" rtlCol="0" anchor="ctr"/>
          <a:lstStyle/>
          <a:p>
            <a:pPr algn="ctr" indent="0" marL="0">
              <a:lnSpc>
                <a:spcPct val="105000"/>
              </a:lnSpc>
              <a:buNone/>
            </a:pPr>
            <a:r>
              <a:rPr lang="en-US" sz="1300" b="1" dirty="0">
                <a:solidFill>
                  <a:srgbClr val="22263F"/>
                </a:solidFill>
                <a:latin typeface="Calibri" pitchFamily="34" charset="0"/>
                <a:ea typeface="Calibri" pitchFamily="34" charset="-122"/>
                <a:cs typeface="Calibri" pitchFamily="34" charset="-120"/>
              </a:rPr>
              <a:t>Local</a:t>
            </a:r>
            <a:endParaRPr lang="en-US" sz="1300" dirty="0"/>
          </a:p>
          <a:p>
            <a:pPr algn="ctr" indent="0" marL="0">
              <a:lnSpc>
                <a:spcPct val="105000"/>
              </a:lnSpc>
              <a:buNone/>
            </a:pPr>
            <a:r>
              <a:rPr lang="en-US" sz="1300" b="1" dirty="0">
                <a:solidFill>
                  <a:srgbClr val="22263F"/>
                </a:solidFill>
                <a:latin typeface="Calibri" pitchFamily="34" charset="0"/>
                <a:ea typeface="Calibri" pitchFamily="34" charset="-122"/>
                <a:cs typeface="Calibri" pitchFamily="34" charset="-120"/>
              </a:rPr>
              <a:t>Repository</a:t>
            </a:r>
            <a:endParaRPr lang="en-US" sz="1300" dirty="0"/>
          </a:p>
        </p:txBody>
      </p:sp>
      <p:sp>
        <p:nvSpPr>
          <p:cNvPr id="20" name="Text 15"/>
          <p:cNvSpPr txBox="1"/>
          <p:nvPr/>
        </p:nvSpPr>
        <p:spPr>
          <a:xfrm>
            <a:off x="5272888" y="3913632"/>
            <a:ext cx="1645920" cy="365760"/>
          </a:xfrm>
          <a:prstGeom prst="rect">
            <a:avLst/>
          </a:prstGeom>
          <a:noFill/>
          <a:ln/>
        </p:spPr>
        <p:txBody>
          <a:bodyPr wrap="square" lIns="0" tIns="0" rIns="0" bIns="0" rtlCol="0" anchor="ctr"/>
          <a:lstStyle/>
          <a:p>
            <a:pPr algn="ctr" indent="0" marL="0">
              <a:buNone/>
            </a:pPr>
            <a:r>
              <a:rPr lang="en-US" sz="1100" b="1" dirty="0">
                <a:solidFill>
                  <a:srgbClr val="00B4C6"/>
                </a:solidFill>
                <a:latin typeface="Courier New" pitchFamily="34" charset="0"/>
                <a:ea typeface="Courier New" pitchFamily="34" charset="-122"/>
                <a:cs typeface="Courier New" pitchFamily="34" charset="-120"/>
              </a:rPr>
              <a:t>git commit</a:t>
            </a:r>
            <a:endParaRPr lang="en-US" sz="1100" dirty="0"/>
          </a:p>
        </p:txBody>
      </p:sp>
      <p:sp>
        <p:nvSpPr>
          <p:cNvPr id="21" name="Shape 16"/>
          <p:cNvSpPr/>
          <p:nvPr/>
        </p:nvSpPr>
        <p:spPr>
          <a:xfrm>
            <a:off x="7065112" y="3383280"/>
            <a:ext cx="393192" cy="0"/>
          </a:xfrm>
          <a:prstGeom prst="line">
            <a:avLst/>
          </a:prstGeom>
          <a:noFill/>
          <a:ln w="25400">
            <a:solidFill>
              <a:srgbClr val="B7BBD6"/>
            </a:solidFill>
            <a:prstDash val="solid"/>
            <a:tailEnd type="triangle"/>
          </a:ln>
        </p:spPr>
      </p:sp>
      <p:sp>
        <p:nvSpPr>
          <p:cNvPr id="22" name="Shape 17"/>
          <p:cNvSpPr/>
          <p:nvPr/>
        </p:nvSpPr>
        <p:spPr>
          <a:xfrm>
            <a:off x="7513168" y="2377440"/>
            <a:ext cx="1828800" cy="2011680"/>
          </a:xfrm>
          <a:prstGeom prst="roundRect">
            <a:avLst>
              <a:gd name="adj" fmla="val 5000"/>
            </a:avLst>
          </a:prstGeom>
          <a:solidFill>
            <a:srgbClr val="FFFFFF"/>
          </a:solidFill>
          <a:ln/>
          <a:effectLst>
            <a:outerShdw sx="100000" sy="100000" kx="0" ky="0" algn="bl" rotWithShape="0" blurRad="101600" dist="25400" dir="5400000">
              <a:srgbClr val="1B1F3B">
                <a:alpha val="10000"/>
              </a:srgbClr>
            </a:outerShdw>
          </a:effectLst>
        </p:spPr>
      </p:sp>
      <p:sp>
        <p:nvSpPr>
          <p:cNvPr id="23" name="Shape 18"/>
          <p:cNvSpPr/>
          <p:nvPr/>
        </p:nvSpPr>
        <p:spPr>
          <a:xfrm>
            <a:off x="8107528" y="2633472"/>
            <a:ext cx="640080" cy="640080"/>
          </a:xfrm>
          <a:prstGeom prst="ellipse">
            <a:avLst/>
          </a:prstGeom>
          <a:solidFill>
            <a:srgbClr val="00B4C6"/>
          </a:solidFill>
          <a:ln/>
        </p:spPr>
      </p:sp>
      <p:pic>
        <p:nvPicPr>
          <p:cNvPr id="24" name="Image 3" descr="/home/claude/ai-git-deck/icons/cloudupload.png">    </p:cNvPr>
          <p:cNvPicPr>
            <a:picLocks noChangeAspect="1"/>
          </p:cNvPicPr>
          <p:nvPr/>
        </p:nvPicPr>
        <p:blipFill>
          <a:blip r:embed="rId4"/>
          <a:stretch>
            <a:fillRect/>
          </a:stretch>
        </p:blipFill>
        <p:spPr>
          <a:xfrm>
            <a:off x="8190738" y="2716682"/>
            <a:ext cx="473659" cy="473659"/>
          </a:xfrm>
          <a:prstGeom prst="rect">
            <a:avLst/>
          </a:prstGeom>
        </p:spPr>
      </p:pic>
      <p:sp>
        <p:nvSpPr>
          <p:cNvPr id="25" name="Text 19"/>
          <p:cNvSpPr txBox="1"/>
          <p:nvPr/>
        </p:nvSpPr>
        <p:spPr>
          <a:xfrm>
            <a:off x="7604608" y="3383280"/>
            <a:ext cx="1645920" cy="548640"/>
          </a:xfrm>
          <a:prstGeom prst="rect">
            <a:avLst/>
          </a:prstGeom>
          <a:noFill/>
          <a:ln/>
        </p:spPr>
        <p:txBody>
          <a:bodyPr wrap="square" lIns="0" tIns="0" rIns="0" bIns="0" rtlCol="0" anchor="ctr"/>
          <a:lstStyle/>
          <a:p>
            <a:pPr algn="ctr" indent="0" marL="0">
              <a:lnSpc>
                <a:spcPct val="105000"/>
              </a:lnSpc>
              <a:buNone/>
            </a:pPr>
            <a:r>
              <a:rPr lang="en-US" sz="1300" b="1" dirty="0">
                <a:solidFill>
                  <a:srgbClr val="22263F"/>
                </a:solidFill>
                <a:latin typeface="Calibri" pitchFamily="34" charset="0"/>
                <a:ea typeface="Calibri" pitchFamily="34" charset="-122"/>
                <a:cs typeface="Calibri" pitchFamily="34" charset="-120"/>
              </a:rPr>
              <a:t>Remote</a:t>
            </a:r>
            <a:endParaRPr lang="en-US" sz="1300" dirty="0"/>
          </a:p>
          <a:p>
            <a:pPr algn="ctr" indent="0" marL="0">
              <a:lnSpc>
                <a:spcPct val="105000"/>
              </a:lnSpc>
              <a:buNone/>
            </a:pPr>
            <a:r>
              <a:rPr lang="en-US" sz="1300" b="1" dirty="0">
                <a:solidFill>
                  <a:srgbClr val="22263F"/>
                </a:solidFill>
                <a:latin typeface="Calibri" pitchFamily="34" charset="0"/>
                <a:ea typeface="Calibri" pitchFamily="34" charset="-122"/>
                <a:cs typeface="Calibri" pitchFamily="34" charset="-120"/>
              </a:rPr>
              <a:t>(GitHub)</a:t>
            </a:r>
            <a:endParaRPr lang="en-US" sz="1300" dirty="0"/>
          </a:p>
        </p:txBody>
      </p:sp>
      <p:sp>
        <p:nvSpPr>
          <p:cNvPr id="26" name="Text 20"/>
          <p:cNvSpPr txBox="1"/>
          <p:nvPr/>
        </p:nvSpPr>
        <p:spPr>
          <a:xfrm>
            <a:off x="7604608" y="3913632"/>
            <a:ext cx="1645920" cy="365760"/>
          </a:xfrm>
          <a:prstGeom prst="rect">
            <a:avLst/>
          </a:prstGeom>
          <a:noFill/>
          <a:ln/>
        </p:spPr>
        <p:txBody>
          <a:bodyPr wrap="square" lIns="0" tIns="0" rIns="0" bIns="0" rtlCol="0" anchor="ctr"/>
          <a:lstStyle/>
          <a:p>
            <a:pPr algn="ctr" indent="0" marL="0">
              <a:buNone/>
            </a:pPr>
            <a:r>
              <a:rPr lang="en-US" sz="1100" b="1" dirty="0">
                <a:solidFill>
                  <a:srgbClr val="00B4C6"/>
                </a:solidFill>
                <a:latin typeface="Courier New" pitchFamily="34" charset="0"/>
                <a:ea typeface="Courier New" pitchFamily="34" charset="-122"/>
                <a:cs typeface="Courier New" pitchFamily="34" charset="-120"/>
              </a:rPr>
              <a:t>git push</a:t>
            </a:r>
            <a:endParaRPr lang="en-US" sz="1100" dirty="0"/>
          </a:p>
        </p:txBody>
      </p:sp>
      <p:sp>
        <p:nvSpPr>
          <p:cNvPr id="27" name="Shape 21"/>
          <p:cNvSpPr/>
          <p:nvPr/>
        </p:nvSpPr>
        <p:spPr>
          <a:xfrm>
            <a:off x="9396832" y="3383280"/>
            <a:ext cx="393192" cy="0"/>
          </a:xfrm>
          <a:prstGeom prst="line">
            <a:avLst/>
          </a:prstGeom>
          <a:noFill/>
          <a:ln w="25400">
            <a:solidFill>
              <a:srgbClr val="B7BBD6"/>
            </a:solidFill>
            <a:prstDash val="solid"/>
            <a:tailEnd type="triangle"/>
          </a:ln>
        </p:spPr>
      </p:sp>
      <p:sp>
        <p:nvSpPr>
          <p:cNvPr id="28" name="Shape 22"/>
          <p:cNvSpPr/>
          <p:nvPr/>
        </p:nvSpPr>
        <p:spPr>
          <a:xfrm>
            <a:off x="9844888" y="2377440"/>
            <a:ext cx="1828800" cy="2011680"/>
          </a:xfrm>
          <a:prstGeom prst="roundRect">
            <a:avLst>
              <a:gd name="adj" fmla="val 5000"/>
            </a:avLst>
          </a:prstGeom>
          <a:solidFill>
            <a:srgbClr val="FFFFFF"/>
          </a:solidFill>
          <a:ln/>
          <a:effectLst>
            <a:outerShdw sx="100000" sy="100000" kx="0" ky="0" algn="bl" rotWithShape="0" blurRad="101600" dist="25400" dir="5400000">
              <a:srgbClr val="1B1F3B">
                <a:alpha val="10000"/>
              </a:srgbClr>
            </a:outerShdw>
          </a:effectLst>
        </p:spPr>
      </p:sp>
      <p:sp>
        <p:nvSpPr>
          <p:cNvPr id="29" name="Shape 23"/>
          <p:cNvSpPr/>
          <p:nvPr/>
        </p:nvSpPr>
        <p:spPr>
          <a:xfrm>
            <a:off x="10439248" y="2633472"/>
            <a:ext cx="640080" cy="640080"/>
          </a:xfrm>
          <a:prstGeom prst="ellipse">
            <a:avLst/>
          </a:prstGeom>
          <a:solidFill>
            <a:srgbClr val="00B4C6"/>
          </a:solidFill>
          <a:ln/>
        </p:spPr>
      </p:sp>
      <p:pic>
        <p:nvPicPr>
          <p:cNvPr id="30" name="Image 4" descr="/home/claude/ai-git-deck/icons/codepr.png">    </p:cNvPr>
          <p:cNvPicPr>
            <a:picLocks noChangeAspect="1"/>
          </p:cNvPicPr>
          <p:nvPr/>
        </p:nvPicPr>
        <p:blipFill>
          <a:blip r:embed="rId5"/>
          <a:stretch>
            <a:fillRect/>
          </a:stretch>
        </p:blipFill>
        <p:spPr>
          <a:xfrm>
            <a:off x="10522458" y="2716682"/>
            <a:ext cx="473659" cy="473659"/>
          </a:xfrm>
          <a:prstGeom prst="rect">
            <a:avLst/>
          </a:prstGeom>
        </p:spPr>
      </p:pic>
      <p:sp>
        <p:nvSpPr>
          <p:cNvPr id="31" name="Text 24"/>
          <p:cNvSpPr txBox="1"/>
          <p:nvPr/>
        </p:nvSpPr>
        <p:spPr>
          <a:xfrm>
            <a:off x="9936328" y="3383280"/>
            <a:ext cx="1645920" cy="548640"/>
          </a:xfrm>
          <a:prstGeom prst="rect">
            <a:avLst/>
          </a:prstGeom>
          <a:noFill/>
          <a:ln/>
        </p:spPr>
        <p:txBody>
          <a:bodyPr wrap="square" lIns="0" tIns="0" rIns="0" bIns="0" rtlCol="0" anchor="ctr"/>
          <a:lstStyle/>
          <a:p>
            <a:pPr algn="ctr" indent="0" marL="0">
              <a:lnSpc>
                <a:spcPct val="105000"/>
              </a:lnSpc>
              <a:buNone/>
            </a:pPr>
            <a:r>
              <a:rPr lang="en-US" sz="1300" b="1" dirty="0">
                <a:solidFill>
                  <a:srgbClr val="22263F"/>
                </a:solidFill>
                <a:latin typeface="Calibri" pitchFamily="34" charset="0"/>
                <a:ea typeface="Calibri" pitchFamily="34" charset="-122"/>
                <a:cs typeface="Calibri" pitchFamily="34" charset="-120"/>
              </a:rPr>
              <a:t>Pull</a:t>
            </a:r>
            <a:endParaRPr lang="en-US" sz="1300" dirty="0"/>
          </a:p>
          <a:p>
            <a:pPr algn="ctr" indent="0" marL="0">
              <a:lnSpc>
                <a:spcPct val="105000"/>
              </a:lnSpc>
              <a:buNone/>
            </a:pPr>
            <a:r>
              <a:rPr lang="en-US" sz="1300" b="1" dirty="0">
                <a:solidFill>
                  <a:srgbClr val="22263F"/>
                </a:solidFill>
                <a:latin typeface="Calibri" pitchFamily="34" charset="0"/>
                <a:ea typeface="Calibri" pitchFamily="34" charset="-122"/>
                <a:cs typeface="Calibri" pitchFamily="34" charset="-120"/>
              </a:rPr>
              <a:t>Request</a:t>
            </a:r>
            <a:endParaRPr lang="en-US" sz="1300" dirty="0"/>
          </a:p>
        </p:txBody>
      </p:sp>
      <p:sp>
        <p:nvSpPr>
          <p:cNvPr id="32" name="Text 25"/>
          <p:cNvSpPr txBox="1"/>
          <p:nvPr/>
        </p:nvSpPr>
        <p:spPr>
          <a:xfrm>
            <a:off x="9936328" y="3913632"/>
            <a:ext cx="1645920" cy="365760"/>
          </a:xfrm>
          <a:prstGeom prst="rect">
            <a:avLst/>
          </a:prstGeom>
          <a:noFill/>
          <a:ln/>
        </p:spPr>
        <p:txBody>
          <a:bodyPr wrap="square" lIns="0" tIns="0" rIns="0" bIns="0" rtlCol="0" anchor="ctr"/>
          <a:lstStyle/>
          <a:p>
            <a:pPr algn="ctr" indent="0" marL="0">
              <a:buNone/>
            </a:pPr>
            <a:r>
              <a:rPr lang="en-US" sz="1100" b="1" dirty="0">
                <a:solidFill>
                  <a:srgbClr val="00B4C6"/>
                </a:solidFill>
                <a:latin typeface="Courier New" pitchFamily="34" charset="0"/>
                <a:ea typeface="Courier New" pitchFamily="34" charset="-122"/>
                <a:cs typeface="Courier New" pitchFamily="34" charset="-120"/>
              </a:rPr>
              <a:t>review &amp; merge</a:t>
            </a:r>
            <a:endParaRPr lang="en-US" sz="1100" dirty="0"/>
          </a:p>
        </p:txBody>
      </p:sp>
      <p:sp>
        <p:nvSpPr>
          <p:cNvPr id="33" name="Text 26"/>
          <p:cNvSpPr txBox="1"/>
          <p:nvPr/>
        </p:nvSpPr>
        <p:spPr>
          <a:xfrm>
            <a:off x="548640" y="4846320"/>
            <a:ext cx="11094415" cy="457200"/>
          </a:xfrm>
          <a:prstGeom prst="rect">
            <a:avLst/>
          </a:prstGeom>
          <a:noFill/>
          <a:ln/>
        </p:spPr>
        <p:txBody>
          <a:bodyPr wrap="square" lIns="0" tIns="0" rIns="0" bIns="0" rtlCol="0" anchor="ctr"/>
          <a:lstStyle/>
          <a:p>
            <a:pPr algn="ctr" indent="0" marL="0">
              <a:buNone/>
            </a:pPr>
            <a:r>
              <a:rPr lang="en-US" sz="1350" i="1" dirty="0">
                <a:solidFill>
                  <a:srgbClr val="6B7280"/>
                </a:solidFill>
                <a:latin typeface="Calibri" pitchFamily="34" charset="0"/>
                <a:ea typeface="Calibri" pitchFamily="34" charset="-122"/>
                <a:cs typeface="Calibri" pitchFamily="34" charset="-120"/>
              </a:rPr>
              <a:t>Repeat: edit → add → commit → push → open a PR → merge → pull the latest changes.</a:t>
            </a:r>
            <a:endParaRPr lang="en-US" sz="1350" dirty="0"/>
          </a:p>
        </p:txBody>
      </p:sp>
      <p:sp>
        <p:nvSpPr>
          <p:cNvPr id="34" name="Text 27"/>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35" name="Text 28"/>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5F9"/>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200" kern="0" dirty="0">
                <a:solidFill>
                  <a:srgbClr val="00B4C6"/>
                </a:solidFill>
                <a:latin typeface="Calibri" pitchFamily="34" charset="0"/>
                <a:ea typeface="Calibri" pitchFamily="34" charset="-122"/>
                <a:cs typeface="Calibri" pitchFamily="34" charset="-120"/>
              </a:rPr>
              <a:t>PHASE 2 · REFERENCE</a:t>
            </a:r>
            <a:endParaRPr lang="en-US" sz="13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indent="0" marL="0">
              <a:buNone/>
            </a:pPr>
            <a:r>
              <a:rPr lang="en-US" sz="3400" b="1" dirty="0">
                <a:solidFill>
                  <a:srgbClr val="22263F"/>
                </a:solidFill>
                <a:latin typeface="Cambria" pitchFamily="34" charset="0"/>
                <a:ea typeface="Cambria" pitchFamily="34" charset="-122"/>
                <a:cs typeface="Cambria" pitchFamily="34" charset="-120"/>
              </a:rPr>
              <a:t>Git Command Cheat Sheet</a:t>
            </a:r>
            <a:endParaRPr lang="en-US" sz="3400" dirty="0"/>
          </a:p>
        </p:txBody>
      </p:sp>
      <p:sp>
        <p:nvSpPr>
          <p:cNvPr id="4" name="Shape 2"/>
          <p:cNvSpPr/>
          <p:nvPr/>
        </p:nvSpPr>
        <p:spPr>
          <a:xfrm>
            <a:off x="548640" y="1691640"/>
            <a:ext cx="11094415" cy="384048"/>
          </a:xfrm>
          <a:prstGeom prst="roundRect">
            <a:avLst>
              <a:gd name="adj" fmla="val 14286"/>
            </a:avLst>
          </a:prstGeom>
          <a:solidFill>
            <a:srgbClr val="1B1F3B"/>
          </a:solidFill>
          <a:ln/>
        </p:spPr>
      </p:sp>
      <p:sp>
        <p:nvSpPr>
          <p:cNvPr id="5" name="Text 3"/>
          <p:cNvSpPr txBox="1"/>
          <p:nvPr/>
        </p:nvSpPr>
        <p:spPr>
          <a:xfrm>
            <a:off x="777240" y="1691640"/>
            <a:ext cx="3291840" cy="384048"/>
          </a:xfrm>
          <a:prstGeom prst="rect">
            <a:avLst/>
          </a:prstGeom>
          <a:noFill/>
          <a:ln/>
        </p:spPr>
        <p:txBody>
          <a:bodyPr wrap="square" lIns="0" tIns="0" rIns="0" bIns="0" rtlCol="0" anchor="ctr"/>
          <a:lstStyle/>
          <a:p>
            <a:pPr indent="0" marL="0">
              <a:buNone/>
            </a:pPr>
            <a:r>
              <a:rPr lang="en-US" sz="1200" b="1" spc="100" kern="0" dirty="0">
                <a:solidFill>
                  <a:srgbClr val="FFFFFF"/>
                </a:solidFill>
                <a:latin typeface="Calibri" pitchFamily="34" charset="0"/>
                <a:ea typeface="Calibri" pitchFamily="34" charset="-122"/>
                <a:cs typeface="Calibri" pitchFamily="34" charset="-120"/>
              </a:rPr>
              <a:t>COMMAND</a:t>
            </a:r>
            <a:endParaRPr lang="en-US" sz="1200" dirty="0"/>
          </a:p>
        </p:txBody>
      </p:sp>
      <p:sp>
        <p:nvSpPr>
          <p:cNvPr id="6" name="Text 4"/>
          <p:cNvSpPr txBox="1"/>
          <p:nvPr/>
        </p:nvSpPr>
        <p:spPr>
          <a:xfrm>
            <a:off x="4069080" y="1691640"/>
            <a:ext cx="7345375" cy="384048"/>
          </a:xfrm>
          <a:prstGeom prst="rect">
            <a:avLst/>
          </a:prstGeom>
          <a:noFill/>
          <a:ln/>
        </p:spPr>
        <p:txBody>
          <a:bodyPr wrap="square" lIns="0" tIns="0" rIns="0" bIns="0" rtlCol="0" anchor="ctr"/>
          <a:lstStyle/>
          <a:p>
            <a:pPr indent="0" marL="0">
              <a:buNone/>
            </a:pPr>
            <a:r>
              <a:rPr lang="en-US" sz="1200" b="1" spc="100" kern="0" dirty="0">
                <a:solidFill>
                  <a:srgbClr val="FFFFFF"/>
                </a:solidFill>
                <a:latin typeface="Calibri" pitchFamily="34" charset="0"/>
                <a:ea typeface="Calibri" pitchFamily="34" charset="-122"/>
                <a:cs typeface="Calibri" pitchFamily="34" charset="-120"/>
              </a:rPr>
              <a:t>WHAT IT DOES</a:t>
            </a:r>
            <a:endParaRPr lang="en-US" sz="1200" dirty="0"/>
          </a:p>
        </p:txBody>
      </p:sp>
      <p:sp>
        <p:nvSpPr>
          <p:cNvPr id="7" name="Shape 5"/>
          <p:cNvSpPr/>
          <p:nvPr/>
        </p:nvSpPr>
        <p:spPr>
          <a:xfrm>
            <a:off x="548640" y="2075688"/>
            <a:ext cx="11094415" cy="384048"/>
          </a:xfrm>
          <a:prstGeom prst="rect">
            <a:avLst/>
          </a:prstGeom>
          <a:solidFill>
            <a:srgbClr val="FFFFFF"/>
          </a:solidFill>
          <a:ln/>
        </p:spPr>
      </p:sp>
      <p:sp>
        <p:nvSpPr>
          <p:cNvPr id="8" name="Text 6"/>
          <p:cNvSpPr txBox="1"/>
          <p:nvPr/>
        </p:nvSpPr>
        <p:spPr>
          <a:xfrm>
            <a:off x="777240" y="2075688"/>
            <a:ext cx="3291840" cy="384048"/>
          </a:xfrm>
          <a:prstGeom prst="rect">
            <a:avLst/>
          </a:prstGeom>
          <a:noFill/>
          <a:ln/>
        </p:spPr>
        <p:txBody>
          <a:bodyPr wrap="square" lIns="0" tIns="0" rIns="0" bIns="0" rtlCol="0" anchor="ctr"/>
          <a:lstStyle/>
          <a:p>
            <a:pPr indent="0" marL="0">
              <a:buNone/>
            </a:pPr>
            <a:r>
              <a:rPr lang="en-US" sz="1250" b="1" dirty="0">
                <a:solidFill>
                  <a:srgbClr val="0E7C87"/>
                </a:solidFill>
                <a:latin typeface="Courier New" pitchFamily="34" charset="0"/>
                <a:ea typeface="Courier New" pitchFamily="34" charset="-122"/>
                <a:cs typeface="Courier New" pitchFamily="34" charset="-120"/>
              </a:rPr>
              <a:t>git config</a:t>
            </a:r>
            <a:endParaRPr lang="en-US" sz="1250" dirty="0"/>
          </a:p>
        </p:txBody>
      </p:sp>
      <p:sp>
        <p:nvSpPr>
          <p:cNvPr id="9" name="Text 7"/>
          <p:cNvSpPr txBox="1"/>
          <p:nvPr/>
        </p:nvSpPr>
        <p:spPr>
          <a:xfrm>
            <a:off x="4069080" y="2075688"/>
            <a:ext cx="7345375" cy="384048"/>
          </a:xfrm>
          <a:prstGeom prst="rect">
            <a:avLst/>
          </a:prstGeom>
          <a:noFill/>
          <a:ln/>
        </p:spPr>
        <p:txBody>
          <a:bodyPr wrap="square" lIns="0" tIns="0" rIns="0" bIns="0" rtlCol="0" anchor="ctr"/>
          <a:lstStyle/>
          <a:p>
            <a:pPr indent="0" marL="0">
              <a:buNone/>
            </a:pPr>
            <a:r>
              <a:rPr lang="en-US" sz="1250" dirty="0">
                <a:solidFill>
                  <a:srgbClr val="22263F"/>
                </a:solidFill>
                <a:latin typeface="Calibri" pitchFamily="34" charset="0"/>
                <a:ea typeface="Calibri" pitchFamily="34" charset="-122"/>
                <a:cs typeface="Calibri" pitchFamily="34" charset="-120"/>
              </a:rPr>
              <a:t>Set your name/email identity for commits</a:t>
            </a:r>
            <a:endParaRPr lang="en-US" sz="1250" dirty="0"/>
          </a:p>
        </p:txBody>
      </p:sp>
      <p:sp>
        <p:nvSpPr>
          <p:cNvPr id="10" name="Shape 8"/>
          <p:cNvSpPr/>
          <p:nvPr/>
        </p:nvSpPr>
        <p:spPr>
          <a:xfrm>
            <a:off x="548640" y="2459736"/>
            <a:ext cx="11094415" cy="384048"/>
          </a:xfrm>
          <a:prstGeom prst="rect">
            <a:avLst/>
          </a:prstGeom>
          <a:solidFill>
            <a:srgbClr val="EAEDF5"/>
          </a:solidFill>
          <a:ln/>
        </p:spPr>
      </p:sp>
      <p:sp>
        <p:nvSpPr>
          <p:cNvPr id="11" name="Text 9"/>
          <p:cNvSpPr txBox="1"/>
          <p:nvPr/>
        </p:nvSpPr>
        <p:spPr>
          <a:xfrm>
            <a:off x="777240" y="2459736"/>
            <a:ext cx="3291840" cy="384048"/>
          </a:xfrm>
          <a:prstGeom prst="rect">
            <a:avLst/>
          </a:prstGeom>
          <a:noFill/>
          <a:ln/>
        </p:spPr>
        <p:txBody>
          <a:bodyPr wrap="square" lIns="0" tIns="0" rIns="0" bIns="0" rtlCol="0" anchor="ctr"/>
          <a:lstStyle/>
          <a:p>
            <a:pPr indent="0" marL="0">
              <a:buNone/>
            </a:pPr>
            <a:r>
              <a:rPr lang="en-US" sz="1250" b="1" dirty="0">
                <a:solidFill>
                  <a:srgbClr val="0E7C87"/>
                </a:solidFill>
                <a:latin typeface="Courier New" pitchFamily="34" charset="0"/>
                <a:ea typeface="Courier New" pitchFamily="34" charset="-122"/>
                <a:cs typeface="Courier New" pitchFamily="34" charset="-120"/>
              </a:rPr>
              <a:t>git status</a:t>
            </a:r>
            <a:endParaRPr lang="en-US" sz="1250" dirty="0"/>
          </a:p>
        </p:txBody>
      </p:sp>
      <p:sp>
        <p:nvSpPr>
          <p:cNvPr id="12" name="Text 10"/>
          <p:cNvSpPr txBox="1"/>
          <p:nvPr/>
        </p:nvSpPr>
        <p:spPr>
          <a:xfrm>
            <a:off x="4069080" y="2459736"/>
            <a:ext cx="7345375" cy="384048"/>
          </a:xfrm>
          <a:prstGeom prst="rect">
            <a:avLst/>
          </a:prstGeom>
          <a:noFill/>
          <a:ln/>
        </p:spPr>
        <p:txBody>
          <a:bodyPr wrap="square" lIns="0" tIns="0" rIns="0" bIns="0" rtlCol="0" anchor="ctr"/>
          <a:lstStyle/>
          <a:p>
            <a:pPr indent="0" marL="0">
              <a:buNone/>
            </a:pPr>
            <a:r>
              <a:rPr lang="en-US" sz="1250" dirty="0">
                <a:solidFill>
                  <a:srgbClr val="22263F"/>
                </a:solidFill>
                <a:latin typeface="Calibri" pitchFamily="34" charset="0"/>
                <a:ea typeface="Calibri" pitchFamily="34" charset="-122"/>
                <a:cs typeface="Calibri" pitchFamily="34" charset="-120"/>
              </a:rPr>
              <a:t>Show current changes in the working directory</a:t>
            </a:r>
            <a:endParaRPr lang="en-US" sz="1250" dirty="0"/>
          </a:p>
        </p:txBody>
      </p:sp>
      <p:sp>
        <p:nvSpPr>
          <p:cNvPr id="13" name="Shape 11"/>
          <p:cNvSpPr/>
          <p:nvPr/>
        </p:nvSpPr>
        <p:spPr>
          <a:xfrm>
            <a:off x="548640" y="2843784"/>
            <a:ext cx="11094415" cy="384048"/>
          </a:xfrm>
          <a:prstGeom prst="rect">
            <a:avLst/>
          </a:prstGeom>
          <a:solidFill>
            <a:srgbClr val="FFFFFF"/>
          </a:solidFill>
          <a:ln/>
        </p:spPr>
      </p:sp>
      <p:sp>
        <p:nvSpPr>
          <p:cNvPr id="14" name="Text 12"/>
          <p:cNvSpPr txBox="1"/>
          <p:nvPr/>
        </p:nvSpPr>
        <p:spPr>
          <a:xfrm>
            <a:off x="777240" y="2843784"/>
            <a:ext cx="3291840" cy="384048"/>
          </a:xfrm>
          <a:prstGeom prst="rect">
            <a:avLst/>
          </a:prstGeom>
          <a:noFill/>
          <a:ln/>
        </p:spPr>
        <p:txBody>
          <a:bodyPr wrap="square" lIns="0" tIns="0" rIns="0" bIns="0" rtlCol="0" anchor="ctr"/>
          <a:lstStyle/>
          <a:p>
            <a:pPr indent="0" marL="0">
              <a:buNone/>
            </a:pPr>
            <a:r>
              <a:rPr lang="en-US" sz="1250" b="1" dirty="0">
                <a:solidFill>
                  <a:srgbClr val="0E7C87"/>
                </a:solidFill>
                <a:latin typeface="Courier New" pitchFamily="34" charset="0"/>
                <a:ea typeface="Courier New" pitchFamily="34" charset="-122"/>
                <a:cs typeface="Courier New" pitchFamily="34" charset="-120"/>
              </a:rPr>
              <a:t>git add</a:t>
            </a:r>
            <a:endParaRPr lang="en-US" sz="1250" dirty="0"/>
          </a:p>
        </p:txBody>
      </p:sp>
      <p:sp>
        <p:nvSpPr>
          <p:cNvPr id="15" name="Text 13"/>
          <p:cNvSpPr txBox="1"/>
          <p:nvPr/>
        </p:nvSpPr>
        <p:spPr>
          <a:xfrm>
            <a:off x="4069080" y="2843784"/>
            <a:ext cx="7345375" cy="384048"/>
          </a:xfrm>
          <a:prstGeom prst="rect">
            <a:avLst/>
          </a:prstGeom>
          <a:noFill/>
          <a:ln/>
        </p:spPr>
        <p:txBody>
          <a:bodyPr wrap="square" lIns="0" tIns="0" rIns="0" bIns="0" rtlCol="0" anchor="ctr"/>
          <a:lstStyle/>
          <a:p>
            <a:pPr indent="0" marL="0">
              <a:buNone/>
            </a:pPr>
            <a:r>
              <a:rPr lang="en-US" sz="1250" dirty="0">
                <a:solidFill>
                  <a:srgbClr val="22263F"/>
                </a:solidFill>
                <a:latin typeface="Calibri" pitchFamily="34" charset="0"/>
                <a:ea typeface="Calibri" pitchFamily="34" charset="-122"/>
                <a:cs typeface="Calibri" pitchFamily="34" charset="-120"/>
              </a:rPr>
              <a:t>Stage changes to be committed</a:t>
            </a:r>
            <a:endParaRPr lang="en-US" sz="1250" dirty="0"/>
          </a:p>
        </p:txBody>
      </p:sp>
      <p:sp>
        <p:nvSpPr>
          <p:cNvPr id="16" name="Shape 14"/>
          <p:cNvSpPr/>
          <p:nvPr/>
        </p:nvSpPr>
        <p:spPr>
          <a:xfrm>
            <a:off x="548640" y="3227832"/>
            <a:ext cx="11094415" cy="384048"/>
          </a:xfrm>
          <a:prstGeom prst="rect">
            <a:avLst/>
          </a:prstGeom>
          <a:solidFill>
            <a:srgbClr val="EAEDF5"/>
          </a:solidFill>
          <a:ln/>
        </p:spPr>
      </p:sp>
      <p:sp>
        <p:nvSpPr>
          <p:cNvPr id="17" name="Text 15"/>
          <p:cNvSpPr txBox="1"/>
          <p:nvPr/>
        </p:nvSpPr>
        <p:spPr>
          <a:xfrm>
            <a:off x="777240" y="3227832"/>
            <a:ext cx="3291840" cy="384048"/>
          </a:xfrm>
          <a:prstGeom prst="rect">
            <a:avLst/>
          </a:prstGeom>
          <a:noFill/>
          <a:ln/>
        </p:spPr>
        <p:txBody>
          <a:bodyPr wrap="square" lIns="0" tIns="0" rIns="0" bIns="0" rtlCol="0" anchor="ctr"/>
          <a:lstStyle/>
          <a:p>
            <a:pPr indent="0" marL="0">
              <a:buNone/>
            </a:pPr>
            <a:r>
              <a:rPr lang="en-US" sz="1250" b="1" dirty="0">
                <a:solidFill>
                  <a:srgbClr val="0E7C87"/>
                </a:solidFill>
                <a:latin typeface="Courier New" pitchFamily="34" charset="0"/>
                <a:ea typeface="Courier New" pitchFamily="34" charset="-122"/>
                <a:cs typeface="Courier New" pitchFamily="34" charset="-120"/>
              </a:rPr>
              <a:t>git commit</a:t>
            </a:r>
            <a:endParaRPr lang="en-US" sz="1250" dirty="0"/>
          </a:p>
        </p:txBody>
      </p:sp>
      <p:sp>
        <p:nvSpPr>
          <p:cNvPr id="18" name="Text 16"/>
          <p:cNvSpPr txBox="1"/>
          <p:nvPr/>
        </p:nvSpPr>
        <p:spPr>
          <a:xfrm>
            <a:off x="4069080" y="3227832"/>
            <a:ext cx="7345375" cy="384048"/>
          </a:xfrm>
          <a:prstGeom prst="rect">
            <a:avLst/>
          </a:prstGeom>
          <a:noFill/>
          <a:ln/>
        </p:spPr>
        <p:txBody>
          <a:bodyPr wrap="square" lIns="0" tIns="0" rIns="0" bIns="0" rtlCol="0" anchor="ctr"/>
          <a:lstStyle/>
          <a:p>
            <a:pPr indent="0" marL="0">
              <a:buNone/>
            </a:pPr>
            <a:r>
              <a:rPr lang="en-US" sz="1250" dirty="0">
                <a:solidFill>
                  <a:srgbClr val="22263F"/>
                </a:solidFill>
                <a:latin typeface="Calibri" pitchFamily="34" charset="0"/>
                <a:ea typeface="Calibri" pitchFamily="34" charset="-122"/>
                <a:cs typeface="Calibri" pitchFamily="34" charset="-120"/>
              </a:rPr>
              <a:t>Save a snapshot of staged changes</a:t>
            </a:r>
            <a:endParaRPr lang="en-US" sz="1250" dirty="0"/>
          </a:p>
        </p:txBody>
      </p:sp>
      <p:sp>
        <p:nvSpPr>
          <p:cNvPr id="19" name="Shape 17"/>
          <p:cNvSpPr/>
          <p:nvPr/>
        </p:nvSpPr>
        <p:spPr>
          <a:xfrm>
            <a:off x="548640" y="3611880"/>
            <a:ext cx="11094415" cy="384048"/>
          </a:xfrm>
          <a:prstGeom prst="rect">
            <a:avLst/>
          </a:prstGeom>
          <a:solidFill>
            <a:srgbClr val="FFFFFF"/>
          </a:solidFill>
          <a:ln/>
        </p:spPr>
      </p:sp>
      <p:sp>
        <p:nvSpPr>
          <p:cNvPr id="20" name="Text 18"/>
          <p:cNvSpPr txBox="1"/>
          <p:nvPr/>
        </p:nvSpPr>
        <p:spPr>
          <a:xfrm>
            <a:off x="777240" y="3611880"/>
            <a:ext cx="3291840" cy="384048"/>
          </a:xfrm>
          <a:prstGeom prst="rect">
            <a:avLst/>
          </a:prstGeom>
          <a:noFill/>
          <a:ln/>
        </p:spPr>
        <p:txBody>
          <a:bodyPr wrap="square" lIns="0" tIns="0" rIns="0" bIns="0" rtlCol="0" anchor="ctr"/>
          <a:lstStyle/>
          <a:p>
            <a:pPr indent="0" marL="0">
              <a:buNone/>
            </a:pPr>
            <a:r>
              <a:rPr lang="en-US" sz="1250" b="1" dirty="0">
                <a:solidFill>
                  <a:srgbClr val="0E7C87"/>
                </a:solidFill>
                <a:latin typeface="Courier New" pitchFamily="34" charset="0"/>
                <a:ea typeface="Courier New" pitchFamily="34" charset="-122"/>
                <a:cs typeface="Courier New" pitchFamily="34" charset="-120"/>
              </a:rPr>
              <a:t>git clone</a:t>
            </a:r>
            <a:endParaRPr lang="en-US" sz="1250" dirty="0"/>
          </a:p>
        </p:txBody>
      </p:sp>
      <p:sp>
        <p:nvSpPr>
          <p:cNvPr id="21" name="Text 19"/>
          <p:cNvSpPr txBox="1"/>
          <p:nvPr/>
        </p:nvSpPr>
        <p:spPr>
          <a:xfrm>
            <a:off x="4069080" y="3611880"/>
            <a:ext cx="7345375" cy="384048"/>
          </a:xfrm>
          <a:prstGeom prst="rect">
            <a:avLst/>
          </a:prstGeom>
          <a:noFill/>
          <a:ln/>
        </p:spPr>
        <p:txBody>
          <a:bodyPr wrap="square" lIns="0" tIns="0" rIns="0" bIns="0" rtlCol="0" anchor="ctr"/>
          <a:lstStyle/>
          <a:p>
            <a:pPr indent="0" marL="0">
              <a:buNone/>
            </a:pPr>
            <a:r>
              <a:rPr lang="en-US" sz="1250" dirty="0">
                <a:solidFill>
                  <a:srgbClr val="22263F"/>
                </a:solidFill>
                <a:latin typeface="Calibri" pitchFamily="34" charset="0"/>
                <a:ea typeface="Calibri" pitchFamily="34" charset="-122"/>
                <a:cs typeface="Calibri" pitchFamily="34" charset="-120"/>
              </a:rPr>
              <a:t>Copy a remote repository to your machine</a:t>
            </a:r>
            <a:endParaRPr lang="en-US" sz="1250" dirty="0"/>
          </a:p>
        </p:txBody>
      </p:sp>
      <p:sp>
        <p:nvSpPr>
          <p:cNvPr id="22" name="Shape 20"/>
          <p:cNvSpPr/>
          <p:nvPr/>
        </p:nvSpPr>
        <p:spPr>
          <a:xfrm>
            <a:off x="548640" y="3995928"/>
            <a:ext cx="11094415" cy="384048"/>
          </a:xfrm>
          <a:prstGeom prst="rect">
            <a:avLst/>
          </a:prstGeom>
          <a:solidFill>
            <a:srgbClr val="EAEDF5"/>
          </a:solidFill>
          <a:ln/>
        </p:spPr>
      </p:sp>
      <p:sp>
        <p:nvSpPr>
          <p:cNvPr id="23" name="Text 21"/>
          <p:cNvSpPr txBox="1"/>
          <p:nvPr/>
        </p:nvSpPr>
        <p:spPr>
          <a:xfrm>
            <a:off x="777240" y="3995928"/>
            <a:ext cx="3291840" cy="384048"/>
          </a:xfrm>
          <a:prstGeom prst="rect">
            <a:avLst/>
          </a:prstGeom>
          <a:noFill/>
          <a:ln/>
        </p:spPr>
        <p:txBody>
          <a:bodyPr wrap="square" lIns="0" tIns="0" rIns="0" bIns="0" rtlCol="0" anchor="ctr"/>
          <a:lstStyle/>
          <a:p>
            <a:pPr indent="0" marL="0">
              <a:buNone/>
            </a:pPr>
            <a:r>
              <a:rPr lang="en-US" sz="1250" b="1" dirty="0">
                <a:solidFill>
                  <a:srgbClr val="0E7C87"/>
                </a:solidFill>
                <a:latin typeface="Courier New" pitchFamily="34" charset="0"/>
                <a:ea typeface="Courier New" pitchFamily="34" charset="-122"/>
                <a:cs typeface="Courier New" pitchFamily="34" charset="-120"/>
              </a:rPr>
              <a:t>git push</a:t>
            </a:r>
            <a:endParaRPr lang="en-US" sz="1250" dirty="0"/>
          </a:p>
        </p:txBody>
      </p:sp>
      <p:sp>
        <p:nvSpPr>
          <p:cNvPr id="24" name="Text 22"/>
          <p:cNvSpPr txBox="1"/>
          <p:nvPr/>
        </p:nvSpPr>
        <p:spPr>
          <a:xfrm>
            <a:off x="4069080" y="3995928"/>
            <a:ext cx="7345375" cy="384048"/>
          </a:xfrm>
          <a:prstGeom prst="rect">
            <a:avLst/>
          </a:prstGeom>
          <a:noFill/>
          <a:ln/>
        </p:spPr>
        <p:txBody>
          <a:bodyPr wrap="square" lIns="0" tIns="0" rIns="0" bIns="0" rtlCol="0" anchor="ctr"/>
          <a:lstStyle/>
          <a:p>
            <a:pPr indent="0" marL="0">
              <a:buNone/>
            </a:pPr>
            <a:r>
              <a:rPr lang="en-US" sz="1250" dirty="0">
                <a:solidFill>
                  <a:srgbClr val="22263F"/>
                </a:solidFill>
                <a:latin typeface="Calibri" pitchFamily="34" charset="0"/>
                <a:ea typeface="Calibri" pitchFamily="34" charset="-122"/>
                <a:cs typeface="Calibri" pitchFamily="34" charset="-120"/>
              </a:rPr>
              <a:t>Upload local commits to the remote</a:t>
            </a:r>
            <a:endParaRPr lang="en-US" sz="1250" dirty="0"/>
          </a:p>
        </p:txBody>
      </p:sp>
      <p:sp>
        <p:nvSpPr>
          <p:cNvPr id="25" name="Shape 23"/>
          <p:cNvSpPr/>
          <p:nvPr/>
        </p:nvSpPr>
        <p:spPr>
          <a:xfrm>
            <a:off x="548640" y="4379976"/>
            <a:ext cx="11094415" cy="384048"/>
          </a:xfrm>
          <a:prstGeom prst="rect">
            <a:avLst/>
          </a:prstGeom>
          <a:solidFill>
            <a:srgbClr val="FFFFFF"/>
          </a:solidFill>
          <a:ln/>
        </p:spPr>
      </p:sp>
      <p:sp>
        <p:nvSpPr>
          <p:cNvPr id="26" name="Text 24"/>
          <p:cNvSpPr txBox="1"/>
          <p:nvPr/>
        </p:nvSpPr>
        <p:spPr>
          <a:xfrm>
            <a:off x="777240" y="4379976"/>
            <a:ext cx="3291840" cy="384048"/>
          </a:xfrm>
          <a:prstGeom prst="rect">
            <a:avLst/>
          </a:prstGeom>
          <a:noFill/>
          <a:ln/>
        </p:spPr>
        <p:txBody>
          <a:bodyPr wrap="square" lIns="0" tIns="0" rIns="0" bIns="0" rtlCol="0" anchor="ctr"/>
          <a:lstStyle/>
          <a:p>
            <a:pPr indent="0" marL="0">
              <a:buNone/>
            </a:pPr>
            <a:r>
              <a:rPr lang="en-US" sz="1250" b="1" dirty="0">
                <a:solidFill>
                  <a:srgbClr val="0E7C87"/>
                </a:solidFill>
                <a:latin typeface="Courier New" pitchFamily="34" charset="0"/>
                <a:ea typeface="Courier New" pitchFamily="34" charset="-122"/>
                <a:cs typeface="Courier New" pitchFamily="34" charset="-120"/>
              </a:rPr>
              <a:t>git branch</a:t>
            </a:r>
            <a:endParaRPr lang="en-US" sz="1250" dirty="0"/>
          </a:p>
        </p:txBody>
      </p:sp>
      <p:sp>
        <p:nvSpPr>
          <p:cNvPr id="27" name="Text 25"/>
          <p:cNvSpPr txBox="1"/>
          <p:nvPr/>
        </p:nvSpPr>
        <p:spPr>
          <a:xfrm>
            <a:off x="4069080" y="4379976"/>
            <a:ext cx="7345375" cy="384048"/>
          </a:xfrm>
          <a:prstGeom prst="rect">
            <a:avLst/>
          </a:prstGeom>
          <a:noFill/>
          <a:ln/>
        </p:spPr>
        <p:txBody>
          <a:bodyPr wrap="square" lIns="0" tIns="0" rIns="0" bIns="0" rtlCol="0" anchor="ctr"/>
          <a:lstStyle/>
          <a:p>
            <a:pPr indent="0" marL="0">
              <a:buNone/>
            </a:pPr>
            <a:r>
              <a:rPr lang="en-US" sz="1250" dirty="0">
                <a:solidFill>
                  <a:srgbClr val="22263F"/>
                </a:solidFill>
                <a:latin typeface="Calibri" pitchFamily="34" charset="0"/>
                <a:ea typeface="Calibri" pitchFamily="34" charset="-122"/>
                <a:cs typeface="Calibri" pitchFamily="34" charset="-120"/>
              </a:rPr>
              <a:t>List or create branches</a:t>
            </a:r>
            <a:endParaRPr lang="en-US" sz="1250" dirty="0"/>
          </a:p>
        </p:txBody>
      </p:sp>
      <p:sp>
        <p:nvSpPr>
          <p:cNvPr id="28" name="Shape 26"/>
          <p:cNvSpPr/>
          <p:nvPr/>
        </p:nvSpPr>
        <p:spPr>
          <a:xfrm>
            <a:off x="548640" y="4764024"/>
            <a:ext cx="11094415" cy="384048"/>
          </a:xfrm>
          <a:prstGeom prst="rect">
            <a:avLst/>
          </a:prstGeom>
          <a:solidFill>
            <a:srgbClr val="EAEDF5"/>
          </a:solidFill>
          <a:ln/>
        </p:spPr>
      </p:sp>
      <p:sp>
        <p:nvSpPr>
          <p:cNvPr id="29" name="Text 27"/>
          <p:cNvSpPr txBox="1"/>
          <p:nvPr/>
        </p:nvSpPr>
        <p:spPr>
          <a:xfrm>
            <a:off x="777240" y="4764024"/>
            <a:ext cx="3291840" cy="384048"/>
          </a:xfrm>
          <a:prstGeom prst="rect">
            <a:avLst/>
          </a:prstGeom>
          <a:noFill/>
          <a:ln/>
        </p:spPr>
        <p:txBody>
          <a:bodyPr wrap="square" lIns="0" tIns="0" rIns="0" bIns="0" rtlCol="0" anchor="ctr"/>
          <a:lstStyle/>
          <a:p>
            <a:pPr indent="0" marL="0">
              <a:buNone/>
            </a:pPr>
            <a:r>
              <a:rPr lang="en-US" sz="1250" b="1" dirty="0">
                <a:solidFill>
                  <a:srgbClr val="0E7C87"/>
                </a:solidFill>
                <a:latin typeface="Courier New" pitchFamily="34" charset="0"/>
                <a:ea typeface="Courier New" pitchFamily="34" charset="-122"/>
                <a:cs typeface="Courier New" pitchFamily="34" charset="-120"/>
              </a:rPr>
              <a:t>git switch</a:t>
            </a:r>
            <a:endParaRPr lang="en-US" sz="1250" dirty="0"/>
          </a:p>
        </p:txBody>
      </p:sp>
      <p:sp>
        <p:nvSpPr>
          <p:cNvPr id="30" name="Text 28"/>
          <p:cNvSpPr txBox="1"/>
          <p:nvPr/>
        </p:nvSpPr>
        <p:spPr>
          <a:xfrm>
            <a:off x="4069080" y="4764024"/>
            <a:ext cx="7345375" cy="384048"/>
          </a:xfrm>
          <a:prstGeom prst="rect">
            <a:avLst/>
          </a:prstGeom>
          <a:noFill/>
          <a:ln/>
        </p:spPr>
        <p:txBody>
          <a:bodyPr wrap="square" lIns="0" tIns="0" rIns="0" bIns="0" rtlCol="0" anchor="ctr"/>
          <a:lstStyle/>
          <a:p>
            <a:pPr indent="0" marL="0">
              <a:buNone/>
            </a:pPr>
            <a:r>
              <a:rPr lang="en-US" sz="1250" dirty="0">
                <a:solidFill>
                  <a:srgbClr val="22263F"/>
                </a:solidFill>
                <a:latin typeface="Calibri" pitchFamily="34" charset="0"/>
                <a:ea typeface="Calibri" pitchFamily="34" charset="-122"/>
                <a:cs typeface="Calibri" pitchFamily="34" charset="-120"/>
              </a:rPr>
              <a:t>Change the active branch</a:t>
            </a:r>
            <a:endParaRPr lang="en-US" sz="1250" dirty="0"/>
          </a:p>
        </p:txBody>
      </p:sp>
      <p:sp>
        <p:nvSpPr>
          <p:cNvPr id="31" name="Shape 29"/>
          <p:cNvSpPr/>
          <p:nvPr/>
        </p:nvSpPr>
        <p:spPr>
          <a:xfrm>
            <a:off x="548640" y="5148072"/>
            <a:ext cx="11094415" cy="384048"/>
          </a:xfrm>
          <a:prstGeom prst="rect">
            <a:avLst/>
          </a:prstGeom>
          <a:solidFill>
            <a:srgbClr val="FFFFFF"/>
          </a:solidFill>
          <a:ln/>
        </p:spPr>
      </p:sp>
      <p:sp>
        <p:nvSpPr>
          <p:cNvPr id="32" name="Text 30"/>
          <p:cNvSpPr txBox="1"/>
          <p:nvPr/>
        </p:nvSpPr>
        <p:spPr>
          <a:xfrm>
            <a:off x="777240" y="5148072"/>
            <a:ext cx="3291840" cy="384048"/>
          </a:xfrm>
          <a:prstGeom prst="rect">
            <a:avLst/>
          </a:prstGeom>
          <a:noFill/>
          <a:ln/>
        </p:spPr>
        <p:txBody>
          <a:bodyPr wrap="square" lIns="0" tIns="0" rIns="0" bIns="0" rtlCol="0" anchor="ctr"/>
          <a:lstStyle/>
          <a:p>
            <a:pPr indent="0" marL="0">
              <a:buNone/>
            </a:pPr>
            <a:r>
              <a:rPr lang="en-US" sz="1250" b="1" dirty="0">
                <a:solidFill>
                  <a:srgbClr val="0E7C87"/>
                </a:solidFill>
                <a:latin typeface="Courier New" pitchFamily="34" charset="0"/>
                <a:ea typeface="Courier New" pitchFamily="34" charset="-122"/>
                <a:cs typeface="Courier New" pitchFamily="34" charset="-120"/>
              </a:rPr>
              <a:t>git checkout</a:t>
            </a:r>
            <a:endParaRPr lang="en-US" sz="1250" dirty="0"/>
          </a:p>
        </p:txBody>
      </p:sp>
      <p:sp>
        <p:nvSpPr>
          <p:cNvPr id="33" name="Text 31"/>
          <p:cNvSpPr txBox="1"/>
          <p:nvPr/>
        </p:nvSpPr>
        <p:spPr>
          <a:xfrm>
            <a:off x="4069080" y="5148072"/>
            <a:ext cx="7345375" cy="384048"/>
          </a:xfrm>
          <a:prstGeom prst="rect">
            <a:avLst/>
          </a:prstGeom>
          <a:noFill/>
          <a:ln/>
        </p:spPr>
        <p:txBody>
          <a:bodyPr wrap="square" lIns="0" tIns="0" rIns="0" bIns="0" rtlCol="0" anchor="ctr"/>
          <a:lstStyle/>
          <a:p>
            <a:pPr indent="0" marL="0">
              <a:buNone/>
            </a:pPr>
            <a:r>
              <a:rPr lang="en-US" sz="1250" dirty="0">
                <a:solidFill>
                  <a:srgbClr val="22263F"/>
                </a:solidFill>
                <a:latin typeface="Calibri" pitchFamily="34" charset="0"/>
                <a:ea typeface="Calibri" pitchFamily="34" charset="-122"/>
                <a:cs typeface="Calibri" pitchFamily="34" charset="-120"/>
              </a:rPr>
              <a:t>Switch branches or restore files (legacy)</a:t>
            </a:r>
            <a:endParaRPr lang="en-US" sz="1250" dirty="0"/>
          </a:p>
        </p:txBody>
      </p:sp>
      <p:sp>
        <p:nvSpPr>
          <p:cNvPr id="34" name="Shape 32"/>
          <p:cNvSpPr/>
          <p:nvPr/>
        </p:nvSpPr>
        <p:spPr>
          <a:xfrm>
            <a:off x="548640" y="5532120"/>
            <a:ext cx="11094415" cy="384048"/>
          </a:xfrm>
          <a:prstGeom prst="rect">
            <a:avLst/>
          </a:prstGeom>
          <a:solidFill>
            <a:srgbClr val="EAEDF5"/>
          </a:solidFill>
          <a:ln/>
        </p:spPr>
      </p:sp>
      <p:sp>
        <p:nvSpPr>
          <p:cNvPr id="35" name="Text 33"/>
          <p:cNvSpPr txBox="1"/>
          <p:nvPr/>
        </p:nvSpPr>
        <p:spPr>
          <a:xfrm>
            <a:off x="777240" y="5532120"/>
            <a:ext cx="3291840" cy="384048"/>
          </a:xfrm>
          <a:prstGeom prst="rect">
            <a:avLst/>
          </a:prstGeom>
          <a:noFill/>
          <a:ln/>
        </p:spPr>
        <p:txBody>
          <a:bodyPr wrap="square" lIns="0" tIns="0" rIns="0" bIns="0" rtlCol="0" anchor="ctr"/>
          <a:lstStyle/>
          <a:p>
            <a:pPr indent="0" marL="0">
              <a:buNone/>
            </a:pPr>
            <a:r>
              <a:rPr lang="en-US" sz="1250" b="1" dirty="0">
                <a:solidFill>
                  <a:srgbClr val="0E7C87"/>
                </a:solidFill>
                <a:latin typeface="Courier New" pitchFamily="34" charset="0"/>
                <a:ea typeface="Courier New" pitchFamily="34" charset="-122"/>
                <a:cs typeface="Courier New" pitchFamily="34" charset="-120"/>
              </a:rPr>
              <a:t>git show</a:t>
            </a:r>
            <a:endParaRPr lang="en-US" sz="1250" dirty="0"/>
          </a:p>
        </p:txBody>
      </p:sp>
      <p:sp>
        <p:nvSpPr>
          <p:cNvPr id="36" name="Text 34"/>
          <p:cNvSpPr txBox="1"/>
          <p:nvPr/>
        </p:nvSpPr>
        <p:spPr>
          <a:xfrm>
            <a:off x="4069080" y="5532120"/>
            <a:ext cx="7345375" cy="384048"/>
          </a:xfrm>
          <a:prstGeom prst="rect">
            <a:avLst/>
          </a:prstGeom>
          <a:noFill/>
          <a:ln/>
        </p:spPr>
        <p:txBody>
          <a:bodyPr wrap="square" lIns="0" tIns="0" rIns="0" bIns="0" rtlCol="0" anchor="ctr"/>
          <a:lstStyle/>
          <a:p>
            <a:pPr indent="0" marL="0">
              <a:buNone/>
            </a:pPr>
            <a:r>
              <a:rPr lang="en-US" sz="1250" dirty="0">
                <a:solidFill>
                  <a:srgbClr val="22263F"/>
                </a:solidFill>
                <a:latin typeface="Calibri" pitchFamily="34" charset="0"/>
                <a:ea typeface="Calibri" pitchFamily="34" charset="-122"/>
                <a:cs typeface="Calibri" pitchFamily="34" charset="-120"/>
              </a:rPr>
              <a:t>View details of a specific commit</a:t>
            </a:r>
            <a:endParaRPr lang="en-US" sz="1250" dirty="0"/>
          </a:p>
        </p:txBody>
      </p:sp>
      <p:sp>
        <p:nvSpPr>
          <p:cNvPr id="37" name="Shape 35"/>
          <p:cNvSpPr/>
          <p:nvPr/>
        </p:nvSpPr>
        <p:spPr>
          <a:xfrm>
            <a:off x="548640" y="5916168"/>
            <a:ext cx="11094415" cy="384048"/>
          </a:xfrm>
          <a:prstGeom prst="rect">
            <a:avLst/>
          </a:prstGeom>
          <a:solidFill>
            <a:srgbClr val="FFFFFF"/>
          </a:solidFill>
          <a:ln/>
        </p:spPr>
      </p:sp>
      <p:sp>
        <p:nvSpPr>
          <p:cNvPr id="38" name="Text 36"/>
          <p:cNvSpPr txBox="1"/>
          <p:nvPr/>
        </p:nvSpPr>
        <p:spPr>
          <a:xfrm>
            <a:off x="777240" y="5916168"/>
            <a:ext cx="3291840" cy="384048"/>
          </a:xfrm>
          <a:prstGeom prst="rect">
            <a:avLst/>
          </a:prstGeom>
          <a:noFill/>
          <a:ln/>
        </p:spPr>
        <p:txBody>
          <a:bodyPr wrap="square" lIns="0" tIns="0" rIns="0" bIns="0" rtlCol="0" anchor="ctr"/>
          <a:lstStyle/>
          <a:p>
            <a:pPr indent="0" marL="0">
              <a:buNone/>
            </a:pPr>
            <a:r>
              <a:rPr lang="en-US" sz="1250" b="1" dirty="0">
                <a:solidFill>
                  <a:srgbClr val="0E7C87"/>
                </a:solidFill>
                <a:latin typeface="Courier New" pitchFamily="34" charset="0"/>
                <a:ea typeface="Courier New" pitchFamily="34" charset="-122"/>
                <a:cs typeface="Courier New" pitchFamily="34" charset="-120"/>
              </a:rPr>
              <a:t>Pull Request</a:t>
            </a:r>
            <a:endParaRPr lang="en-US" sz="1250" dirty="0"/>
          </a:p>
        </p:txBody>
      </p:sp>
      <p:sp>
        <p:nvSpPr>
          <p:cNvPr id="39" name="Text 37"/>
          <p:cNvSpPr txBox="1"/>
          <p:nvPr/>
        </p:nvSpPr>
        <p:spPr>
          <a:xfrm>
            <a:off x="4069080" y="5916168"/>
            <a:ext cx="7345375" cy="384048"/>
          </a:xfrm>
          <a:prstGeom prst="rect">
            <a:avLst/>
          </a:prstGeom>
          <a:noFill/>
          <a:ln/>
        </p:spPr>
        <p:txBody>
          <a:bodyPr wrap="square" lIns="0" tIns="0" rIns="0" bIns="0" rtlCol="0" anchor="ctr"/>
          <a:lstStyle/>
          <a:p>
            <a:pPr indent="0" marL="0">
              <a:buNone/>
            </a:pPr>
            <a:r>
              <a:rPr lang="en-US" sz="1250" dirty="0">
                <a:solidFill>
                  <a:srgbClr val="22263F"/>
                </a:solidFill>
                <a:latin typeface="Calibri" pitchFamily="34" charset="0"/>
                <a:ea typeface="Calibri" pitchFamily="34" charset="-122"/>
                <a:cs typeface="Calibri" pitchFamily="34" charset="-120"/>
              </a:rPr>
              <a:t>Propose merging a branch on GitHub</a:t>
            </a:r>
            <a:endParaRPr lang="en-US" sz="1250" dirty="0"/>
          </a:p>
        </p:txBody>
      </p:sp>
      <p:sp>
        <p:nvSpPr>
          <p:cNvPr id="40" name="Text 38"/>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AI Foundations &amp; Dev Environment Setup</a:t>
            </a:r>
            <a:endParaRPr lang="en-US" sz="1000" dirty="0"/>
          </a:p>
        </p:txBody>
      </p:sp>
      <p:sp>
        <p:nvSpPr>
          <p:cNvPr id="41" name="Text 39"/>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1F3B"/>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262C52"/>
          </a:solidFill>
          <a:ln/>
        </p:spPr>
      </p:sp>
      <p:sp>
        <p:nvSpPr>
          <p:cNvPr id="3" name="Shape 1"/>
          <p:cNvSpPr/>
          <p:nvPr/>
        </p:nvSpPr>
        <p:spPr>
          <a:xfrm>
            <a:off x="-1645920" y="4206240"/>
            <a:ext cx="3657600" cy="3657600"/>
          </a:xfrm>
          <a:prstGeom prst="ellipse">
            <a:avLst/>
          </a:prstGeom>
          <a:solidFill>
            <a:srgbClr val="262C52"/>
          </a:solidFill>
          <a:ln/>
        </p:spPr>
      </p:sp>
      <p:sp>
        <p:nvSpPr>
          <p:cNvPr id="4" name="Shape 2"/>
          <p:cNvSpPr/>
          <p:nvPr/>
        </p:nvSpPr>
        <p:spPr>
          <a:xfrm>
            <a:off x="5592928" y="1600200"/>
            <a:ext cx="1005840" cy="1005840"/>
          </a:xfrm>
          <a:prstGeom prst="ellipse">
            <a:avLst/>
          </a:prstGeom>
          <a:solidFill>
            <a:srgbClr val="6C5CE7"/>
          </a:solidFill>
          <a:ln/>
        </p:spPr>
      </p:sp>
      <p:pic>
        <p:nvPicPr>
          <p:cNvPr id="5" name="Image 0" descr="/home/claude/ai-git-deck/icons/question.png">    </p:cNvPr>
          <p:cNvPicPr>
            <a:picLocks noChangeAspect="1"/>
          </p:cNvPicPr>
          <p:nvPr/>
        </p:nvPicPr>
        <p:blipFill>
          <a:blip r:embed="rId1"/>
          <a:stretch>
            <a:fillRect/>
          </a:stretch>
        </p:blipFill>
        <p:spPr>
          <a:xfrm>
            <a:off x="5723687" y="1730959"/>
            <a:ext cx="744322" cy="744322"/>
          </a:xfrm>
          <a:prstGeom prst="rect">
            <a:avLst/>
          </a:prstGeom>
        </p:spPr>
      </p:pic>
      <p:sp>
        <p:nvSpPr>
          <p:cNvPr id="6" name="Text 3"/>
          <p:cNvSpPr txBox="1"/>
          <p:nvPr/>
        </p:nvSpPr>
        <p:spPr>
          <a:xfrm>
            <a:off x="731520" y="2880360"/>
            <a:ext cx="10728655" cy="82296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Questions?</a:t>
            </a:r>
            <a:endParaRPr lang="en-US" sz="3800" dirty="0"/>
          </a:p>
        </p:txBody>
      </p:sp>
      <p:sp>
        <p:nvSpPr>
          <p:cNvPr id="7" name="Text 4"/>
          <p:cNvSpPr txBox="1"/>
          <p:nvPr/>
        </p:nvSpPr>
        <p:spPr>
          <a:xfrm>
            <a:off x="1371600" y="3749040"/>
            <a:ext cx="9448495" cy="548640"/>
          </a:xfrm>
          <a:prstGeom prst="rect">
            <a:avLst/>
          </a:prstGeom>
          <a:noFill/>
          <a:ln/>
        </p:spPr>
        <p:txBody>
          <a:bodyPr wrap="square" lIns="0" tIns="0" rIns="0" bIns="0" rtlCol="0" anchor="ctr"/>
          <a:lstStyle/>
          <a:p>
            <a:pPr algn="ctr" indent="0" marL="0">
              <a:buNone/>
            </a:pPr>
            <a:r>
              <a:rPr lang="en-US" sz="1500" dirty="0">
                <a:solidFill>
                  <a:srgbClr val="B7BBD6"/>
                </a:solidFill>
                <a:latin typeface="Calibri" pitchFamily="34" charset="0"/>
                <a:ea typeface="Calibri" pitchFamily="34" charset="-122"/>
                <a:cs typeface="Calibri" pitchFamily="34" charset="-120"/>
              </a:rPr>
              <a:t>Thank you for joining this session on AI history and setting up your developer workflow.</a:t>
            </a:r>
            <a:endParaRPr lang="en-US" sz="1500" dirty="0"/>
          </a:p>
        </p:txBody>
      </p:sp>
      <p:sp>
        <p:nvSpPr>
          <p:cNvPr id="8" name="Text 5"/>
          <p:cNvSpPr txBox="1"/>
          <p:nvPr/>
        </p:nvSpPr>
        <p:spPr>
          <a:xfrm>
            <a:off x="1371600" y="4343400"/>
            <a:ext cx="9448495" cy="548640"/>
          </a:xfrm>
          <a:prstGeom prst="rect">
            <a:avLst/>
          </a:prstGeom>
          <a:noFill/>
          <a:ln/>
        </p:spPr>
        <p:txBody>
          <a:bodyPr wrap="square" lIns="0" tIns="0" rIns="0" bIns="0" rtlCol="0" anchor="ctr"/>
          <a:lstStyle/>
          <a:p>
            <a:pPr algn="ctr" indent="0" marL="0">
              <a:buNone/>
            </a:pPr>
            <a:r>
              <a:rPr lang="en-US" sz="1300" i="1" dirty="0">
                <a:solidFill>
                  <a:srgbClr val="00B4C6"/>
                </a:solidFill>
                <a:latin typeface="Calibri" pitchFamily="34" charset="0"/>
                <a:ea typeface="Calibri" pitchFamily="34" charset="-122"/>
                <a:cs typeface="Calibri" pitchFamily="34" charset="-120"/>
              </a:rPr>
              <a:t>Next step: install Python + VS Code, create your GitHub account, and make your first commit.</a:t>
            </a:r>
            <a:endParaRPr lang="en-US" sz="1300" dirty="0"/>
          </a:p>
        </p:txBody>
      </p:sp>
      <p:sp>
        <p:nvSpPr>
          <p:cNvPr id="9" name="Text 6"/>
          <p:cNvSpPr txBox="1"/>
          <p:nvPr/>
        </p:nvSpPr>
        <p:spPr>
          <a:xfrm>
            <a:off x="548640" y="6473952"/>
            <a:ext cx="5486400" cy="274320"/>
          </a:xfrm>
          <a:prstGeom prst="rect">
            <a:avLst/>
          </a:prstGeom>
          <a:noFill/>
          <a:ln/>
        </p:spPr>
        <p:txBody>
          <a:bodyPr wrap="square" lIns="0" tIns="0" rIns="0" bIns="0" rtlCol="0" anchor="ctr"/>
          <a:lstStyle/>
          <a:p>
            <a:pPr algn="l" indent="0" marL="0">
              <a:buNone/>
            </a:pPr>
            <a:endParaRPr lang="en-US" sz="1000" dirty="0"/>
          </a:p>
        </p:txBody>
      </p:sp>
      <p:sp>
        <p:nvSpPr>
          <p:cNvPr id="10" name="Text 7"/>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2026-08-31T20:50:15Z</dcterms:created>
  <dcterms:modified xsi:type="dcterms:W3CDTF">2026-08-31T20:50:15Z</dcterms:modified>
</cp:coreProperties>
</file>